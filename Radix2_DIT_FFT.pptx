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E1BFDC8-56D2-4CE5-A7CC-5E2EE99E2914}"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PlaceHolder 1"/>
          <p:cNvSpPr>
            <a:spLocks noGrp="1"/>
          </p:cNvSpPr>
          <p:nvPr>
            <p:ph type="sldImg"/>
          </p:nvPr>
        </p:nvSpPr>
        <p:spPr>
          <a:xfrm>
            <a:off x="685800" y="1143000"/>
            <a:ext cx="5485680" cy="3085560"/>
          </a:xfrm>
          <a:prstGeom prst="rect">
            <a:avLst/>
          </a:prstGeom>
          <a:ln w="0">
            <a:noFill/>
          </a:ln>
        </p:spPr>
      </p:sp>
      <p:sp>
        <p:nvSpPr>
          <p:cNvPr id="9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4"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E954119-6A9F-43C5-B31E-457CBDAA31D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685800" y="1143000"/>
            <a:ext cx="5485680" cy="3085560"/>
          </a:xfrm>
          <a:prstGeom prst="rect">
            <a:avLst/>
          </a:prstGeom>
          <a:ln w="0">
            <a:noFill/>
          </a:ln>
        </p:spPr>
      </p:sp>
      <p:sp>
        <p:nvSpPr>
          <p:cNvPr id="9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7"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4C33FB-739D-4720-82F8-0F51D8E9C62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685800" y="1143000"/>
            <a:ext cx="5485680" cy="3085560"/>
          </a:xfrm>
          <a:prstGeom prst="rect">
            <a:avLst/>
          </a:prstGeom>
          <a:ln w="0">
            <a:noFill/>
          </a:ln>
        </p:spPr>
      </p:sp>
      <p:sp>
        <p:nvSpPr>
          <p:cNvPr id="9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0"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83172BD-4424-459A-A58C-0321FA86569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 name="PlaceHolder 1"/>
          <p:cNvSpPr>
            <a:spLocks noGrp="1"/>
          </p:cNvSpPr>
          <p:nvPr>
            <p:ph type="sldImg"/>
          </p:nvPr>
        </p:nvSpPr>
        <p:spPr>
          <a:xfrm>
            <a:off x="685800" y="1143000"/>
            <a:ext cx="5485680" cy="3085560"/>
          </a:xfrm>
          <a:prstGeom prst="rect">
            <a:avLst/>
          </a:prstGeom>
          <a:ln w="0">
            <a:noFill/>
          </a:ln>
        </p:spPr>
      </p:sp>
      <p:sp>
        <p:nvSpPr>
          <p:cNvPr id="9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3"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31FDDEF-E50B-405A-8C2E-2FFE807BD85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type="sldImg"/>
          </p:nvPr>
        </p:nvSpPr>
        <p:spPr>
          <a:xfrm>
            <a:off x="685800" y="1143000"/>
            <a:ext cx="5485680" cy="3085560"/>
          </a:xfrm>
          <a:prstGeom prst="rect">
            <a:avLst/>
          </a:prstGeom>
          <a:ln w="0">
            <a:noFill/>
          </a:ln>
        </p:spPr>
      </p:sp>
      <p:sp>
        <p:nvSpPr>
          <p:cNvPr id="9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6"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E4B0AF7-4EB0-49EF-AAE9-90A1C0C4B33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685800" y="1143000"/>
            <a:ext cx="5485680" cy="3085560"/>
          </a:xfrm>
          <a:prstGeom prst="rect">
            <a:avLst/>
          </a:prstGeom>
          <a:ln w="0">
            <a:noFill/>
          </a:ln>
        </p:spPr>
      </p:sp>
      <p:sp>
        <p:nvSpPr>
          <p:cNvPr id="9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9"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1F5C904-E239-415C-BC13-600820A055F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 name="PlaceHolder 1"/>
          <p:cNvSpPr>
            <a:spLocks noGrp="1"/>
          </p:cNvSpPr>
          <p:nvPr>
            <p:ph type="sldImg"/>
          </p:nvPr>
        </p:nvSpPr>
        <p:spPr>
          <a:xfrm>
            <a:off x="685800" y="1143000"/>
            <a:ext cx="5485680" cy="3085560"/>
          </a:xfrm>
          <a:prstGeom prst="rect">
            <a:avLst/>
          </a:prstGeom>
          <a:ln w="0">
            <a:noFill/>
          </a:ln>
        </p:spPr>
      </p:sp>
      <p:sp>
        <p:nvSpPr>
          <p:cNvPr id="10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2"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7C182B4-C147-4ED0-B622-3724B186F3F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PlaceHolder 1"/>
          <p:cNvSpPr>
            <a:spLocks noGrp="1"/>
          </p:cNvSpPr>
          <p:nvPr>
            <p:ph type="sldImg"/>
          </p:nvPr>
        </p:nvSpPr>
        <p:spPr>
          <a:xfrm>
            <a:off x="685800" y="1143000"/>
            <a:ext cx="5485680" cy="3085560"/>
          </a:xfrm>
          <a:prstGeom prst="rect">
            <a:avLst/>
          </a:prstGeom>
          <a:ln w="0">
            <a:noFill/>
          </a:ln>
        </p:spPr>
      </p:sp>
      <p:sp>
        <p:nvSpPr>
          <p:cNvPr id="10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5"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4994A2E-837B-47DB-BAA7-A9449D30CE3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685800" y="1143000"/>
            <a:ext cx="5485680" cy="3085560"/>
          </a:xfrm>
          <a:prstGeom prst="rect">
            <a:avLst/>
          </a:prstGeom>
          <a:ln w="0">
            <a:noFill/>
          </a:ln>
        </p:spPr>
      </p:sp>
      <p:sp>
        <p:nvSpPr>
          <p:cNvPr id="10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8"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690396-C5CD-4368-9ECA-A708950DF1F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685800" y="1143000"/>
            <a:ext cx="5485680" cy="3085560"/>
          </a:xfrm>
          <a:prstGeom prst="rect">
            <a:avLst/>
          </a:prstGeom>
          <a:ln w="0">
            <a:noFill/>
          </a:ln>
        </p:spPr>
      </p:sp>
      <p:sp>
        <p:nvSpPr>
          <p:cNvPr id="10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1"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57CBE87-A0D6-4DA8-A618-694697B0353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 name="PlaceHolder 1"/>
          <p:cNvSpPr>
            <a:spLocks noGrp="1"/>
          </p:cNvSpPr>
          <p:nvPr>
            <p:ph type="sldImg"/>
          </p:nvPr>
        </p:nvSpPr>
        <p:spPr>
          <a:xfrm>
            <a:off x="685800" y="1143000"/>
            <a:ext cx="5485680" cy="3085560"/>
          </a:xfrm>
          <a:prstGeom prst="rect">
            <a:avLst/>
          </a:prstGeom>
          <a:ln w="0">
            <a:noFill/>
          </a:ln>
        </p:spPr>
      </p:sp>
      <p:sp>
        <p:nvSpPr>
          <p:cNvPr id="10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4"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B1C286F-9105-4581-9B60-CA895894F25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PlaceHolder 1"/>
          <p:cNvSpPr>
            <a:spLocks noGrp="1"/>
          </p:cNvSpPr>
          <p:nvPr>
            <p:ph type="sldImg"/>
          </p:nvPr>
        </p:nvSpPr>
        <p:spPr>
          <a:xfrm>
            <a:off x="685800" y="1143000"/>
            <a:ext cx="5485680" cy="3085560"/>
          </a:xfrm>
          <a:prstGeom prst="rect">
            <a:avLst/>
          </a:prstGeom>
          <a:ln w="0">
            <a:noFill/>
          </a:ln>
        </p:spPr>
      </p:sp>
      <p:sp>
        <p:nvSpPr>
          <p:cNvPr id="10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7"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D8C78BD-D55E-4615-A467-69B34A91BDA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sldImg"/>
          </p:nvPr>
        </p:nvSpPr>
        <p:spPr>
          <a:xfrm>
            <a:off x="685800" y="1143000"/>
            <a:ext cx="5485680" cy="3085560"/>
          </a:xfrm>
          <a:prstGeom prst="rect">
            <a:avLst/>
          </a:prstGeom>
          <a:ln w="0">
            <a:noFill/>
          </a:ln>
        </p:spPr>
      </p:sp>
      <p:sp>
        <p:nvSpPr>
          <p:cNvPr id="10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0"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49616E-EF6A-45E5-AB2C-E9F57674197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685800" y="1143000"/>
            <a:ext cx="5485680" cy="3085560"/>
          </a:xfrm>
          <a:prstGeom prst="rect">
            <a:avLst/>
          </a:prstGeom>
          <a:ln w="0">
            <a:noFill/>
          </a:ln>
        </p:spPr>
      </p:sp>
      <p:sp>
        <p:nvSpPr>
          <p:cNvPr id="10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3"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D9EDD19-50EC-4C1C-9CA1-E97A2CA21E9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685800" y="1143000"/>
            <a:ext cx="5485680" cy="3085560"/>
          </a:xfrm>
          <a:prstGeom prst="rect">
            <a:avLst/>
          </a:prstGeom>
          <a:ln w="0">
            <a:noFill/>
          </a:ln>
        </p:spPr>
      </p:sp>
      <p:sp>
        <p:nvSpPr>
          <p:cNvPr id="10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6"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ADBFDB-3AFF-4463-99B1-131567C3926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PlaceHolder 1"/>
          <p:cNvSpPr>
            <a:spLocks noGrp="1"/>
          </p:cNvSpPr>
          <p:nvPr>
            <p:ph type="sldImg"/>
          </p:nvPr>
        </p:nvSpPr>
        <p:spPr>
          <a:xfrm>
            <a:off x="685800" y="1143000"/>
            <a:ext cx="5485680" cy="3085560"/>
          </a:xfrm>
          <a:prstGeom prst="rect">
            <a:avLst/>
          </a:prstGeom>
          <a:ln w="0">
            <a:noFill/>
          </a:ln>
        </p:spPr>
      </p:sp>
      <p:sp>
        <p:nvSpPr>
          <p:cNvPr id="10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9"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0748B0-5545-4C67-9690-5990A0F96CE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PlaceHolder 1"/>
          <p:cNvSpPr>
            <a:spLocks noGrp="1"/>
          </p:cNvSpPr>
          <p:nvPr>
            <p:ph type="sldImg"/>
          </p:nvPr>
        </p:nvSpPr>
        <p:spPr>
          <a:xfrm>
            <a:off x="685800" y="1143000"/>
            <a:ext cx="5485680" cy="3085560"/>
          </a:xfrm>
          <a:prstGeom prst="rect">
            <a:avLst/>
          </a:prstGeom>
          <a:ln w="0">
            <a:noFill/>
          </a:ln>
        </p:spPr>
      </p:sp>
      <p:sp>
        <p:nvSpPr>
          <p:cNvPr id="10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2"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0498295-7F1C-478E-A523-B0C36E5A4B6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PlaceHolder 1"/>
          <p:cNvSpPr>
            <a:spLocks noGrp="1"/>
          </p:cNvSpPr>
          <p:nvPr>
            <p:ph type="sldImg"/>
          </p:nvPr>
        </p:nvSpPr>
        <p:spPr>
          <a:xfrm>
            <a:off x="685800" y="1143000"/>
            <a:ext cx="5485680" cy="3085560"/>
          </a:xfrm>
          <a:prstGeom prst="rect">
            <a:avLst/>
          </a:prstGeom>
          <a:ln w="0">
            <a:noFill/>
          </a:ln>
        </p:spPr>
      </p:sp>
      <p:sp>
        <p:nvSpPr>
          <p:cNvPr id="10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5"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E1B247D-3F4B-4251-A2AB-17494C6FA3F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685800" y="1143000"/>
            <a:ext cx="5485680" cy="3085560"/>
          </a:xfrm>
          <a:prstGeom prst="rect">
            <a:avLst/>
          </a:prstGeom>
          <a:ln w="0">
            <a:noFill/>
          </a:ln>
        </p:spPr>
      </p:sp>
      <p:sp>
        <p:nvSpPr>
          <p:cNvPr id="10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8"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6BD3CAA-8E85-4891-8B7E-D5727B761D7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type="sldImg"/>
          </p:nvPr>
        </p:nvSpPr>
        <p:spPr>
          <a:xfrm>
            <a:off x="685800" y="1143000"/>
            <a:ext cx="5485680" cy="3085560"/>
          </a:xfrm>
          <a:prstGeom prst="rect">
            <a:avLst/>
          </a:prstGeom>
          <a:ln w="0">
            <a:noFill/>
          </a:ln>
        </p:spPr>
      </p:sp>
      <p:sp>
        <p:nvSpPr>
          <p:cNvPr id="10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1"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A85FD16-B22D-4862-9AA4-32B0967C830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685800" y="1143000"/>
            <a:ext cx="5485680" cy="3085560"/>
          </a:xfrm>
          <a:prstGeom prst="rect">
            <a:avLst/>
          </a:prstGeom>
          <a:ln w="0">
            <a:noFill/>
          </a:ln>
        </p:spPr>
      </p:sp>
      <p:sp>
        <p:nvSpPr>
          <p:cNvPr id="10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4"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A22148E-6016-4912-913F-A7F9AA4C1CA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PlaceHolder 1"/>
          <p:cNvSpPr>
            <a:spLocks noGrp="1"/>
          </p:cNvSpPr>
          <p:nvPr>
            <p:ph type="sldImg"/>
          </p:nvPr>
        </p:nvSpPr>
        <p:spPr>
          <a:xfrm>
            <a:off x="685800" y="1143000"/>
            <a:ext cx="5485680" cy="3085560"/>
          </a:xfrm>
          <a:prstGeom prst="rect">
            <a:avLst/>
          </a:prstGeom>
          <a:ln w="0">
            <a:noFill/>
          </a:ln>
        </p:spPr>
      </p:sp>
      <p:sp>
        <p:nvSpPr>
          <p:cNvPr id="10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7"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AFA147D-0843-4B73-94C4-14F72D7162B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PlaceHolder 1"/>
          <p:cNvSpPr>
            <a:spLocks noGrp="1"/>
          </p:cNvSpPr>
          <p:nvPr>
            <p:ph type="sldImg"/>
          </p:nvPr>
        </p:nvSpPr>
        <p:spPr>
          <a:xfrm>
            <a:off x="685800" y="1143000"/>
            <a:ext cx="5485680" cy="3085560"/>
          </a:xfrm>
          <a:prstGeom prst="rect">
            <a:avLst/>
          </a:prstGeom>
          <a:ln w="0">
            <a:noFill/>
          </a:ln>
        </p:spPr>
      </p:sp>
      <p:sp>
        <p:nvSpPr>
          <p:cNvPr id="10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0"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C63595B-0D5C-424F-9C97-5ABD436A824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PlaceHolder 1"/>
          <p:cNvSpPr>
            <a:spLocks noGrp="1"/>
          </p:cNvSpPr>
          <p:nvPr>
            <p:ph type="sldImg"/>
          </p:nvPr>
        </p:nvSpPr>
        <p:spPr>
          <a:xfrm>
            <a:off x="685800" y="1143000"/>
            <a:ext cx="5485680" cy="3085560"/>
          </a:xfrm>
          <a:prstGeom prst="rect">
            <a:avLst/>
          </a:prstGeom>
          <a:ln w="0">
            <a:noFill/>
          </a:ln>
        </p:spPr>
      </p:sp>
      <p:sp>
        <p:nvSpPr>
          <p:cNvPr id="10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3"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409D9AD-BB16-44DC-A6AE-2C209354BDD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685800" y="1143000"/>
            <a:ext cx="5485680" cy="3085560"/>
          </a:xfrm>
          <a:prstGeom prst="rect">
            <a:avLst/>
          </a:prstGeom>
          <a:ln w="0">
            <a:noFill/>
          </a:ln>
        </p:spPr>
      </p:sp>
      <p:sp>
        <p:nvSpPr>
          <p:cNvPr id="10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6"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3121471-0C15-4B7C-9172-B9A61CF402D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685800" y="1143000"/>
            <a:ext cx="5485680" cy="3085560"/>
          </a:xfrm>
          <a:prstGeom prst="rect">
            <a:avLst/>
          </a:prstGeom>
          <a:ln w="0">
            <a:noFill/>
          </a:ln>
        </p:spPr>
      </p:sp>
      <p:sp>
        <p:nvSpPr>
          <p:cNvPr id="10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9"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269236C-A3AE-465E-A473-2692D766F6C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sldImg"/>
          </p:nvPr>
        </p:nvSpPr>
        <p:spPr>
          <a:xfrm>
            <a:off x="685800" y="1143000"/>
            <a:ext cx="5485680" cy="3085560"/>
          </a:xfrm>
          <a:prstGeom prst="rect">
            <a:avLst/>
          </a:prstGeom>
          <a:ln w="0">
            <a:noFill/>
          </a:ln>
        </p:spPr>
      </p:sp>
      <p:sp>
        <p:nvSpPr>
          <p:cNvPr id="10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2"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EF9118-8991-4C50-935C-F5AAADCF48F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type="sldImg"/>
          </p:nvPr>
        </p:nvSpPr>
        <p:spPr>
          <a:xfrm>
            <a:off x="685800" y="1143000"/>
            <a:ext cx="5485680" cy="3085560"/>
          </a:xfrm>
          <a:prstGeom prst="rect">
            <a:avLst/>
          </a:prstGeom>
          <a:ln w="0">
            <a:noFill/>
          </a:ln>
        </p:spPr>
      </p:sp>
      <p:sp>
        <p:nvSpPr>
          <p:cNvPr id="10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5"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8D1157E-1767-447B-8883-6D08BA76C9F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 name="PlaceHolder 1"/>
          <p:cNvSpPr>
            <a:spLocks noGrp="1"/>
          </p:cNvSpPr>
          <p:nvPr>
            <p:ph type="sldImg"/>
          </p:nvPr>
        </p:nvSpPr>
        <p:spPr>
          <a:xfrm>
            <a:off x="685800" y="1143000"/>
            <a:ext cx="5485680" cy="3085560"/>
          </a:xfrm>
          <a:prstGeom prst="rect">
            <a:avLst/>
          </a:prstGeom>
          <a:ln w="0">
            <a:noFill/>
          </a:ln>
        </p:spPr>
      </p:sp>
      <p:sp>
        <p:nvSpPr>
          <p:cNvPr id="10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8"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7AAE9A-E3B9-4A05-B992-AA4DF5D222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PlaceHolder 1"/>
          <p:cNvSpPr>
            <a:spLocks noGrp="1"/>
          </p:cNvSpPr>
          <p:nvPr>
            <p:ph type="sldImg"/>
          </p:nvPr>
        </p:nvSpPr>
        <p:spPr>
          <a:xfrm>
            <a:off x="685800" y="1143000"/>
            <a:ext cx="5485680" cy="3085560"/>
          </a:xfrm>
          <a:prstGeom prst="rect">
            <a:avLst/>
          </a:prstGeom>
          <a:ln w="0">
            <a:noFill/>
          </a:ln>
        </p:spPr>
      </p:sp>
      <p:sp>
        <p:nvSpPr>
          <p:cNvPr id="10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1"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946E308-8E20-41EB-BC6A-2DBE37A5BDB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685800" y="1143000"/>
            <a:ext cx="5485680" cy="3085560"/>
          </a:xfrm>
          <a:prstGeom prst="rect">
            <a:avLst/>
          </a:prstGeom>
          <a:ln w="0">
            <a:noFill/>
          </a:ln>
        </p:spPr>
      </p:sp>
      <p:sp>
        <p:nvSpPr>
          <p:cNvPr id="10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4"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079B44D-0356-4A01-B917-1FCC3307628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sldImg"/>
          </p:nvPr>
        </p:nvSpPr>
        <p:spPr>
          <a:xfrm>
            <a:off x="685800" y="1143000"/>
            <a:ext cx="5485680" cy="3085560"/>
          </a:xfrm>
          <a:prstGeom prst="rect">
            <a:avLst/>
          </a:prstGeom>
          <a:ln w="0">
            <a:noFill/>
          </a:ln>
        </p:spPr>
      </p:sp>
      <p:sp>
        <p:nvSpPr>
          <p:cNvPr id="10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7"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1DAC7E3-9E15-4AA2-962D-7CE2529791A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 name="PlaceHolder 1"/>
          <p:cNvSpPr>
            <a:spLocks noGrp="1"/>
          </p:cNvSpPr>
          <p:nvPr>
            <p:ph type="sldImg"/>
          </p:nvPr>
        </p:nvSpPr>
        <p:spPr>
          <a:xfrm>
            <a:off x="685800" y="1143000"/>
            <a:ext cx="5485680" cy="3085560"/>
          </a:xfrm>
          <a:prstGeom prst="rect">
            <a:avLst/>
          </a:prstGeom>
          <a:ln w="0">
            <a:noFill/>
          </a:ln>
        </p:spPr>
      </p:sp>
      <p:sp>
        <p:nvSpPr>
          <p:cNvPr id="10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0"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CE14769-6C92-4CAF-BD9C-0FB72745E0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685800" y="1143000"/>
            <a:ext cx="5485680" cy="3085560"/>
          </a:xfrm>
          <a:prstGeom prst="rect">
            <a:avLst/>
          </a:prstGeom>
          <a:ln w="0">
            <a:noFill/>
          </a:ln>
        </p:spPr>
      </p:sp>
      <p:sp>
        <p:nvSpPr>
          <p:cNvPr id="10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3"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FE08A94-5677-48A7-98DA-D7605B6E8E2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 name="PlaceHolder 1"/>
          <p:cNvSpPr>
            <a:spLocks noGrp="1"/>
          </p:cNvSpPr>
          <p:nvPr>
            <p:ph type="sldImg"/>
          </p:nvPr>
        </p:nvSpPr>
        <p:spPr>
          <a:xfrm>
            <a:off x="685800" y="1143000"/>
            <a:ext cx="5485680" cy="3085560"/>
          </a:xfrm>
          <a:prstGeom prst="rect">
            <a:avLst/>
          </a:prstGeom>
          <a:ln w="0">
            <a:noFill/>
          </a:ln>
        </p:spPr>
      </p:sp>
      <p:sp>
        <p:nvSpPr>
          <p:cNvPr id="10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6"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FCF7B7-EDA9-44A5-982C-16E00F056E5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685800" y="1143000"/>
            <a:ext cx="5485680" cy="3085560"/>
          </a:xfrm>
          <a:prstGeom prst="rect">
            <a:avLst/>
          </a:prstGeom>
          <a:ln w="0">
            <a:noFill/>
          </a:ln>
        </p:spPr>
      </p:sp>
      <p:sp>
        <p:nvSpPr>
          <p:cNvPr id="10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9" name="PlaceHolder 3"/>
          <p:cNvSpPr>
            <a:spLocks noGrp="1"/>
          </p:cNvSpPr>
          <p:nvPr>
            <p:ph type="sldNum" idx="3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FA1D63B-B757-4AE4-A5E0-3B6052A3C7D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685800" y="1143000"/>
            <a:ext cx="5485680" cy="3085560"/>
          </a:xfrm>
          <a:prstGeom prst="rect">
            <a:avLst/>
          </a:prstGeom>
          <a:ln w="0">
            <a:noFill/>
          </a:ln>
        </p:spPr>
      </p:sp>
      <p:sp>
        <p:nvSpPr>
          <p:cNvPr id="10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2"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1BABFD-6F85-455B-924C-938EED54CDE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685800" y="1143000"/>
            <a:ext cx="5485680" cy="3085560"/>
          </a:xfrm>
          <a:prstGeom prst="rect">
            <a:avLst/>
          </a:prstGeom>
          <a:ln w="0">
            <a:noFill/>
          </a:ln>
        </p:spPr>
      </p:sp>
      <p:sp>
        <p:nvSpPr>
          <p:cNvPr id="10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5"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B0B365D-781A-4465-96CE-1069198A53E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685800" y="1143000"/>
            <a:ext cx="5485680" cy="3085560"/>
          </a:xfrm>
          <a:prstGeom prst="rect">
            <a:avLst/>
          </a:prstGeom>
          <a:ln w="0">
            <a:noFill/>
          </a:ln>
        </p:spPr>
      </p:sp>
      <p:sp>
        <p:nvSpPr>
          <p:cNvPr id="10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8"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14853B5-68D3-4F17-B727-B430B876204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685800" y="1143000"/>
            <a:ext cx="5485680" cy="3085560"/>
          </a:xfrm>
          <a:prstGeom prst="rect">
            <a:avLst/>
          </a:prstGeom>
          <a:ln w="0">
            <a:noFill/>
          </a:ln>
        </p:spPr>
      </p:sp>
      <p:sp>
        <p:nvSpPr>
          <p:cNvPr id="11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1"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3840131-CE2E-4CB6-B4F8-D1D8D28FD6E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685800" y="1143000"/>
            <a:ext cx="5485680" cy="3085560"/>
          </a:xfrm>
          <a:prstGeom prst="rect">
            <a:avLst/>
          </a:prstGeom>
          <a:ln w="0">
            <a:noFill/>
          </a:ln>
        </p:spPr>
      </p:sp>
      <p:sp>
        <p:nvSpPr>
          <p:cNvPr id="11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4"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85D0161-736B-4C3D-8A20-B5AF91E8979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A4A"/>
        </a:solidFill>
      </p:bgPr>
    </p:bg>
    <p:spTree>
      <p:nvGrpSpPr>
        <p:cNvPr id="1" name=""/>
        <p:cNvGrpSpPr/>
        <p:nvPr/>
      </p:nvGrpSpPr>
      <p:grpSpPr>
        <a:xfrm>
          <a:off x="0" y="0"/>
          <a:ext cx="0" cy="0"/>
          <a:chOff x="0" y="0"/>
          <a:chExt cx="0" cy="0"/>
        </a:xfrm>
      </p:grpSpPr>
      <p:sp>
        <p:nvSpPr>
          <p:cNvPr id="10" name="Shape 0"/>
          <p:cNvSpPr/>
          <p:nvPr/>
        </p:nvSpPr>
        <p:spPr>
          <a:xfrm>
            <a:off x="0" y="0"/>
            <a:ext cx="12188160" cy="6857280"/>
          </a:xfrm>
          <a:prstGeom prst="rect">
            <a:avLst/>
          </a:prstGeom>
          <a:solidFill>
            <a:srgbClr val="132A4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Text 1"/>
          <p:cNvSpPr/>
          <p:nvPr/>
        </p:nvSpPr>
        <p:spPr>
          <a:xfrm>
            <a:off x="822960" y="1051560"/>
            <a:ext cx="1051488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pc="300" strike="noStrike">
                <a:solidFill>
                  <a:srgbClr val="0E8388"/>
                </a:solidFill>
                <a:effectLst/>
                <a:uFillTx/>
                <a:latin typeface="Calibri"/>
                <a:ea typeface="Calibri"/>
              </a:rPr>
              <a:t>A STUDY NOTEBOOK IN DIGITAL SIGNAL PROCESSING</a:t>
            </a:r>
            <a:endParaRPr lang="en-US" sz="1300" b="0" u="none" strike="noStrike">
              <a:solidFill>
                <a:srgbClr val="FFFFFF"/>
              </a:solidFill>
              <a:effectLst/>
              <a:uFillTx/>
              <a:latin typeface="Arial"/>
            </a:endParaRPr>
          </a:p>
        </p:txBody>
      </p:sp>
      <p:sp>
        <p:nvSpPr>
          <p:cNvPr id="12" name="Text 2"/>
          <p:cNvSpPr/>
          <p:nvPr/>
        </p:nvSpPr>
        <p:spPr>
          <a:xfrm>
            <a:off x="822960" y="1463040"/>
            <a:ext cx="10514880" cy="1370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400" b="1" u="none" strike="noStrike">
                <a:solidFill>
                  <a:srgbClr val="FFFFFF"/>
                </a:solidFill>
                <a:effectLst/>
                <a:uFillTx/>
                <a:latin typeface="Cambria"/>
                <a:ea typeface="Cambria"/>
              </a:rPr>
              <a:t>Radix-2 Decimation-in-Time (DIT) FFT</a:t>
            </a:r>
            <a:endParaRPr lang="en-US" sz="4400" b="0" u="none" strike="noStrike">
              <a:solidFill>
                <a:srgbClr val="FFFFFF"/>
              </a:solidFill>
              <a:effectLst/>
              <a:uFillTx/>
              <a:latin typeface="Arial"/>
            </a:endParaRPr>
          </a:p>
        </p:txBody>
      </p:sp>
      <p:sp>
        <p:nvSpPr>
          <p:cNvPr id="13" name="Text 3"/>
          <p:cNvSpPr/>
          <p:nvPr/>
        </p:nvSpPr>
        <p:spPr>
          <a:xfrm>
            <a:off x="822960" y="2697480"/>
            <a:ext cx="10514880" cy="6393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400" b="0" i="1" u="none" strike="noStrike">
                <a:solidFill>
                  <a:srgbClr val="CADCFC"/>
                </a:solidFill>
                <a:effectLst/>
                <a:uFillTx/>
                <a:latin typeface="Cambria"/>
                <a:ea typeface="Cambria"/>
              </a:rPr>
              <a:t>From the DFT Equation to an 8-Point FFT</a:t>
            </a:r>
            <a:endParaRPr lang="en-US" sz="2400" b="0" u="none" strike="noStrike">
              <a:solidFill>
                <a:srgbClr val="FFFFFF"/>
              </a:solidFill>
              <a:effectLst/>
              <a:uFillTx/>
              <a:latin typeface="Arial"/>
            </a:endParaRPr>
          </a:p>
        </p:txBody>
      </p:sp>
      <p:sp>
        <p:nvSpPr>
          <p:cNvPr id="14" name="Shape 4"/>
          <p:cNvSpPr/>
          <p:nvPr/>
        </p:nvSpPr>
        <p:spPr>
          <a:xfrm>
            <a:off x="822960" y="3611880"/>
            <a:ext cx="10514880" cy="959400"/>
          </a:xfrm>
          <a:prstGeom prst="roundRect">
            <a:avLst>
              <a:gd name="adj" fmla="val 5714"/>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Text 5"/>
          <p:cNvSpPr/>
          <p:nvPr/>
        </p:nvSpPr>
        <p:spPr>
          <a:xfrm>
            <a:off x="1097280" y="3611880"/>
            <a:ext cx="9966240" cy="959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200" b="0" u="none" strike="noStrike">
                <a:solidFill>
                  <a:srgbClr val="FFFFFF"/>
                </a:solidFill>
                <a:effectLst/>
                <a:uFillTx/>
                <a:latin typeface="Cambria"/>
                <a:ea typeface="Cambria"/>
              </a:rPr>
              <a:t>X</a:t>
            </a:r>
            <a:r>
              <a:rPr lang="en-US" sz="2200" b="0" u="none" strike="noStrike" baseline="-40000">
                <a:solidFill>
                  <a:srgbClr val="FFFFFF"/>
                </a:solidFill>
                <a:effectLst/>
                <a:uFillTx/>
                <a:latin typeface="Cambria"/>
                <a:ea typeface="Cambria"/>
              </a:rPr>
              <a:t>k</a:t>
            </a:r>
            <a:r>
              <a:rPr lang="en-US" sz="2200" b="0" u="none" strike="noStrike">
                <a:solidFill>
                  <a:srgbClr val="CADCFC"/>
                </a:solidFill>
                <a:effectLst/>
                <a:uFillTx/>
                <a:latin typeface="Cambria"/>
                <a:ea typeface="Cambria"/>
              </a:rPr>
              <a:t>  =  </a:t>
            </a:r>
            <a:r>
              <a:rPr lang="en-US" sz="2200" b="1" u="none" strike="noStrike">
                <a:solidFill>
                  <a:srgbClr val="0E8388"/>
                </a:solidFill>
                <a:effectLst/>
                <a:uFillTx/>
                <a:latin typeface="Cambria"/>
                <a:ea typeface="Cambria"/>
              </a:rPr>
              <a:t>E</a:t>
            </a:r>
            <a:r>
              <a:rPr lang="en-US" sz="2200" b="1" u="none" strike="noStrike" baseline="-40000">
                <a:solidFill>
                  <a:srgbClr val="0E8388"/>
                </a:solidFill>
                <a:effectLst/>
                <a:uFillTx/>
                <a:latin typeface="Cambria"/>
                <a:ea typeface="Cambria"/>
              </a:rPr>
              <a:t>k</a:t>
            </a:r>
            <a:r>
              <a:rPr lang="en-US" sz="2200" b="0" u="none" strike="noStrike">
                <a:solidFill>
                  <a:srgbClr val="CADCFC"/>
                </a:solidFill>
                <a:effectLst/>
                <a:uFillTx/>
                <a:latin typeface="Cambria"/>
                <a:ea typeface="Cambria"/>
              </a:rPr>
              <a:t>  +  W</a:t>
            </a:r>
            <a:r>
              <a:rPr lang="en-US" sz="2200" b="0" u="none" strike="noStrike" baseline="-40000">
                <a:solidFill>
                  <a:srgbClr val="CADCFC"/>
                </a:solidFill>
                <a:effectLst/>
                <a:uFillTx/>
                <a:latin typeface="Cambria"/>
                <a:ea typeface="Cambria"/>
              </a:rPr>
              <a:t>N</a:t>
            </a:r>
            <a:r>
              <a:rPr lang="en-US" sz="2200" b="0" u="none" strike="noStrike" baseline="30000">
                <a:solidFill>
                  <a:srgbClr val="CADCFC"/>
                </a:solidFill>
                <a:effectLst/>
                <a:uFillTx/>
                <a:latin typeface="Cambria"/>
                <a:ea typeface="Cambria"/>
              </a:rPr>
              <a:t>k</a:t>
            </a:r>
            <a:r>
              <a:rPr lang="en-US" sz="2200" b="1" u="none" strike="noStrike">
                <a:solidFill>
                  <a:srgbClr val="D98324"/>
                </a:solidFill>
                <a:effectLst/>
                <a:uFillTx/>
                <a:latin typeface="Cambria"/>
                <a:ea typeface="Cambria"/>
              </a:rPr>
              <a:t> O</a:t>
            </a:r>
            <a:r>
              <a:rPr lang="en-US" sz="2200" b="1" u="none" strike="noStrike" baseline="-40000">
                <a:solidFill>
                  <a:srgbClr val="D98324"/>
                </a:solidFill>
                <a:effectLst/>
                <a:uFillTx/>
                <a:latin typeface="Cambria"/>
                <a:ea typeface="Cambria"/>
              </a:rPr>
              <a:t>k</a:t>
            </a:r>
            <a:r>
              <a:rPr lang="en-US" sz="1400" b="0" i="1" u="none" strike="noStrike">
                <a:solidFill>
                  <a:srgbClr val="9FB6D6"/>
                </a:solidFill>
                <a:effectLst/>
                <a:uFillTx/>
                <a:latin typeface="Calibri"/>
                <a:ea typeface="Calibri"/>
              </a:rPr>
              <a:t>        the radix-2 DIT decomposition</a:t>
            </a:r>
            <a:endParaRPr lang="en-US" sz="1400" b="0" u="none" strike="noStrike">
              <a:solidFill>
                <a:srgbClr val="FFFFFF"/>
              </a:solidFill>
              <a:effectLst/>
              <a:uFillTx/>
              <a:latin typeface="Arial"/>
            </a:endParaRPr>
          </a:p>
        </p:txBody>
      </p:sp>
      <p:sp>
        <p:nvSpPr>
          <p:cNvPr id="16" name="Text 6"/>
          <p:cNvSpPr/>
          <p:nvPr/>
        </p:nvSpPr>
        <p:spPr>
          <a:xfrm>
            <a:off x="822960" y="4892040"/>
            <a:ext cx="1051488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9FB6D6"/>
                </a:solidFill>
                <a:effectLst/>
                <a:uFillTx/>
                <a:latin typeface="Calibri"/>
                <a:ea typeface="Calibri"/>
              </a:rPr>
              <a:t>Derivation  ·  Twiddle Factors  ·  Butterfly  ·  Bit-Reversal  ·  Worked 8-Point Example  ·  Hardware Mapping</a:t>
            </a:r>
            <a:endParaRPr lang="en-US" sz="1250" b="0" u="none" strike="noStrike">
              <a:solidFill>
                <a:srgbClr val="FFFFFF"/>
              </a:solidFill>
              <a:effectLst/>
              <a:uFillTx/>
              <a:latin typeface="Arial"/>
            </a:endParaRPr>
          </a:p>
        </p:txBody>
      </p:sp>
      <p:sp>
        <p:nvSpPr>
          <p:cNvPr id="17" name="Text 7"/>
          <p:cNvSpPr/>
          <p:nvPr/>
        </p:nvSpPr>
        <p:spPr>
          <a:xfrm>
            <a:off x="822960" y="6263640"/>
            <a:ext cx="73144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5C6B7A"/>
                </a:solidFill>
                <a:effectLst/>
                <a:uFillTx/>
                <a:latin typeface="Calibri"/>
                <a:ea typeface="Calibri"/>
              </a:rPr>
              <a:t>Reference document for MATLAB, FPGA, and RTL implementation</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8"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 · ROADMAP</a:t>
            </a:r>
            <a:endParaRPr lang="en-US" sz="1150" b="0" u="none" strike="noStrike">
              <a:solidFill>
                <a:srgbClr val="000000"/>
              </a:solidFill>
              <a:effectLst/>
              <a:uFillTx/>
              <a:latin typeface="Arial"/>
            </a:endParaRPr>
          </a:p>
        </p:txBody>
      </p:sp>
      <p:sp>
        <p:nvSpPr>
          <p:cNvPr id="19"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Learning Objectives</a:t>
            </a:r>
            <a:endParaRPr lang="en-US" sz="2700" b="0" u="none" strike="noStrike">
              <a:solidFill>
                <a:srgbClr val="000000"/>
              </a:solidFill>
              <a:effectLst/>
              <a:uFillTx/>
              <a:latin typeface="Arial"/>
            </a:endParaRPr>
          </a:p>
        </p:txBody>
      </p:sp>
      <p:sp>
        <p:nvSpPr>
          <p:cNvPr id="20" name="Text 2"/>
          <p:cNvSpPr/>
          <p:nvPr/>
        </p:nvSpPr>
        <p:spPr>
          <a:xfrm>
            <a:off x="502920" y="1170360"/>
            <a:ext cx="11154960" cy="456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5C6B7A"/>
                </a:solidFill>
                <a:effectLst/>
                <a:uFillTx/>
                <a:latin typeface="Calibri"/>
                <a:ea typeface="Calibri"/>
              </a:rPr>
              <a:t>After studying this deck, you should be able to explain, derive, and calculate every part of a radix-2 DIT FFT, not just recognize the final diagram.</a:t>
            </a:r>
            <a:endParaRPr lang="en-US" sz="1300" b="0" u="none" strike="noStrike">
              <a:solidFill>
                <a:srgbClr val="000000"/>
              </a:solidFill>
              <a:effectLst/>
              <a:uFillTx/>
              <a:latin typeface="Arial"/>
            </a:endParaRPr>
          </a:p>
        </p:txBody>
      </p:sp>
      <p:sp>
        <p:nvSpPr>
          <p:cNvPr id="21" name="Shape 3"/>
          <p:cNvSpPr/>
          <p:nvPr/>
        </p:nvSpPr>
        <p:spPr>
          <a:xfrm>
            <a:off x="548640" y="190188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 name="Text 4"/>
          <p:cNvSpPr/>
          <p:nvPr/>
        </p:nvSpPr>
        <p:spPr>
          <a:xfrm>
            <a:off x="548640" y="190188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23" name="Text 5"/>
          <p:cNvSpPr/>
          <p:nvPr/>
        </p:nvSpPr>
        <p:spPr>
          <a:xfrm>
            <a:off x="987480" y="187452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The difference between the DFT and the FFT</a:t>
            </a:r>
            <a:endParaRPr lang="en-US" sz="1250" b="0" u="none" strike="noStrike">
              <a:solidFill>
                <a:srgbClr val="000000"/>
              </a:solidFill>
              <a:effectLst/>
              <a:uFillTx/>
              <a:latin typeface="Arial"/>
            </a:endParaRPr>
          </a:p>
        </p:txBody>
      </p:sp>
      <p:sp>
        <p:nvSpPr>
          <p:cNvPr id="24" name="Shape 6"/>
          <p:cNvSpPr/>
          <p:nvPr/>
        </p:nvSpPr>
        <p:spPr>
          <a:xfrm>
            <a:off x="548640" y="256032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Text 7"/>
          <p:cNvSpPr/>
          <p:nvPr/>
        </p:nvSpPr>
        <p:spPr>
          <a:xfrm>
            <a:off x="548640" y="256032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26" name="Text 8"/>
          <p:cNvSpPr/>
          <p:nvPr/>
        </p:nvSpPr>
        <p:spPr>
          <a:xfrm>
            <a:off x="987480" y="253296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Why the FFT is computationally efficient (O(N log2 N) vs O(N^2))</a:t>
            </a:r>
            <a:endParaRPr lang="en-US" sz="1250" b="0" u="none" strike="noStrike">
              <a:solidFill>
                <a:srgbClr val="000000"/>
              </a:solidFill>
              <a:effectLst/>
              <a:uFillTx/>
              <a:latin typeface="Arial"/>
            </a:endParaRPr>
          </a:p>
        </p:txBody>
      </p:sp>
      <p:sp>
        <p:nvSpPr>
          <p:cNvPr id="27" name="Shape 9"/>
          <p:cNvSpPr/>
          <p:nvPr/>
        </p:nvSpPr>
        <p:spPr>
          <a:xfrm>
            <a:off x="548640" y="321876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Text 10"/>
          <p:cNvSpPr/>
          <p:nvPr/>
        </p:nvSpPr>
        <p:spPr>
          <a:xfrm>
            <a:off x="548640" y="321876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29" name="Text 11"/>
          <p:cNvSpPr/>
          <p:nvPr/>
        </p:nvSpPr>
        <p:spPr>
          <a:xfrm>
            <a:off x="987480" y="319140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What “radix-2” means and why N must be a power of 2</a:t>
            </a:r>
            <a:endParaRPr lang="en-US" sz="1250" b="0" u="none" strike="noStrike">
              <a:solidFill>
                <a:srgbClr val="000000"/>
              </a:solidFill>
              <a:effectLst/>
              <a:uFillTx/>
              <a:latin typeface="Arial"/>
            </a:endParaRPr>
          </a:p>
        </p:txBody>
      </p:sp>
      <p:sp>
        <p:nvSpPr>
          <p:cNvPr id="30" name="Shape 12"/>
          <p:cNvSpPr/>
          <p:nvPr/>
        </p:nvSpPr>
        <p:spPr>
          <a:xfrm>
            <a:off x="548640" y="387720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Text 13"/>
          <p:cNvSpPr/>
          <p:nvPr/>
        </p:nvSpPr>
        <p:spPr>
          <a:xfrm>
            <a:off x="548640" y="387720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32" name="Text 14"/>
          <p:cNvSpPr/>
          <p:nvPr/>
        </p:nvSpPr>
        <p:spPr>
          <a:xfrm>
            <a:off x="987480" y="384948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What “decimation-in-time” means</a:t>
            </a:r>
            <a:endParaRPr lang="en-US" sz="1250" b="0" u="none" strike="noStrike">
              <a:solidFill>
                <a:srgbClr val="000000"/>
              </a:solidFill>
              <a:effectLst/>
              <a:uFillTx/>
              <a:latin typeface="Arial"/>
            </a:endParaRPr>
          </a:p>
        </p:txBody>
      </p:sp>
      <p:sp>
        <p:nvSpPr>
          <p:cNvPr id="33" name="Shape 15"/>
          <p:cNvSpPr/>
          <p:nvPr/>
        </p:nvSpPr>
        <p:spPr>
          <a:xfrm>
            <a:off x="548640" y="453528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 name="Text 16"/>
          <p:cNvSpPr/>
          <p:nvPr/>
        </p:nvSpPr>
        <p:spPr>
          <a:xfrm>
            <a:off x="548640" y="453528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35" name="Text 17"/>
          <p:cNvSpPr/>
          <p:nvPr/>
        </p:nvSpPr>
        <p:spPr>
          <a:xfrm>
            <a:off x="987480" y="450792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How the DFT summation is decomposed into even and odd terms</a:t>
            </a:r>
            <a:endParaRPr lang="en-US" sz="1250" b="0" u="none" strike="noStrike">
              <a:solidFill>
                <a:srgbClr val="000000"/>
              </a:solidFill>
              <a:effectLst/>
              <a:uFillTx/>
              <a:latin typeface="Arial"/>
            </a:endParaRPr>
          </a:p>
        </p:txBody>
      </p:sp>
      <p:sp>
        <p:nvSpPr>
          <p:cNvPr id="36" name="Shape 18"/>
          <p:cNvSpPr/>
          <p:nvPr/>
        </p:nvSpPr>
        <p:spPr>
          <a:xfrm>
            <a:off x="548640" y="5193720"/>
            <a:ext cx="291960" cy="291960"/>
          </a:xfrm>
          <a:prstGeom prst="roundRect">
            <a:avLst>
              <a:gd name="adj" fmla="val 50000"/>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Text 19"/>
          <p:cNvSpPr/>
          <p:nvPr/>
        </p:nvSpPr>
        <p:spPr>
          <a:xfrm>
            <a:off x="548640" y="519372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38" name="Text 20"/>
          <p:cNvSpPr/>
          <p:nvPr/>
        </p:nvSpPr>
        <p:spPr>
          <a:xfrm>
            <a:off x="987480" y="516636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Full derivation of the radix-2 DIT equations</a:t>
            </a:r>
            <a:endParaRPr lang="en-US" sz="1250" b="0" u="none" strike="noStrike">
              <a:solidFill>
                <a:srgbClr val="000000"/>
              </a:solidFill>
              <a:effectLst/>
              <a:uFillTx/>
              <a:latin typeface="Arial"/>
            </a:endParaRPr>
          </a:p>
        </p:txBody>
      </p:sp>
      <p:sp>
        <p:nvSpPr>
          <p:cNvPr id="39" name="Shape 21"/>
          <p:cNvSpPr/>
          <p:nvPr/>
        </p:nvSpPr>
        <p:spPr>
          <a:xfrm>
            <a:off x="6263640" y="190188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 name="Text 22"/>
          <p:cNvSpPr/>
          <p:nvPr/>
        </p:nvSpPr>
        <p:spPr>
          <a:xfrm>
            <a:off x="6263640" y="190188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41" name="Text 23"/>
          <p:cNvSpPr/>
          <p:nvPr/>
        </p:nvSpPr>
        <p:spPr>
          <a:xfrm>
            <a:off x="6702480" y="187452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The origin and meaning of twiddle factors W_N^k</a:t>
            </a:r>
            <a:endParaRPr lang="en-US" sz="1250" b="0" u="none" strike="noStrike">
              <a:solidFill>
                <a:srgbClr val="000000"/>
              </a:solidFill>
              <a:effectLst/>
              <a:uFillTx/>
              <a:latin typeface="Arial"/>
            </a:endParaRPr>
          </a:p>
        </p:txBody>
      </p:sp>
      <p:sp>
        <p:nvSpPr>
          <p:cNvPr id="42" name="Shape 24"/>
          <p:cNvSpPr/>
          <p:nvPr/>
        </p:nvSpPr>
        <p:spPr>
          <a:xfrm>
            <a:off x="6263640" y="256032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Text 25"/>
          <p:cNvSpPr/>
          <p:nvPr/>
        </p:nvSpPr>
        <p:spPr>
          <a:xfrm>
            <a:off x="6263640" y="256032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44" name="Text 26"/>
          <p:cNvSpPr/>
          <p:nvPr/>
        </p:nvSpPr>
        <p:spPr>
          <a:xfrm>
            <a:off x="6702480" y="253296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How the butterfly operation falls directly out of the algebra</a:t>
            </a:r>
            <a:endParaRPr lang="en-US" sz="1250" b="0" u="none" strike="noStrike">
              <a:solidFill>
                <a:srgbClr val="000000"/>
              </a:solidFill>
              <a:effectLst/>
              <a:uFillTx/>
              <a:latin typeface="Arial"/>
            </a:endParaRPr>
          </a:p>
        </p:txBody>
      </p:sp>
      <p:sp>
        <p:nvSpPr>
          <p:cNvPr id="45" name="Shape 27"/>
          <p:cNvSpPr/>
          <p:nvPr/>
        </p:nvSpPr>
        <p:spPr>
          <a:xfrm>
            <a:off x="6263640" y="321876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Text 28"/>
          <p:cNvSpPr/>
          <p:nvPr/>
        </p:nvSpPr>
        <p:spPr>
          <a:xfrm>
            <a:off x="6263640" y="321876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47" name="Text 29"/>
          <p:cNvSpPr/>
          <p:nvPr/>
        </p:nvSpPr>
        <p:spPr>
          <a:xfrm>
            <a:off x="6702480" y="319140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How the algorithm organizes into log2(N) FFT stages</a:t>
            </a:r>
            <a:endParaRPr lang="en-US" sz="1250" b="0" u="none" strike="noStrike">
              <a:solidFill>
                <a:srgbClr val="000000"/>
              </a:solidFill>
              <a:effectLst/>
              <a:uFillTx/>
              <a:latin typeface="Arial"/>
            </a:endParaRPr>
          </a:p>
        </p:txBody>
      </p:sp>
      <p:sp>
        <p:nvSpPr>
          <p:cNvPr id="48" name="Shape 30"/>
          <p:cNvSpPr/>
          <p:nvPr/>
        </p:nvSpPr>
        <p:spPr>
          <a:xfrm>
            <a:off x="6263640" y="387720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31"/>
          <p:cNvSpPr/>
          <p:nvPr/>
        </p:nvSpPr>
        <p:spPr>
          <a:xfrm>
            <a:off x="6263640" y="387720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50" name="Text 32"/>
          <p:cNvSpPr/>
          <p:nvPr/>
        </p:nvSpPr>
        <p:spPr>
          <a:xfrm>
            <a:off x="6702480" y="384948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Why bit-reversed input ordering is required</a:t>
            </a:r>
            <a:endParaRPr lang="en-US" sz="1250" b="0" u="none" strike="noStrike">
              <a:solidFill>
                <a:srgbClr val="000000"/>
              </a:solidFill>
              <a:effectLst/>
              <a:uFillTx/>
              <a:latin typeface="Arial"/>
            </a:endParaRPr>
          </a:p>
        </p:txBody>
      </p:sp>
      <p:sp>
        <p:nvSpPr>
          <p:cNvPr id="51" name="Shape 33"/>
          <p:cNvSpPr/>
          <p:nvPr/>
        </p:nvSpPr>
        <p:spPr>
          <a:xfrm>
            <a:off x="6263640" y="453528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 name="Text 34"/>
          <p:cNvSpPr/>
          <p:nvPr/>
        </p:nvSpPr>
        <p:spPr>
          <a:xfrm>
            <a:off x="6263640" y="453528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53" name="Text 35"/>
          <p:cNvSpPr/>
          <p:nvPr/>
        </p:nvSpPr>
        <p:spPr>
          <a:xfrm>
            <a:off x="6702480" y="450792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A complete, hand-checked 8-point FFT calculation</a:t>
            </a:r>
            <a:endParaRPr lang="en-US" sz="1250" b="0" u="none" strike="noStrike">
              <a:solidFill>
                <a:srgbClr val="000000"/>
              </a:solidFill>
              <a:effectLst/>
              <a:uFillTx/>
              <a:latin typeface="Arial"/>
            </a:endParaRPr>
          </a:p>
        </p:txBody>
      </p:sp>
      <p:sp>
        <p:nvSpPr>
          <p:cNvPr id="54" name="Shape 36"/>
          <p:cNvSpPr/>
          <p:nvPr/>
        </p:nvSpPr>
        <p:spPr>
          <a:xfrm>
            <a:off x="6263640" y="5193720"/>
            <a:ext cx="291960" cy="291960"/>
          </a:xfrm>
          <a:prstGeom prst="roundRect">
            <a:avLst>
              <a:gd name="adj" fmla="val 50000"/>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Text 37"/>
          <p:cNvSpPr/>
          <p:nvPr/>
        </p:nvSpPr>
        <p:spPr>
          <a:xfrm>
            <a:off x="6263640" y="5193720"/>
            <a:ext cx="29196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rPr>
              <a:t>✓</a:t>
            </a:r>
            <a:endParaRPr lang="en-US" sz="1300" b="0" u="none" strike="noStrike">
              <a:solidFill>
                <a:srgbClr val="000000"/>
              </a:solidFill>
              <a:effectLst/>
              <a:uFillTx/>
              <a:latin typeface="Arial"/>
            </a:endParaRPr>
          </a:p>
        </p:txBody>
      </p:sp>
      <p:sp>
        <p:nvSpPr>
          <p:cNvPr id="56" name="Text 38"/>
          <p:cNvSpPr/>
          <p:nvPr/>
        </p:nvSpPr>
        <p:spPr>
          <a:xfrm>
            <a:off x="6702480" y="5166360"/>
            <a:ext cx="493704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How the math maps to the flow graph, operation counts, and hardware / DSP implementation</a:t>
            </a:r>
            <a:endParaRPr lang="en-US" sz="1250" b="0" u="none" strike="noStrike">
              <a:solidFill>
                <a:srgbClr val="000000"/>
              </a:solidFill>
              <a:effectLst/>
              <a:uFillTx/>
              <a:latin typeface="Arial"/>
            </a:endParaRPr>
          </a:p>
        </p:txBody>
      </p:sp>
      <p:sp>
        <p:nvSpPr>
          <p:cNvPr id="57" name="Text 3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8" name="Text 4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Introduction</a:t>
            </a:r>
            <a:endParaRPr lang="en-US" sz="900" b="0" u="none" strike="noStrike">
              <a:solidFill>
                <a:srgbClr val="000000"/>
              </a:solidFill>
              <a:effectLst/>
              <a:uFillTx/>
              <a:latin typeface="Arial"/>
            </a:endParaRPr>
          </a:p>
        </p:txBody>
      </p:sp>
      <p:sp>
        <p:nvSpPr>
          <p:cNvPr id="59" name="Text 4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0"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 · START FROM THE DFT</a:t>
            </a:r>
            <a:endParaRPr lang="en-US" sz="1150" b="0" u="none" strike="noStrike">
              <a:solidFill>
                <a:srgbClr val="000000"/>
              </a:solidFill>
              <a:effectLst/>
              <a:uFillTx/>
              <a:latin typeface="Arial"/>
            </a:endParaRPr>
          </a:p>
        </p:txBody>
      </p:sp>
      <p:sp>
        <p:nvSpPr>
          <p:cNvPr id="61"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N-Point Discrete Fourier Transform</a:t>
            </a:r>
            <a:endParaRPr lang="en-US" sz="2700" b="0" u="none" strike="noStrike">
              <a:solidFill>
                <a:srgbClr val="000000"/>
              </a:solidFill>
              <a:effectLst/>
              <a:uFillTx/>
              <a:latin typeface="Arial"/>
            </a:endParaRPr>
          </a:p>
        </p:txBody>
      </p:sp>
      <p:sp>
        <p:nvSpPr>
          <p:cNvPr id="62" name="Shape 2"/>
          <p:cNvSpPr/>
          <p:nvPr/>
        </p:nvSpPr>
        <p:spPr>
          <a:xfrm>
            <a:off x="502920" y="1234440"/>
            <a:ext cx="5485680" cy="913680"/>
          </a:xfrm>
          <a:prstGeom prst="roundRect">
            <a:avLst>
              <a:gd name="adj" fmla="val 8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3"/>
          <p:cNvSpPr/>
          <p:nvPr/>
        </p:nvSpPr>
        <p:spPr>
          <a:xfrm>
            <a:off x="640080" y="1234440"/>
            <a:ext cx="521136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400" b="0" u="none" strike="noStrike">
                <a:solidFill>
                  <a:srgbClr val="132A4A"/>
                </a:solidFill>
                <a:effectLst/>
                <a:uFillTx/>
                <a:latin typeface="Cambria"/>
                <a:ea typeface="Cambria"/>
              </a:rPr>
              <a:t>X</a:t>
            </a:r>
            <a:r>
              <a:rPr lang="en-US" sz="2400" b="0" u="none" strike="noStrike" baseline="-40000">
                <a:solidFill>
                  <a:srgbClr val="132A4A"/>
                </a:solidFill>
                <a:effectLst/>
                <a:uFillTx/>
                <a:latin typeface="Cambria"/>
                <a:ea typeface="Cambria"/>
              </a:rPr>
              <a:t>k</a:t>
            </a:r>
            <a:r>
              <a:rPr lang="en-US" sz="2400" b="0" u="none" strike="noStrike">
                <a:solidFill>
                  <a:srgbClr val="132A4A"/>
                </a:solidFill>
                <a:effectLst/>
                <a:uFillTx/>
                <a:latin typeface="Cambria"/>
                <a:ea typeface="Cambria"/>
              </a:rPr>
              <a:t> = </a:t>
            </a:r>
            <a:r>
              <a:rPr lang="en-US" sz="3000" b="0" u="none" strike="noStrike">
                <a:solidFill>
                  <a:srgbClr val="132A4A"/>
                </a:solidFill>
                <a:effectLst/>
                <a:uFillTx/>
                <a:latin typeface="Cambria"/>
                <a:ea typeface="Cambria"/>
              </a:rPr>
              <a:t>Σ</a:t>
            </a:r>
            <a:r>
              <a:rPr lang="en-US" sz="1200" b="0" u="none" strike="noStrike" baseline="-40000">
                <a:solidFill>
                  <a:srgbClr val="132A4A"/>
                </a:solidFill>
                <a:effectLst/>
                <a:uFillTx/>
                <a:latin typeface="Cambria"/>
                <a:ea typeface="Cambria"/>
              </a:rPr>
              <a:t>n=0</a:t>
            </a:r>
            <a:r>
              <a:rPr lang="en-US" sz="1200" b="0" u="none" strike="noStrike" baseline="30000">
                <a:solidFill>
                  <a:srgbClr val="132A4A"/>
                </a:solidFill>
                <a:effectLst/>
                <a:uFillTx/>
                <a:latin typeface="Cambria"/>
                <a:ea typeface="Cambria"/>
              </a:rPr>
              <a:t>N-1</a:t>
            </a:r>
            <a:r>
              <a:rPr lang="en-US" sz="2400" b="0" u="none" strike="noStrike">
                <a:solidFill>
                  <a:srgbClr val="132A4A"/>
                </a:solidFill>
                <a:effectLst/>
                <a:uFillTx/>
                <a:latin typeface="Cambria"/>
                <a:ea typeface="Cambria"/>
              </a:rPr>
              <a:t>  x</a:t>
            </a:r>
            <a:r>
              <a:rPr lang="en-US" sz="2400" b="0" u="none" strike="noStrike" baseline="-40000">
                <a:solidFill>
                  <a:srgbClr val="132A4A"/>
                </a:solidFill>
                <a:effectLst/>
                <a:uFillTx/>
                <a:latin typeface="Cambria"/>
                <a:ea typeface="Cambria"/>
              </a:rPr>
              <a:t>n</a:t>
            </a:r>
            <a:r>
              <a:rPr lang="en-US" sz="2400" b="0" u="none" strike="noStrike">
                <a:solidFill>
                  <a:srgbClr val="132A4A"/>
                </a:solidFill>
                <a:effectLst/>
                <a:uFillTx/>
                <a:latin typeface="Cambria"/>
                <a:ea typeface="Cambria"/>
              </a:rPr>
              <a:t> W</a:t>
            </a:r>
            <a:r>
              <a:rPr lang="en-US" sz="2400" b="0" u="none" strike="noStrike" baseline="-40000">
                <a:solidFill>
                  <a:srgbClr val="132A4A"/>
                </a:solidFill>
                <a:effectLst/>
                <a:uFillTx/>
                <a:latin typeface="Cambria"/>
                <a:ea typeface="Cambria"/>
              </a:rPr>
              <a:t>N</a:t>
            </a:r>
            <a:r>
              <a:rPr lang="en-US" sz="2400" b="0" u="none" strike="noStrike" baseline="30000">
                <a:solidFill>
                  <a:srgbClr val="132A4A"/>
                </a:solidFill>
                <a:effectLst/>
                <a:uFillTx/>
                <a:latin typeface="Cambria"/>
                <a:ea typeface="Cambria"/>
              </a:rPr>
              <a:t>nk</a:t>
            </a:r>
            <a:endParaRPr lang="en-US" sz="2400" b="0" u="none" strike="noStrike">
              <a:solidFill>
                <a:srgbClr val="000000"/>
              </a:solidFill>
              <a:effectLst/>
              <a:uFillTx/>
              <a:latin typeface="Arial"/>
            </a:endParaRPr>
          </a:p>
        </p:txBody>
      </p:sp>
      <p:sp>
        <p:nvSpPr>
          <p:cNvPr id="64" name="Shape 4"/>
          <p:cNvSpPr/>
          <p:nvPr/>
        </p:nvSpPr>
        <p:spPr>
          <a:xfrm>
            <a:off x="6199560" y="1234440"/>
            <a:ext cx="5485680" cy="913680"/>
          </a:xfrm>
          <a:prstGeom prst="roundRect">
            <a:avLst>
              <a:gd name="adj" fmla="val 8000"/>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Text 5"/>
          <p:cNvSpPr/>
          <p:nvPr/>
        </p:nvSpPr>
        <p:spPr>
          <a:xfrm>
            <a:off x="6336720" y="1234440"/>
            <a:ext cx="521136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400" b="0" u="none" strike="noStrike">
                <a:solidFill>
                  <a:srgbClr val="1B3A63"/>
                </a:solidFill>
                <a:effectLst/>
                <a:uFillTx/>
                <a:latin typeface="Cambria"/>
                <a:ea typeface="Cambria"/>
              </a:rPr>
              <a:t>W</a:t>
            </a:r>
            <a:r>
              <a:rPr lang="en-US" sz="2400" b="0" u="none" strike="noStrike" baseline="-40000">
                <a:solidFill>
                  <a:srgbClr val="1B3A63"/>
                </a:solidFill>
                <a:effectLst/>
                <a:uFillTx/>
                <a:latin typeface="Cambria"/>
                <a:ea typeface="Cambria"/>
              </a:rPr>
              <a:t>N</a:t>
            </a:r>
            <a:r>
              <a:rPr lang="en-US" sz="2400" b="0" u="none" strike="noStrike">
                <a:solidFill>
                  <a:srgbClr val="1B3A63"/>
                </a:solidFill>
                <a:effectLst/>
                <a:uFillTx/>
                <a:latin typeface="Cambria"/>
                <a:ea typeface="Cambria"/>
              </a:rPr>
              <a:t> = e</a:t>
            </a:r>
            <a:r>
              <a:rPr lang="en-US" sz="1400" b="0" u="none" strike="noStrike" baseline="30000">
                <a:solidFill>
                  <a:srgbClr val="1B3A63"/>
                </a:solidFill>
                <a:effectLst/>
                <a:uFillTx/>
                <a:latin typeface="Cambria"/>
                <a:ea typeface="Cambria"/>
              </a:rPr>
              <a:t>-j2π/N</a:t>
            </a:r>
            <a:endParaRPr lang="en-US" sz="1400" b="0" u="none" strike="noStrike">
              <a:solidFill>
                <a:srgbClr val="000000"/>
              </a:solidFill>
              <a:effectLst/>
              <a:uFillTx/>
              <a:latin typeface="Arial"/>
            </a:endParaRPr>
          </a:p>
        </p:txBody>
      </p:sp>
      <p:sp>
        <p:nvSpPr>
          <p:cNvPr id="66" name="Text 6"/>
          <p:cNvSpPr/>
          <p:nvPr/>
        </p:nvSpPr>
        <p:spPr>
          <a:xfrm>
            <a:off x="502920" y="2286000"/>
            <a:ext cx="11154960" cy="502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5C6B7A"/>
                </a:solidFill>
                <a:effectLst/>
                <a:uFillTx/>
                <a:latin typeface="Calibri"/>
                <a:ea typeface="Calibri"/>
              </a:rPr>
              <a:t>W_N is called the twiddle factor: a complex number of magnitude 1 that rotates a phasor by angle 2π/N in the clockwise (negative) direction. Each term x[n]·W_N^(nk) is a single complex multiply-add.</a:t>
            </a:r>
            <a:endParaRPr lang="en-US" sz="1250" b="0" u="none" strike="noStrike">
              <a:solidFill>
                <a:srgbClr val="000000"/>
              </a:solidFill>
              <a:effectLst/>
              <a:uFillTx/>
              <a:latin typeface="Arial"/>
            </a:endParaRPr>
          </a:p>
        </p:txBody>
      </p:sp>
      <p:graphicFrame>
        <p:nvGraphicFramePr>
          <p:cNvPr id="67" name="Table 0"/>
          <p:cNvGraphicFramePr/>
          <p:nvPr/>
        </p:nvGraphicFramePr>
        <p:xfrm>
          <a:off x="502920" y="2880360"/>
          <a:ext cx="11155320" cy="2257920"/>
        </p:xfrm>
        <a:graphic>
          <a:graphicData uri="http://schemas.openxmlformats.org/drawingml/2006/table">
            <a:tbl>
              <a:tblPr/>
              <a:tblGrid>
                <a:gridCol w="1554480"/>
                <a:gridCol w="96012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Symbol</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Meaning</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x[n]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n-th sample of the input signal in the time domain, n = 0, 1, ..., N-1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X[k]</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k-th sample of the output spectrum in the frequency domain, k = 0, 1, ..., N-1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transform length: the number of time samples and the number of frequency bins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Time index. Runs over every input sample for every output X[k]</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k</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Frequency-bin index. Selects which frequency component is being measured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W_N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twiddle factor e^(-j2π/N): a unit-magnitude complex rotation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e^(-jθ)</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exponential: cos(θ) - j sin(θ), a point on the unit circle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68" name="Text 7"/>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9" name="Text 8"/>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The DFT</a:t>
            </a:r>
            <a:endParaRPr lang="en-US" sz="900" b="0" u="none" strike="noStrike">
              <a:solidFill>
                <a:srgbClr val="000000"/>
              </a:solidFill>
              <a:effectLst/>
              <a:uFillTx/>
              <a:latin typeface="Arial"/>
            </a:endParaRPr>
          </a:p>
        </p:txBody>
      </p:sp>
      <p:sp>
        <p:nvSpPr>
          <p:cNvPr id="70" name="Text 9"/>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71"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 · START FROM THE DFT</a:t>
            </a:r>
            <a:endParaRPr lang="en-US" sz="1150" b="0" u="none" strike="noStrike">
              <a:solidFill>
                <a:srgbClr val="000000"/>
              </a:solidFill>
              <a:effectLst/>
              <a:uFillTx/>
              <a:latin typeface="Arial"/>
            </a:endParaRPr>
          </a:p>
        </p:txBody>
      </p:sp>
      <p:sp>
        <p:nvSpPr>
          <p:cNvPr id="72"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Sine / Cosine Form, and Where the Cost Comes From</a:t>
            </a:r>
            <a:endParaRPr lang="en-US" sz="2700" b="0" u="none" strike="noStrike">
              <a:solidFill>
                <a:srgbClr val="000000"/>
              </a:solidFill>
              <a:effectLst/>
              <a:uFillTx/>
              <a:latin typeface="Arial"/>
            </a:endParaRPr>
          </a:p>
        </p:txBody>
      </p:sp>
      <p:sp>
        <p:nvSpPr>
          <p:cNvPr id="73" name="Text 2"/>
          <p:cNvSpPr/>
          <p:nvPr/>
        </p:nvSpPr>
        <p:spPr>
          <a:xfrm>
            <a:off x="502920" y="118872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Trigonometric (rectangular) form of the twiddle factor</a:t>
            </a:r>
            <a:endParaRPr lang="en-US" sz="1250" b="0" u="none" strike="noStrike">
              <a:solidFill>
                <a:srgbClr val="000000"/>
              </a:solidFill>
              <a:effectLst/>
              <a:uFillTx/>
              <a:latin typeface="Arial"/>
            </a:endParaRPr>
          </a:p>
        </p:txBody>
      </p:sp>
      <p:sp>
        <p:nvSpPr>
          <p:cNvPr id="74" name="Shape 3"/>
          <p:cNvSpPr/>
          <p:nvPr/>
        </p:nvSpPr>
        <p:spPr>
          <a:xfrm>
            <a:off x="502920" y="1508760"/>
            <a:ext cx="548568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 4"/>
          <p:cNvSpPr/>
          <p:nvPr/>
        </p:nvSpPr>
        <p:spPr>
          <a:xfrm>
            <a:off x="640080" y="1508760"/>
            <a:ext cx="521136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132A4A"/>
                </a:solidFill>
                <a:effectLst/>
                <a:uFillTx/>
                <a:latin typeface="Cambria"/>
                <a:ea typeface="Cambria"/>
              </a:rPr>
              <a:t>W</a:t>
            </a:r>
            <a:r>
              <a:rPr lang="en-US" sz="2000" b="0" u="none" strike="noStrike" baseline="-40000">
                <a:solidFill>
                  <a:srgbClr val="132A4A"/>
                </a:solidFill>
                <a:effectLst/>
                <a:uFillTx/>
                <a:latin typeface="Cambria"/>
                <a:ea typeface="Cambria"/>
              </a:rPr>
              <a:t>N</a:t>
            </a:r>
            <a:r>
              <a:rPr lang="en-US" sz="2000" b="0" u="none" strike="noStrike" baseline="30000">
                <a:solidFill>
                  <a:srgbClr val="132A4A"/>
                </a:solidFill>
                <a:effectLst/>
                <a:uFillTx/>
                <a:latin typeface="Cambria"/>
                <a:ea typeface="Cambria"/>
              </a:rPr>
              <a:t>k</a:t>
            </a:r>
            <a:r>
              <a:rPr lang="en-US" sz="2000" b="0" u="none" strike="noStrike">
                <a:solidFill>
                  <a:srgbClr val="132A4A"/>
                </a:solidFill>
                <a:effectLst/>
                <a:uFillTx/>
                <a:latin typeface="Cambria"/>
                <a:ea typeface="Cambria"/>
              </a:rPr>
              <a:t> = cos(2πk/N)  −  j sin(2πk/N)</a:t>
            </a:r>
            <a:endParaRPr lang="en-US" sz="2000" b="0" u="none" strike="noStrike">
              <a:solidFill>
                <a:srgbClr val="000000"/>
              </a:solidFill>
              <a:effectLst/>
              <a:uFillTx/>
              <a:latin typeface="Arial"/>
            </a:endParaRPr>
          </a:p>
        </p:txBody>
      </p:sp>
      <p:sp>
        <p:nvSpPr>
          <p:cNvPr id="76" name="Text 5"/>
          <p:cNvSpPr/>
          <p:nvPr/>
        </p:nvSpPr>
        <p:spPr>
          <a:xfrm>
            <a:off x="502920" y="2377440"/>
            <a:ext cx="5485680" cy="1005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16202E"/>
                </a:solidFill>
                <a:effectLst/>
                <a:uFillTx/>
                <a:latin typeface="Calibri"/>
                <a:ea typeface="Calibri"/>
              </a:rPr>
              <a:t>Every complex exponential is just a cosine (real part) and a negative sine (imaginary part). Computing X[k] therefore always means real multiply-accumulates on both the real and imaginary parts, not a single abstract operation.</a:t>
            </a:r>
            <a:endParaRPr lang="en-US" sz="1200" b="0" u="none" strike="noStrike">
              <a:solidFill>
                <a:srgbClr val="000000"/>
              </a:solidFill>
              <a:effectLst/>
              <a:uFillTx/>
              <a:latin typeface="Arial"/>
            </a:endParaRPr>
          </a:p>
        </p:txBody>
      </p:sp>
      <p:sp>
        <p:nvSpPr>
          <p:cNvPr id="77" name="Text 6"/>
          <p:cNvSpPr/>
          <p:nvPr/>
        </p:nvSpPr>
        <p:spPr>
          <a:xfrm>
            <a:off x="6263640" y="1188720"/>
            <a:ext cx="5394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Where the O(N²) cost comes from</a:t>
            </a:r>
            <a:endParaRPr lang="en-US" sz="1250" b="0" u="none" strike="noStrike">
              <a:solidFill>
                <a:srgbClr val="000000"/>
              </a:solidFill>
              <a:effectLst/>
              <a:uFillTx/>
              <a:latin typeface="Arial"/>
            </a:endParaRPr>
          </a:p>
        </p:txBody>
      </p:sp>
      <p:sp>
        <p:nvSpPr>
          <p:cNvPr id="78" name="Text 7"/>
          <p:cNvSpPr/>
          <p:nvPr/>
        </p:nvSpPr>
        <p:spPr>
          <a:xfrm>
            <a:off x="6263640" y="1508760"/>
            <a:ext cx="5394240" cy="1919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1001"/>
              </a:spcAft>
              <a:buClr>
                <a:srgbClr val="16202E"/>
              </a:buClr>
              <a:buFont typeface="Symbol" charset="2"/>
              <a:buChar char=""/>
            </a:pPr>
            <a:r>
              <a:rPr lang="en-US" sz="1200" b="0" u="none" strike="noStrike">
                <a:solidFill>
                  <a:srgbClr val="16202E"/>
                </a:solidFill>
                <a:effectLst/>
                <a:uFillTx/>
                <a:latin typeface="Calibri"/>
                <a:ea typeface="Calibri"/>
              </a:rPr>
              <a:t>Each output X[k] is a sum over all N input samples: N complex multiply-accumulate (MAC) operations.</a:t>
            </a:r>
            <a:endParaRPr lang="en-US" sz="1200" b="0" u="none" strike="noStrike">
              <a:solidFill>
                <a:srgbClr val="000000"/>
              </a:solidFill>
              <a:effectLst/>
              <a:uFillTx/>
              <a:latin typeface="Arial"/>
            </a:endParaRPr>
          </a:p>
          <a:p>
            <a:pPr marL="343080" indent="-343080" defTabSz="914400">
              <a:lnSpc>
                <a:spcPct val="105000"/>
              </a:lnSpc>
              <a:spcAft>
                <a:spcPts val="1001"/>
              </a:spcAft>
              <a:buClr>
                <a:srgbClr val="16202E"/>
              </a:buClr>
              <a:buFont typeface="Symbol" charset="2"/>
              <a:buChar char=""/>
            </a:pPr>
            <a:r>
              <a:rPr lang="en-US" sz="1200" b="0" u="none" strike="noStrike">
                <a:solidFill>
                  <a:srgbClr val="16202E"/>
                </a:solidFill>
                <a:effectLst/>
                <a:uFillTx/>
                <a:latin typeface="Calibri"/>
                <a:ea typeface="Calibri"/>
              </a:rPr>
              <a:t>There are N such outputs, k = 0 ... N-1.</a:t>
            </a:r>
            <a:endParaRPr lang="en-US" sz="1200" b="0" u="none" strike="noStrike">
              <a:solidFill>
                <a:srgbClr val="000000"/>
              </a:solidFill>
              <a:effectLst/>
              <a:uFillTx/>
              <a:latin typeface="Arial"/>
            </a:endParaRPr>
          </a:p>
          <a:p>
            <a:pPr marL="343080" indent="-343080" defTabSz="914400">
              <a:lnSpc>
                <a:spcPct val="105000"/>
              </a:lnSpc>
              <a:spcAft>
                <a:spcPts val="1001"/>
              </a:spcAft>
              <a:buClr>
                <a:srgbClr val="16202E"/>
              </a:buClr>
              <a:buFont typeface="Symbol" charset="2"/>
              <a:buChar char=""/>
            </a:pPr>
            <a:r>
              <a:rPr lang="en-US" sz="1200" b="0" u="none" strike="noStrike">
                <a:solidFill>
                  <a:srgbClr val="16202E"/>
                </a:solidFill>
                <a:effectLst/>
                <a:uFillTx/>
                <a:latin typeface="Calibri"/>
                <a:ea typeface="Calibri"/>
              </a:rPr>
              <a:t>Total work = N outputs × N terms per output = N² complex MACs.</a:t>
            </a:r>
            <a:endParaRPr lang="en-US" sz="1200" b="0" u="none" strike="noStrike">
              <a:solidFill>
                <a:srgbClr val="000000"/>
              </a:solidFill>
              <a:effectLst/>
              <a:uFillTx/>
              <a:latin typeface="Arial"/>
            </a:endParaRPr>
          </a:p>
          <a:p>
            <a:pPr marL="343080" indent="-343080" defTabSz="914400">
              <a:lnSpc>
                <a:spcPct val="105000"/>
              </a:lnSpc>
              <a:spcAft>
                <a:spcPts val="1001"/>
              </a:spcAft>
              <a:buClr>
                <a:srgbClr val="16202E"/>
              </a:buClr>
              <a:buFont typeface="Symbol" charset="2"/>
              <a:buChar char=""/>
            </a:pPr>
            <a:r>
              <a:rPr lang="en-US" sz="1200" b="0" u="none" strike="noStrike">
                <a:solidFill>
                  <a:srgbClr val="16202E"/>
                </a:solidFill>
                <a:effectLst/>
                <a:uFillTx/>
                <a:latin typeface="Calibri"/>
                <a:ea typeface="Calibri"/>
              </a:rPr>
              <a:t>No structure in the sum is being reused: every W_N^(nk) is treated as an independent number.</a:t>
            </a:r>
            <a:endParaRPr lang="en-US" sz="1200" b="0" u="none" strike="noStrike">
              <a:solidFill>
                <a:srgbClr val="000000"/>
              </a:solidFill>
              <a:effectLst/>
              <a:uFillTx/>
              <a:latin typeface="Arial"/>
            </a:endParaRPr>
          </a:p>
        </p:txBody>
      </p:sp>
      <p:sp>
        <p:nvSpPr>
          <p:cNvPr id="79" name="Shape 8"/>
          <p:cNvSpPr/>
          <p:nvPr/>
        </p:nvSpPr>
        <p:spPr>
          <a:xfrm>
            <a:off x="502920" y="3401640"/>
            <a:ext cx="11154960" cy="1325160"/>
          </a:xfrm>
          <a:prstGeom prst="roundRect">
            <a:avLst>
              <a:gd name="adj" fmla="val 5517"/>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9"/>
          <p:cNvSpPr/>
          <p:nvPr/>
        </p:nvSpPr>
        <p:spPr>
          <a:xfrm>
            <a:off x="731520" y="3502080"/>
            <a:ext cx="10697760" cy="566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Concrete case, N = 8:  </a:t>
            </a:r>
            <a:r>
              <a:rPr lang="en-US" sz="1300" b="0" u="none" strike="noStrike">
                <a:solidFill>
                  <a:srgbClr val="16202E"/>
                </a:solidFill>
                <a:effectLst/>
                <a:uFillTx/>
                <a:latin typeface="Calibri"/>
                <a:ea typeface="Calibri"/>
              </a:rPr>
              <a:t>computing X[0] alone needs 8 complex multiply-adds (one per n). Computing all 8 outputs, X[0] through X[7], needs 8 × 8 = 64 complex multiply-accumulate operations.</a:t>
            </a:r>
            <a:endParaRPr lang="en-US" sz="1300" b="0" u="none" strike="noStrike">
              <a:solidFill>
                <a:srgbClr val="000000"/>
              </a:solidFill>
              <a:effectLst/>
              <a:uFillTx/>
              <a:latin typeface="Arial"/>
            </a:endParaRPr>
          </a:p>
        </p:txBody>
      </p:sp>
      <p:sp>
        <p:nvSpPr>
          <p:cNvPr id="81" name="Text 10"/>
          <p:cNvSpPr/>
          <p:nvPr/>
        </p:nvSpPr>
        <p:spPr>
          <a:xfrm>
            <a:off x="731520" y="4069080"/>
            <a:ext cx="10697760" cy="5936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5C6B7A"/>
                </a:solidFill>
                <a:effectLst/>
                <a:uFillTx/>
                <a:latin typeface="Calibri"/>
                <a:ea typeface="Calibri"/>
              </a:rPr>
              <a:t>This is the direct-computation cost. Nothing here is wrong, it is simply brute force: every one of the N² products W_N^(nk) is computed and used once, even though many of them are related to each other by simple symmetry (Section 8). The FFT exploits exactly that redundancy.</a:t>
            </a:r>
            <a:endParaRPr lang="en-US" sz="1100" b="0" u="none" strike="noStrike">
              <a:solidFill>
                <a:srgbClr val="000000"/>
              </a:solidFill>
              <a:effectLst/>
              <a:uFillTx/>
              <a:latin typeface="Arial"/>
            </a:endParaRPr>
          </a:p>
        </p:txBody>
      </p:sp>
      <p:graphicFrame>
        <p:nvGraphicFramePr>
          <p:cNvPr id="82" name="Table 0"/>
          <p:cNvGraphicFramePr/>
          <p:nvPr/>
        </p:nvGraphicFramePr>
        <p:xfrm>
          <a:off x="502920" y="5029200"/>
          <a:ext cx="11155320" cy="1411200"/>
        </p:xfrm>
        <a:graphic>
          <a:graphicData uri="http://schemas.openxmlformats.org/drawingml/2006/table">
            <a:tbl>
              <a:tblPr/>
              <a:tblGrid>
                <a:gridCol w="2286000"/>
                <a:gridCol w="3108960"/>
                <a:gridCol w="3108960"/>
                <a:gridCol w="2651760"/>
              </a:tblGrid>
              <a:tr h="25596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N (outputs)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Terms per output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Total complex MACs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Order</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5596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O(N²)</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5596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O(N²)</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25596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256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O(N²)</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5596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1024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1024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1,048,576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O(N²)</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83" name="Text 11"/>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4" name="Text 12"/>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The DFT</a:t>
            </a:r>
            <a:endParaRPr lang="en-US" sz="900" b="0" u="none" strike="noStrike">
              <a:solidFill>
                <a:srgbClr val="000000"/>
              </a:solidFill>
              <a:effectLst/>
              <a:uFillTx/>
              <a:latin typeface="Arial"/>
            </a:endParaRPr>
          </a:p>
        </p:txBody>
      </p:sp>
      <p:sp>
        <p:nvSpPr>
          <p:cNvPr id="85" name="Text 13"/>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6"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 · WHY FFT?</a:t>
            </a:r>
            <a:endParaRPr lang="en-US" sz="1150" b="0" u="none" strike="noStrike">
              <a:solidFill>
                <a:srgbClr val="000000"/>
              </a:solidFill>
              <a:effectLst/>
              <a:uFillTx/>
              <a:latin typeface="Arial"/>
            </a:endParaRPr>
          </a:p>
        </p:txBody>
      </p:sp>
      <p:sp>
        <p:nvSpPr>
          <p:cNvPr id="87"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Same Transform, a Far More Efficient Algorithm</a:t>
            </a:r>
            <a:endParaRPr lang="en-US" sz="2700" b="0" u="none" strike="noStrike">
              <a:solidFill>
                <a:srgbClr val="000000"/>
              </a:solidFill>
              <a:effectLst/>
              <a:uFillTx/>
              <a:latin typeface="Arial"/>
            </a:endParaRPr>
          </a:p>
        </p:txBody>
      </p:sp>
      <p:sp>
        <p:nvSpPr>
          <p:cNvPr id="88" name="Shape 2"/>
          <p:cNvSpPr/>
          <p:nvPr/>
        </p:nvSpPr>
        <p:spPr>
          <a:xfrm>
            <a:off x="502920" y="1188720"/>
            <a:ext cx="1115496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 name="Text 3"/>
          <p:cNvSpPr/>
          <p:nvPr/>
        </p:nvSpPr>
        <p:spPr>
          <a:xfrm>
            <a:off x="731520" y="1188720"/>
            <a:ext cx="10697760" cy="776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132A4A"/>
                </a:solidFill>
                <a:effectLst/>
                <a:uFillTx/>
                <a:latin typeface="Calibri"/>
                <a:ea typeface="Calibri"/>
              </a:rPr>
              <a:t>Key idea:  </a:t>
            </a:r>
            <a:r>
              <a:rPr lang="en-US" sz="1400" b="0" u="none" strike="noStrike">
                <a:solidFill>
                  <a:srgbClr val="16202E"/>
                </a:solidFill>
                <a:effectLst/>
                <a:uFillTx/>
                <a:latin typeface="Calibri"/>
                <a:ea typeface="Calibri"/>
              </a:rPr>
              <a:t>the FFT does not compute a different transform from the DFT. It computes exactly the same X[k] values. The FFT is an </a:t>
            </a:r>
            <a:r>
              <a:rPr lang="en-US" sz="1400" b="0" i="1" u="none" strike="noStrike">
                <a:solidFill>
                  <a:srgbClr val="16202E"/>
                </a:solidFill>
                <a:effectLst/>
                <a:uFillTx/>
                <a:latin typeface="Calibri"/>
                <a:ea typeface="Calibri"/>
              </a:rPr>
              <a:t>algorithm</a:t>
            </a:r>
            <a:r>
              <a:rPr lang="en-US" sz="1400" b="0" u="none" strike="noStrike">
                <a:solidFill>
                  <a:srgbClr val="16202E"/>
                </a:solidFill>
                <a:effectLst/>
                <a:uFillTx/>
                <a:latin typeface="Calibri"/>
                <a:ea typeface="Calibri"/>
              </a:rPr>
              <a:t> for evaluating the DFT summation with far fewer arithmetic operations, by reusing partial results instead of recomputing them for every output.</a:t>
            </a:r>
            <a:endParaRPr lang="en-US" sz="1400" b="0" u="none" strike="noStrike">
              <a:solidFill>
                <a:srgbClr val="000000"/>
              </a:solidFill>
              <a:effectLst/>
              <a:uFillTx/>
              <a:latin typeface="Arial"/>
            </a:endParaRPr>
          </a:p>
        </p:txBody>
      </p:sp>
      <p:graphicFrame>
        <p:nvGraphicFramePr>
          <p:cNvPr id="90" name="Table 0"/>
          <p:cNvGraphicFramePr/>
          <p:nvPr/>
        </p:nvGraphicFramePr>
        <p:xfrm>
          <a:off x="502920" y="2194560"/>
          <a:ext cx="11155320" cy="1411200"/>
        </p:xfrm>
        <a:graphic>
          <a:graphicData uri="http://schemas.openxmlformats.org/drawingml/2006/table">
            <a:tbl>
              <a:tblPr/>
              <a:tblGrid>
                <a:gridCol w="2926080"/>
                <a:gridCol w="4114800"/>
                <a:gridCol w="4114800"/>
              </a:tblGrid>
              <a:tr h="0">
                <a:tc>
                  <a:txBody>
                    <a:bodyPr anchor="ctr">
                      <a:noAutofit/>
                    </a:bodyPr>
                    <a:p>
                      <a:endParaRPr lang="en-US" sz="1250" b="0" u="none" strike="noStrike">
                        <a:solidFill>
                          <a:schemeClr val="dk1"/>
                        </a:solidFill>
                        <a:effectLst/>
                        <a:uFillTx/>
                        <a:latin typeface="Calibri"/>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Direct DFT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Radix-2 FFT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Result computed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X[k], k = 0..N-1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X[k], k = 0..N-1 (identical values)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Strategy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Evaluate the full sum for every k independently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Recursively split the sum, reuse smaller results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multiplications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O(N²)</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O(N log₂N)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Growth as N doubles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Roughly quadruples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Roughly just-over-doubles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91" name="Text 4"/>
          <p:cNvSpPr/>
          <p:nvPr/>
        </p:nvSpPr>
        <p:spPr>
          <a:xfrm>
            <a:off x="502920" y="4160520"/>
            <a:ext cx="45712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N = 8 in numbers</a:t>
            </a:r>
            <a:endParaRPr lang="en-US" sz="1300" b="0" u="none" strike="noStrike">
              <a:solidFill>
                <a:srgbClr val="000000"/>
              </a:solidFill>
              <a:effectLst/>
              <a:uFillTx/>
              <a:latin typeface="Arial"/>
            </a:endParaRPr>
          </a:p>
        </p:txBody>
      </p:sp>
      <p:sp>
        <p:nvSpPr>
          <p:cNvPr id="92" name="Shape 5"/>
          <p:cNvSpPr/>
          <p:nvPr/>
        </p:nvSpPr>
        <p:spPr>
          <a:xfrm>
            <a:off x="502920" y="4480560"/>
            <a:ext cx="5394240" cy="776520"/>
          </a:xfrm>
          <a:prstGeom prst="roundRect">
            <a:avLst>
              <a:gd name="adj" fmla="val 9412"/>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Text 6"/>
          <p:cNvSpPr/>
          <p:nvPr/>
        </p:nvSpPr>
        <p:spPr>
          <a:xfrm>
            <a:off x="640080" y="4480560"/>
            <a:ext cx="511992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0" u="none" strike="noStrike">
                <a:solidFill>
                  <a:srgbClr val="132A4A"/>
                </a:solidFill>
                <a:effectLst/>
                <a:uFillTx/>
                <a:latin typeface="Cambria"/>
                <a:ea typeface="Cambria"/>
              </a:rPr>
              <a:t>Direct DFT:  8</a:t>
            </a:r>
            <a:r>
              <a:rPr lang="en-US" sz="1200" b="0" u="none" strike="noStrike" baseline="30000">
                <a:solidFill>
                  <a:srgbClr val="132A4A"/>
                </a:solidFill>
                <a:effectLst/>
                <a:uFillTx/>
                <a:latin typeface="Cambria"/>
                <a:ea typeface="Cambria"/>
              </a:rPr>
              <a:t>2</a:t>
            </a:r>
            <a:r>
              <a:rPr lang="en-US" sz="1800" b="0" u="none" strike="noStrike">
                <a:solidFill>
                  <a:srgbClr val="132A4A"/>
                </a:solidFill>
                <a:effectLst/>
                <a:uFillTx/>
                <a:latin typeface="Cambria"/>
                <a:ea typeface="Cambria"/>
              </a:rPr>
              <a:t> = 64 operations</a:t>
            </a:r>
            <a:endParaRPr lang="en-US" sz="1800" b="0" u="none" strike="noStrike">
              <a:solidFill>
                <a:srgbClr val="000000"/>
              </a:solidFill>
              <a:effectLst/>
              <a:uFillTx/>
              <a:latin typeface="Arial"/>
            </a:endParaRPr>
          </a:p>
        </p:txBody>
      </p:sp>
      <p:sp>
        <p:nvSpPr>
          <p:cNvPr id="94" name="Shape 7"/>
          <p:cNvSpPr/>
          <p:nvPr/>
        </p:nvSpPr>
        <p:spPr>
          <a:xfrm>
            <a:off x="6263640" y="4480560"/>
            <a:ext cx="5394240" cy="776520"/>
          </a:xfrm>
          <a:prstGeom prst="roundRect">
            <a:avLst>
              <a:gd name="adj" fmla="val 9412"/>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 name="Text 8"/>
          <p:cNvSpPr/>
          <p:nvPr/>
        </p:nvSpPr>
        <p:spPr>
          <a:xfrm>
            <a:off x="6400800" y="4480560"/>
            <a:ext cx="511992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0" u="none" strike="noStrike">
                <a:solidFill>
                  <a:srgbClr val="0E8388"/>
                </a:solidFill>
                <a:effectLst/>
                <a:uFillTx/>
                <a:latin typeface="Cambria"/>
                <a:ea typeface="Cambria"/>
              </a:rPr>
              <a:t>Radix-2 FFT:  8×log</a:t>
            </a:r>
            <a:r>
              <a:rPr lang="en-US" sz="1100" b="0" u="none" strike="noStrike" baseline="-40000">
                <a:solidFill>
                  <a:srgbClr val="0E8388"/>
                </a:solidFill>
                <a:effectLst/>
                <a:uFillTx/>
                <a:latin typeface="Cambria"/>
                <a:ea typeface="Cambria"/>
              </a:rPr>
              <a:t>2</a:t>
            </a:r>
            <a:r>
              <a:rPr lang="en-US" sz="1800" b="0" u="none" strike="noStrike">
                <a:solidFill>
                  <a:srgbClr val="0E8388"/>
                </a:solidFill>
                <a:effectLst/>
                <a:uFillTx/>
                <a:latin typeface="Cambria"/>
                <a:ea typeface="Cambria"/>
              </a:rPr>
              <a:t>8 = 8×3 = 24 op.</a:t>
            </a:r>
            <a:endParaRPr lang="en-US" sz="1800" b="0" u="none" strike="noStrike">
              <a:solidFill>
                <a:srgbClr val="000000"/>
              </a:solidFill>
              <a:effectLst/>
              <a:uFillTx/>
              <a:latin typeface="Arial"/>
            </a:endParaRPr>
          </a:p>
        </p:txBody>
      </p:sp>
      <p:sp>
        <p:nvSpPr>
          <p:cNvPr id="96" name="Text 9"/>
          <p:cNvSpPr/>
          <p:nvPr/>
        </p:nvSpPr>
        <p:spPr>
          <a:xfrm>
            <a:off x="502920" y="5440680"/>
            <a:ext cx="11154960" cy="867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5C6B7A"/>
                </a:solidFill>
                <a:effectLst/>
                <a:uFillTx/>
                <a:latin typeface="Calibri"/>
                <a:ea typeface="Calibri"/>
              </a:rPr>
              <a:t>The 24 counts here are butterfly-equivalent operations (N log2 N); Section 14 derives the exact count of 12 butterflies, each containing one multiply and two adds, for N = 8. The FFT wins because each butterfly output is reused as an input to the next stage instead of being one disposable term inside a giant independent sum.</a:t>
            </a:r>
            <a:endParaRPr lang="en-US" sz="1200" b="0" u="none" strike="noStrike">
              <a:solidFill>
                <a:srgbClr val="000000"/>
              </a:solidFill>
              <a:effectLst/>
              <a:uFillTx/>
              <a:latin typeface="Arial"/>
            </a:endParaRPr>
          </a:p>
        </p:txBody>
      </p:sp>
      <p:sp>
        <p:nvSpPr>
          <p:cNvPr id="97" name="Text 10"/>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98" name="Text 11"/>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Why FFT</a:t>
            </a:r>
            <a:endParaRPr lang="en-US" sz="900" b="0" u="none" strike="noStrike">
              <a:solidFill>
                <a:srgbClr val="000000"/>
              </a:solidFill>
              <a:effectLst/>
              <a:uFillTx/>
              <a:latin typeface="Arial"/>
            </a:endParaRPr>
          </a:p>
        </p:txBody>
      </p:sp>
      <p:sp>
        <p:nvSpPr>
          <p:cNvPr id="99" name="Text 12"/>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0"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4 · RADIX-2</a:t>
            </a:r>
            <a:endParaRPr lang="en-US" sz="1150" b="0" u="none" strike="noStrike">
              <a:solidFill>
                <a:srgbClr val="000000"/>
              </a:solidFill>
              <a:effectLst/>
              <a:uFillTx/>
              <a:latin typeface="Arial"/>
            </a:endParaRPr>
          </a:p>
        </p:txBody>
      </p:sp>
      <p:sp>
        <p:nvSpPr>
          <p:cNvPr id="101"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What Does “Radix-2” Mean?</a:t>
            </a:r>
            <a:endParaRPr lang="en-US" sz="2700" b="0" u="none" strike="noStrike">
              <a:solidFill>
                <a:srgbClr val="000000"/>
              </a:solidFill>
              <a:effectLst/>
              <a:uFillTx/>
              <a:latin typeface="Arial"/>
            </a:endParaRPr>
          </a:p>
        </p:txBody>
      </p:sp>
      <p:sp>
        <p:nvSpPr>
          <p:cNvPr id="102" name="Text 2"/>
          <p:cNvSpPr/>
          <p:nvPr/>
        </p:nvSpPr>
        <p:spPr>
          <a:xfrm>
            <a:off x="502920" y="1234440"/>
            <a:ext cx="5211360" cy="23767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1199"/>
              </a:spcAft>
              <a:buClr>
                <a:srgbClr val="16202E"/>
              </a:buClr>
              <a:buFont typeface="Symbol" charset="2"/>
              <a:buChar char=""/>
            </a:pPr>
            <a:r>
              <a:rPr lang="en-US" sz="1300" b="0" u="none" strike="noStrike">
                <a:solidFill>
                  <a:srgbClr val="16202E"/>
                </a:solidFill>
                <a:effectLst/>
                <a:uFillTx/>
                <a:latin typeface="Calibri"/>
                <a:ea typeface="Calibri"/>
              </a:rPr>
              <a:t>“Radix” is the base of a decomposition, the number of pieces a problem is split into at each step.</a:t>
            </a:r>
            <a:endParaRPr lang="en-US" sz="1300" b="0" u="none" strike="noStrike">
              <a:solidFill>
                <a:srgbClr val="000000"/>
              </a:solidFill>
              <a:effectLst/>
              <a:uFillTx/>
              <a:latin typeface="Arial"/>
            </a:endParaRPr>
          </a:p>
          <a:p>
            <a:pPr marL="343080" indent="-343080" defTabSz="914400">
              <a:lnSpc>
                <a:spcPct val="105000"/>
              </a:lnSpc>
              <a:spcAft>
                <a:spcPts val="1199"/>
              </a:spcAft>
              <a:buClr>
                <a:srgbClr val="16202E"/>
              </a:buClr>
              <a:buFont typeface="Symbol" charset="2"/>
              <a:buChar char=""/>
            </a:pPr>
            <a:r>
              <a:rPr lang="en-US" sz="1300" b="0" u="none" strike="noStrike">
                <a:solidFill>
                  <a:srgbClr val="16202E"/>
                </a:solidFill>
                <a:effectLst/>
                <a:uFillTx/>
                <a:latin typeface="Calibri"/>
                <a:ea typeface="Calibri"/>
              </a:rPr>
              <a:t>Radix-2 means: at every step, split one DFT into two half-size DFTs.</a:t>
            </a:r>
            <a:endParaRPr lang="en-US" sz="1300" b="0" u="none" strike="noStrike">
              <a:solidFill>
                <a:srgbClr val="000000"/>
              </a:solidFill>
              <a:effectLst/>
              <a:uFillTx/>
              <a:latin typeface="Arial"/>
            </a:endParaRPr>
          </a:p>
          <a:p>
            <a:pPr marL="343080" indent="-343080" defTabSz="914400">
              <a:lnSpc>
                <a:spcPct val="105000"/>
              </a:lnSpc>
              <a:spcAft>
                <a:spcPts val="1199"/>
              </a:spcAft>
              <a:buClr>
                <a:srgbClr val="16202E"/>
              </a:buClr>
              <a:buFont typeface="Symbol" charset="2"/>
              <a:buChar char=""/>
            </a:pPr>
            <a:r>
              <a:rPr lang="en-US" sz="1300" b="0" u="none" strike="noStrike">
                <a:solidFill>
                  <a:srgbClr val="16202E"/>
                </a:solidFill>
                <a:effectLst/>
                <a:uFillTx/>
                <a:latin typeface="Calibri"/>
                <a:ea typeface="Calibri"/>
              </a:rPr>
              <a:t>Each half-size DFT is cheaper than the original, and two of them together still cover every input sample exactly once.</a:t>
            </a:r>
            <a:endParaRPr lang="en-US" sz="1300" b="0" u="none" strike="noStrike">
              <a:solidFill>
                <a:srgbClr val="000000"/>
              </a:solidFill>
              <a:effectLst/>
              <a:uFillTx/>
              <a:latin typeface="Arial"/>
            </a:endParaRPr>
          </a:p>
          <a:p>
            <a:pPr marL="343080" indent="-343080" defTabSz="914400">
              <a:lnSpc>
                <a:spcPct val="105000"/>
              </a:lnSpc>
              <a:spcAft>
                <a:spcPts val="1199"/>
              </a:spcAft>
              <a:buClr>
                <a:srgbClr val="16202E"/>
              </a:buClr>
              <a:buFont typeface="Symbol" charset="2"/>
              <a:buChar char=""/>
            </a:pPr>
            <a:r>
              <a:rPr lang="en-US" sz="1300" b="0" u="none" strike="noStrike">
                <a:solidFill>
                  <a:srgbClr val="16202E"/>
                </a:solidFill>
                <a:effectLst/>
                <a:uFillTx/>
                <a:latin typeface="Calibri"/>
                <a:ea typeface="Calibri"/>
              </a:rPr>
              <a:t>Applying the split repeatedly turns one large, expensive DFT into many tiny, cheap DFTs plus some recombination arithmetic (the butterfly).</a:t>
            </a:r>
            <a:endParaRPr lang="en-US" sz="1300" b="0" u="none" strike="noStrike">
              <a:solidFill>
                <a:srgbClr val="000000"/>
              </a:solidFill>
              <a:effectLst/>
              <a:uFillTx/>
              <a:latin typeface="Arial"/>
            </a:endParaRPr>
          </a:p>
        </p:txBody>
      </p:sp>
      <p:sp>
        <p:nvSpPr>
          <p:cNvPr id="103" name="Shape 3"/>
          <p:cNvSpPr/>
          <p:nvPr/>
        </p:nvSpPr>
        <p:spPr>
          <a:xfrm>
            <a:off x="502920" y="3794760"/>
            <a:ext cx="5211360" cy="1233720"/>
          </a:xfrm>
          <a:prstGeom prst="roundRect">
            <a:avLst>
              <a:gd name="adj" fmla="val 592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4"/>
          <p:cNvSpPr/>
          <p:nvPr/>
        </p:nvSpPr>
        <p:spPr>
          <a:xfrm>
            <a:off x="640080" y="3794760"/>
            <a:ext cx="4937040" cy="1233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0" u="none" strike="noStrike">
                <a:solidFill>
                  <a:srgbClr val="132A4A"/>
                </a:solidFill>
                <a:effectLst/>
                <a:uFillTx/>
                <a:latin typeface="Cambria"/>
                <a:ea typeface="Cambria"/>
              </a:rPr>
              <a:t>8  →  4 + 4  →  2+2+2+2  →  1+1+1+1+1+1+1+1</a:t>
            </a:r>
            <a:endParaRPr lang="en-US" sz="1600" b="0" u="none" strike="noStrike">
              <a:solidFill>
                <a:srgbClr val="000000"/>
              </a:solidFill>
              <a:effectLst/>
              <a:uFillTx/>
              <a:latin typeface="Arial"/>
            </a:endParaRPr>
          </a:p>
        </p:txBody>
      </p:sp>
      <p:sp>
        <p:nvSpPr>
          <p:cNvPr id="105" name="Text 5"/>
          <p:cNvSpPr/>
          <p:nvPr/>
        </p:nvSpPr>
        <p:spPr>
          <a:xfrm>
            <a:off x="6080760" y="1188720"/>
            <a:ext cx="557712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Recursive decomposition for N = 8</a:t>
            </a:r>
            <a:endParaRPr lang="en-US" sz="1250" b="0" u="none" strike="noStrike">
              <a:solidFill>
                <a:srgbClr val="000000"/>
              </a:solidFill>
              <a:effectLst/>
              <a:uFillTx/>
              <a:latin typeface="Arial"/>
            </a:endParaRPr>
          </a:p>
        </p:txBody>
      </p:sp>
      <p:sp>
        <p:nvSpPr>
          <p:cNvPr id="106" name="Shape 6"/>
          <p:cNvSpPr/>
          <p:nvPr/>
        </p:nvSpPr>
        <p:spPr>
          <a:xfrm>
            <a:off x="8138160" y="1554480"/>
            <a:ext cx="1828080" cy="456480"/>
          </a:xfrm>
          <a:prstGeom prst="roundRect">
            <a:avLst>
              <a:gd name="adj" fmla="val 12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 name="Text 7"/>
          <p:cNvSpPr/>
          <p:nvPr/>
        </p:nvSpPr>
        <p:spPr>
          <a:xfrm>
            <a:off x="8138160" y="1554480"/>
            <a:ext cx="18280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8-point FFT</a:t>
            </a:r>
            <a:endParaRPr lang="en-US" sz="1150" b="0" u="none" strike="noStrike">
              <a:solidFill>
                <a:srgbClr val="000000"/>
              </a:solidFill>
              <a:effectLst/>
              <a:uFillTx/>
              <a:latin typeface="Arial"/>
            </a:endParaRPr>
          </a:p>
        </p:txBody>
      </p:sp>
      <p:sp>
        <p:nvSpPr>
          <p:cNvPr id="108" name="Shape 8"/>
          <p:cNvSpPr/>
          <p:nvPr/>
        </p:nvSpPr>
        <p:spPr>
          <a:xfrm>
            <a:off x="6492240" y="2331720"/>
            <a:ext cx="1828080" cy="456480"/>
          </a:xfrm>
          <a:prstGeom prst="roundRect">
            <a:avLst>
              <a:gd name="adj" fmla="val 12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Text 9"/>
          <p:cNvSpPr/>
          <p:nvPr/>
        </p:nvSpPr>
        <p:spPr>
          <a:xfrm>
            <a:off x="6492240" y="2331720"/>
            <a:ext cx="18280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4-point FFT</a:t>
            </a:r>
            <a:endParaRPr lang="en-US" sz="1150" b="0" u="none" strike="noStrike">
              <a:solidFill>
                <a:srgbClr val="000000"/>
              </a:solidFill>
              <a:effectLst/>
              <a:uFillTx/>
              <a:latin typeface="Arial"/>
            </a:endParaRPr>
          </a:p>
        </p:txBody>
      </p:sp>
      <p:sp>
        <p:nvSpPr>
          <p:cNvPr id="110" name="Shape 10"/>
          <p:cNvSpPr/>
          <p:nvPr/>
        </p:nvSpPr>
        <p:spPr>
          <a:xfrm>
            <a:off x="9784080" y="2331720"/>
            <a:ext cx="1828080" cy="456480"/>
          </a:xfrm>
          <a:prstGeom prst="roundRect">
            <a:avLst>
              <a:gd name="adj" fmla="val 12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Text 11"/>
          <p:cNvSpPr/>
          <p:nvPr/>
        </p:nvSpPr>
        <p:spPr>
          <a:xfrm>
            <a:off x="9784080" y="2331720"/>
            <a:ext cx="18280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4-point FFT</a:t>
            </a:r>
            <a:endParaRPr lang="en-US" sz="1150" b="0" u="none" strike="noStrike">
              <a:solidFill>
                <a:srgbClr val="000000"/>
              </a:solidFill>
              <a:effectLst/>
              <a:uFillTx/>
              <a:latin typeface="Arial"/>
            </a:endParaRPr>
          </a:p>
        </p:txBody>
      </p:sp>
      <p:sp>
        <p:nvSpPr>
          <p:cNvPr id="112" name="Shape 12"/>
          <p:cNvSpPr/>
          <p:nvPr/>
        </p:nvSpPr>
        <p:spPr>
          <a:xfrm flipV="1">
            <a:off x="7406640" y="2011320"/>
            <a:ext cx="164592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3" name="Shape 13"/>
          <p:cNvSpPr/>
          <p:nvPr/>
        </p:nvSpPr>
        <p:spPr>
          <a:xfrm>
            <a:off x="9052560" y="2011680"/>
            <a:ext cx="164592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4" name="Shape 14"/>
          <p:cNvSpPr/>
          <p:nvPr/>
        </p:nvSpPr>
        <p:spPr>
          <a:xfrm>
            <a:off x="5806440" y="3108960"/>
            <a:ext cx="1416600" cy="45648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Text 15"/>
          <p:cNvSpPr/>
          <p:nvPr/>
        </p:nvSpPr>
        <p:spPr>
          <a:xfrm>
            <a:off x="5806440" y="3108960"/>
            <a:ext cx="141660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2-point</a:t>
            </a:r>
            <a:endParaRPr lang="en-US" sz="1150" b="0" u="none" strike="noStrike">
              <a:solidFill>
                <a:srgbClr val="000000"/>
              </a:solidFill>
              <a:effectLst/>
              <a:uFillTx/>
              <a:latin typeface="Arial"/>
            </a:endParaRPr>
          </a:p>
        </p:txBody>
      </p:sp>
      <p:sp>
        <p:nvSpPr>
          <p:cNvPr id="116" name="Shape 16"/>
          <p:cNvSpPr/>
          <p:nvPr/>
        </p:nvSpPr>
        <p:spPr>
          <a:xfrm>
            <a:off x="7360920" y="3108960"/>
            <a:ext cx="1416600" cy="45648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 name="Text 17"/>
          <p:cNvSpPr/>
          <p:nvPr/>
        </p:nvSpPr>
        <p:spPr>
          <a:xfrm>
            <a:off x="7360920" y="3108960"/>
            <a:ext cx="141660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2-point</a:t>
            </a:r>
            <a:endParaRPr lang="en-US" sz="1150" b="0" u="none" strike="noStrike">
              <a:solidFill>
                <a:srgbClr val="000000"/>
              </a:solidFill>
              <a:effectLst/>
              <a:uFillTx/>
              <a:latin typeface="Arial"/>
            </a:endParaRPr>
          </a:p>
        </p:txBody>
      </p:sp>
      <p:sp>
        <p:nvSpPr>
          <p:cNvPr id="118" name="Shape 18"/>
          <p:cNvSpPr/>
          <p:nvPr/>
        </p:nvSpPr>
        <p:spPr>
          <a:xfrm>
            <a:off x="9098280" y="3108960"/>
            <a:ext cx="1416600" cy="45648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Text 19"/>
          <p:cNvSpPr/>
          <p:nvPr/>
        </p:nvSpPr>
        <p:spPr>
          <a:xfrm>
            <a:off x="9098280" y="3108960"/>
            <a:ext cx="141660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2-point</a:t>
            </a:r>
            <a:endParaRPr lang="en-US" sz="1150" b="0" u="none" strike="noStrike">
              <a:solidFill>
                <a:srgbClr val="000000"/>
              </a:solidFill>
              <a:effectLst/>
              <a:uFillTx/>
              <a:latin typeface="Arial"/>
            </a:endParaRPr>
          </a:p>
        </p:txBody>
      </p:sp>
      <p:sp>
        <p:nvSpPr>
          <p:cNvPr id="120" name="Shape 20"/>
          <p:cNvSpPr/>
          <p:nvPr/>
        </p:nvSpPr>
        <p:spPr>
          <a:xfrm>
            <a:off x="10652760" y="3108960"/>
            <a:ext cx="1416600" cy="45648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1" name="Text 21"/>
          <p:cNvSpPr/>
          <p:nvPr/>
        </p:nvSpPr>
        <p:spPr>
          <a:xfrm>
            <a:off x="10652760" y="3108960"/>
            <a:ext cx="141660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132A4A"/>
                </a:solidFill>
                <a:effectLst/>
                <a:uFillTx/>
                <a:latin typeface="Calibri"/>
                <a:ea typeface="Calibri"/>
              </a:rPr>
              <a:t>2-point</a:t>
            </a:r>
            <a:endParaRPr lang="en-US" sz="1150" b="0" u="none" strike="noStrike">
              <a:solidFill>
                <a:srgbClr val="000000"/>
              </a:solidFill>
              <a:effectLst/>
              <a:uFillTx/>
              <a:latin typeface="Arial"/>
            </a:endParaRPr>
          </a:p>
        </p:txBody>
      </p:sp>
      <p:sp>
        <p:nvSpPr>
          <p:cNvPr id="122" name="Shape 22"/>
          <p:cNvSpPr/>
          <p:nvPr/>
        </p:nvSpPr>
        <p:spPr>
          <a:xfrm flipV="1">
            <a:off x="6492240" y="2788560"/>
            <a:ext cx="91440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3" name="Shape 23"/>
          <p:cNvSpPr/>
          <p:nvPr/>
        </p:nvSpPr>
        <p:spPr>
          <a:xfrm>
            <a:off x="7406640" y="2788920"/>
            <a:ext cx="64008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4" name="Shape 24"/>
          <p:cNvSpPr/>
          <p:nvPr/>
        </p:nvSpPr>
        <p:spPr>
          <a:xfrm flipV="1">
            <a:off x="9784080" y="2788560"/>
            <a:ext cx="91440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5" name="Shape 25"/>
          <p:cNvSpPr/>
          <p:nvPr/>
        </p:nvSpPr>
        <p:spPr>
          <a:xfrm>
            <a:off x="10698480" y="2788920"/>
            <a:ext cx="640080" cy="320040"/>
          </a:xfrm>
          <a:prstGeom prst="line">
            <a:avLst/>
          </a:prstGeom>
          <a:ln w="12700">
            <a:solidFill>
              <a:srgbClr val="5C6B7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6" name="Text 26"/>
          <p:cNvSpPr/>
          <p:nvPr/>
        </p:nvSpPr>
        <p:spPr>
          <a:xfrm>
            <a:off x="5806440" y="3703320"/>
            <a:ext cx="585144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C6B7A"/>
                </a:solidFill>
                <a:effectLst/>
                <a:uFillTx/>
                <a:latin typeface="Calibri"/>
                <a:ea typeface="Calibri"/>
              </a:rPr>
              <a:t>8 single input samples: x[0] ... x[7], each trivially its own 1-point DFT</a:t>
            </a:r>
            <a:endParaRPr lang="en-US" sz="1050" b="0" u="none" strike="noStrike">
              <a:solidFill>
                <a:srgbClr val="000000"/>
              </a:solidFill>
              <a:effectLst/>
              <a:uFillTx/>
              <a:latin typeface="Arial"/>
            </a:endParaRPr>
          </a:p>
        </p:txBody>
      </p:sp>
      <p:sp>
        <p:nvSpPr>
          <p:cNvPr id="127" name="Shape 27"/>
          <p:cNvSpPr/>
          <p:nvPr/>
        </p:nvSpPr>
        <p:spPr>
          <a:xfrm>
            <a:off x="6080760" y="4297680"/>
            <a:ext cx="5577120" cy="1690920"/>
          </a:xfrm>
          <a:prstGeom prst="roundRect">
            <a:avLst>
              <a:gd name="adj" fmla="val 4324"/>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Text 28"/>
          <p:cNvSpPr/>
          <p:nvPr/>
        </p:nvSpPr>
        <p:spPr>
          <a:xfrm>
            <a:off x="6309360" y="4389120"/>
            <a:ext cx="5119920" cy="1508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Why N must be a power of 2:  </a:t>
            </a:r>
            <a:r>
              <a:rPr lang="en-US" sz="1250" b="0" u="none" strike="noStrike">
                <a:solidFill>
                  <a:srgbClr val="16202E"/>
                </a:solidFill>
                <a:effectLst/>
                <a:uFillTx/>
                <a:latin typeface="Calibri"/>
                <a:ea typeface="Calibri"/>
              </a:rPr>
              <a:t>radix-2 works by repeatedly halving N. That only produces a clean recursion down to trivial 1-point transforms if N, N/2, N/4, ... eventually reaches 1 with no remainder. This requires N = 2^m for an integer m. If N is not a power of 2, radix-2 cannot split evenly, and a different radix (e.g. radix-3, radix-4) or a mixed-radix / Bluestein algorithm is required instead.</a:t>
            </a:r>
            <a:endParaRPr lang="en-US" sz="1250" b="0" u="none" strike="noStrike">
              <a:solidFill>
                <a:srgbClr val="000000"/>
              </a:solidFill>
              <a:effectLst/>
              <a:uFillTx/>
              <a:latin typeface="Arial"/>
            </a:endParaRPr>
          </a:p>
        </p:txBody>
      </p:sp>
      <p:sp>
        <p:nvSpPr>
          <p:cNvPr id="129" name="Text 2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130" name="Text 3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Radix-2</a:t>
            </a:r>
            <a:endParaRPr lang="en-US" sz="900" b="0" u="none" strike="noStrike">
              <a:solidFill>
                <a:srgbClr val="000000"/>
              </a:solidFill>
              <a:effectLst/>
              <a:uFillTx/>
              <a:latin typeface="Arial"/>
            </a:endParaRPr>
          </a:p>
        </p:txBody>
      </p:sp>
      <p:sp>
        <p:nvSpPr>
          <p:cNvPr id="131" name="Text 3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3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DECIMATION-IN-TIME</a:t>
            </a:r>
            <a:endParaRPr lang="en-US" sz="1150" b="0" u="none" strike="noStrike">
              <a:solidFill>
                <a:srgbClr val="000000"/>
              </a:solidFill>
              <a:effectLst/>
              <a:uFillTx/>
              <a:latin typeface="Arial"/>
            </a:endParaRPr>
          </a:p>
        </p:txBody>
      </p:sp>
      <p:sp>
        <p:nvSpPr>
          <p:cNvPr id="13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Splitting the Input by Time-Index Parity</a:t>
            </a:r>
            <a:endParaRPr lang="en-US" sz="2700" b="0" u="none" strike="noStrike">
              <a:solidFill>
                <a:srgbClr val="000000"/>
              </a:solidFill>
              <a:effectLst/>
              <a:uFillTx/>
              <a:latin typeface="Arial"/>
            </a:endParaRPr>
          </a:p>
        </p:txBody>
      </p:sp>
      <p:sp>
        <p:nvSpPr>
          <p:cNvPr id="134" name="Text 2"/>
          <p:cNvSpPr/>
          <p:nvPr/>
        </p:nvSpPr>
        <p:spPr>
          <a:xfrm>
            <a:off x="502920" y="1188720"/>
            <a:ext cx="11154960" cy="502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“Decimation” here does not mean discarding samples. It means splitting the input sequence into two interleaved subsequences based on whether the time index n is even or odd, and processing each half separately.</a:t>
            </a:r>
            <a:endParaRPr lang="en-US" sz="1300" b="0" u="none" strike="noStrike">
              <a:solidFill>
                <a:srgbClr val="000000"/>
              </a:solidFill>
              <a:effectLst/>
              <a:uFillTx/>
              <a:latin typeface="Arial"/>
            </a:endParaRPr>
          </a:p>
        </p:txBody>
      </p:sp>
      <p:sp>
        <p:nvSpPr>
          <p:cNvPr id="135" name="Text 3"/>
          <p:cNvSpPr/>
          <p:nvPr/>
        </p:nvSpPr>
        <p:spPr>
          <a:xfrm>
            <a:off x="502920" y="1755720"/>
            <a:ext cx="7314480" cy="227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Original 8-point input sequence, in natural order</a:t>
            </a:r>
            <a:endParaRPr lang="en-US" sz="1150" b="0" u="none" strike="noStrike">
              <a:solidFill>
                <a:srgbClr val="000000"/>
              </a:solidFill>
              <a:effectLst/>
              <a:uFillTx/>
              <a:latin typeface="Arial"/>
            </a:endParaRPr>
          </a:p>
        </p:txBody>
      </p:sp>
      <p:sp>
        <p:nvSpPr>
          <p:cNvPr id="136" name="Shape 4"/>
          <p:cNvSpPr/>
          <p:nvPr/>
        </p:nvSpPr>
        <p:spPr>
          <a:xfrm>
            <a:off x="685800" y="1965960"/>
            <a:ext cx="1233720" cy="502200"/>
          </a:xfrm>
          <a:prstGeom prst="roundRect">
            <a:avLst>
              <a:gd name="adj" fmla="val 9091"/>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Text 5"/>
          <p:cNvSpPr/>
          <p:nvPr/>
        </p:nvSpPr>
        <p:spPr>
          <a:xfrm>
            <a:off x="68580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138" name="Shape 6"/>
          <p:cNvSpPr/>
          <p:nvPr/>
        </p:nvSpPr>
        <p:spPr>
          <a:xfrm>
            <a:off x="2011680" y="1965960"/>
            <a:ext cx="1233720" cy="502200"/>
          </a:xfrm>
          <a:prstGeom prst="roundRect">
            <a:avLst>
              <a:gd name="adj" fmla="val 9091"/>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Text 7"/>
          <p:cNvSpPr/>
          <p:nvPr/>
        </p:nvSpPr>
        <p:spPr>
          <a:xfrm>
            <a:off x="201168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140" name="Shape 8"/>
          <p:cNvSpPr/>
          <p:nvPr/>
        </p:nvSpPr>
        <p:spPr>
          <a:xfrm>
            <a:off x="3337560" y="1965960"/>
            <a:ext cx="1233720" cy="502200"/>
          </a:xfrm>
          <a:prstGeom prst="roundRect">
            <a:avLst>
              <a:gd name="adj" fmla="val 9091"/>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9"/>
          <p:cNvSpPr/>
          <p:nvPr/>
        </p:nvSpPr>
        <p:spPr>
          <a:xfrm>
            <a:off x="333756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142" name="Shape 10"/>
          <p:cNvSpPr/>
          <p:nvPr/>
        </p:nvSpPr>
        <p:spPr>
          <a:xfrm>
            <a:off x="4663440" y="1965960"/>
            <a:ext cx="1233720" cy="502200"/>
          </a:xfrm>
          <a:prstGeom prst="roundRect">
            <a:avLst>
              <a:gd name="adj" fmla="val 9091"/>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11"/>
          <p:cNvSpPr/>
          <p:nvPr/>
        </p:nvSpPr>
        <p:spPr>
          <a:xfrm>
            <a:off x="466344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144" name="Shape 12"/>
          <p:cNvSpPr/>
          <p:nvPr/>
        </p:nvSpPr>
        <p:spPr>
          <a:xfrm>
            <a:off x="5989320" y="1965960"/>
            <a:ext cx="1233720" cy="502200"/>
          </a:xfrm>
          <a:prstGeom prst="roundRect">
            <a:avLst>
              <a:gd name="adj" fmla="val 9091"/>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Text 13"/>
          <p:cNvSpPr/>
          <p:nvPr/>
        </p:nvSpPr>
        <p:spPr>
          <a:xfrm>
            <a:off x="598932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146" name="Shape 14"/>
          <p:cNvSpPr/>
          <p:nvPr/>
        </p:nvSpPr>
        <p:spPr>
          <a:xfrm>
            <a:off x="7315200" y="1965960"/>
            <a:ext cx="1233720" cy="502200"/>
          </a:xfrm>
          <a:prstGeom prst="roundRect">
            <a:avLst>
              <a:gd name="adj" fmla="val 9091"/>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7" name="Text 15"/>
          <p:cNvSpPr/>
          <p:nvPr/>
        </p:nvSpPr>
        <p:spPr>
          <a:xfrm>
            <a:off x="731520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148" name="Shape 16"/>
          <p:cNvSpPr/>
          <p:nvPr/>
        </p:nvSpPr>
        <p:spPr>
          <a:xfrm>
            <a:off x="8641080" y="1965960"/>
            <a:ext cx="1233720" cy="502200"/>
          </a:xfrm>
          <a:prstGeom prst="roundRect">
            <a:avLst>
              <a:gd name="adj" fmla="val 9091"/>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Text 17"/>
          <p:cNvSpPr/>
          <p:nvPr/>
        </p:nvSpPr>
        <p:spPr>
          <a:xfrm>
            <a:off x="864108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150" name="Shape 18"/>
          <p:cNvSpPr/>
          <p:nvPr/>
        </p:nvSpPr>
        <p:spPr>
          <a:xfrm>
            <a:off x="9966960" y="1965960"/>
            <a:ext cx="1233720" cy="502200"/>
          </a:xfrm>
          <a:prstGeom prst="roundRect">
            <a:avLst>
              <a:gd name="adj" fmla="val 9091"/>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Text 19"/>
          <p:cNvSpPr/>
          <p:nvPr/>
        </p:nvSpPr>
        <p:spPr>
          <a:xfrm>
            <a:off x="9966960" y="196596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152" name="Text 20"/>
          <p:cNvSpPr/>
          <p:nvPr/>
        </p:nvSpPr>
        <p:spPr>
          <a:xfrm>
            <a:off x="502920" y="2788920"/>
            <a:ext cx="5485680" cy="227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0E8388"/>
                </a:solidFill>
                <a:effectLst/>
                <a:uFillTx/>
                <a:latin typeface="Calibri"/>
                <a:ea typeface="Calibri"/>
              </a:rPr>
              <a:t>Even-indexed samples (teal)</a:t>
            </a:r>
            <a:endParaRPr lang="en-US" sz="1150" b="0" u="none" strike="noStrike">
              <a:solidFill>
                <a:srgbClr val="000000"/>
              </a:solidFill>
              <a:effectLst/>
              <a:uFillTx/>
              <a:latin typeface="Arial"/>
            </a:endParaRPr>
          </a:p>
        </p:txBody>
      </p:sp>
      <p:sp>
        <p:nvSpPr>
          <p:cNvPr id="153" name="Shape 21"/>
          <p:cNvSpPr/>
          <p:nvPr/>
        </p:nvSpPr>
        <p:spPr>
          <a:xfrm>
            <a:off x="685800" y="3063240"/>
            <a:ext cx="123372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Text 22"/>
          <p:cNvSpPr/>
          <p:nvPr/>
        </p:nvSpPr>
        <p:spPr>
          <a:xfrm>
            <a:off x="685800" y="306324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155" name="Shape 23"/>
          <p:cNvSpPr/>
          <p:nvPr/>
        </p:nvSpPr>
        <p:spPr>
          <a:xfrm>
            <a:off x="2011680" y="3063240"/>
            <a:ext cx="123372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24"/>
          <p:cNvSpPr/>
          <p:nvPr/>
        </p:nvSpPr>
        <p:spPr>
          <a:xfrm>
            <a:off x="2011680" y="306324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157" name="Shape 25"/>
          <p:cNvSpPr/>
          <p:nvPr/>
        </p:nvSpPr>
        <p:spPr>
          <a:xfrm>
            <a:off x="3337560" y="3063240"/>
            <a:ext cx="123372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Text 26"/>
          <p:cNvSpPr/>
          <p:nvPr/>
        </p:nvSpPr>
        <p:spPr>
          <a:xfrm>
            <a:off x="3337560" y="306324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159" name="Shape 27"/>
          <p:cNvSpPr/>
          <p:nvPr/>
        </p:nvSpPr>
        <p:spPr>
          <a:xfrm>
            <a:off x="4663440" y="3063240"/>
            <a:ext cx="123372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Text 28"/>
          <p:cNvSpPr/>
          <p:nvPr/>
        </p:nvSpPr>
        <p:spPr>
          <a:xfrm>
            <a:off x="4663440" y="306324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161" name="Text 29"/>
          <p:cNvSpPr/>
          <p:nvPr/>
        </p:nvSpPr>
        <p:spPr>
          <a:xfrm>
            <a:off x="502920" y="3794760"/>
            <a:ext cx="5485680" cy="227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D98324"/>
                </a:solidFill>
                <a:effectLst/>
                <a:uFillTx/>
                <a:latin typeface="Calibri"/>
                <a:ea typeface="Calibri"/>
              </a:rPr>
              <a:t>Odd-indexed samples (amber)</a:t>
            </a:r>
            <a:endParaRPr lang="en-US" sz="1150" b="0" u="none" strike="noStrike">
              <a:solidFill>
                <a:srgbClr val="000000"/>
              </a:solidFill>
              <a:effectLst/>
              <a:uFillTx/>
              <a:latin typeface="Arial"/>
            </a:endParaRPr>
          </a:p>
        </p:txBody>
      </p:sp>
      <p:sp>
        <p:nvSpPr>
          <p:cNvPr id="162" name="Shape 30"/>
          <p:cNvSpPr/>
          <p:nvPr/>
        </p:nvSpPr>
        <p:spPr>
          <a:xfrm>
            <a:off x="685800" y="4069080"/>
            <a:ext cx="123372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Text 31"/>
          <p:cNvSpPr/>
          <p:nvPr/>
        </p:nvSpPr>
        <p:spPr>
          <a:xfrm>
            <a:off x="685800" y="406908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164" name="Shape 32"/>
          <p:cNvSpPr/>
          <p:nvPr/>
        </p:nvSpPr>
        <p:spPr>
          <a:xfrm>
            <a:off x="2011680" y="4069080"/>
            <a:ext cx="123372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5" name="Text 33"/>
          <p:cNvSpPr/>
          <p:nvPr/>
        </p:nvSpPr>
        <p:spPr>
          <a:xfrm>
            <a:off x="2011680" y="406908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166" name="Shape 34"/>
          <p:cNvSpPr/>
          <p:nvPr/>
        </p:nvSpPr>
        <p:spPr>
          <a:xfrm>
            <a:off x="3337560" y="4069080"/>
            <a:ext cx="123372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7" name="Text 35"/>
          <p:cNvSpPr/>
          <p:nvPr/>
        </p:nvSpPr>
        <p:spPr>
          <a:xfrm>
            <a:off x="3337560" y="406908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168" name="Shape 36"/>
          <p:cNvSpPr/>
          <p:nvPr/>
        </p:nvSpPr>
        <p:spPr>
          <a:xfrm>
            <a:off x="4663440" y="4069080"/>
            <a:ext cx="123372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Text 37"/>
          <p:cNvSpPr/>
          <p:nvPr/>
        </p:nvSpPr>
        <p:spPr>
          <a:xfrm>
            <a:off x="4663440" y="4069080"/>
            <a:ext cx="123372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170" name="Shape 38"/>
          <p:cNvSpPr/>
          <p:nvPr/>
        </p:nvSpPr>
        <p:spPr>
          <a:xfrm>
            <a:off x="502920" y="4846320"/>
            <a:ext cx="11154960" cy="1233720"/>
          </a:xfrm>
          <a:prstGeom prst="roundRect">
            <a:avLst>
              <a:gd name="adj" fmla="val 592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1" name="Text 39"/>
          <p:cNvSpPr/>
          <p:nvPr/>
        </p:nvSpPr>
        <p:spPr>
          <a:xfrm>
            <a:off x="731520" y="4956120"/>
            <a:ext cx="10697760" cy="10508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DIT operates by decomposing the input sequence itself.  </a:t>
            </a:r>
            <a:r>
              <a:rPr lang="en-US" sz="1250" b="0" u="none" strike="noStrike">
                <a:solidFill>
                  <a:srgbClr val="16202E"/>
                </a:solidFill>
                <a:effectLst/>
                <a:uFillTx/>
                <a:latin typeface="Calibri"/>
                <a:ea typeface="Calibri"/>
              </a:rPr>
              <a:t>Even samples x[0], x[2], x[4], x[6] feed one N/2-point DFT; odd samples x[1], x[3], x[5], x[7] feed a second N/2-point DFT. The two N/2-point results are then recombined with the butterfly (Sections 6 and 7) to form the final N-point spectrum. The split happens on the time-domain input, which is exactly why it is called decimation-in-time.</a:t>
            </a:r>
            <a:endParaRPr lang="en-US" sz="1250" b="0" u="none" strike="noStrike">
              <a:solidFill>
                <a:srgbClr val="000000"/>
              </a:solidFill>
              <a:effectLst/>
              <a:uFillTx/>
              <a:latin typeface="Arial"/>
            </a:endParaRPr>
          </a:p>
        </p:txBody>
      </p:sp>
      <p:sp>
        <p:nvSpPr>
          <p:cNvPr id="172" name="Text 40"/>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173" name="Text 41"/>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Decimation-in-Time</a:t>
            </a:r>
            <a:endParaRPr lang="en-US" sz="900" b="0" u="none" strike="noStrike">
              <a:solidFill>
                <a:srgbClr val="000000"/>
              </a:solidFill>
              <a:effectLst/>
              <a:uFillTx/>
              <a:latin typeface="Arial"/>
            </a:endParaRPr>
          </a:p>
        </p:txBody>
      </p:sp>
      <p:sp>
        <p:nvSpPr>
          <p:cNvPr id="174" name="Text 42"/>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75"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DECIMATION-IN-TIME</a:t>
            </a:r>
            <a:endParaRPr lang="en-US" sz="1150" b="0" u="none" strike="noStrike">
              <a:solidFill>
                <a:srgbClr val="000000"/>
              </a:solidFill>
              <a:effectLst/>
              <a:uFillTx/>
              <a:latin typeface="Arial"/>
            </a:endParaRPr>
          </a:p>
        </p:txBody>
      </p:sp>
      <p:sp>
        <p:nvSpPr>
          <p:cNvPr id="176"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DIT vs. DIF at a Glance</a:t>
            </a:r>
            <a:endParaRPr lang="en-US" sz="2700" b="0" u="none" strike="noStrike">
              <a:solidFill>
                <a:srgbClr val="000000"/>
              </a:solidFill>
              <a:effectLst/>
              <a:uFillTx/>
              <a:latin typeface="Arial"/>
            </a:endParaRPr>
          </a:p>
        </p:txBody>
      </p:sp>
      <p:sp>
        <p:nvSpPr>
          <p:cNvPr id="177" name="Text 2"/>
          <p:cNvSpPr/>
          <p:nvPr/>
        </p:nvSpPr>
        <p:spPr>
          <a:xfrm>
            <a:off x="502920" y="1188720"/>
            <a:ext cx="1115496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Decimation-in-time (DIT) is not the only way to recursively split the DFT. Decimation-in-frequency (DIF) is the dual approach: instead of splitting the input samples, it splits the output frequency bins. Both compute the identical DFT; the deck focuses on DIT.</a:t>
            </a:r>
            <a:endParaRPr lang="en-US" sz="1300" b="0" u="none" strike="noStrike">
              <a:solidFill>
                <a:srgbClr val="000000"/>
              </a:solidFill>
              <a:effectLst/>
              <a:uFillTx/>
              <a:latin typeface="Arial"/>
            </a:endParaRPr>
          </a:p>
        </p:txBody>
      </p:sp>
      <p:graphicFrame>
        <p:nvGraphicFramePr>
          <p:cNvPr id="178" name="Table 0"/>
          <p:cNvGraphicFramePr/>
          <p:nvPr/>
        </p:nvGraphicFramePr>
        <p:xfrm>
          <a:off x="502920" y="1920240"/>
          <a:ext cx="11155320" cy="1975680"/>
        </p:xfrm>
        <a:graphic>
          <a:graphicData uri="http://schemas.openxmlformats.org/drawingml/2006/table">
            <a:tbl>
              <a:tblPr/>
              <a:tblGrid>
                <a:gridCol w="2377440"/>
                <a:gridCol w="4389120"/>
                <a:gridCol w="43891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Feature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Decimation-in-Time (DIT)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Decimation-in-Frequency (DIF)</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What is split</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time-domain input sequence, by index parity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The frequency-domain output, by index parity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Input ordering</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Bit-reversed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Natural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Output ordering</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Natural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Bit-reversed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First operation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Combine small DFTs (decompose then combine)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Butterfly first, then decompose smaller DFTs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Twiddle multiply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Applied to O[k] before the add / subtract</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Applied after the add / subtract</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Typical interpretation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“Split input samples, then combine”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“Split frequency outputs, then recurse”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179" name="Shape 3"/>
          <p:cNvSpPr/>
          <p:nvPr/>
        </p:nvSpPr>
        <p:spPr>
          <a:xfrm>
            <a:off x="502920" y="5349240"/>
            <a:ext cx="11154960" cy="822240"/>
          </a:xfrm>
          <a:prstGeom prst="roundRect">
            <a:avLst>
              <a:gd name="adj" fmla="val 8889"/>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Text 4"/>
          <p:cNvSpPr/>
          <p:nvPr/>
        </p:nvSpPr>
        <p:spPr>
          <a:xfrm>
            <a:off x="731520" y="5349240"/>
            <a:ext cx="10697760" cy="822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Both algorithms produce exactly the same X[k].  </a:t>
            </a:r>
            <a:r>
              <a:rPr lang="en-US" sz="1250" b="0" u="none" strike="noStrike">
                <a:solidFill>
                  <a:srgbClr val="16202E"/>
                </a:solidFill>
                <a:effectLst/>
                <a:uFillTx/>
                <a:latin typeface="Calibri"/>
                <a:ea typeface="Calibri"/>
              </a:rPr>
              <a:t>They differ only in how the computation is organized internally: which domain is decimated, and consequently where the bit-reversal shuffle ends up (input side for DIT, output side for DIF).</a:t>
            </a:r>
            <a:endParaRPr lang="en-US" sz="1250" b="0" u="none" strike="noStrike">
              <a:solidFill>
                <a:srgbClr val="000000"/>
              </a:solidFill>
              <a:effectLst/>
              <a:uFillTx/>
              <a:latin typeface="Arial"/>
            </a:endParaRPr>
          </a:p>
        </p:txBody>
      </p:sp>
      <p:sp>
        <p:nvSpPr>
          <p:cNvPr id="181"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182"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vs DIF</a:t>
            </a:r>
            <a:endParaRPr lang="en-US" sz="900" b="0" u="none" strike="noStrike">
              <a:solidFill>
                <a:srgbClr val="000000"/>
              </a:solidFill>
              <a:effectLst/>
              <a:uFillTx/>
              <a:latin typeface="Arial"/>
            </a:endParaRPr>
          </a:p>
        </p:txBody>
      </p:sp>
      <p:sp>
        <p:nvSpPr>
          <p:cNvPr id="183"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8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6 · DERIVATION</a:t>
            </a:r>
            <a:endParaRPr lang="en-US" sz="1150" b="0" u="none" strike="noStrike">
              <a:solidFill>
                <a:srgbClr val="000000"/>
              </a:solidFill>
              <a:effectLst/>
              <a:uFillTx/>
              <a:latin typeface="Arial"/>
            </a:endParaRPr>
          </a:p>
        </p:txBody>
      </p:sp>
      <p:sp>
        <p:nvSpPr>
          <p:cNvPr id="18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Step 1: Split the DFT Sum by Index Parity</a:t>
            </a:r>
            <a:endParaRPr lang="en-US" sz="2700" b="0" u="none" strike="noStrike">
              <a:solidFill>
                <a:srgbClr val="000000"/>
              </a:solidFill>
              <a:effectLst/>
              <a:uFillTx/>
              <a:latin typeface="Arial"/>
            </a:endParaRPr>
          </a:p>
        </p:txBody>
      </p:sp>
      <p:sp>
        <p:nvSpPr>
          <p:cNvPr id="186" name="Shape 2"/>
          <p:cNvSpPr/>
          <p:nvPr/>
        </p:nvSpPr>
        <p:spPr>
          <a:xfrm>
            <a:off x="502920" y="1234440"/>
            <a:ext cx="11154960" cy="685080"/>
          </a:xfrm>
          <a:prstGeom prst="roundRect">
            <a:avLst>
              <a:gd name="adj" fmla="val 10667"/>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7" name="Text 3"/>
          <p:cNvSpPr/>
          <p:nvPr/>
        </p:nvSpPr>
        <p:spPr>
          <a:xfrm>
            <a:off x="640080" y="1234440"/>
            <a:ext cx="10880640" cy="685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132A4A"/>
                </a:solidFill>
                <a:effectLst/>
                <a:uFillTx/>
                <a:latin typeface="Cambria"/>
                <a:ea typeface="Cambria"/>
              </a:rPr>
              <a:t>X</a:t>
            </a:r>
            <a:r>
              <a:rPr lang="en-US" sz="2000" b="0" u="none" strike="noStrike" baseline="-40000">
                <a:solidFill>
                  <a:srgbClr val="132A4A"/>
                </a:solidFill>
                <a:effectLst/>
                <a:uFillTx/>
                <a:latin typeface="Cambria"/>
                <a:ea typeface="Cambria"/>
              </a:rPr>
              <a:t>k</a:t>
            </a:r>
            <a:r>
              <a:rPr lang="en-US" sz="2000" b="0" u="none" strike="noStrike">
                <a:solidFill>
                  <a:srgbClr val="132A4A"/>
                </a:solidFill>
                <a:effectLst/>
                <a:uFillTx/>
                <a:latin typeface="Cambria"/>
                <a:ea typeface="Cambria"/>
              </a:rPr>
              <a:t> = </a:t>
            </a:r>
            <a:r>
              <a:rPr lang="en-US" sz="2600" b="0" u="none" strike="noStrike">
                <a:solidFill>
                  <a:srgbClr val="132A4A"/>
                </a:solidFill>
                <a:effectLst/>
                <a:uFillTx/>
                <a:latin typeface="Cambria"/>
                <a:ea typeface="Cambria"/>
              </a:rPr>
              <a:t>Σ</a:t>
            </a:r>
            <a:r>
              <a:rPr lang="en-US" sz="1100" b="0" u="none" strike="noStrike" baseline="-40000">
                <a:solidFill>
                  <a:srgbClr val="132A4A"/>
                </a:solidFill>
                <a:effectLst/>
                <a:uFillTx/>
                <a:latin typeface="Cambria"/>
                <a:ea typeface="Cambria"/>
              </a:rPr>
              <a:t>n=0</a:t>
            </a:r>
            <a:r>
              <a:rPr lang="en-US" sz="1100" b="0" u="none" strike="noStrike" baseline="30000">
                <a:solidFill>
                  <a:srgbClr val="132A4A"/>
                </a:solidFill>
                <a:effectLst/>
                <a:uFillTx/>
                <a:latin typeface="Cambria"/>
                <a:ea typeface="Cambria"/>
              </a:rPr>
              <a:t>N-1</a:t>
            </a:r>
            <a:r>
              <a:rPr lang="en-US" sz="2000" b="0" u="none" strike="noStrike">
                <a:solidFill>
                  <a:srgbClr val="132A4A"/>
                </a:solidFill>
                <a:effectLst/>
                <a:uFillTx/>
                <a:latin typeface="Cambria"/>
                <a:ea typeface="Cambria"/>
              </a:rPr>
              <a:t>  x</a:t>
            </a:r>
            <a:r>
              <a:rPr lang="en-US" sz="2000" b="0" u="none" strike="noStrike" baseline="-40000">
                <a:solidFill>
                  <a:srgbClr val="132A4A"/>
                </a:solidFill>
                <a:effectLst/>
                <a:uFillTx/>
                <a:latin typeface="Cambria"/>
                <a:ea typeface="Cambria"/>
              </a:rPr>
              <a:t>n</a:t>
            </a:r>
            <a:r>
              <a:rPr lang="en-US" sz="2000" b="0" u="none" strike="noStrike">
                <a:solidFill>
                  <a:srgbClr val="132A4A"/>
                </a:solidFill>
                <a:effectLst/>
                <a:uFillTx/>
                <a:latin typeface="Cambria"/>
                <a:ea typeface="Cambria"/>
              </a:rPr>
              <a:t> W</a:t>
            </a:r>
            <a:r>
              <a:rPr lang="en-US" sz="2000" b="0" u="none" strike="noStrike" baseline="-40000">
                <a:solidFill>
                  <a:srgbClr val="132A4A"/>
                </a:solidFill>
                <a:effectLst/>
                <a:uFillTx/>
                <a:latin typeface="Cambria"/>
                <a:ea typeface="Cambria"/>
              </a:rPr>
              <a:t>N</a:t>
            </a:r>
            <a:r>
              <a:rPr lang="en-US" sz="2000" b="0" u="none" strike="noStrike" baseline="30000">
                <a:solidFill>
                  <a:srgbClr val="132A4A"/>
                </a:solidFill>
                <a:effectLst/>
                <a:uFillTx/>
                <a:latin typeface="Cambria"/>
                <a:ea typeface="Cambria"/>
              </a:rPr>
              <a:t>nk</a:t>
            </a:r>
            <a:endParaRPr lang="en-US" sz="2000" b="0" u="none" strike="noStrike">
              <a:solidFill>
                <a:srgbClr val="000000"/>
              </a:solidFill>
              <a:effectLst/>
              <a:uFillTx/>
              <a:latin typeface="Arial"/>
            </a:endParaRPr>
          </a:p>
        </p:txBody>
      </p:sp>
      <p:sp>
        <p:nvSpPr>
          <p:cNvPr id="188" name="Text 4"/>
          <p:cNvSpPr/>
          <p:nvPr/>
        </p:nvSpPr>
        <p:spPr>
          <a:xfrm>
            <a:off x="502920" y="2057400"/>
            <a:ext cx="1115496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Every index n from 0 to N-1 is either even (n = 2r) or odd (n = 2r+1), for r = 0, 1, ..., N/2 - 1. Splitting the single sum into these two groups changes nothing mathematically, it only regroups the same N terms:</a:t>
            </a:r>
            <a:endParaRPr lang="en-US" sz="1300" b="0" u="none" strike="noStrike">
              <a:solidFill>
                <a:srgbClr val="000000"/>
              </a:solidFill>
              <a:effectLst/>
              <a:uFillTx/>
              <a:latin typeface="Arial"/>
            </a:endParaRPr>
          </a:p>
        </p:txBody>
      </p:sp>
      <p:sp>
        <p:nvSpPr>
          <p:cNvPr id="189" name="Shape 5"/>
          <p:cNvSpPr/>
          <p:nvPr/>
        </p:nvSpPr>
        <p:spPr>
          <a:xfrm>
            <a:off x="502920" y="2743200"/>
            <a:ext cx="11154960" cy="1416600"/>
          </a:xfrm>
          <a:prstGeom prst="roundRect">
            <a:avLst>
              <a:gd name="adj" fmla="val 516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6"/>
          <p:cNvSpPr/>
          <p:nvPr/>
        </p:nvSpPr>
        <p:spPr>
          <a:xfrm>
            <a:off x="640080" y="2743200"/>
            <a:ext cx="10880640" cy="1416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X</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a:t>
            </a:r>
            <a:r>
              <a:rPr lang="en-US" sz="2400" b="0" u="none" strike="noStrike">
                <a:solidFill>
                  <a:srgbClr val="0E8388"/>
                </a:solidFill>
                <a:effectLst/>
                <a:uFillTx/>
                <a:latin typeface="Cambria"/>
                <a:ea typeface="Cambria"/>
              </a:rPr>
              <a:t>Σ</a:t>
            </a:r>
            <a:r>
              <a:rPr lang="en-US" sz="1000" b="0" u="none" strike="noStrike" baseline="-40000">
                <a:solidFill>
                  <a:srgbClr val="0E8388"/>
                </a:solidFill>
                <a:effectLst/>
                <a:uFillTx/>
                <a:latin typeface="Cambria"/>
                <a:ea typeface="Cambria"/>
              </a:rPr>
              <a:t>r=0</a:t>
            </a:r>
            <a:r>
              <a:rPr lang="en-US" sz="1000" b="0" u="none" strike="noStrike" baseline="30000">
                <a:solidFill>
                  <a:srgbClr val="0E8388"/>
                </a:solidFill>
                <a:effectLst/>
                <a:uFillTx/>
                <a:latin typeface="Cambria"/>
                <a:ea typeface="Cambria"/>
              </a:rPr>
              <a:t>N/2-1</a:t>
            </a:r>
            <a:r>
              <a:rPr lang="en-US" sz="1900" b="0" u="none" strike="noStrike">
                <a:solidFill>
                  <a:srgbClr val="0E8388"/>
                </a:solidFill>
                <a:effectLst/>
                <a:uFillTx/>
                <a:latin typeface="Cambria"/>
                <a:ea typeface="Cambria"/>
              </a:rPr>
              <a:t> x</a:t>
            </a:r>
            <a:r>
              <a:rPr lang="en-US" sz="1900" b="0" u="none" strike="noStrike" baseline="-40000">
                <a:solidFill>
                  <a:srgbClr val="0E8388"/>
                </a:solidFill>
                <a:effectLst/>
                <a:uFillTx/>
                <a:latin typeface="Cambria"/>
                <a:ea typeface="Cambria"/>
              </a:rPr>
              <a:t>2r</a:t>
            </a:r>
            <a:r>
              <a:rPr lang="en-US" sz="1900" b="0" u="none" strike="noStrike">
                <a:solidFill>
                  <a:srgbClr val="0E8388"/>
                </a:solidFill>
                <a:effectLst/>
                <a:uFillTx/>
                <a:latin typeface="Cambria"/>
                <a:ea typeface="Cambria"/>
              </a:rPr>
              <a:t> W</a:t>
            </a:r>
            <a:r>
              <a:rPr lang="en-US" sz="1900" b="0" u="none" strike="noStrike" baseline="-40000">
                <a:solidFill>
                  <a:srgbClr val="0E8388"/>
                </a:solidFill>
                <a:effectLst/>
                <a:uFillTx/>
                <a:latin typeface="Cambria"/>
                <a:ea typeface="Cambria"/>
              </a:rPr>
              <a:t>N</a:t>
            </a:r>
            <a:r>
              <a:rPr lang="en-US" sz="1900" b="0" u="none" strike="noStrike" baseline="30000">
                <a:solidFill>
                  <a:srgbClr val="0E8388"/>
                </a:solidFill>
                <a:effectLst/>
                <a:uFillTx/>
                <a:latin typeface="Cambria"/>
                <a:ea typeface="Cambria"/>
              </a:rPr>
              <a:t>2rk</a:t>
            </a:r>
            <a:r>
              <a:rPr lang="en-US" sz="1900" b="0" u="none" strike="noStrike">
                <a:solidFill>
                  <a:srgbClr val="132A4A"/>
                </a:solidFill>
                <a:effectLst/>
                <a:uFillTx/>
                <a:latin typeface="Cambria"/>
                <a:ea typeface="Cambria"/>
              </a:rPr>
              <a:t>     +     </a:t>
            </a:r>
            <a:r>
              <a:rPr lang="en-US" sz="2400" b="0" u="none" strike="noStrike">
                <a:solidFill>
                  <a:srgbClr val="D98324"/>
                </a:solidFill>
                <a:effectLst/>
                <a:uFillTx/>
                <a:latin typeface="Cambria"/>
                <a:ea typeface="Cambria"/>
              </a:rPr>
              <a:t>Σ</a:t>
            </a:r>
            <a:r>
              <a:rPr lang="en-US" sz="1000" b="0" u="none" strike="noStrike" baseline="-40000">
                <a:solidFill>
                  <a:srgbClr val="D98324"/>
                </a:solidFill>
                <a:effectLst/>
                <a:uFillTx/>
                <a:latin typeface="Cambria"/>
                <a:ea typeface="Cambria"/>
              </a:rPr>
              <a:t>r=0</a:t>
            </a:r>
            <a:r>
              <a:rPr lang="en-US" sz="1000" b="0" u="none" strike="noStrike" baseline="30000">
                <a:solidFill>
                  <a:srgbClr val="D98324"/>
                </a:solidFill>
                <a:effectLst/>
                <a:uFillTx/>
                <a:latin typeface="Cambria"/>
                <a:ea typeface="Cambria"/>
              </a:rPr>
              <a:t>N/2-1</a:t>
            </a:r>
            <a:r>
              <a:rPr lang="en-US" sz="1900" b="0" u="none" strike="noStrike">
                <a:solidFill>
                  <a:srgbClr val="D98324"/>
                </a:solidFill>
                <a:effectLst/>
                <a:uFillTx/>
                <a:latin typeface="Cambria"/>
                <a:ea typeface="Cambria"/>
              </a:rPr>
              <a:t> x</a:t>
            </a:r>
            <a:r>
              <a:rPr lang="en-US" sz="1900" b="0" u="none" strike="noStrike" baseline="-40000">
                <a:solidFill>
                  <a:srgbClr val="D98324"/>
                </a:solidFill>
                <a:effectLst/>
                <a:uFillTx/>
                <a:latin typeface="Cambria"/>
                <a:ea typeface="Cambria"/>
              </a:rPr>
              <a:t>2r+1</a:t>
            </a:r>
            <a:r>
              <a:rPr lang="en-US" sz="1900" b="0" u="none" strike="noStrike">
                <a:solidFill>
                  <a:srgbClr val="D98324"/>
                </a:solidFill>
                <a:effectLst/>
                <a:uFillTx/>
                <a:latin typeface="Cambria"/>
                <a:ea typeface="Cambria"/>
              </a:rPr>
              <a:t> W</a:t>
            </a:r>
            <a:r>
              <a:rPr lang="en-US" sz="1900" b="0" u="none" strike="noStrike" baseline="-40000">
                <a:solidFill>
                  <a:srgbClr val="D98324"/>
                </a:solidFill>
                <a:effectLst/>
                <a:uFillTx/>
                <a:latin typeface="Cambria"/>
                <a:ea typeface="Cambria"/>
              </a:rPr>
              <a:t>N</a:t>
            </a:r>
            <a:r>
              <a:rPr lang="en-US" sz="1900" b="0" u="none" strike="noStrike" baseline="30000">
                <a:solidFill>
                  <a:srgbClr val="D98324"/>
                </a:solidFill>
                <a:effectLst/>
                <a:uFillTx/>
                <a:latin typeface="Cambria"/>
                <a:ea typeface="Cambria"/>
              </a:rPr>
              <a:t>(2r+1)k</a:t>
            </a:r>
            <a:endParaRPr lang="en-US" sz="1900" b="0" u="none" strike="noStrike">
              <a:solidFill>
                <a:srgbClr val="000000"/>
              </a:solidFill>
              <a:effectLst/>
              <a:uFillTx/>
              <a:latin typeface="Arial"/>
            </a:endParaRPr>
          </a:p>
        </p:txBody>
      </p:sp>
      <p:sp>
        <p:nvSpPr>
          <p:cNvPr id="191" name="Text 7"/>
          <p:cNvSpPr/>
          <p:nvPr/>
        </p:nvSpPr>
        <p:spPr>
          <a:xfrm>
            <a:off x="502920" y="4389120"/>
            <a:ext cx="11154960" cy="18280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901"/>
              </a:spcAft>
              <a:buClr>
                <a:srgbClr val="16202E"/>
              </a:buClr>
              <a:buFont typeface="Symbol" charset="2"/>
              <a:buChar char=""/>
            </a:pPr>
            <a:r>
              <a:rPr lang="en-US" sz="1250" b="0" u="none" strike="noStrike">
                <a:solidFill>
                  <a:srgbClr val="16202E"/>
                </a:solidFill>
                <a:effectLst/>
                <a:uFillTx/>
                <a:latin typeface="Calibri"/>
                <a:ea typeface="Calibri"/>
              </a:rPr>
              <a:t>The first sum (teal) runs over the even samples x[0], x[2], x[4], ..., x[N-2], substituting n = 2r.</a:t>
            </a:r>
            <a:endParaRPr lang="en-US" sz="1250" b="0" u="none" strike="noStrike">
              <a:solidFill>
                <a:srgbClr val="000000"/>
              </a:solidFill>
              <a:effectLst/>
              <a:uFillTx/>
              <a:latin typeface="Arial"/>
            </a:endParaRPr>
          </a:p>
          <a:p>
            <a:pPr marL="343080" indent="-343080" defTabSz="914400">
              <a:lnSpc>
                <a:spcPct val="105000"/>
              </a:lnSpc>
              <a:spcAft>
                <a:spcPts val="901"/>
              </a:spcAft>
              <a:buClr>
                <a:srgbClr val="16202E"/>
              </a:buClr>
              <a:buFont typeface="Symbol" charset="2"/>
              <a:buChar char=""/>
            </a:pPr>
            <a:r>
              <a:rPr lang="en-US" sz="1250" b="0" u="none" strike="noStrike">
                <a:solidFill>
                  <a:srgbClr val="16202E"/>
                </a:solidFill>
                <a:effectLst/>
                <a:uFillTx/>
                <a:latin typeface="Calibri"/>
                <a:ea typeface="Calibri"/>
              </a:rPr>
              <a:t>The second sum (amber) runs over the odd samples x[1], x[3], x[5], ..., x[N-1], substituting n = 2r+1.</a:t>
            </a:r>
            <a:endParaRPr lang="en-US" sz="1250" b="0" u="none" strike="noStrike">
              <a:solidFill>
                <a:srgbClr val="000000"/>
              </a:solidFill>
              <a:effectLst/>
              <a:uFillTx/>
              <a:latin typeface="Arial"/>
            </a:endParaRPr>
          </a:p>
          <a:p>
            <a:pPr marL="343080" indent="-343080" defTabSz="914400">
              <a:lnSpc>
                <a:spcPct val="105000"/>
              </a:lnSpc>
              <a:spcAft>
                <a:spcPts val="901"/>
              </a:spcAft>
              <a:buClr>
                <a:srgbClr val="16202E"/>
              </a:buClr>
              <a:buFont typeface="Symbol" charset="2"/>
              <a:buChar char=""/>
            </a:pPr>
            <a:r>
              <a:rPr lang="en-US" sz="1250" b="0" u="none" strike="noStrike">
                <a:solidFill>
                  <a:srgbClr val="16202E"/>
                </a:solidFill>
                <a:effectLst/>
                <a:uFillTx/>
                <a:latin typeface="Calibri"/>
                <a:ea typeface="Calibri"/>
              </a:rPr>
              <a:t>Each sum now has only N/2 terms instead of N, but there are two of them, so the total number of terms is unchanged, 2 × N/2 = N. Nothing has been saved yet; the next steps show where the saving actually comes from.</a:t>
            </a:r>
            <a:endParaRPr lang="en-US" sz="1250" b="0" u="none" strike="noStrike">
              <a:solidFill>
                <a:srgbClr val="000000"/>
              </a:solidFill>
              <a:effectLst/>
              <a:uFillTx/>
              <a:latin typeface="Arial"/>
            </a:endParaRPr>
          </a:p>
        </p:txBody>
      </p:sp>
      <p:sp>
        <p:nvSpPr>
          <p:cNvPr id="192" name="Text 8"/>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193" name="Text 9"/>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Derivation</a:t>
            </a:r>
            <a:endParaRPr lang="en-US" sz="900" b="0" u="none" strike="noStrike">
              <a:solidFill>
                <a:srgbClr val="000000"/>
              </a:solidFill>
              <a:effectLst/>
              <a:uFillTx/>
              <a:latin typeface="Arial"/>
            </a:endParaRPr>
          </a:p>
        </p:txBody>
      </p:sp>
      <p:sp>
        <p:nvSpPr>
          <p:cNvPr id="194" name="Text 10"/>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95"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6 · DERIVATION</a:t>
            </a:r>
            <a:endParaRPr lang="en-US" sz="1150" b="0" u="none" strike="noStrike">
              <a:solidFill>
                <a:srgbClr val="000000"/>
              </a:solidFill>
              <a:effectLst/>
              <a:uFillTx/>
              <a:latin typeface="Arial"/>
            </a:endParaRPr>
          </a:p>
        </p:txBody>
      </p:sp>
      <p:sp>
        <p:nvSpPr>
          <p:cNvPr id="196"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Step 2: Simplify the Twiddle Exponents</a:t>
            </a:r>
            <a:endParaRPr lang="en-US" sz="2700" b="0" u="none" strike="noStrike">
              <a:solidFill>
                <a:srgbClr val="000000"/>
              </a:solidFill>
              <a:effectLst/>
              <a:uFillTx/>
              <a:latin typeface="Arial"/>
            </a:endParaRPr>
          </a:p>
        </p:txBody>
      </p:sp>
      <p:sp>
        <p:nvSpPr>
          <p:cNvPr id="197" name="Text 2"/>
          <p:cNvSpPr/>
          <p:nvPr/>
        </p:nvSpPr>
        <p:spPr>
          <a:xfrm>
            <a:off x="502920" y="1207080"/>
            <a:ext cx="5394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0E8388"/>
                </a:solidFill>
                <a:effectLst/>
                <a:uFillTx/>
                <a:latin typeface="Calibri"/>
                <a:ea typeface="Calibri"/>
              </a:rPr>
              <a:t>Even-term exponent</a:t>
            </a:r>
            <a:endParaRPr lang="en-US" sz="1300" b="0" u="none" strike="noStrike">
              <a:solidFill>
                <a:srgbClr val="000000"/>
              </a:solidFill>
              <a:effectLst/>
              <a:uFillTx/>
              <a:latin typeface="Arial"/>
            </a:endParaRPr>
          </a:p>
        </p:txBody>
      </p:sp>
      <p:sp>
        <p:nvSpPr>
          <p:cNvPr id="198" name="Shape 3"/>
          <p:cNvSpPr/>
          <p:nvPr/>
        </p:nvSpPr>
        <p:spPr>
          <a:xfrm>
            <a:off x="502920" y="1508760"/>
            <a:ext cx="5394240" cy="1279440"/>
          </a:xfrm>
          <a:prstGeom prst="roundRect">
            <a:avLst>
              <a:gd name="adj" fmla="val 5714"/>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Text 4"/>
          <p:cNvSpPr/>
          <p:nvPr/>
        </p:nvSpPr>
        <p:spPr>
          <a:xfrm>
            <a:off x="640080" y="1508760"/>
            <a:ext cx="5119920" cy="1279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2rk</a:t>
            </a:r>
            <a:r>
              <a:rPr lang="en-US" sz="1900" b="0" u="none" strike="noStrike">
                <a:solidFill>
                  <a:srgbClr val="132A4A"/>
                </a:solidFill>
                <a:effectLst/>
                <a:uFillTx/>
                <a:latin typeface="Cambria"/>
                <a:ea typeface="Cambria"/>
              </a:rPr>
              <a:t>  =  ( e</a:t>
            </a:r>
            <a:r>
              <a:rPr lang="en-US" sz="1100" b="0" u="none" strike="noStrike" baseline="30000">
                <a:solidFill>
                  <a:srgbClr val="132A4A"/>
                </a:solidFill>
                <a:effectLst/>
                <a:uFillTx/>
                <a:latin typeface="Cambria"/>
                <a:ea typeface="Cambria"/>
              </a:rPr>
              <a:t>-j2π/N</a:t>
            </a:r>
            <a:r>
              <a:rPr lang="en-US" sz="1900" b="0" u="none" strike="noStrike">
                <a:solidFill>
                  <a:srgbClr val="132A4A"/>
                </a:solidFill>
                <a:effectLst/>
                <a:uFillTx/>
                <a:latin typeface="Cambria"/>
                <a:ea typeface="Cambria"/>
              </a:rPr>
              <a:t> )</a:t>
            </a:r>
            <a:r>
              <a:rPr lang="en-US" sz="1100" b="0" u="none" strike="noStrike" baseline="30000">
                <a:solidFill>
                  <a:srgbClr val="132A4A"/>
                </a:solidFill>
                <a:effectLst/>
                <a:uFillTx/>
                <a:latin typeface="Cambria"/>
                <a:ea typeface="Cambria"/>
              </a:rPr>
              <a:t>2rk</a:t>
            </a:r>
            <a:r>
              <a:rPr lang="en-US" sz="1900" b="0" u="none" strike="noStrike">
                <a:solidFill>
                  <a:srgbClr val="132A4A"/>
                </a:solidFill>
                <a:effectLst/>
                <a:uFillTx/>
                <a:latin typeface="Cambria"/>
                <a:ea typeface="Cambria"/>
              </a:rPr>
              <a:t>  =  e</a:t>
            </a:r>
            <a:r>
              <a:rPr lang="en-US" sz="1100" b="0" u="none" strike="noStrike" baseline="30000">
                <a:solidFill>
                  <a:srgbClr val="132A4A"/>
                </a:solidFill>
                <a:effectLst/>
                <a:uFillTx/>
                <a:latin typeface="Cambria"/>
                <a:ea typeface="Cambria"/>
              </a:rPr>
              <a:t>-j2πrk/(N/2)</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N/2</a:t>
            </a:r>
            <a:r>
              <a:rPr lang="en-US" sz="1900" b="0" u="none" strike="noStrike" baseline="30000">
                <a:solidFill>
                  <a:srgbClr val="132A4A"/>
                </a:solidFill>
                <a:effectLst/>
                <a:uFillTx/>
                <a:latin typeface="Cambria"/>
                <a:ea typeface="Cambria"/>
              </a:rPr>
              <a:t>rk</a:t>
            </a:r>
            <a:endParaRPr lang="en-US" sz="1900" b="0" u="none" strike="noStrike">
              <a:solidFill>
                <a:srgbClr val="000000"/>
              </a:solidFill>
              <a:effectLst/>
              <a:uFillTx/>
              <a:latin typeface="Arial"/>
            </a:endParaRPr>
          </a:p>
        </p:txBody>
      </p:sp>
      <p:sp>
        <p:nvSpPr>
          <p:cNvPr id="200" name="Text 5"/>
          <p:cNvSpPr/>
          <p:nvPr/>
        </p:nvSpPr>
        <p:spPr>
          <a:xfrm>
            <a:off x="502920" y="2880360"/>
            <a:ext cx="5394240" cy="1188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16202E"/>
                </a:solidFill>
                <a:effectLst/>
                <a:uFillTx/>
                <a:latin typeface="Calibri"/>
                <a:ea typeface="Calibri"/>
              </a:rPr>
              <a:t>The factor of 2 in the exponent cancels the factor of 2 hiding inside W_N (since W_N = e^(-j2π/N)). The result, W_N/2^(rk), is simply the twiddle factor of a DFT that is half as long. This is the algebraic heart of the whole method: an N-point twiddle factor collapses into an N/2-point twiddle factor.</a:t>
            </a:r>
            <a:endParaRPr lang="en-US" sz="1200" b="0" u="none" strike="noStrike">
              <a:solidFill>
                <a:srgbClr val="000000"/>
              </a:solidFill>
              <a:effectLst/>
              <a:uFillTx/>
              <a:latin typeface="Arial"/>
            </a:endParaRPr>
          </a:p>
        </p:txBody>
      </p:sp>
      <p:sp>
        <p:nvSpPr>
          <p:cNvPr id="201" name="Text 6"/>
          <p:cNvSpPr/>
          <p:nvPr/>
        </p:nvSpPr>
        <p:spPr>
          <a:xfrm>
            <a:off x="6263640" y="1207080"/>
            <a:ext cx="5394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D98324"/>
                </a:solidFill>
                <a:effectLst/>
                <a:uFillTx/>
                <a:latin typeface="Calibri"/>
                <a:ea typeface="Calibri"/>
              </a:rPr>
              <a:t>Odd-term exponent</a:t>
            </a:r>
            <a:endParaRPr lang="en-US" sz="1300" b="0" u="none" strike="noStrike">
              <a:solidFill>
                <a:srgbClr val="000000"/>
              </a:solidFill>
              <a:effectLst/>
              <a:uFillTx/>
              <a:latin typeface="Arial"/>
            </a:endParaRPr>
          </a:p>
        </p:txBody>
      </p:sp>
      <p:sp>
        <p:nvSpPr>
          <p:cNvPr id="202" name="Shape 7"/>
          <p:cNvSpPr/>
          <p:nvPr/>
        </p:nvSpPr>
        <p:spPr>
          <a:xfrm>
            <a:off x="6263640" y="1508760"/>
            <a:ext cx="5394240" cy="1279440"/>
          </a:xfrm>
          <a:prstGeom prst="roundRect">
            <a:avLst>
              <a:gd name="adj" fmla="val 5714"/>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Text 8"/>
          <p:cNvSpPr/>
          <p:nvPr/>
        </p:nvSpPr>
        <p:spPr>
          <a:xfrm>
            <a:off x="6400800" y="1508760"/>
            <a:ext cx="5119920" cy="1279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(2r+1)k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2rk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W</a:t>
            </a:r>
            <a:r>
              <a:rPr lang="en-US" sz="1900" b="0" u="none" strike="noStrike" baseline="-40000">
                <a:solidFill>
                  <a:srgbClr val="132A4A"/>
                </a:solidFill>
                <a:effectLst/>
                <a:uFillTx/>
                <a:latin typeface="Cambria"/>
                <a:ea typeface="Cambria"/>
              </a:rPr>
              <a:t>N/2</a:t>
            </a:r>
            <a:r>
              <a:rPr lang="en-US" sz="1900" b="0" u="none" strike="noStrike" baseline="30000">
                <a:solidFill>
                  <a:srgbClr val="132A4A"/>
                </a:solidFill>
                <a:effectLst/>
                <a:uFillTx/>
                <a:latin typeface="Cambria"/>
                <a:ea typeface="Cambria"/>
              </a:rPr>
              <a:t>rk</a:t>
            </a:r>
            <a:endParaRPr lang="en-US" sz="1900" b="0" u="none" strike="noStrike">
              <a:solidFill>
                <a:srgbClr val="000000"/>
              </a:solidFill>
              <a:effectLst/>
              <a:uFillTx/>
              <a:latin typeface="Arial"/>
            </a:endParaRPr>
          </a:p>
        </p:txBody>
      </p:sp>
      <p:sp>
        <p:nvSpPr>
          <p:cNvPr id="204" name="Text 9"/>
          <p:cNvSpPr/>
          <p:nvPr/>
        </p:nvSpPr>
        <p:spPr>
          <a:xfrm>
            <a:off x="6263640" y="2880360"/>
            <a:ext cx="5394240" cy="1279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16202E"/>
                </a:solidFill>
                <a:effectLst/>
                <a:uFillTx/>
                <a:latin typeface="Calibri"/>
                <a:ea typeface="Calibri"/>
              </a:rPr>
              <a:t>The exponent (2r+1)k splits into 2rk + k using exponent rules for W_N^a·W_N^b = W_N^(a+b). The 2rk part reduces exactly as in the even case to W_N/2^(rk). What is left over is a single extra factor, W_N^k, that does not depend on r. This leftover factor is the twiddle factor: it is pulled outside the odd summation in Step 3.</a:t>
            </a:r>
            <a:endParaRPr lang="en-US" sz="1200" b="0" u="none" strike="noStrike">
              <a:solidFill>
                <a:srgbClr val="000000"/>
              </a:solidFill>
              <a:effectLst/>
              <a:uFillTx/>
              <a:latin typeface="Arial"/>
            </a:endParaRPr>
          </a:p>
        </p:txBody>
      </p:sp>
      <p:sp>
        <p:nvSpPr>
          <p:cNvPr id="205" name="Text 10"/>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206" name="Text 11"/>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Derivation</a:t>
            </a:r>
            <a:endParaRPr lang="en-US" sz="900" b="0" u="none" strike="noStrike">
              <a:solidFill>
                <a:srgbClr val="000000"/>
              </a:solidFill>
              <a:effectLst/>
              <a:uFillTx/>
              <a:latin typeface="Arial"/>
            </a:endParaRPr>
          </a:p>
        </p:txBody>
      </p:sp>
      <p:sp>
        <p:nvSpPr>
          <p:cNvPr id="207" name="Text 12"/>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08"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6 · DERIVATION</a:t>
            </a:r>
            <a:endParaRPr lang="en-US" sz="1150" b="0" u="none" strike="noStrike">
              <a:solidFill>
                <a:srgbClr val="000000"/>
              </a:solidFill>
              <a:effectLst/>
              <a:uFillTx/>
              <a:latin typeface="Arial"/>
            </a:endParaRPr>
          </a:p>
        </p:txBody>
      </p:sp>
      <p:sp>
        <p:nvSpPr>
          <p:cNvPr id="209"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Step 3: Define E[k] and O[k], Then Combine</a:t>
            </a:r>
            <a:endParaRPr lang="en-US" sz="2700" b="0" u="none" strike="noStrike">
              <a:solidFill>
                <a:srgbClr val="000000"/>
              </a:solidFill>
              <a:effectLst/>
              <a:uFillTx/>
              <a:latin typeface="Arial"/>
            </a:endParaRPr>
          </a:p>
        </p:txBody>
      </p:sp>
      <p:sp>
        <p:nvSpPr>
          <p:cNvPr id="210" name="Text 2"/>
          <p:cNvSpPr/>
          <p:nvPr/>
        </p:nvSpPr>
        <p:spPr>
          <a:xfrm>
            <a:off x="502920" y="1188720"/>
            <a:ext cx="11154960" cy="319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Substituting the simplified exponents back into the two sums from Step 1 gives:</a:t>
            </a:r>
            <a:endParaRPr lang="en-US" sz="1300" b="0" u="none" strike="noStrike">
              <a:solidFill>
                <a:srgbClr val="000000"/>
              </a:solidFill>
              <a:effectLst/>
              <a:uFillTx/>
              <a:latin typeface="Arial"/>
            </a:endParaRPr>
          </a:p>
        </p:txBody>
      </p:sp>
      <p:sp>
        <p:nvSpPr>
          <p:cNvPr id="211" name="Shape 3"/>
          <p:cNvSpPr/>
          <p:nvPr/>
        </p:nvSpPr>
        <p:spPr>
          <a:xfrm>
            <a:off x="502920" y="1536120"/>
            <a:ext cx="11154960" cy="867960"/>
          </a:xfrm>
          <a:prstGeom prst="roundRect">
            <a:avLst>
              <a:gd name="adj" fmla="val 842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4"/>
          <p:cNvSpPr/>
          <p:nvPr/>
        </p:nvSpPr>
        <p:spPr>
          <a:xfrm>
            <a:off x="640080" y="1536120"/>
            <a:ext cx="10880640" cy="867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X</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a:t>
            </a:r>
            <a:r>
              <a:rPr lang="en-US" sz="2200" b="0" u="none" strike="noStrike">
                <a:solidFill>
                  <a:srgbClr val="0E8388"/>
                </a:solidFill>
                <a:effectLst/>
                <a:uFillTx/>
                <a:latin typeface="Cambria"/>
                <a:ea typeface="Cambria"/>
              </a:rPr>
              <a:t>Σ</a:t>
            </a:r>
            <a:r>
              <a:rPr lang="en-US" sz="900" b="0" u="none" strike="noStrike" baseline="-40000">
                <a:solidFill>
                  <a:srgbClr val="0E8388"/>
                </a:solidFill>
                <a:effectLst/>
                <a:uFillTx/>
                <a:latin typeface="Cambria"/>
                <a:ea typeface="Cambria"/>
              </a:rPr>
              <a:t>r=0</a:t>
            </a:r>
            <a:r>
              <a:rPr lang="en-US" sz="900" b="0" u="none" strike="noStrike" baseline="30000">
                <a:solidFill>
                  <a:srgbClr val="0E8388"/>
                </a:solidFill>
                <a:effectLst/>
                <a:uFillTx/>
                <a:latin typeface="Cambria"/>
                <a:ea typeface="Cambria"/>
              </a:rPr>
              <a:t>N/2-1</a:t>
            </a:r>
            <a:r>
              <a:rPr lang="en-US" sz="1900" b="0" u="none" strike="noStrike">
                <a:solidFill>
                  <a:srgbClr val="0E8388"/>
                </a:solidFill>
                <a:effectLst/>
                <a:uFillTx/>
                <a:latin typeface="Cambria"/>
                <a:ea typeface="Cambria"/>
              </a:rPr>
              <a:t> x</a:t>
            </a:r>
            <a:r>
              <a:rPr lang="en-US" sz="1900" b="0" u="none" strike="noStrike" baseline="-40000">
                <a:solidFill>
                  <a:srgbClr val="0E8388"/>
                </a:solidFill>
                <a:effectLst/>
                <a:uFillTx/>
                <a:latin typeface="Cambria"/>
                <a:ea typeface="Cambria"/>
              </a:rPr>
              <a:t>2r</a:t>
            </a:r>
            <a:r>
              <a:rPr lang="en-US" sz="1900" b="0" u="none" strike="noStrike">
                <a:solidFill>
                  <a:srgbClr val="0E8388"/>
                </a:solidFill>
                <a:effectLst/>
                <a:uFillTx/>
                <a:latin typeface="Cambria"/>
                <a:ea typeface="Cambria"/>
              </a:rPr>
              <a:t> W</a:t>
            </a:r>
            <a:r>
              <a:rPr lang="en-US" sz="1900" b="0" u="none" strike="noStrike" baseline="-40000">
                <a:solidFill>
                  <a:srgbClr val="0E8388"/>
                </a:solidFill>
                <a:effectLst/>
                <a:uFillTx/>
                <a:latin typeface="Cambria"/>
                <a:ea typeface="Cambria"/>
              </a:rPr>
              <a:t>N/2</a:t>
            </a:r>
            <a:r>
              <a:rPr lang="en-US" sz="1900" b="0" u="none" strike="noStrike" baseline="30000">
                <a:solidFill>
                  <a:srgbClr val="0E8388"/>
                </a:solidFill>
                <a:effectLst/>
                <a:uFillTx/>
                <a:latin typeface="Cambria"/>
                <a:ea typeface="Cambria"/>
              </a:rPr>
              <a:t>rk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2200" b="0" u="none" strike="noStrike">
                <a:solidFill>
                  <a:srgbClr val="D98324"/>
                </a:solidFill>
                <a:effectLst/>
                <a:uFillTx/>
                <a:latin typeface="Cambria"/>
                <a:ea typeface="Cambria"/>
              </a:rPr>
              <a:t> Σ</a:t>
            </a:r>
            <a:r>
              <a:rPr lang="en-US" sz="900" b="0" u="none" strike="noStrike" baseline="-40000">
                <a:solidFill>
                  <a:srgbClr val="D98324"/>
                </a:solidFill>
                <a:effectLst/>
                <a:uFillTx/>
                <a:latin typeface="Cambria"/>
                <a:ea typeface="Cambria"/>
              </a:rPr>
              <a:t>r=0</a:t>
            </a:r>
            <a:r>
              <a:rPr lang="en-US" sz="900" b="0" u="none" strike="noStrike" baseline="30000">
                <a:solidFill>
                  <a:srgbClr val="D98324"/>
                </a:solidFill>
                <a:effectLst/>
                <a:uFillTx/>
                <a:latin typeface="Cambria"/>
                <a:ea typeface="Cambria"/>
              </a:rPr>
              <a:t>N/2-1</a:t>
            </a:r>
            <a:r>
              <a:rPr lang="en-US" sz="1900" b="0" u="none" strike="noStrike">
                <a:solidFill>
                  <a:srgbClr val="D98324"/>
                </a:solidFill>
                <a:effectLst/>
                <a:uFillTx/>
                <a:latin typeface="Cambria"/>
                <a:ea typeface="Cambria"/>
              </a:rPr>
              <a:t> x</a:t>
            </a:r>
            <a:r>
              <a:rPr lang="en-US" sz="1900" b="0" u="none" strike="noStrike" baseline="-40000">
                <a:solidFill>
                  <a:srgbClr val="D98324"/>
                </a:solidFill>
                <a:effectLst/>
                <a:uFillTx/>
                <a:latin typeface="Cambria"/>
                <a:ea typeface="Cambria"/>
              </a:rPr>
              <a:t>2r+1</a:t>
            </a:r>
            <a:r>
              <a:rPr lang="en-US" sz="1900" b="0" u="none" strike="noStrike">
                <a:solidFill>
                  <a:srgbClr val="D98324"/>
                </a:solidFill>
                <a:effectLst/>
                <a:uFillTx/>
                <a:latin typeface="Cambria"/>
                <a:ea typeface="Cambria"/>
              </a:rPr>
              <a:t> W</a:t>
            </a:r>
            <a:r>
              <a:rPr lang="en-US" sz="1900" b="0" u="none" strike="noStrike" baseline="-40000">
                <a:solidFill>
                  <a:srgbClr val="D98324"/>
                </a:solidFill>
                <a:effectLst/>
                <a:uFillTx/>
                <a:latin typeface="Cambria"/>
                <a:ea typeface="Cambria"/>
              </a:rPr>
              <a:t>N/2</a:t>
            </a:r>
            <a:r>
              <a:rPr lang="en-US" sz="1900" b="0" u="none" strike="noStrike" baseline="30000">
                <a:solidFill>
                  <a:srgbClr val="D98324"/>
                </a:solidFill>
                <a:effectLst/>
                <a:uFillTx/>
                <a:latin typeface="Cambria"/>
                <a:ea typeface="Cambria"/>
              </a:rPr>
              <a:t>rk</a:t>
            </a:r>
            <a:endParaRPr lang="en-US" sz="1900" b="0" u="none" strike="noStrike">
              <a:solidFill>
                <a:srgbClr val="000000"/>
              </a:solidFill>
              <a:effectLst/>
              <a:uFillTx/>
              <a:latin typeface="Arial"/>
            </a:endParaRPr>
          </a:p>
        </p:txBody>
      </p:sp>
      <p:sp>
        <p:nvSpPr>
          <p:cNvPr id="213" name="Text 5"/>
          <p:cNvSpPr/>
          <p:nvPr/>
        </p:nvSpPr>
        <p:spPr>
          <a:xfrm>
            <a:off x="502920" y="2541960"/>
            <a:ext cx="11154960" cy="456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Notice that both remaining sums are themselves N/2-point DFTs: one of the even samples, one of the odd samples, both using the smaller twiddle factor W_N/2. Give each one a name:</a:t>
            </a:r>
            <a:endParaRPr lang="en-US" sz="1300" b="0" u="none" strike="noStrike">
              <a:solidFill>
                <a:srgbClr val="000000"/>
              </a:solidFill>
              <a:effectLst/>
              <a:uFillTx/>
              <a:latin typeface="Arial"/>
            </a:endParaRPr>
          </a:p>
        </p:txBody>
      </p:sp>
      <p:sp>
        <p:nvSpPr>
          <p:cNvPr id="214" name="Shape 6"/>
          <p:cNvSpPr/>
          <p:nvPr/>
        </p:nvSpPr>
        <p:spPr>
          <a:xfrm>
            <a:off x="502920" y="3017520"/>
            <a:ext cx="5394240" cy="776520"/>
          </a:xfrm>
          <a:prstGeom prst="roundRect">
            <a:avLst>
              <a:gd name="adj" fmla="val 9412"/>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Text 7"/>
          <p:cNvSpPr/>
          <p:nvPr/>
        </p:nvSpPr>
        <p:spPr>
          <a:xfrm>
            <a:off x="640080" y="3017520"/>
            <a:ext cx="511992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1" u="none" strike="noStrike">
                <a:solidFill>
                  <a:srgbClr val="0E8388"/>
                </a:solidFill>
                <a:effectLst/>
                <a:uFillTx/>
                <a:latin typeface="Cambria"/>
                <a:ea typeface="Cambria"/>
              </a:rPr>
              <a:t>E</a:t>
            </a:r>
            <a:r>
              <a:rPr lang="en-US" sz="1900" b="1" u="none" strike="noStrike" baseline="-40000">
                <a:solidFill>
                  <a:srgbClr val="0E8388"/>
                </a:solidFill>
                <a:effectLst/>
                <a:uFillTx/>
                <a:latin typeface="Cambria"/>
                <a:ea typeface="Cambria"/>
              </a:rPr>
              <a:t>k</a:t>
            </a:r>
            <a:r>
              <a:rPr lang="en-US" sz="1900" b="0" u="none" strike="noStrike">
                <a:solidFill>
                  <a:srgbClr val="132A4A"/>
                </a:solidFill>
                <a:effectLst/>
                <a:uFillTx/>
                <a:latin typeface="Cambria"/>
                <a:ea typeface="Cambria"/>
              </a:rPr>
              <a:t> = Σ</a:t>
            </a:r>
            <a:r>
              <a:rPr lang="en-US" sz="900" b="0" u="none" strike="noStrike" baseline="-40000">
                <a:solidFill>
                  <a:srgbClr val="132A4A"/>
                </a:solidFill>
                <a:effectLst/>
                <a:uFillTx/>
                <a:latin typeface="Cambria"/>
                <a:ea typeface="Cambria"/>
              </a:rPr>
              <a:t>r=0</a:t>
            </a:r>
            <a:r>
              <a:rPr lang="en-US" sz="900" b="0" u="none" strike="noStrike" baseline="30000">
                <a:solidFill>
                  <a:srgbClr val="132A4A"/>
                </a:solidFill>
                <a:effectLst/>
                <a:uFillTx/>
                <a:latin typeface="Cambria"/>
                <a:ea typeface="Cambria"/>
              </a:rPr>
              <a:t>N/2-1</a:t>
            </a:r>
            <a:r>
              <a:rPr lang="en-US" sz="1900" b="0" u="none" strike="noStrike">
                <a:solidFill>
                  <a:srgbClr val="132A4A"/>
                </a:solidFill>
                <a:effectLst/>
                <a:uFillTx/>
                <a:latin typeface="Cambria"/>
                <a:ea typeface="Cambria"/>
              </a:rPr>
              <a:t> x</a:t>
            </a:r>
            <a:r>
              <a:rPr lang="en-US" sz="1900" b="0" u="none" strike="noStrike" baseline="-40000">
                <a:solidFill>
                  <a:srgbClr val="132A4A"/>
                </a:solidFill>
                <a:effectLst/>
                <a:uFillTx/>
                <a:latin typeface="Cambria"/>
                <a:ea typeface="Cambria"/>
              </a:rPr>
              <a:t>2r</a:t>
            </a:r>
            <a:r>
              <a:rPr lang="en-US" sz="1900" b="0" u="none" strike="noStrike">
                <a:solidFill>
                  <a:srgbClr val="132A4A"/>
                </a:solidFill>
                <a:effectLst/>
                <a:uFillTx/>
                <a:latin typeface="Cambria"/>
                <a:ea typeface="Cambria"/>
              </a:rPr>
              <a:t> W</a:t>
            </a:r>
            <a:r>
              <a:rPr lang="en-US" sz="1900" b="0" u="none" strike="noStrike" baseline="-40000">
                <a:solidFill>
                  <a:srgbClr val="132A4A"/>
                </a:solidFill>
                <a:effectLst/>
                <a:uFillTx/>
                <a:latin typeface="Cambria"/>
                <a:ea typeface="Cambria"/>
              </a:rPr>
              <a:t>N/2</a:t>
            </a:r>
            <a:r>
              <a:rPr lang="en-US" sz="1900" b="0" u="none" strike="noStrike" baseline="30000">
                <a:solidFill>
                  <a:srgbClr val="132A4A"/>
                </a:solidFill>
                <a:effectLst/>
                <a:uFillTx/>
                <a:latin typeface="Cambria"/>
                <a:ea typeface="Cambria"/>
              </a:rPr>
              <a:t>rk</a:t>
            </a:r>
            <a:endParaRPr lang="en-US" sz="1900" b="0" u="none" strike="noStrike">
              <a:solidFill>
                <a:srgbClr val="000000"/>
              </a:solidFill>
              <a:effectLst/>
              <a:uFillTx/>
              <a:latin typeface="Arial"/>
            </a:endParaRPr>
          </a:p>
        </p:txBody>
      </p:sp>
      <p:sp>
        <p:nvSpPr>
          <p:cNvPr id="216" name="Shape 8"/>
          <p:cNvSpPr/>
          <p:nvPr/>
        </p:nvSpPr>
        <p:spPr>
          <a:xfrm>
            <a:off x="6263640" y="3017520"/>
            <a:ext cx="5394240" cy="776520"/>
          </a:xfrm>
          <a:prstGeom prst="roundRect">
            <a:avLst>
              <a:gd name="adj" fmla="val 9412"/>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7" name="Text 9"/>
          <p:cNvSpPr/>
          <p:nvPr/>
        </p:nvSpPr>
        <p:spPr>
          <a:xfrm>
            <a:off x="6400800" y="3017520"/>
            <a:ext cx="511992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1" u="none" strike="noStrike">
                <a:solidFill>
                  <a:srgbClr val="D98324"/>
                </a:solidFill>
                <a:effectLst/>
                <a:uFillTx/>
                <a:latin typeface="Cambria"/>
                <a:ea typeface="Cambria"/>
              </a:rPr>
              <a:t>O</a:t>
            </a:r>
            <a:r>
              <a:rPr lang="en-US" sz="1900" b="1" u="none" strike="noStrike" baseline="-40000">
                <a:solidFill>
                  <a:srgbClr val="D98324"/>
                </a:solidFill>
                <a:effectLst/>
                <a:uFillTx/>
                <a:latin typeface="Cambria"/>
                <a:ea typeface="Cambria"/>
              </a:rPr>
              <a:t>k</a:t>
            </a:r>
            <a:r>
              <a:rPr lang="en-US" sz="1900" b="0" u="none" strike="noStrike">
                <a:solidFill>
                  <a:srgbClr val="132A4A"/>
                </a:solidFill>
                <a:effectLst/>
                <a:uFillTx/>
                <a:latin typeface="Cambria"/>
                <a:ea typeface="Cambria"/>
              </a:rPr>
              <a:t> = Σ</a:t>
            </a:r>
            <a:r>
              <a:rPr lang="en-US" sz="900" b="0" u="none" strike="noStrike" baseline="-40000">
                <a:solidFill>
                  <a:srgbClr val="132A4A"/>
                </a:solidFill>
                <a:effectLst/>
                <a:uFillTx/>
                <a:latin typeface="Cambria"/>
                <a:ea typeface="Cambria"/>
              </a:rPr>
              <a:t>r=0</a:t>
            </a:r>
            <a:r>
              <a:rPr lang="en-US" sz="900" b="0" u="none" strike="noStrike" baseline="30000">
                <a:solidFill>
                  <a:srgbClr val="132A4A"/>
                </a:solidFill>
                <a:effectLst/>
                <a:uFillTx/>
                <a:latin typeface="Cambria"/>
                <a:ea typeface="Cambria"/>
              </a:rPr>
              <a:t>N/2-1</a:t>
            </a:r>
            <a:r>
              <a:rPr lang="en-US" sz="1900" b="0" u="none" strike="noStrike">
                <a:solidFill>
                  <a:srgbClr val="132A4A"/>
                </a:solidFill>
                <a:effectLst/>
                <a:uFillTx/>
                <a:latin typeface="Cambria"/>
                <a:ea typeface="Cambria"/>
              </a:rPr>
              <a:t> x</a:t>
            </a:r>
            <a:r>
              <a:rPr lang="en-US" sz="1900" b="0" u="none" strike="noStrike" baseline="-40000">
                <a:solidFill>
                  <a:srgbClr val="132A4A"/>
                </a:solidFill>
                <a:effectLst/>
                <a:uFillTx/>
                <a:latin typeface="Cambria"/>
                <a:ea typeface="Cambria"/>
              </a:rPr>
              <a:t>2r+1</a:t>
            </a:r>
            <a:r>
              <a:rPr lang="en-US" sz="1900" b="0" u="none" strike="noStrike">
                <a:solidFill>
                  <a:srgbClr val="132A4A"/>
                </a:solidFill>
                <a:effectLst/>
                <a:uFillTx/>
                <a:latin typeface="Cambria"/>
                <a:ea typeface="Cambria"/>
              </a:rPr>
              <a:t> W</a:t>
            </a:r>
            <a:r>
              <a:rPr lang="en-US" sz="1900" b="0" u="none" strike="noStrike" baseline="-40000">
                <a:solidFill>
                  <a:srgbClr val="132A4A"/>
                </a:solidFill>
                <a:effectLst/>
                <a:uFillTx/>
                <a:latin typeface="Cambria"/>
                <a:ea typeface="Cambria"/>
              </a:rPr>
              <a:t>N/2</a:t>
            </a:r>
            <a:r>
              <a:rPr lang="en-US" sz="1900" b="0" u="none" strike="noStrike" baseline="30000">
                <a:solidFill>
                  <a:srgbClr val="132A4A"/>
                </a:solidFill>
                <a:effectLst/>
                <a:uFillTx/>
                <a:latin typeface="Cambria"/>
                <a:ea typeface="Cambria"/>
              </a:rPr>
              <a:t>rk</a:t>
            </a:r>
            <a:endParaRPr lang="en-US" sz="1900" b="0" u="none" strike="noStrike">
              <a:solidFill>
                <a:srgbClr val="000000"/>
              </a:solidFill>
              <a:effectLst/>
              <a:uFillTx/>
              <a:latin typeface="Arial"/>
            </a:endParaRPr>
          </a:p>
        </p:txBody>
      </p:sp>
      <p:sp>
        <p:nvSpPr>
          <p:cNvPr id="218" name="Text 10"/>
          <p:cNvSpPr/>
          <p:nvPr/>
        </p:nvSpPr>
        <p:spPr>
          <a:xfrm>
            <a:off x="502920" y="3931920"/>
            <a:ext cx="11154960" cy="456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E[k] is the N/2-point DFT of the even samples. O[k] is the N/2-point DFT of the odd samples. Substituting these definitions back gives the central result of the radix-2 DIT derivation:</a:t>
            </a:r>
            <a:endParaRPr lang="en-US" sz="1300" b="0" u="none" strike="noStrike">
              <a:solidFill>
                <a:srgbClr val="000000"/>
              </a:solidFill>
              <a:effectLst/>
              <a:uFillTx/>
              <a:latin typeface="Arial"/>
            </a:endParaRPr>
          </a:p>
        </p:txBody>
      </p:sp>
      <p:sp>
        <p:nvSpPr>
          <p:cNvPr id="219" name="Shape 11"/>
          <p:cNvSpPr/>
          <p:nvPr/>
        </p:nvSpPr>
        <p:spPr>
          <a:xfrm>
            <a:off x="2651760" y="4480560"/>
            <a:ext cx="6857280" cy="913680"/>
          </a:xfrm>
          <a:prstGeom prst="roundRect">
            <a:avLst>
              <a:gd name="adj" fmla="val 8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Text 12"/>
          <p:cNvSpPr/>
          <p:nvPr/>
        </p:nvSpPr>
        <p:spPr>
          <a:xfrm>
            <a:off x="2788920" y="4480560"/>
            <a:ext cx="658296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600" b="0" u="none" strike="noStrike">
                <a:solidFill>
                  <a:srgbClr val="FFFFFF"/>
                </a:solidFill>
                <a:effectLst/>
                <a:uFillTx/>
                <a:latin typeface="Cambria"/>
                <a:ea typeface="Cambria"/>
              </a:rPr>
              <a:t>X</a:t>
            </a:r>
            <a:r>
              <a:rPr lang="en-US" sz="2600" b="0" u="none" strike="noStrike" baseline="-40000">
                <a:solidFill>
                  <a:srgbClr val="FFFFFF"/>
                </a:solidFill>
                <a:effectLst/>
                <a:uFillTx/>
                <a:latin typeface="Cambria"/>
                <a:ea typeface="Cambria"/>
              </a:rPr>
              <a:t>k</a:t>
            </a:r>
            <a:r>
              <a:rPr lang="en-US" sz="2600" b="0" u="none" strike="noStrike">
                <a:solidFill>
                  <a:srgbClr val="FFFFFF"/>
                </a:solidFill>
                <a:effectLst/>
                <a:uFillTx/>
                <a:latin typeface="Cambria"/>
                <a:ea typeface="Cambria"/>
              </a:rPr>
              <a:t>  =  E</a:t>
            </a:r>
            <a:r>
              <a:rPr lang="en-US" sz="2600" b="0" u="none" strike="noStrike" baseline="-40000">
                <a:solidFill>
                  <a:srgbClr val="0E8388"/>
                </a:solidFill>
                <a:effectLst/>
                <a:uFillTx/>
                <a:latin typeface="Cambria"/>
                <a:ea typeface="Cambria"/>
              </a:rPr>
              <a:t>k</a:t>
            </a:r>
            <a:r>
              <a:rPr lang="en-US" sz="2600" b="0" u="none" strike="noStrike">
                <a:solidFill>
                  <a:srgbClr val="FFFFFF"/>
                </a:solidFill>
                <a:effectLst/>
                <a:uFillTx/>
                <a:latin typeface="Cambria"/>
                <a:ea typeface="Cambria"/>
              </a:rPr>
              <a:t>  +  W</a:t>
            </a:r>
            <a:r>
              <a:rPr lang="en-US" sz="2600" b="0" u="none" strike="noStrike" baseline="-40000">
                <a:solidFill>
                  <a:srgbClr val="FFFFFF"/>
                </a:solidFill>
                <a:effectLst/>
                <a:uFillTx/>
                <a:latin typeface="Cambria"/>
                <a:ea typeface="Cambria"/>
              </a:rPr>
              <a:t>N</a:t>
            </a:r>
            <a:r>
              <a:rPr lang="en-US" sz="2600" b="0" u="none" strike="noStrike" baseline="30000">
                <a:solidFill>
                  <a:srgbClr val="FFFFFF"/>
                </a:solidFill>
                <a:effectLst/>
                <a:uFillTx/>
                <a:latin typeface="Cambria"/>
                <a:ea typeface="Cambria"/>
              </a:rPr>
              <a:t>k</a:t>
            </a:r>
            <a:r>
              <a:rPr lang="en-US" sz="2600" b="0" u="none" strike="noStrike">
                <a:solidFill>
                  <a:srgbClr val="FFFFFF"/>
                </a:solidFill>
                <a:effectLst/>
                <a:uFillTx/>
                <a:latin typeface="Cambria"/>
                <a:ea typeface="Cambria"/>
              </a:rPr>
              <a:t> O</a:t>
            </a:r>
            <a:r>
              <a:rPr lang="en-US" sz="2600" b="0" u="none" strike="noStrike" baseline="-40000">
                <a:solidFill>
                  <a:srgbClr val="D98324"/>
                </a:solidFill>
                <a:effectLst/>
                <a:uFillTx/>
                <a:latin typeface="Cambria"/>
                <a:ea typeface="Cambria"/>
              </a:rPr>
              <a:t>k</a:t>
            </a:r>
            <a:endParaRPr lang="en-US" sz="2600" b="0" u="none" strike="noStrike">
              <a:solidFill>
                <a:srgbClr val="000000"/>
              </a:solidFill>
              <a:effectLst/>
              <a:uFillTx/>
              <a:latin typeface="Arial"/>
            </a:endParaRPr>
          </a:p>
        </p:txBody>
      </p:sp>
      <p:sp>
        <p:nvSpPr>
          <p:cNvPr id="221" name="Text 13"/>
          <p:cNvSpPr/>
          <p:nvPr/>
        </p:nvSpPr>
        <p:spPr>
          <a:xfrm>
            <a:off x="502920" y="5486400"/>
            <a:ext cx="11154960" cy="319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0" i="1" u="none" strike="noStrike">
                <a:solidFill>
                  <a:srgbClr val="5C6B7A"/>
                </a:solidFill>
                <a:effectLst/>
                <a:uFillTx/>
                <a:latin typeface="Calibri"/>
                <a:ea typeface="Calibri"/>
              </a:rPr>
              <a:t>Valid for k = 0, 1, ..., N/2 - 1 as written; the next slide extends it to the full range k = 0, ..., N-1.</a:t>
            </a:r>
            <a:endParaRPr lang="en-US" sz="1150" b="0" u="none" strike="noStrike">
              <a:solidFill>
                <a:srgbClr val="000000"/>
              </a:solidFill>
              <a:effectLst/>
              <a:uFillTx/>
              <a:latin typeface="Arial"/>
            </a:endParaRPr>
          </a:p>
        </p:txBody>
      </p:sp>
      <p:sp>
        <p:nvSpPr>
          <p:cNvPr id="222" name="Text 1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223" name="Text 1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Derivation</a:t>
            </a:r>
            <a:endParaRPr lang="en-US" sz="900" b="0" u="none" strike="noStrike">
              <a:solidFill>
                <a:srgbClr val="000000"/>
              </a:solidFill>
              <a:effectLst/>
              <a:uFillTx/>
              <a:latin typeface="Arial"/>
            </a:endParaRPr>
          </a:p>
        </p:txBody>
      </p:sp>
      <p:sp>
        <p:nvSpPr>
          <p:cNvPr id="224" name="Text 1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25"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6 · DERIVATION</a:t>
            </a:r>
            <a:endParaRPr lang="en-US" sz="1150" b="0" u="none" strike="noStrike">
              <a:solidFill>
                <a:srgbClr val="000000"/>
              </a:solidFill>
              <a:effectLst/>
              <a:uFillTx/>
              <a:latin typeface="Arial"/>
            </a:endParaRPr>
          </a:p>
        </p:txBody>
      </p:sp>
      <p:sp>
        <p:nvSpPr>
          <p:cNvPr id="226"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Step 4: Extending to the Full Range With Periodicity</a:t>
            </a:r>
            <a:endParaRPr lang="en-US" sz="2700" b="0" u="none" strike="noStrike">
              <a:solidFill>
                <a:srgbClr val="000000"/>
              </a:solidFill>
              <a:effectLst/>
              <a:uFillTx/>
              <a:latin typeface="Arial"/>
            </a:endParaRPr>
          </a:p>
        </p:txBody>
      </p:sp>
      <p:sp>
        <p:nvSpPr>
          <p:cNvPr id="227" name="Text 2"/>
          <p:cNvSpPr/>
          <p:nvPr/>
        </p:nvSpPr>
        <p:spPr>
          <a:xfrm>
            <a:off x="502920" y="1188720"/>
            <a:ext cx="1115496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E[k] and O[k] are each N/2-point DFTs, so both are periodic with period N/2:  E[k + N/2] = E[k]  and  O[k + N/2] = O[k]. This periodicity is what lets one formula generate the second half of the outputs for free.</a:t>
            </a:r>
            <a:endParaRPr lang="en-US" sz="1300" b="0" u="none" strike="noStrike">
              <a:solidFill>
                <a:srgbClr val="000000"/>
              </a:solidFill>
              <a:effectLst/>
              <a:uFillTx/>
              <a:latin typeface="Arial"/>
            </a:endParaRPr>
          </a:p>
        </p:txBody>
      </p:sp>
      <p:sp>
        <p:nvSpPr>
          <p:cNvPr id="228" name="Text 3"/>
          <p:cNvSpPr/>
          <p:nvPr/>
        </p:nvSpPr>
        <p:spPr>
          <a:xfrm>
            <a:off x="502920" y="182880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Evaluate X[k] at k + N/2:</a:t>
            </a:r>
            <a:endParaRPr lang="en-US" sz="1300" b="0" u="none" strike="noStrike">
              <a:solidFill>
                <a:srgbClr val="000000"/>
              </a:solidFill>
              <a:effectLst/>
              <a:uFillTx/>
              <a:latin typeface="Arial"/>
            </a:endParaRPr>
          </a:p>
        </p:txBody>
      </p:sp>
      <p:sp>
        <p:nvSpPr>
          <p:cNvPr id="229" name="Shape 4"/>
          <p:cNvSpPr/>
          <p:nvPr/>
        </p:nvSpPr>
        <p:spPr>
          <a:xfrm>
            <a:off x="502920" y="2148840"/>
            <a:ext cx="1115496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0" name="Text 5"/>
          <p:cNvSpPr/>
          <p:nvPr/>
        </p:nvSpPr>
        <p:spPr>
          <a:xfrm>
            <a:off x="640080" y="2148840"/>
            <a:ext cx="1088064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X</a:t>
            </a:r>
            <a:r>
              <a:rPr lang="en-US" sz="1900" b="0" u="none" strike="noStrike" baseline="-4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  E</a:t>
            </a:r>
            <a:r>
              <a:rPr lang="en-US" sz="1900" b="0" u="none" strike="noStrike" baseline="-4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O</a:t>
            </a:r>
            <a:r>
              <a:rPr lang="en-US" sz="1900" b="0" u="none" strike="noStrike" baseline="-4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  E</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O</a:t>
            </a:r>
            <a:r>
              <a:rPr lang="en-US" sz="1900" b="0" u="none" strike="noStrike" baseline="-40000">
                <a:solidFill>
                  <a:srgbClr val="132A4A"/>
                </a:solidFill>
                <a:effectLst/>
                <a:uFillTx/>
                <a:latin typeface="Cambria"/>
                <a:ea typeface="Cambria"/>
              </a:rPr>
              <a:t>k</a:t>
            </a:r>
            <a:endParaRPr lang="en-US" sz="1900" b="0" u="none" strike="noStrike">
              <a:solidFill>
                <a:srgbClr val="000000"/>
              </a:solidFill>
              <a:effectLst/>
              <a:uFillTx/>
              <a:latin typeface="Arial"/>
            </a:endParaRPr>
          </a:p>
        </p:txBody>
      </p:sp>
      <p:sp>
        <p:nvSpPr>
          <p:cNvPr id="231" name="Text 6"/>
          <p:cNvSpPr/>
          <p:nvPr/>
        </p:nvSpPr>
        <p:spPr>
          <a:xfrm>
            <a:off x="502920" y="3063240"/>
            <a:ext cx="11154960" cy="410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Now use the twiddle-factor half-period symmetry (derived in full in Section 8):  W_N^(k+N/2) = −W_N^k. This flips the sign of the twiddle term only:</a:t>
            </a:r>
            <a:endParaRPr lang="en-US" sz="1300" b="0" u="none" strike="noStrike">
              <a:solidFill>
                <a:srgbClr val="000000"/>
              </a:solidFill>
              <a:effectLst/>
              <a:uFillTx/>
              <a:latin typeface="Arial"/>
            </a:endParaRPr>
          </a:p>
        </p:txBody>
      </p:sp>
      <p:sp>
        <p:nvSpPr>
          <p:cNvPr id="232" name="Shape 7"/>
          <p:cNvSpPr/>
          <p:nvPr/>
        </p:nvSpPr>
        <p:spPr>
          <a:xfrm>
            <a:off x="2651760" y="3566160"/>
            <a:ext cx="6857280" cy="913680"/>
          </a:xfrm>
          <a:prstGeom prst="roundRect">
            <a:avLst>
              <a:gd name="adj" fmla="val 8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3" name="Text 8"/>
          <p:cNvSpPr/>
          <p:nvPr/>
        </p:nvSpPr>
        <p:spPr>
          <a:xfrm>
            <a:off x="2788920" y="3566160"/>
            <a:ext cx="658296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600" b="0" u="none" strike="noStrike">
                <a:solidFill>
                  <a:srgbClr val="FFFFFF"/>
                </a:solidFill>
                <a:effectLst/>
                <a:uFillTx/>
                <a:latin typeface="Cambria"/>
                <a:ea typeface="Cambria"/>
              </a:rPr>
              <a:t>X</a:t>
            </a:r>
            <a:r>
              <a:rPr lang="en-US" sz="2600" b="0" u="none" strike="noStrike" baseline="-40000">
                <a:solidFill>
                  <a:srgbClr val="FFFFFF"/>
                </a:solidFill>
                <a:effectLst/>
                <a:uFillTx/>
                <a:latin typeface="Cambria"/>
                <a:ea typeface="Cambria"/>
              </a:rPr>
              <a:t>k+N/2</a:t>
            </a:r>
            <a:r>
              <a:rPr lang="en-US" sz="2600" b="0" u="none" strike="noStrike">
                <a:solidFill>
                  <a:srgbClr val="FFFFFF"/>
                </a:solidFill>
                <a:effectLst/>
                <a:uFillTx/>
                <a:latin typeface="Cambria"/>
                <a:ea typeface="Cambria"/>
              </a:rPr>
              <a:t>  =  E</a:t>
            </a:r>
            <a:r>
              <a:rPr lang="en-US" sz="2600" b="0" u="none" strike="noStrike" baseline="-40000">
                <a:solidFill>
                  <a:srgbClr val="0E8388"/>
                </a:solidFill>
                <a:effectLst/>
                <a:uFillTx/>
                <a:latin typeface="Cambria"/>
                <a:ea typeface="Cambria"/>
              </a:rPr>
              <a:t>k</a:t>
            </a:r>
            <a:r>
              <a:rPr lang="en-US" sz="2600" b="0" u="none" strike="noStrike">
                <a:solidFill>
                  <a:srgbClr val="FFFFFF"/>
                </a:solidFill>
                <a:effectLst/>
                <a:uFillTx/>
                <a:latin typeface="Cambria"/>
                <a:ea typeface="Cambria"/>
              </a:rPr>
              <a:t>  −  W</a:t>
            </a:r>
            <a:r>
              <a:rPr lang="en-US" sz="2600" b="0" u="none" strike="noStrike" baseline="-40000">
                <a:solidFill>
                  <a:srgbClr val="FFFFFF"/>
                </a:solidFill>
                <a:effectLst/>
                <a:uFillTx/>
                <a:latin typeface="Cambria"/>
                <a:ea typeface="Cambria"/>
              </a:rPr>
              <a:t>N</a:t>
            </a:r>
            <a:r>
              <a:rPr lang="en-US" sz="2600" b="0" u="none" strike="noStrike" baseline="30000">
                <a:solidFill>
                  <a:srgbClr val="FFFFFF"/>
                </a:solidFill>
                <a:effectLst/>
                <a:uFillTx/>
                <a:latin typeface="Cambria"/>
                <a:ea typeface="Cambria"/>
              </a:rPr>
              <a:t>k</a:t>
            </a:r>
            <a:r>
              <a:rPr lang="en-US" sz="2600" b="0" u="none" strike="noStrike">
                <a:solidFill>
                  <a:srgbClr val="FFFFFF"/>
                </a:solidFill>
                <a:effectLst/>
                <a:uFillTx/>
                <a:latin typeface="Cambria"/>
                <a:ea typeface="Cambria"/>
              </a:rPr>
              <a:t> O</a:t>
            </a:r>
            <a:r>
              <a:rPr lang="en-US" sz="2600" b="0" u="none" strike="noStrike" baseline="-40000">
                <a:solidFill>
                  <a:srgbClr val="D98324"/>
                </a:solidFill>
                <a:effectLst/>
                <a:uFillTx/>
                <a:latin typeface="Cambria"/>
                <a:ea typeface="Cambria"/>
              </a:rPr>
              <a:t>k</a:t>
            </a:r>
            <a:endParaRPr lang="en-US" sz="2600" b="0" u="none" strike="noStrike">
              <a:solidFill>
                <a:srgbClr val="000000"/>
              </a:solidFill>
              <a:effectLst/>
              <a:uFillTx/>
              <a:latin typeface="Arial"/>
            </a:endParaRPr>
          </a:p>
        </p:txBody>
      </p:sp>
      <p:sp>
        <p:nvSpPr>
          <p:cNvPr id="234" name="Shape 9"/>
          <p:cNvSpPr/>
          <p:nvPr/>
        </p:nvSpPr>
        <p:spPr>
          <a:xfrm>
            <a:off x="502920" y="4709160"/>
            <a:ext cx="11154960" cy="1416600"/>
          </a:xfrm>
          <a:prstGeom prst="roundRect">
            <a:avLst>
              <a:gd name="adj" fmla="val 516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5" name="Text 10"/>
          <p:cNvSpPr/>
          <p:nvPr/>
        </p:nvSpPr>
        <p:spPr>
          <a:xfrm>
            <a:off x="731520" y="4818960"/>
            <a:ext cx="10697760" cy="12337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50" b="1" u="none" strike="noStrike">
                <a:solidFill>
                  <a:srgbClr val="132A4A"/>
                </a:solidFill>
                <a:effectLst/>
                <a:uFillTx/>
                <a:latin typeface="Calibri"/>
                <a:ea typeface="Calibri"/>
              </a:rPr>
              <a:t>This is the payoff of the whole derivation.  </a:t>
            </a:r>
            <a:r>
              <a:rPr lang="en-US" sz="1300" b="0" u="none" strike="noStrike">
                <a:solidFill>
                  <a:srgbClr val="16202E"/>
                </a:solidFill>
                <a:effectLst/>
                <a:uFillTx/>
                <a:latin typeface="Calibri"/>
                <a:ea typeface="Calibri"/>
              </a:rPr>
              <a:t>The same two numbers, E[k] and W_N^k O[k], produce </a:t>
            </a:r>
            <a:r>
              <a:rPr lang="en-US" sz="1300" b="0" i="1" u="none" strike="noStrike">
                <a:solidFill>
                  <a:srgbClr val="16202E"/>
                </a:solidFill>
                <a:effectLst/>
                <a:uFillTx/>
                <a:latin typeface="Calibri"/>
                <a:ea typeface="Calibri"/>
              </a:rPr>
              <a:t>both</a:t>
            </a:r>
            <a:r>
              <a:rPr lang="en-US" sz="1300" b="0" u="none" strike="noStrike">
                <a:solidFill>
                  <a:srgbClr val="16202E"/>
                </a:solidFill>
                <a:effectLst/>
                <a:uFillTx/>
                <a:latin typeface="Calibri"/>
                <a:ea typeface="Calibri"/>
              </a:rPr>
              <a:t> X[k] and X[k+N/2]: one add, one subtract, no extra DFT terms. E[k] and O[k] each only need to be computed once for k = 0 ... N/2 - 1, and they are reused to generate the entire N-point output. This reuse, not any single trick, is the source of the FFT's speed.</a:t>
            </a:r>
            <a:endParaRPr lang="en-US" sz="1300" b="0" u="none" strike="noStrike">
              <a:solidFill>
                <a:srgbClr val="000000"/>
              </a:solidFill>
              <a:effectLst/>
              <a:uFillTx/>
              <a:latin typeface="Arial"/>
            </a:endParaRPr>
          </a:p>
        </p:txBody>
      </p:sp>
      <p:sp>
        <p:nvSpPr>
          <p:cNvPr id="236" name="Text 11"/>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237" name="Text 12"/>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Derivation</a:t>
            </a:r>
            <a:endParaRPr lang="en-US" sz="900" b="0" u="none" strike="noStrike">
              <a:solidFill>
                <a:srgbClr val="000000"/>
              </a:solidFill>
              <a:effectLst/>
              <a:uFillTx/>
              <a:latin typeface="Arial"/>
            </a:endParaRPr>
          </a:p>
        </p:txBody>
      </p:sp>
      <p:sp>
        <p:nvSpPr>
          <p:cNvPr id="238" name="Text 13"/>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39"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7 · THE BUTTERFLY</a:t>
            </a:r>
            <a:endParaRPr lang="en-US" sz="1150" b="0" u="none" strike="noStrike">
              <a:solidFill>
                <a:srgbClr val="000000"/>
              </a:solidFill>
              <a:effectLst/>
              <a:uFillTx/>
              <a:latin typeface="Arial"/>
            </a:endParaRPr>
          </a:p>
        </p:txBody>
      </p:sp>
      <p:sp>
        <p:nvSpPr>
          <p:cNvPr id="240"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Butterfly Is Not Drawn, It Is Derived</a:t>
            </a:r>
            <a:endParaRPr lang="en-US" sz="2700" b="0" u="none" strike="noStrike">
              <a:solidFill>
                <a:srgbClr val="000000"/>
              </a:solidFill>
              <a:effectLst/>
              <a:uFillTx/>
              <a:latin typeface="Arial"/>
            </a:endParaRPr>
          </a:p>
        </p:txBody>
      </p:sp>
      <p:sp>
        <p:nvSpPr>
          <p:cNvPr id="241" name="Text 2"/>
          <p:cNvSpPr/>
          <p:nvPr/>
        </p:nvSpPr>
        <p:spPr>
          <a:xfrm>
            <a:off x="502920" y="118872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Start from the two results of Section 6:</a:t>
            </a:r>
            <a:endParaRPr lang="en-US" sz="1300" b="0" u="none" strike="noStrike">
              <a:solidFill>
                <a:srgbClr val="000000"/>
              </a:solidFill>
              <a:effectLst/>
              <a:uFillTx/>
              <a:latin typeface="Arial"/>
            </a:endParaRPr>
          </a:p>
        </p:txBody>
      </p:sp>
      <p:sp>
        <p:nvSpPr>
          <p:cNvPr id="242" name="Shape 3"/>
          <p:cNvSpPr/>
          <p:nvPr/>
        </p:nvSpPr>
        <p:spPr>
          <a:xfrm>
            <a:off x="502920" y="1508760"/>
            <a:ext cx="5394240" cy="730800"/>
          </a:xfrm>
          <a:prstGeom prst="roundRect">
            <a:avLst>
              <a:gd name="adj" fmla="val 10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Text 4"/>
          <p:cNvSpPr/>
          <p:nvPr/>
        </p:nvSpPr>
        <p:spPr>
          <a:xfrm>
            <a:off x="640080" y="1508760"/>
            <a:ext cx="5119920" cy="730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X</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E</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O</a:t>
            </a:r>
            <a:r>
              <a:rPr lang="en-US" sz="1900" b="0" u="none" strike="noStrike" baseline="-40000">
                <a:solidFill>
                  <a:srgbClr val="132A4A"/>
                </a:solidFill>
                <a:effectLst/>
                <a:uFillTx/>
                <a:latin typeface="Cambria"/>
                <a:ea typeface="Cambria"/>
              </a:rPr>
              <a:t>k</a:t>
            </a:r>
            <a:endParaRPr lang="en-US" sz="1900" b="0" u="none" strike="noStrike">
              <a:solidFill>
                <a:srgbClr val="000000"/>
              </a:solidFill>
              <a:effectLst/>
              <a:uFillTx/>
              <a:latin typeface="Arial"/>
            </a:endParaRPr>
          </a:p>
        </p:txBody>
      </p:sp>
      <p:sp>
        <p:nvSpPr>
          <p:cNvPr id="244" name="Shape 5"/>
          <p:cNvSpPr/>
          <p:nvPr/>
        </p:nvSpPr>
        <p:spPr>
          <a:xfrm>
            <a:off x="6263640" y="1508760"/>
            <a:ext cx="5394240" cy="730800"/>
          </a:xfrm>
          <a:prstGeom prst="roundRect">
            <a:avLst>
              <a:gd name="adj" fmla="val 10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6"/>
          <p:cNvSpPr/>
          <p:nvPr/>
        </p:nvSpPr>
        <p:spPr>
          <a:xfrm>
            <a:off x="6400800" y="1508760"/>
            <a:ext cx="5119920" cy="730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X</a:t>
            </a:r>
            <a:r>
              <a:rPr lang="en-US" sz="1900" b="0" u="none" strike="noStrike" baseline="-40000">
                <a:solidFill>
                  <a:srgbClr val="132A4A"/>
                </a:solidFill>
                <a:effectLst/>
                <a:uFillTx/>
                <a:latin typeface="Cambria"/>
                <a:ea typeface="Cambria"/>
              </a:rPr>
              <a:t>k+N/2</a:t>
            </a:r>
            <a:r>
              <a:rPr lang="en-US" sz="1900" b="0" u="none" strike="noStrike">
                <a:solidFill>
                  <a:srgbClr val="132A4A"/>
                </a:solidFill>
                <a:effectLst/>
                <a:uFillTx/>
                <a:latin typeface="Cambria"/>
                <a:ea typeface="Cambria"/>
              </a:rPr>
              <a:t> = E</a:t>
            </a:r>
            <a:r>
              <a:rPr lang="en-US" sz="1900" b="0" u="none" strike="noStrike" baseline="-4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O</a:t>
            </a:r>
            <a:r>
              <a:rPr lang="en-US" sz="1900" b="0" u="none" strike="noStrike" baseline="-40000">
                <a:solidFill>
                  <a:srgbClr val="132A4A"/>
                </a:solidFill>
                <a:effectLst/>
                <a:uFillTx/>
                <a:latin typeface="Cambria"/>
                <a:ea typeface="Cambria"/>
              </a:rPr>
              <a:t>k</a:t>
            </a:r>
            <a:endParaRPr lang="en-US" sz="1900" b="0" u="none" strike="noStrike">
              <a:solidFill>
                <a:srgbClr val="000000"/>
              </a:solidFill>
              <a:effectLst/>
              <a:uFillTx/>
              <a:latin typeface="Arial"/>
            </a:endParaRPr>
          </a:p>
        </p:txBody>
      </p:sp>
      <p:sp>
        <p:nvSpPr>
          <p:cNvPr id="246" name="Text 7"/>
          <p:cNvSpPr/>
          <p:nvPr/>
        </p:nvSpPr>
        <p:spPr>
          <a:xfrm>
            <a:off x="502920" y="242316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Give the two quantities that actually get combined their own names, A and B:</a:t>
            </a:r>
            <a:endParaRPr lang="en-US" sz="1300" b="0" u="none" strike="noStrike">
              <a:solidFill>
                <a:srgbClr val="000000"/>
              </a:solidFill>
              <a:effectLst/>
              <a:uFillTx/>
              <a:latin typeface="Arial"/>
            </a:endParaRPr>
          </a:p>
        </p:txBody>
      </p:sp>
      <p:sp>
        <p:nvSpPr>
          <p:cNvPr id="247" name="Shape 8"/>
          <p:cNvSpPr/>
          <p:nvPr/>
        </p:nvSpPr>
        <p:spPr>
          <a:xfrm>
            <a:off x="1554480" y="2743200"/>
            <a:ext cx="4205520" cy="685080"/>
          </a:xfrm>
          <a:prstGeom prst="roundRect">
            <a:avLst>
              <a:gd name="adj" fmla="val 10667"/>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9"/>
          <p:cNvSpPr/>
          <p:nvPr/>
        </p:nvSpPr>
        <p:spPr>
          <a:xfrm>
            <a:off x="1691640" y="2743200"/>
            <a:ext cx="3931200" cy="685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A = E</a:t>
            </a:r>
            <a:r>
              <a:rPr lang="en-US" sz="1900" b="0" u="none" strike="noStrike" baseline="-40000">
                <a:solidFill>
                  <a:srgbClr val="132A4A"/>
                </a:solidFill>
                <a:effectLst/>
                <a:uFillTx/>
                <a:latin typeface="Cambria"/>
                <a:ea typeface="Cambria"/>
              </a:rPr>
              <a:t>k</a:t>
            </a:r>
            <a:endParaRPr lang="en-US" sz="1900" b="0" u="none" strike="noStrike">
              <a:solidFill>
                <a:srgbClr val="000000"/>
              </a:solidFill>
              <a:effectLst/>
              <a:uFillTx/>
              <a:latin typeface="Arial"/>
            </a:endParaRPr>
          </a:p>
        </p:txBody>
      </p:sp>
      <p:sp>
        <p:nvSpPr>
          <p:cNvPr id="249" name="Shape 10"/>
          <p:cNvSpPr/>
          <p:nvPr/>
        </p:nvSpPr>
        <p:spPr>
          <a:xfrm>
            <a:off x="6400800" y="2743200"/>
            <a:ext cx="4205520" cy="685080"/>
          </a:xfrm>
          <a:prstGeom prst="roundRect">
            <a:avLst>
              <a:gd name="adj" fmla="val 10667"/>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0" name="Text 11"/>
          <p:cNvSpPr/>
          <p:nvPr/>
        </p:nvSpPr>
        <p:spPr>
          <a:xfrm>
            <a:off x="6537960" y="2743200"/>
            <a:ext cx="3931200" cy="685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B = W</a:t>
            </a:r>
            <a:r>
              <a:rPr lang="en-US" sz="1900" b="0" u="none" strike="noStrike" baseline="-40000">
                <a:solidFill>
                  <a:srgbClr val="132A4A"/>
                </a:solidFill>
                <a:effectLst/>
                <a:uFillTx/>
                <a:latin typeface="Cambria"/>
                <a:ea typeface="Cambria"/>
              </a:rPr>
              <a:t>N</a:t>
            </a:r>
            <a:r>
              <a:rPr lang="en-US" sz="1900" b="0" u="none" strike="noStrike" baseline="30000">
                <a:solidFill>
                  <a:srgbClr val="132A4A"/>
                </a:solidFill>
                <a:effectLst/>
                <a:uFillTx/>
                <a:latin typeface="Cambria"/>
                <a:ea typeface="Cambria"/>
              </a:rPr>
              <a:t>k</a:t>
            </a:r>
            <a:r>
              <a:rPr lang="en-US" sz="1900" b="0" u="none" strike="noStrike">
                <a:solidFill>
                  <a:srgbClr val="132A4A"/>
                </a:solidFill>
                <a:effectLst/>
                <a:uFillTx/>
                <a:latin typeface="Cambria"/>
                <a:ea typeface="Cambria"/>
              </a:rPr>
              <a:t> O</a:t>
            </a:r>
            <a:r>
              <a:rPr lang="en-US" sz="1900" b="0" u="none" strike="noStrike" baseline="-40000">
                <a:solidFill>
                  <a:srgbClr val="132A4A"/>
                </a:solidFill>
                <a:effectLst/>
                <a:uFillTx/>
                <a:latin typeface="Cambria"/>
                <a:ea typeface="Cambria"/>
              </a:rPr>
              <a:t>k</a:t>
            </a:r>
            <a:endParaRPr lang="en-US" sz="1900" b="0" u="none" strike="noStrike">
              <a:solidFill>
                <a:srgbClr val="000000"/>
              </a:solidFill>
              <a:effectLst/>
              <a:uFillTx/>
              <a:latin typeface="Arial"/>
            </a:endParaRPr>
          </a:p>
        </p:txBody>
      </p:sp>
      <p:sp>
        <p:nvSpPr>
          <p:cNvPr id="251" name="Text 12"/>
          <p:cNvSpPr/>
          <p:nvPr/>
        </p:nvSpPr>
        <p:spPr>
          <a:xfrm>
            <a:off x="502920" y="3566160"/>
            <a:ext cx="11154960" cy="456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B is the odd-branch value after it has been rotated by the twiddle factor. With A and B defined, the pair of equations collapses to the simplest possible form:</a:t>
            </a:r>
            <a:endParaRPr lang="en-US" sz="1300" b="0" u="none" strike="noStrike">
              <a:solidFill>
                <a:srgbClr val="000000"/>
              </a:solidFill>
              <a:effectLst/>
              <a:uFillTx/>
              <a:latin typeface="Arial"/>
            </a:endParaRPr>
          </a:p>
        </p:txBody>
      </p:sp>
      <p:sp>
        <p:nvSpPr>
          <p:cNvPr id="252" name="Shape 13"/>
          <p:cNvSpPr/>
          <p:nvPr/>
        </p:nvSpPr>
        <p:spPr>
          <a:xfrm>
            <a:off x="1554480" y="4069080"/>
            <a:ext cx="4205520" cy="730800"/>
          </a:xfrm>
          <a:prstGeom prst="roundRect">
            <a:avLst>
              <a:gd name="adj" fmla="val 1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3" name="Text 14"/>
          <p:cNvSpPr/>
          <p:nvPr/>
        </p:nvSpPr>
        <p:spPr>
          <a:xfrm>
            <a:off x="1691640" y="4069080"/>
            <a:ext cx="3931200" cy="730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X</a:t>
            </a:r>
            <a:r>
              <a:rPr lang="en-US" sz="1200" b="1" u="none" strike="noStrike" baseline="-40000">
                <a:solidFill>
                  <a:srgbClr val="FFFFFF"/>
                </a:solidFill>
                <a:effectLst/>
                <a:uFillTx/>
                <a:latin typeface="Cambria"/>
                <a:ea typeface="Cambria"/>
              </a:rPr>
              <a:t>top</a:t>
            </a:r>
            <a:r>
              <a:rPr lang="en-US" sz="2000" b="1" u="none" strike="noStrike">
                <a:solidFill>
                  <a:srgbClr val="FFFFFF"/>
                </a:solidFill>
                <a:effectLst/>
                <a:uFillTx/>
                <a:latin typeface="Cambria"/>
                <a:ea typeface="Cambria"/>
              </a:rPr>
              <a:t> = A + B</a:t>
            </a:r>
            <a:endParaRPr lang="en-US" sz="2000" b="0" u="none" strike="noStrike">
              <a:solidFill>
                <a:srgbClr val="000000"/>
              </a:solidFill>
              <a:effectLst/>
              <a:uFillTx/>
              <a:latin typeface="Arial"/>
            </a:endParaRPr>
          </a:p>
        </p:txBody>
      </p:sp>
      <p:sp>
        <p:nvSpPr>
          <p:cNvPr id="254" name="Shape 15"/>
          <p:cNvSpPr/>
          <p:nvPr/>
        </p:nvSpPr>
        <p:spPr>
          <a:xfrm>
            <a:off x="6400800" y="4069080"/>
            <a:ext cx="4205520" cy="730800"/>
          </a:xfrm>
          <a:prstGeom prst="roundRect">
            <a:avLst>
              <a:gd name="adj" fmla="val 1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5" name="Text 16"/>
          <p:cNvSpPr/>
          <p:nvPr/>
        </p:nvSpPr>
        <p:spPr>
          <a:xfrm>
            <a:off x="6537960" y="4069080"/>
            <a:ext cx="3931200" cy="730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X</a:t>
            </a:r>
            <a:r>
              <a:rPr lang="en-US" sz="1200" b="1" u="none" strike="noStrike" baseline="-40000">
                <a:solidFill>
                  <a:srgbClr val="FFFFFF"/>
                </a:solidFill>
                <a:effectLst/>
                <a:uFillTx/>
                <a:latin typeface="Cambria"/>
                <a:ea typeface="Cambria"/>
              </a:rPr>
              <a:t>bottom</a:t>
            </a:r>
            <a:r>
              <a:rPr lang="en-US" sz="2000" b="1" u="none" strike="noStrike">
                <a:solidFill>
                  <a:srgbClr val="FFFFFF"/>
                </a:solidFill>
                <a:effectLst/>
                <a:uFillTx/>
                <a:latin typeface="Cambria"/>
                <a:ea typeface="Cambria"/>
              </a:rPr>
              <a:t> = A − B</a:t>
            </a:r>
            <a:endParaRPr lang="en-US" sz="2000" b="0" u="none" strike="noStrike">
              <a:solidFill>
                <a:srgbClr val="000000"/>
              </a:solidFill>
              <a:effectLst/>
              <a:uFillTx/>
              <a:latin typeface="Arial"/>
            </a:endParaRPr>
          </a:p>
        </p:txBody>
      </p:sp>
      <p:sp>
        <p:nvSpPr>
          <p:cNvPr id="256" name="Shape 17"/>
          <p:cNvSpPr/>
          <p:nvPr/>
        </p:nvSpPr>
        <p:spPr>
          <a:xfrm>
            <a:off x="502920" y="5074920"/>
            <a:ext cx="11154960" cy="1142280"/>
          </a:xfrm>
          <a:prstGeom prst="roundRect">
            <a:avLst>
              <a:gd name="adj" fmla="val 64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7" name="Text 18"/>
          <p:cNvSpPr/>
          <p:nvPr/>
        </p:nvSpPr>
        <p:spPr>
          <a:xfrm>
            <a:off x="731520" y="5184720"/>
            <a:ext cx="10697760" cy="9136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16202E"/>
                </a:solidFill>
                <a:effectLst/>
                <a:uFillTx/>
                <a:latin typeface="Calibri"/>
                <a:ea typeface="Calibri"/>
              </a:rPr>
              <a:t>This add/subtract pair, with exactly one complex multiplication (forming B) feeding it, is the butterfly. It is called that because of the crossing shape its signal-flow diagram makes, not because it is a separate idea from the algebra above: it IS the algebra above, drawn instead of written.</a:t>
            </a:r>
            <a:endParaRPr lang="en-US" sz="1300" b="0" u="none" strike="noStrike">
              <a:solidFill>
                <a:srgbClr val="000000"/>
              </a:solidFill>
              <a:effectLst/>
              <a:uFillTx/>
              <a:latin typeface="Arial"/>
            </a:endParaRPr>
          </a:p>
        </p:txBody>
      </p:sp>
      <p:sp>
        <p:nvSpPr>
          <p:cNvPr id="258" name="Text 1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259" name="Text 2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The Butterfly</a:t>
            </a:r>
            <a:endParaRPr lang="en-US" sz="900" b="0" u="none" strike="noStrike">
              <a:solidFill>
                <a:srgbClr val="000000"/>
              </a:solidFill>
              <a:effectLst/>
              <a:uFillTx/>
              <a:latin typeface="Arial"/>
            </a:endParaRPr>
          </a:p>
        </p:txBody>
      </p:sp>
      <p:sp>
        <p:nvSpPr>
          <p:cNvPr id="260" name="Text 2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61"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7 · THE BUTTERFLY</a:t>
            </a:r>
            <a:endParaRPr lang="en-US" sz="1150" b="0" u="none" strike="noStrike">
              <a:solidFill>
                <a:srgbClr val="000000"/>
              </a:solidFill>
              <a:effectLst/>
              <a:uFillTx/>
              <a:latin typeface="Arial"/>
            </a:endParaRPr>
          </a:p>
        </p:txBody>
      </p:sp>
      <p:sp>
        <p:nvSpPr>
          <p:cNvPr id="262"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Radix-2 DIT Butterfly Flow Graph</a:t>
            </a:r>
            <a:endParaRPr lang="en-US" sz="2700" b="0" u="none" strike="noStrike">
              <a:solidFill>
                <a:srgbClr val="000000"/>
              </a:solidFill>
              <a:effectLst/>
              <a:uFillTx/>
              <a:latin typeface="Arial"/>
            </a:endParaRPr>
          </a:p>
        </p:txBody>
      </p:sp>
      <p:sp>
        <p:nvSpPr>
          <p:cNvPr id="263" name="Shape 2"/>
          <p:cNvSpPr/>
          <p:nvPr/>
        </p:nvSpPr>
        <p:spPr>
          <a:xfrm>
            <a:off x="914400" y="1737360"/>
            <a:ext cx="1370880" cy="547920"/>
          </a:xfrm>
          <a:prstGeom prst="roundRect">
            <a:avLst>
              <a:gd name="adj" fmla="val 10000"/>
            </a:avLst>
          </a:prstGeom>
          <a:solidFill>
            <a:srgbClr val="E4F3F2"/>
          </a:solidFill>
          <a:ln w="1587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3"/>
          <p:cNvSpPr/>
          <p:nvPr/>
        </p:nvSpPr>
        <p:spPr>
          <a:xfrm>
            <a:off x="914400" y="1737360"/>
            <a:ext cx="13708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0E8388"/>
                </a:solidFill>
                <a:effectLst/>
                <a:uFillTx/>
                <a:latin typeface="Consolas"/>
                <a:ea typeface="Consolas"/>
              </a:rPr>
              <a:t>E[k]  =  A</a:t>
            </a:r>
            <a:endParaRPr lang="en-US" sz="1400" b="0" u="none" strike="noStrike">
              <a:solidFill>
                <a:srgbClr val="000000"/>
              </a:solidFill>
              <a:effectLst/>
              <a:uFillTx/>
              <a:latin typeface="Arial"/>
            </a:endParaRPr>
          </a:p>
        </p:txBody>
      </p:sp>
      <p:sp>
        <p:nvSpPr>
          <p:cNvPr id="265" name="Shape 4"/>
          <p:cNvSpPr/>
          <p:nvPr/>
        </p:nvSpPr>
        <p:spPr>
          <a:xfrm>
            <a:off x="914400" y="4114800"/>
            <a:ext cx="1370880" cy="547920"/>
          </a:xfrm>
          <a:prstGeom prst="roundRect">
            <a:avLst>
              <a:gd name="adj" fmla="val 10000"/>
            </a:avLst>
          </a:prstGeom>
          <a:solidFill>
            <a:srgbClr val="FBF0E2"/>
          </a:solidFill>
          <a:ln w="1587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5"/>
          <p:cNvSpPr/>
          <p:nvPr/>
        </p:nvSpPr>
        <p:spPr>
          <a:xfrm>
            <a:off x="914400" y="4114800"/>
            <a:ext cx="13708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D98324"/>
                </a:solidFill>
                <a:effectLst/>
                <a:uFillTx/>
                <a:latin typeface="Consolas"/>
                <a:ea typeface="Consolas"/>
              </a:rPr>
              <a:t>O[k]</a:t>
            </a:r>
            <a:endParaRPr lang="en-US" sz="1400" b="0" u="none" strike="noStrike">
              <a:solidFill>
                <a:srgbClr val="000000"/>
              </a:solidFill>
              <a:effectLst/>
              <a:uFillTx/>
              <a:latin typeface="Arial"/>
            </a:endParaRPr>
          </a:p>
        </p:txBody>
      </p:sp>
      <p:sp>
        <p:nvSpPr>
          <p:cNvPr id="267" name="Shape 6"/>
          <p:cNvSpPr/>
          <p:nvPr/>
        </p:nvSpPr>
        <p:spPr>
          <a:xfrm>
            <a:off x="2286000" y="4389120"/>
            <a:ext cx="1097280" cy="9000"/>
          </a:xfrm>
          <a:prstGeom prst="line">
            <a:avLst/>
          </a:prstGeom>
          <a:ln w="25400">
            <a:solidFill>
              <a:srgbClr val="D98324"/>
            </a:solidFill>
            <a:round/>
          </a:ln>
        </p:spPr>
        <p:style>
          <a:lnRef idx="0"/>
          <a:fillRef idx="0"/>
          <a:effectRef idx="0"/>
          <a:fontRef idx="minor"/>
        </p:style>
        <p:txBody>
          <a:bodyPr lIns="90000" tIns="-36000" rIns="90000" bIns="-36000" anchor="t" anchorCtr="1">
            <a:noAutofit/>
          </a:bodyPr>
          <a:p>
            <a:endParaRPr lang="en-US" sz="1800" b="0" u="none" strike="noStrike">
              <a:solidFill>
                <a:srgbClr val="000000"/>
              </a:solidFill>
              <a:effectLst/>
              <a:uFillTx/>
              <a:latin typeface="Arial"/>
            </a:endParaRPr>
          </a:p>
        </p:txBody>
      </p:sp>
      <p:sp>
        <p:nvSpPr>
          <p:cNvPr id="268" name="Shape 7"/>
          <p:cNvSpPr/>
          <p:nvPr/>
        </p:nvSpPr>
        <p:spPr>
          <a:xfrm>
            <a:off x="3383280" y="4114800"/>
            <a:ext cx="547920" cy="547920"/>
          </a:xfrm>
          <a:prstGeom prst="ellipse">
            <a:avLst/>
          </a:prstGeom>
          <a:solidFill>
            <a:srgbClr val="D98324"/>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9" name="Text 8"/>
          <p:cNvSpPr/>
          <p:nvPr/>
        </p:nvSpPr>
        <p:spPr>
          <a:xfrm>
            <a:off x="3383280" y="4114800"/>
            <a:ext cx="54792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a:t>
            </a:r>
            <a:endParaRPr lang="en-US" sz="1800" b="0" u="none" strike="noStrike">
              <a:solidFill>
                <a:srgbClr val="000000"/>
              </a:solidFill>
              <a:effectLst/>
              <a:uFillTx/>
              <a:latin typeface="Arial"/>
            </a:endParaRPr>
          </a:p>
        </p:txBody>
      </p:sp>
      <p:sp>
        <p:nvSpPr>
          <p:cNvPr id="270" name="Text 9"/>
          <p:cNvSpPr/>
          <p:nvPr/>
        </p:nvSpPr>
        <p:spPr>
          <a:xfrm>
            <a:off x="3063240" y="3611880"/>
            <a:ext cx="1188000" cy="410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ambria"/>
                <a:ea typeface="Cambria"/>
              </a:rPr>
              <a:t>W</a:t>
            </a:r>
            <a:r>
              <a:rPr lang="en-US" sz="1400" b="1" u="none" strike="noStrike" baseline="-40000">
                <a:solidFill>
                  <a:srgbClr val="132A4A"/>
                </a:solidFill>
                <a:effectLst/>
                <a:uFillTx/>
                <a:latin typeface="Cambria"/>
                <a:ea typeface="Cambria"/>
              </a:rPr>
              <a:t>N</a:t>
            </a:r>
            <a:r>
              <a:rPr lang="en-US" sz="1400" b="1" u="none" strike="noStrike" baseline="30000">
                <a:solidFill>
                  <a:srgbClr val="132A4A"/>
                </a:solidFill>
                <a:effectLst/>
                <a:uFillTx/>
                <a:latin typeface="Cambria"/>
                <a:ea typeface="Cambria"/>
              </a:rPr>
              <a:t>k</a:t>
            </a:r>
            <a:endParaRPr lang="en-US" sz="1400" b="0" u="none" strike="noStrike">
              <a:solidFill>
                <a:srgbClr val="000000"/>
              </a:solidFill>
              <a:effectLst/>
              <a:uFillTx/>
              <a:latin typeface="Arial"/>
            </a:endParaRPr>
          </a:p>
        </p:txBody>
      </p:sp>
      <p:sp>
        <p:nvSpPr>
          <p:cNvPr id="271" name="Text 10"/>
          <p:cNvSpPr/>
          <p:nvPr/>
        </p:nvSpPr>
        <p:spPr>
          <a:xfrm>
            <a:off x="2880360" y="4709160"/>
            <a:ext cx="1919520" cy="273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C6B7A"/>
                </a:solidFill>
                <a:effectLst/>
                <a:uFillTx/>
                <a:latin typeface="Calibri"/>
                <a:ea typeface="Calibri"/>
              </a:rPr>
              <a:t>B = Wₙᵏ O[k]</a:t>
            </a:r>
            <a:endParaRPr lang="en-US" sz="1050" b="0" u="none" strike="noStrike">
              <a:solidFill>
                <a:srgbClr val="000000"/>
              </a:solidFill>
              <a:effectLst/>
              <a:uFillTx/>
              <a:latin typeface="Arial"/>
            </a:endParaRPr>
          </a:p>
        </p:txBody>
      </p:sp>
      <p:sp>
        <p:nvSpPr>
          <p:cNvPr id="272" name="Shape 11"/>
          <p:cNvSpPr/>
          <p:nvPr/>
        </p:nvSpPr>
        <p:spPr>
          <a:xfrm>
            <a:off x="2286000" y="2011680"/>
            <a:ext cx="4572000" cy="9000"/>
          </a:xfrm>
          <a:prstGeom prst="line">
            <a:avLst/>
          </a:prstGeom>
          <a:ln w="25400">
            <a:solidFill>
              <a:srgbClr val="0E8388"/>
            </a:solidFill>
            <a:round/>
          </a:ln>
        </p:spPr>
        <p:style>
          <a:lnRef idx="0"/>
          <a:fillRef idx="0"/>
          <a:effectRef idx="0"/>
          <a:fontRef idx="minor"/>
        </p:style>
        <p:txBody>
          <a:bodyPr lIns="90000" tIns="-36000" rIns="90000" bIns="-36000" anchor="t" anchorCtr="1">
            <a:noAutofit/>
          </a:bodyPr>
          <a:p>
            <a:endParaRPr lang="en-US" sz="1800" b="0" u="none" strike="noStrike">
              <a:solidFill>
                <a:srgbClr val="000000"/>
              </a:solidFill>
              <a:effectLst/>
              <a:uFillTx/>
              <a:latin typeface="Arial"/>
            </a:endParaRPr>
          </a:p>
        </p:txBody>
      </p:sp>
      <p:sp>
        <p:nvSpPr>
          <p:cNvPr id="273" name="Shape 12"/>
          <p:cNvSpPr/>
          <p:nvPr/>
        </p:nvSpPr>
        <p:spPr>
          <a:xfrm>
            <a:off x="2286000" y="2011680"/>
            <a:ext cx="4572000" cy="2377440"/>
          </a:xfrm>
          <a:prstGeom prst="line">
            <a:avLst/>
          </a:prstGeom>
          <a:ln w="25400">
            <a:solidFill>
              <a:srgbClr val="0E8388"/>
            </a:solidFill>
            <a:prstDash val="dash"/>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74" name="Shape 13"/>
          <p:cNvSpPr/>
          <p:nvPr/>
        </p:nvSpPr>
        <p:spPr>
          <a:xfrm>
            <a:off x="3931920" y="4389120"/>
            <a:ext cx="2926080" cy="9000"/>
          </a:xfrm>
          <a:prstGeom prst="line">
            <a:avLst/>
          </a:prstGeom>
          <a:ln w="25400">
            <a:solidFill>
              <a:srgbClr val="D98324"/>
            </a:solidFill>
            <a:round/>
          </a:ln>
        </p:spPr>
        <p:style>
          <a:lnRef idx="0"/>
          <a:fillRef idx="0"/>
          <a:effectRef idx="0"/>
          <a:fontRef idx="minor"/>
        </p:style>
        <p:txBody>
          <a:bodyPr lIns="90000" tIns="-36000" rIns="90000" bIns="-36000" anchor="t" anchorCtr="1">
            <a:noAutofit/>
          </a:bodyPr>
          <a:p>
            <a:endParaRPr lang="en-US" sz="1800" b="0" u="none" strike="noStrike">
              <a:solidFill>
                <a:srgbClr val="000000"/>
              </a:solidFill>
              <a:effectLst/>
              <a:uFillTx/>
              <a:latin typeface="Arial"/>
            </a:endParaRPr>
          </a:p>
        </p:txBody>
      </p:sp>
      <p:sp>
        <p:nvSpPr>
          <p:cNvPr id="275" name="Shape 14"/>
          <p:cNvSpPr/>
          <p:nvPr/>
        </p:nvSpPr>
        <p:spPr>
          <a:xfrm flipV="1">
            <a:off x="3931920" y="2011680"/>
            <a:ext cx="2926080" cy="2377440"/>
          </a:xfrm>
          <a:prstGeom prst="line">
            <a:avLst/>
          </a:prstGeom>
          <a:ln w="25400">
            <a:solidFill>
              <a:srgbClr val="D98324"/>
            </a:solidFill>
            <a:prstDash val="dash"/>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76" name="Shape 15"/>
          <p:cNvSpPr/>
          <p:nvPr/>
        </p:nvSpPr>
        <p:spPr>
          <a:xfrm>
            <a:off x="6858000" y="1737360"/>
            <a:ext cx="547920" cy="547920"/>
          </a:xfrm>
          <a:prstGeom prst="ellipse">
            <a:avLst/>
          </a:prstGeom>
          <a:solidFill>
            <a:srgbClr val="1F3F6B"/>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7" name="Text 16"/>
          <p:cNvSpPr/>
          <p:nvPr/>
        </p:nvSpPr>
        <p:spPr>
          <a:xfrm>
            <a:off x="6858000" y="1737360"/>
            <a:ext cx="54792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a:t>
            </a:r>
            <a:endParaRPr lang="en-US" sz="1800" b="0" u="none" strike="noStrike">
              <a:solidFill>
                <a:srgbClr val="000000"/>
              </a:solidFill>
              <a:effectLst/>
              <a:uFillTx/>
              <a:latin typeface="Arial"/>
            </a:endParaRPr>
          </a:p>
        </p:txBody>
      </p:sp>
      <p:sp>
        <p:nvSpPr>
          <p:cNvPr id="278" name="Shape 17"/>
          <p:cNvSpPr/>
          <p:nvPr/>
        </p:nvSpPr>
        <p:spPr>
          <a:xfrm>
            <a:off x="6858000" y="4114800"/>
            <a:ext cx="547920" cy="547920"/>
          </a:xfrm>
          <a:prstGeom prst="ellipse">
            <a:avLst/>
          </a:prstGeom>
          <a:solidFill>
            <a:srgbClr val="1F3F6B"/>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9" name="Text 18"/>
          <p:cNvSpPr/>
          <p:nvPr/>
        </p:nvSpPr>
        <p:spPr>
          <a:xfrm>
            <a:off x="6858000" y="4114800"/>
            <a:ext cx="54792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a:t>
            </a:r>
            <a:endParaRPr lang="en-US" sz="1800" b="0" u="none" strike="noStrike">
              <a:solidFill>
                <a:srgbClr val="000000"/>
              </a:solidFill>
              <a:effectLst/>
              <a:uFillTx/>
              <a:latin typeface="Arial"/>
            </a:endParaRPr>
          </a:p>
        </p:txBody>
      </p:sp>
      <p:sp>
        <p:nvSpPr>
          <p:cNvPr id="280" name="Shape 19"/>
          <p:cNvSpPr/>
          <p:nvPr/>
        </p:nvSpPr>
        <p:spPr>
          <a:xfrm>
            <a:off x="7406640" y="2011680"/>
            <a:ext cx="1371600" cy="9000"/>
          </a:xfrm>
          <a:prstGeom prst="line">
            <a:avLst/>
          </a:prstGeom>
          <a:ln w="25400">
            <a:solidFill>
              <a:srgbClr val="132A4A"/>
            </a:solidFill>
            <a:round/>
          </a:ln>
        </p:spPr>
        <p:style>
          <a:lnRef idx="0"/>
          <a:fillRef idx="0"/>
          <a:effectRef idx="0"/>
          <a:fontRef idx="minor"/>
        </p:style>
        <p:txBody>
          <a:bodyPr lIns="90000" tIns="-36000" rIns="90000" bIns="-36000" anchor="t" anchorCtr="1">
            <a:noAutofit/>
          </a:bodyPr>
          <a:p>
            <a:endParaRPr lang="en-US" sz="1800" b="0" u="none" strike="noStrike">
              <a:solidFill>
                <a:srgbClr val="000000"/>
              </a:solidFill>
              <a:effectLst/>
              <a:uFillTx/>
              <a:latin typeface="Arial"/>
            </a:endParaRPr>
          </a:p>
        </p:txBody>
      </p:sp>
      <p:sp>
        <p:nvSpPr>
          <p:cNvPr id="281" name="Shape 20"/>
          <p:cNvSpPr/>
          <p:nvPr/>
        </p:nvSpPr>
        <p:spPr>
          <a:xfrm>
            <a:off x="7406640" y="4389120"/>
            <a:ext cx="1371600" cy="9000"/>
          </a:xfrm>
          <a:prstGeom prst="line">
            <a:avLst/>
          </a:prstGeom>
          <a:ln w="25400">
            <a:solidFill>
              <a:srgbClr val="132A4A"/>
            </a:solidFill>
            <a:round/>
          </a:ln>
        </p:spPr>
        <p:style>
          <a:lnRef idx="0"/>
          <a:fillRef idx="0"/>
          <a:effectRef idx="0"/>
          <a:fontRef idx="minor"/>
        </p:style>
        <p:txBody>
          <a:bodyPr lIns="90000" tIns="-36000" rIns="90000" bIns="-36000" anchor="t" anchorCtr="1">
            <a:noAutofit/>
          </a:bodyPr>
          <a:p>
            <a:endParaRPr lang="en-US" sz="1800" b="0" u="none" strike="noStrike">
              <a:solidFill>
                <a:srgbClr val="000000"/>
              </a:solidFill>
              <a:effectLst/>
              <a:uFillTx/>
              <a:latin typeface="Arial"/>
            </a:endParaRPr>
          </a:p>
        </p:txBody>
      </p:sp>
      <p:sp>
        <p:nvSpPr>
          <p:cNvPr id="282" name="Shape 21"/>
          <p:cNvSpPr/>
          <p:nvPr/>
        </p:nvSpPr>
        <p:spPr>
          <a:xfrm>
            <a:off x="8778240" y="1691640"/>
            <a:ext cx="1736640" cy="639360"/>
          </a:xfrm>
          <a:prstGeom prst="roundRect">
            <a:avLst>
              <a:gd name="adj" fmla="val 8571"/>
            </a:avLst>
          </a:prstGeom>
          <a:solidFill>
            <a:srgbClr val="EAF1FB"/>
          </a:solidFill>
          <a:ln w="1587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3" name="Text 22"/>
          <p:cNvSpPr/>
          <p:nvPr/>
        </p:nvSpPr>
        <p:spPr>
          <a:xfrm>
            <a:off x="8778240" y="1691640"/>
            <a:ext cx="1736640" cy="639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132A4A"/>
                </a:solidFill>
                <a:effectLst/>
                <a:uFillTx/>
                <a:latin typeface="Consolas"/>
                <a:ea typeface="Consolas"/>
              </a:rPr>
              <a:t>X[k]</a:t>
            </a:r>
            <a:endParaRPr lang="en-US" sz="1500" b="0" u="none" strike="noStrike">
              <a:solidFill>
                <a:srgbClr val="000000"/>
              </a:solidFill>
              <a:effectLst/>
              <a:uFillTx/>
              <a:latin typeface="Arial"/>
            </a:endParaRPr>
          </a:p>
        </p:txBody>
      </p:sp>
      <p:sp>
        <p:nvSpPr>
          <p:cNvPr id="284" name="Shape 23"/>
          <p:cNvSpPr/>
          <p:nvPr/>
        </p:nvSpPr>
        <p:spPr>
          <a:xfrm>
            <a:off x="8778240" y="4069080"/>
            <a:ext cx="1736640" cy="639360"/>
          </a:xfrm>
          <a:prstGeom prst="roundRect">
            <a:avLst>
              <a:gd name="adj" fmla="val 8571"/>
            </a:avLst>
          </a:prstGeom>
          <a:solidFill>
            <a:srgbClr val="EAF1FB"/>
          </a:solidFill>
          <a:ln w="1587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5" name="Text 24"/>
          <p:cNvSpPr/>
          <p:nvPr/>
        </p:nvSpPr>
        <p:spPr>
          <a:xfrm>
            <a:off x="8778240" y="4069080"/>
            <a:ext cx="1736640" cy="639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50" b="1" u="none" strike="noStrike">
                <a:solidFill>
                  <a:srgbClr val="132A4A"/>
                </a:solidFill>
                <a:effectLst/>
                <a:uFillTx/>
                <a:latin typeface="Consolas"/>
                <a:ea typeface="Consolas"/>
              </a:rPr>
              <a:t>X[k+N/2]</a:t>
            </a:r>
            <a:endParaRPr lang="en-US" sz="1350" b="0" u="none" strike="noStrike">
              <a:solidFill>
                <a:srgbClr val="000000"/>
              </a:solidFill>
              <a:effectLst/>
              <a:uFillTx/>
              <a:latin typeface="Arial"/>
            </a:endParaRPr>
          </a:p>
        </p:txBody>
      </p:sp>
      <p:sp>
        <p:nvSpPr>
          <p:cNvPr id="286" name="Text 25"/>
          <p:cNvSpPr/>
          <p:nvPr/>
        </p:nvSpPr>
        <p:spPr>
          <a:xfrm>
            <a:off x="502920" y="5074920"/>
            <a:ext cx="11154960" cy="273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C6B7A"/>
                </a:solidFill>
                <a:effectLst/>
                <a:uFillTx/>
                <a:latin typeface="Calibri"/>
                <a:ea typeface="Calibri"/>
              </a:rPr>
              <a:t>solid line = added directly (A or B path into its natural output)      dashed line = crossed path (the other operand)</a:t>
            </a:r>
            <a:endParaRPr lang="en-US" sz="1050" b="0" u="none" strike="noStrike">
              <a:solidFill>
                <a:srgbClr val="000000"/>
              </a:solidFill>
              <a:effectLst/>
              <a:uFillTx/>
              <a:latin typeface="Arial"/>
            </a:endParaRPr>
          </a:p>
        </p:txBody>
      </p:sp>
      <p:sp>
        <p:nvSpPr>
          <p:cNvPr id="287" name="Shape 26"/>
          <p:cNvSpPr/>
          <p:nvPr/>
        </p:nvSpPr>
        <p:spPr>
          <a:xfrm>
            <a:off x="502920" y="5486400"/>
            <a:ext cx="11154960" cy="867960"/>
          </a:xfrm>
          <a:prstGeom prst="roundRect">
            <a:avLst>
              <a:gd name="adj" fmla="val 842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8" name="Text 27"/>
          <p:cNvSpPr/>
          <p:nvPr/>
        </p:nvSpPr>
        <p:spPr>
          <a:xfrm>
            <a:off x="731520" y="5577840"/>
            <a:ext cx="10697760" cy="730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16202E"/>
                </a:solidFill>
                <a:effectLst/>
                <a:uFillTx/>
                <a:latin typeface="Calibri"/>
                <a:ea typeface="Calibri"/>
              </a:rPr>
              <a:t>Twiddle multiplication happens once, before the add/subtract, on the odd branch only. This is the standard radix-2 DIT butterfly: two complex inputs, one complex multiply, one complex add, one complex subtract, two complex outputs. Every wire in this diagram corresponds to a named term in the equations on the previous slide.</a:t>
            </a:r>
            <a:endParaRPr lang="en-US" sz="1200" b="0" u="none" strike="noStrike">
              <a:solidFill>
                <a:srgbClr val="000000"/>
              </a:solidFill>
              <a:effectLst/>
              <a:uFillTx/>
              <a:latin typeface="Arial"/>
            </a:endParaRPr>
          </a:p>
        </p:txBody>
      </p:sp>
      <p:sp>
        <p:nvSpPr>
          <p:cNvPr id="289" name="Text 28"/>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290" name="Text 29"/>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The Butterfly</a:t>
            </a:r>
            <a:endParaRPr lang="en-US" sz="900" b="0" u="none" strike="noStrike">
              <a:solidFill>
                <a:srgbClr val="000000"/>
              </a:solidFill>
              <a:effectLst/>
              <a:uFillTx/>
              <a:latin typeface="Arial"/>
            </a:endParaRPr>
          </a:p>
        </p:txBody>
      </p:sp>
      <p:sp>
        <p:nvSpPr>
          <p:cNvPr id="291" name="Text 30"/>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9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8 · TWIDDLE FACTORS</a:t>
            </a:r>
            <a:endParaRPr lang="en-US" sz="1150" b="0" u="none" strike="noStrike">
              <a:solidFill>
                <a:srgbClr val="000000"/>
              </a:solidFill>
              <a:effectLst/>
              <a:uFillTx/>
              <a:latin typeface="Arial"/>
            </a:endParaRPr>
          </a:p>
        </p:txBody>
      </p:sp>
      <p:sp>
        <p:nvSpPr>
          <p:cNvPr id="29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Twiddle Factors: Definition and General Form</a:t>
            </a:r>
            <a:endParaRPr lang="en-US" sz="2700" b="0" u="none" strike="noStrike">
              <a:solidFill>
                <a:srgbClr val="000000"/>
              </a:solidFill>
              <a:effectLst/>
              <a:uFillTx/>
              <a:latin typeface="Arial"/>
            </a:endParaRPr>
          </a:p>
        </p:txBody>
      </p:sp>
      <p:sp>
        <p:nvSpPr>
          <p:cNvPr id="294" name="Shape 2"/>
          <p:cNvSpPr/>
          <p:nvPr/>
        </p:nvSpPr>
        <p:spPr>
          <a:xfrm>
            <a:off x="502920" y="1234440"/>
            <a:ext cx="1115496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5" name="Text 3"/>
          <p:cNvSpPr/>
          <p:nvPr/>
        </p:nvSpPr>
        <p:spPr>
          <a:xfrm>
            <a:off x="640080" y="1234440"/>
            <a:ext cx="1088064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400" b="0" u="none" strike="noStrike">
                <a:solidFill>
                  <a:srgbClr val="132A4A"/>
                </a:solidFill>
                <a:effectLst/>
                <a:uFillTx/>
                <a:latin typeface="Cambria"/>
                <a:ea typeface="Cambria"/>
              </a:rPr>
              <a:t>W</a:t>
            </a:r>
            <a:r>
              <a:rPr lang="en-US" sz="2400" b="0" u="none" strike="noStrike" baseline="-40000">
                <a:solidFill>
                  <a:srgbClr val="132A4A"/>
                </a:solidFill>
                <a:effectLst/>
                <a:uFillTx/>
                <a:latin typeface="Cambria"/>
                <a:ea typeface="Cambria"/>
              </a:rPr>
              <a:t>N</a:t>
            </a:r>
            <a:r>
              <a:rPr lang="en-US" sz="2400" b="0" u="none" strike="noStrike" baseline="30000">
                <a:solidFill>
                  <a:srgbClr val="132A4A"/>
                </a:solidFill>
                <a:effectLst/>
                <a:uFillTx/>
                <a:latin typeface="Cambria"/>
                <a:ea typeface="Cambria"/>
              </a:rPr>
              <a:t>k</a:t>
            </a:r>
            <a:r>
              <a:rPr lang="en-US" sz="2400" b="0" u="none" strike="noStrike">
                <a:solidFill>
                  <a:srgbClr val="132A4A"/>
                </a:solidFill>
                <a:effectLst/>
                <a:uFillTx/>
                <a:latin typeface="Cambria"/>
                <a:ea typeface="Cambria"/>
              </a:rPr>
              <a:t>  =  e</a:t>
            </a:r>
            <a:r>
              <a:rPr lang="en-US" sz="1400" b="0" u="none" strike="noStrike" baseline="30000">
                <a:solidFill>
                  <a:srgbClr val="132A4A"/>
                </a:solidFill>
                <a:effectLst/>
                <a:uFillTx/>
                <a:latin typeface="Cambria"/>
                <a:ea typeface="Cambria"/>
              </a:rPr>
              <a:t>-j2πk/N</a:t>
            </a:r>
            <a:r>
              <a:rPr lang="en-US" sz="2400" b="0" u="none" strike="noStrike">
                <a:solidFill>
                  <a:srgbClr val="132A4A"/>
                </a:solidFill>
                <a:effectLst/>
                <a:uFillTx/>
                <a:latin typeface="Cambria"/>
                <a:ea typeface="Cambria"/>
              </a:rPr>
              <a:t>  =  cos(2πk/N) − j sin(2πk/N)</a:t>
            </a:r>
            <a:endParaRPr lang="en-US" sz="2400" b="0" u="none" strike="noStrike">
              <a:solidFill>
                <a:srgbClr val="000000"/>
              </a:solidFill>
              <a:effectLst/>
              <a:uFillTx/>
              <a:latin typeface="Arial"/>
            </a:endParaRPr>
          </a:p>
        </p:txBody>
      </p:sp>
      <p:sp>
        <p:nvSpPr>
          <p:cNvPr id="296" name="Text 4"/>
          <p:cNvSpPr/>
          <p:nvPr/>
        </p:nvSpPr>
        <p:spPr>
          <a:xfrm>
            <a:off x="502920" y="2240280"/>
            <a:ext cx="11154960" cy="1370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250" b="0" u="none" strike="noStrike">
                <a:solidFill>
                  <a:srgbClr val="16202E"/>
                </a:solidFill>
                <a:effectLst/>
                <a:uFillTx/>
                <a:latin typeface="Calibri"/>
                <a:ea typeface="Calibri"/>
              </a:rPr>
              <a:t>W_N^k is always a point on the unit circle in the complex plane: it has magnitude 1 and only changes phase.</a:t>
            </a:r>
            <a:endParaRPr lang="en-US" sz="125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50" b="0" u="none" strike="noStrike">
                <a:solidFill>
                  <a:srgbClr val="16202E"/>
                </a:solidFill>
                <a:effectLst/>
                <a:uFillTx/>
                <a:latin typeface="Calibri"/>
                <a:ea typeface="Calibri"/>
              </a:rPr>
              <a:t>As k increases by 1, the phase rotates clockwise by an additional 2π/N radians (360°/N).</a:t>
            </a:r>
            <a:endParaRPr lang="en-US" sz="125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50" b="0" u="none" strike="noStrike">
                <a:solidFill>
                  <a:srgbClr val="16202E"/>
                </a:solidFill>
                <a:effectLst/>
                <a:uFillTx/>
                <a:latin typeface="Calibri"/>
                <a:ea typeface="Calibri"/>
              </a:rPr>
              <a:t>Multiplying a complex number by W_N^k therefore rotates it, it never changes its magnitude.</a:t>
            </a:r>
            <a:endParaRPr lang="en-US" sz="1250" b="0" u="none" strike="noStrike">
              <a:solidFill>
                <a:srgbClr val="000000"/>
              </a:solidFill>
              <a:effectLst/>
              <a:uFillTx/>
              <a:latin typeface="Arial"/>
            </a:endParaRPr>
          </a:p>
        </p:txBody>
      </p:sp>
      <p:sp>
        <p:nvSpPr>
          <p:cNvPr id="297" name="Text 5"/>
          <p:cNvSpPr/>
          <p:nvPr/>
        </p:nvSpPr>
        <p:spPr>
          <a:xfrm>
            <a:off x="502920" y="3657600"/>
            <a:ext cx="45712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First few powers</a:t>
            </a:r>
            <a:endParaRPr lang="en-US" sz="1300" b="0" u="none" strike="noStrike">
              <a:solidFill>
                <a:srgbClr val="000000"/>
              </a:solidFill>
              <a:effectLst/>
              <a:uFillTx/>
              <a:latin typeface="Arial"/>
            </a:endParaRPr>
          </a:p>
        </p:txBody>
      </p:sp>
      <p:graphicFrame>
        <p:nvGraphicFramePr>
          <p:cNvPr id="298" name="Table 0"/>
          <p:cNvGraphicFramePr/>
          <p:nvPr/>
        </p:nvGraphicFramePr>
        <p:xfrm>
          <a:off x="502920" y="3977640"/>
          <a:ext cx="5394600" cy="1128960"/>
        </p:xfrm>
        <a:graphic>
          <a:graphicData uri="http://schemas.openxmlformats.org/drawingml/2006/table">
            <a:tbl>
              <a:tblPr/>
              <a:tblGrid>
                <a:gridCol w="1828800"/>
                <a:gridCol w="356616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Power</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Value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W_N^0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  (angle 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W_N^1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e^(-j2π/N)  (angle -360°/N)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W_N^2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e^(-j4π/N)  (angle -720°/N)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299" name="Shape 6"/>
          <p:cNvSpPr/>
          <p:nvPr/>
        </p:nvSpPr>
        <p:spPr>
          <a:xfrm>
            <a:off x="6263640" y="3657600"/>
            <a:ext cx="5394240" cy="1828080"/>
          </a:xfrm>
          <a:prstGeom prst="roundRect">
            <a:avLst>
              <a:gd name="adj" fmla="val 4000"/>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Text 7"/>
          <p:cNvSpPr/>
          <p:nvPr/>
        </p:nvSpPr>
        <p:spPr>
          <a:xfrm>
            <a:off x="6492240" y="3794760"/>
            <a:ext cx="4937040" cy="1553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Geometric picture:  </a:t>
            </a:r>
            <a:r>
              <a:rPr lang="en-US" sz="1250" b="0" u="none" strike="noStrike">
                <a:solidFill>
                  <a:srgbClr val="16202E"/>
                </a:solidFill>
                <a:effectLst/>
                <a:uFillTx/>
                <a:latin typeface="Calibri"/>
                <a:ea typeface="Calibri"/>
              </a:rPr>
              <a:t>the N values W_N^0, W_N^1, ..., W_N^(N-1) are the N-th roots of unity, N equally spaced points around the unit circle, spaced 360°/N apart, starting at angle 0° and rotating clockwise. For N = 8 they land every 45°.</a:t>
            </a:r>
            <a:endParaRPr lang="en-US" sz="1250" b="0" u="none" strike="noStrike">
              <a:solidFill>
                <a:srgbClr val="000000"/>
              </a:solidFill>
              <a:effectLst/>
              <a:uFillTx/>
              <a:latin typeface="Arial"/>
            </a:endParaRPr>
          </a:p>
        </p:txBody>
      </p:sp>
      <p:sp>
        <p:nvSpPr>
          <p:cNvPr id="301" name="Text 8"/>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302" name="Text 9"/>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Twiddle Factors</a:t>
            </a:r>
            <a:endParaRPr lang="en-US" sz="900" b="0" u="none" strike="noStrike">
              <a:solidFill>
                <a:srgbClr val="000000"/>
              </a:solidFill>
              <a:effectLst/>
              <a:uFillTx/>
              <a:latin typeface="Arial"/>
            </a:endParaRPr>
          </a:p>
        </p:txBody>
      </p:sp>
      <p:sp>
        <p:nvSpPr>
          <p:cNvPr id="303" name="Text 10"/>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0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8 · TWIDDLE FACTORS</a:t>
            </a:r>
            <a:endParaRPr lang="en-US" sz="1150" b="0" u="none" strike="noStrike">
              <a:solidFill>
                <a:srgbClr val="000000"/>
              </a:solidFill>
              <a:effectLst/>
              <a:uFillTx/>
              <a:latin typeface="Arial"/>
            </a:endParaRPr>
          </a:p>
        </p:txBody>
      </p:sp>
      <p:sp>
        <p:nvSpPr>
          <p:cNvPr id="30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Twiddle Factor Values for N = 8</a:t>
            </a:r>
            <a:endParaRPr lang="en-US" sz="2700" b="0" u="none" strike="noStrike">
              <a:solidFill>
                <a:srgbClr val="000000"/>
              </a:solidFill>
              <a:effectLst/>
              <a:uFillTx/>
              <a:latin typeface="Arial"/>
            </a:endParaRPr>
          </a:p>
        </p:txBody>
      </p:sp>
      <p:graphicFrame>
        <p:nvGraphicFramePr>
          <p:cNvPr id="306" name="Table 0"/>
          <p:cNvGraphicFramePr/>
          <p:nvPr/>
        </p:nvGraphicFramePr>
        <p:xfrm>
          <a:off x="502920" y="1234440"/>
          <a:ext cx="6400440" cy="2540160"/>
        </p:xfrm>
        <a:graphic>
          <a:graphicData uri="http://schemas.openxmlformats.org/drawingml/2006/table">
            <a:tbl>
              <a:tblPr/>
              <a:tblGrid>
                <a:gridCol w="640080"/>
                <a:gridCol w="1371600"/>
                <a:gridCol w="2560320"/>
                <a:gridCol w="18288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Angle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W₈ᵏ = cos − j sin</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Rectangular value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cos0 − j sin0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 + j0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cos45 − j sin45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0.7071 − 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90°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cos90 − j sin90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0 − j1  =  −j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135°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cos135 − j sin135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−0.7071 − 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180°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cos180 − j sin180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 + j0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225°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cos225 − j sin225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 + 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270°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cos270 − j sin270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 + j1  =  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315°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cos315 − j sin315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 + 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307" name="Shape 2"/>
          <p:cNvSpPr/>
          <p:nvPr/>
        </p:nvSpPr>
        <p:spPr>
          <a:xfrm>
            <a:off x="8275320" y="1463040"/>
            <a:ext cx="2833920" cy="2833920"/>
          </a:xfrm>
          <a:prstGeom prst="ellipse">
            <a:avLst/>
          </a:prstGeom>
          <a:solidFill>
            <a:srgbClr val="FFFFFF"/>
          </a:solidFill>
          <a:ln w="1587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8" name="Shape 3"/>
          <p:cNvSpPr/>
          <p:nvPr/>
        </p:nvSpPr>
        <p:spPr>
          <a:xfrm>
            <a:off x="8275320" y="2880360"/>
            <a:ext cx="2834640" cy="720"/>
          </a:xfrm>
          <a:prstGeom prst="line">
            <a:avLst/>
          </a:prstGeom>
          <a:ln w="12700">
            <a:solidFill>
              <a:srgbClr val="E3E8EF"/>
            </a:solidFill>
            <a:round/>
          </a:ln>
        </p:spPr>
        <p:style>
          <a:lnRef idx="0"/>
          <a:fillRef idx="0"/>
          <a:effectRef idx="0"/>
          <a:fontRef idx="minor"/>
        </p:style>
        <p:txBody>
          <a:bodyPr lIns="90000" tIns="-44280" rIns="90000" bIns="-44280" anchor="t" anchorCtr="1">
            <a:noAutofit/>
          </a:bodyPr>
          <a:p>
            <a:endParaRPr lang="en-US" sz="1800" b="0" u="none" strike="noStrike">
              <a:solidFill>
                <a:srgbClr val="000000"/>
              </a:solidFill>
              <a:effectLst/>
              <a:uFillTx/>
              <a:latin typeface="Arial"/>
            </a:endParaRPr>
          </a:p>
        </p:txBody>
      </p:sp>
      <p:sp>
        <p:nvSpPr>
          <p:cNvPr id="309" name="Shape 4"/>
          <p:cNvSpPr/>
          <p:nvPr/>
        </p:nvSpPr>
        <p:spPr>
          <a:xfrm>
            <a:off x="9692640" y="1463040"/>
            <a:ext cx="720" cy="2834640"/>
          </a:xfrm>
          <a:prstGeom prst="line">
            <a:avLst/>
          </a:prstGeom>
          <a:ln w="12700">
            <a:solidFill>
              <a:srgbClr val="E3E8EF"/>
            </a:solidFill>
            <a:round/>
          </a:ln>
        </p:spPr>
        <p:style>
          <a:lnRef idx="0"/>
          <a:fillRef idx="0"/>
          <a:effectRef idx="0"/>
          <a:fontRef idx="minor"/>
        </p:style>
        <p:txBody>
          <a:bodyPr lIns="360" tIns="45000" rIns="360" bIns="45000" anchor="t" anchorCtr="1">
            <a:noAutofit/>
          </a:bodyPr>
          <a:p>
            <a:endParaRPr lang="en-US" sz="1800" b="0" u="none" strike="noStrike">
              <a:solidFill>
                <a:srgbClr val="000000"/>
              </a:solidFill>
              <a:effectLst/>
              <a:uFillTx/>
              <a:latin typeface="Arial"/>
            </a:endParaRPr>
          </a:p>
        </p:txBody>
      </p:sp>
      <p:sp>
        <p:nvSpPr>
          <p:cNvPr id="310" name="Shape 5"/>
          <p:cNvSpPr/>
          <p:nvPr/>
        </p:nvSpPr>
        <p:spPr>
          <a:xfrm>
            <a:off x="11009520" y="2779920"/>
            <a:ext cx="200520" cy="200520"/>
          </a:xfrm>
          <a:prstGeom prst="ellipse">
            <a:avLst/>
          </a:prstGeom>
          <a:solidFill>
            <a:srgbClr val="0E8388"/>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1" name="Text 6"/>
          <p:cNvSpPr/>
          <p:nvPr/>
        </p:nvSpPr>
        <p:spPr>
          <a:xfrm>
            <a:off x="11128320" y="276156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k=0</a:t>
            </a:r>
            <a:endParaRPr lang="en-US" sz="950" b="0" u="none" strike="noStrike">
              <a:solidFill>
                <a:srgbClr val="000000"/>
              </a:solidFill>
              <a:effectLst/>
              <a:uFillTx/>
              <a:latin typeface="Arial"/>
            </a:endParaRPr>
          </a:p>
        </p:txBody>
      </p:sp>
      <p:sp>
        <p:nvSpPr>
          <p:cNvPr id="312" name="Shape 7"/>
          <p:cNvSpPr/>
          <p:nvPr/>
        </p:nvSpPr>
        <p:spPr>
          <a:xfrm>
            <a:off x="10594080" y="1777680"/>
            <a:ext cx="200520" cy="200520"/>
          </a:xfrm>
          <a:prstGeom prst="ellipse">
            <a:avLst/>
          </a:prstGeom>
          <a:solidFill>
            <a:srgbClr val="D98324"/>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3" name="Text 8"/>
          <p:cNvSpPr/>
          <p:nvPr/>
        </p:nvSpPr>
        <p:spPr>
          <a:xfrm>
            <a:off x="10627560" y="155232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k=1</a:t>
            </a:r>
            <a:endParaRPr lang="en-US" sz="950" b="0" u="none" strike="noStrike">
              <a:solidFill>
                <a:srgbClr val="000000"/>
              </a:solidFill>
              <a:effectLst/>
              <a:uFillTx/>
              <a:latin typeface="Arial"/>
            </a:endParaRPr>
          </a:p>
        </p:txBody>
      </p:sp>
      <p:sp>
        <p:nvSpPr>
          <p:cNvPr id="314" name="Shape 9"/>
          <p:cNvSpPr/>
          <p:nvPr/>
        </p:nvSpPr>
        <p:spPr>
          <a:xfrm>
            <a:off x="9592200" y="1362600"/>
            <a:ext cx="200520" cy="200520"/>
          </a:xfrm>
          <a:prstGeom prst="ellipse">
            <a:avLst/>
          </a:prstGeom>
          <a:solidFill>
            <a:srgbClr val="0E8388"/>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5" name="Text 10"/>
          <p:cNvSpPr/>
          <p:nvPr/>
        </p:nvSpPr>
        <p:spPr>
          <a:xfrm>
            <a:off x="9418320" y="105156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k=2</a:t>
            </a:r>
            <a:endParaRPr lang="en-US" sz="950" b="0" u="none" strike="noStrike">
              <a:solidFill>
                <a:srgbClr val="000000"/>
              </a:solidFill>
              <a:effectLst/>
              <a:uFillTx/>
              <a:latin typeface="Arial"/>
            </a:endParaRPr>
          </a:p>
        </p:txBody>
      </p:sp>
      <p:sp>
        <p:nvSpPr>
          <p:cNvPr id="316" name="Shape 11"/>
          <p:cNvSpPr/>
          <p:nvPr/>
        </p:nvSpPr>
        <p:spPr>
          <a:xfrm>
            <a:off x="8589960" y="1777680"/>
            <a:ext cx="200520" cy="200520"/>
          </a:xfrm>
          <a:prstGeom prst="ellipse">
            <a:avLst/>
          </a:prstGeom>
          <a:solidFill>
            <a:srgbClr val="D98324"/>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7" name="Text 12"/>
          <p:cNvSpPr/>
          <p:nvPr/>
        </p:nvSpPr>
        <p:spPr>
          <a:xfrm>
            <a:off x="8209080" y="155232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k=3</a:t>
            </a:r>
            <a:endParaRPr lang="en-US" sz="950" b="0" u="none" strike="noStrike">
              <a:solidFill>
                <a:srgbClr val="000000"/>
              </a:solidFill>
              <a:effectLst/>
              <a:uFillTx/>
              <a:latin typeface="Arial"/>
            </a:endParaRPr>
          </a:p>
        </p:txBody>
      </p:sp>
      <p:sp>
        <p:nvSpPr>
          <p:cNvPr id="318" name="Shape 13"/>
          <p:cNvSpPr/>
          <p:nvPr/>
        </p:nvSpPr>
        <p:spPr>
          <a:xfrm>
            <a:off x="8174880" y="2779920"/>
            <a:ext cx="200520" cy="200520"/>
          </a:xfrm>
          <a:prstGeom prst="ellipse">
            <a:avLst/>
          </a:prstGeom>
          <a:solidFill>
            <a:srgbClr val="0E8388"/>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9" name="Text 14"/>
          <p:cNvSpPr/>
          <p:nvPr/>
        </p:nvSpPr>
        <p:spPr>
          <a:xfrm>
            <a:off x="7708320" y="276156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k=4</a:t>
            </a:r>
            <a:endParaRPr lang="en-US" sz="950" b="0" u="none" strike="noStrike">
              <a:solidFill>
                <a:srgbClr val="000000"/>
              </a:solidFill>
              <a:effectLst/>
              <a:uFillTx/>
              <a:latin typeface="Arial"/>
            </a:endParaRPr>
          </a:p>
        </p:txBody>
      </p:sp>
      <p:sp>
        <p:nvSpPr>
          <p:cNvPr id="320" name="Shape 15"/>
          <p:cNvSpPr/>
          <p:nvPr/>
        </p:nvSpPr>
        <p:spPr>
          <a:xfrm>
            <a:off x="8589960" y="3781800"/>
            <a:ext cx="200520" cy="200520"/>
          </a:xfrm>
          <a:prstGeom prst="ellipse">
            <a:avLst/>
          </a:prstGeom>
          <a:solidFill>
            <a:srgbClr val="D98324"/>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1" name="Text 16"/>
          <p:cNvSpPr/>
          <p:nvPr/>
        </p:nvSpPr>
        <p:spPr>
          <a:xfrm>
            <a:off x="8209080" y="397044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k=5</a:t>
            </a:r>
            <a:endParaRPr lang="en-US" sz="950" b="0" u="none" strike="noStrike">
              <a:solidFill>
                <a:srgbClr val="000000"/>
              </a:solidFill>
              <a:effectLst/>
              <a:uFillTx/>
              <a:latin typeface="Arial"/>
            </a:endParaRPr>
          </a:p>
        </p:txBody>
      </p:sp>
      <p:sp>
        <p:nvSpPr>
          <p:cNvPr id="322" name="Shape 17"/>
          <p:cNvSpPr/>
          <p:nvPr/>
        </p:nvSpPr>
        <p:spPr>
          <a:xfrm>
            <a:off x="9592200" y="4197240"/>
            <a:ext cx="200520" cy="200520"/>
          </a:xfrm>
          <a:prstGeom prst="ellipse">
            <a:avLst/>
          </a:prstGeom>
          <a:solidFill>
            <a:srgbClr val="0E8388"/>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3" name="Text 18"/>
          <p:cNvSpPr/>
          <p:nvPr/>
        </p:nvSpPr>
        <p:spPr>
          <a:xfrm>
            <a:off x="9418320" y="447156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k=6</a:t>
            </a:r>
            <a:endParaRPr lang="en-US" sz="950" b="0" u="none" strike="noStrike">
              <a:solidFill>
                <a:srgbClr val="000000"/>
              </a:solidFill>
              <a:effectLst/>
              <a:uFillTx/>
              <a:latin typeface="Arial"/>
            </a:endParaRPr>
          </a:p>
        </p:txBody>
      </p:sp>
      <p:sp>
        <p:nvSpPr>
          <p:cNvPr id="324" name="Shape 19"/>
          <p:cNvSpPr/>
          <p:nvPr/>
        </p:nvSpPr>
        <p:spPr>
          <a:xfrm>
            <a:off x="10594080" y="3781800"/>
            <a:ext cx="200520" cy="200520"/>
          </a:xfrm>
          <a:prstGeom prst="ellipse">
            <a:avLst/>
          </a:prstGeom>
          <a:solidFill>
            <a:srgbClr val="D98324"/>
          </a:solidFill>
          <a:ln w="9525">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5" name="Text 20"/>
          <p:cNvSpPr/>
          <p:nvPr/>
        </p:nvSpPr>
        <p:spPr>
          <a:xfrm>
            <a:off x="10627560" y="3970440"/>
            <a:ext cx="547920" cy="23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alibri"/>
                <a:ea typeface="Calibri"/>
              </a:rPr>
              <a:t>k=7</a:t>
            </a:r>
            <a:endParaRPr lang="en-US" sz="950" b="0" u="none" strike="noStrike">
              <a:solidFill>
                <a:srgbClr val="000000"/>
              </a:solidFill>
              <a:effectLst/>
              <a:uFillTx/>
              <a:latin typeface="Arial"/>
            </a:endParaRPr>
          </a:p>
        </p:txBody>
      </p:sp>
      <p:sp>
        <p:nvSpPr>
          <p:cNvPr id="326" name="Text 21"/>
          <p:cNvSpPr/>
          <p:nvPr/>
        </p:nvSpPr>
        <p:spPr>
          <a:xfrm>
            <a:off x="7909560" y="4617720"/>
            <a:ext cx="3565440" cy="273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C6B7A"/>
                </a:solidFill>
                <a:effectLst/>
                <a:uFillTx/>
                <a:latin typeface="Calibri"/>
                <a:ea typeface="Calibri"/>
              </a:rPr>
              <a:t>The 8th roots of unity, spaced 45° apart</a:t>
            </a:r>
            <a:endParaRPr lang="en-US" sz="1050" b="0" u="none" strike="noStrike">
              <a:solidFill>
                <a:srgbClr val="000000"/>
              </a:solidFill>
              <a:effectLst/>
              <a:uFillTx/>
              <a:latin typeface="Arial"/>
            </a:endParaRPr>
          </a:p>
        </p:txBody>
      </p:sp>
      <p:sp>
        <p:nvSpPr>
          <p:cNvPr id="327" name="Shape 22"/>
          <p:cNvSpPr/>
          <p:nvPr/>
        </p:nvSpPr>
        <p:spPr>
          <a:xfrm>
            <a:off x="502920" y="5532120"/>
            <a:ext cx="1115496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8" name="Text 23"/>
          <p:cNvSpPr/>
          <p:nvPr/>
        </p:nvSpPr>
        <p:spPr>
          <a:xfrm>
            <a:off x="731520" y="5623560"/>
            <a:ext cx="10697760" cy="593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16202E"/>
                </a:solidFill>
                <a:effectLst/>
                <a:uFillTx/>
                <a:latin typeface="Calibri"/>
                <a:ea typeface="Calibri"/>
              </a:rPr>
              <a:t>Four of these eight values, W8^0=1, W8^2=−j, W8^4=−1, W8^6=j, are trivial: multiplying by them needs no real multiplier, only a sign flip and/or a swap of real and imaginary parts. This matters directly for the operation count in Section 14.</a:t>
            </a:r>
            <a:endParaRPr lang="en-US" sz="1200" b="0" u="none" strike="noStrike">
              <a:solidFill>
                <a:srgbClr val="000000"/>
              </a:solidFill>
              <a:effectLst/>
              <a:uFillTx/>
              <a:latin typeface="Arial"/>
            </a:endParaRPr>
          </a:p>
        </p:txBody>
      </p:sp>
      <p:sp>
        <p:nvSpPr>
          <p:cNvPr id="329" name="Text 2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330" name="Text 2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Twiddle Factors</a:t>
            </a:r>
            <a:endParaRPr lang="en-US" sz="900" b="0" u="none" strike="noStrike">
              <a:solidFill>
                <a:srgbClr val="000000"/>
              </a:solidFill>
              <a:effectLst/>
              <a:uFillTx/>
              <a:latin typeface="Arial"/>
            </a:endParaRPr>
          </a:p>
        </p:txBody>
      </p:sp>
      <p:sp>
        <p:nvSpPr>
          <p:cNvPr id="331" name="Text 2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3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8 · TWIDDLE FACTORS</a:t>
            </a:r>
            <a:endParaRPr lang="en-US" sz="1150" b="0" u="none" strike="noStrike">
              <a:solidFill>
                <a:srgbClr val="000000"/>
              </a:solidFill>
              <a:effectLst/>
              <a:uFillTx/>
              <a:latin typeface="Arial"/>
            </a:endParaRPr>
          </a:p>
        </p:txBody>
      </p:sp>
      <p:sp>
        <p:nvSpPr>
          <p:cNvPr id="33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Symmetries That Make the FFT (and Hardware) Efficient</a:t>
            </a:r>
            <a:endParaRPr lang="en-US" sz="2700" b="0" u="none" strike="noStrike">
              <a:solidFill>
                <a:srgbClr val="000000"/>
              </a:solidFill>
              <a:effectLst/>
              <a:uFillTx/>
              <a:latin typeface="Arial"/>
            </a:endParaRPr>
          </a:p>
        </p:txBody>
      </p:sp>
      <p:sp>
        <p:nvSpPr>
          <p:cNvPr id="334" name="Shape 2"/>
          <p:cNvSpPr/>
          <p:nvPr/>
        </p:nvSpPr>
        <p:spPr>
          <a:xfrm>
            <a:off x="502920" y="1234440"/>
            <a:ext cx="11154960" cy="1297800"/>
          </a:xfrm>
          <a:prstGeom prst="roundRect">
            <a:avLst>
              <a:gd name="adj" fmla="val 5634"/>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5" name="Text 3"/>
          <p:cNvSpPr/>
          <p:nvPr/>
        </p:nvSpPr>
        <p:spPr>
          <a:xfrm>
            <a:off x="731520" y="1325880"/>
            <a:ext cx="493704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0" u="none" strike="noStrike">
                <a:solidFill>
                  <a:srgbClr val="000000"/>
                </a:solidFill>
                <a:effectLst/>
                <a:uFillTx/>
                <a:latin typeface="Cambria"/>
                <a:ea typeface="Cambria"/>
              </a:rPr>
              <a:t>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k+N</a:t>
            </a:r>
            <a:r>
              <a:rPr lang="en-US" sz="1800" b="0" u="none" strike="noStrike">
                <a:solidFill>
                  <a:srgbClr val="000000"/>
                </a:solidFill>
                <a:effectLst/>
                <a:uFillTx/>
                <a:latin typeface="Cambria"/>
                <a:ea typeface="Cambria"/>
              </a:rPr>
              <a:t>  =  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a:t>
            </a:r>
            <a:endParaRPr lang="en-US" sz="1800" b="0" u="none" strike="noStrike">
              <a:solidFill>
                <a:srgbClr val="000000"/>
              </a:solidFill>
              <a:effectLst/>
              <a:uFillTx/>
              <a:latin typeface="Arial"/>
            </a:endParaRPr>
          </a:p>
        </p:txBody>
      </p:sp>
      <p:sp>
        <p:nvSpPr>
          <p:cNvPr id="336" name="Text 4"/>
          <p:cNvSpPr/>
          <p:nvPr/>
        </p:nvSpPr>
        <p:spPr>
          <a:xfrm>
            <a:off x="731520" y="1856160"/>
            <a:ext cx="49370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0E8388"/>
                </a:solidFill>
                <a:effectLst/>
                <a:uFillTx/>
                <a:latin typeface="Calibri"/>
                <a:ea typeface="Calibri"/>
              </a:rPr>
              <a:t>Periodicity</a:t>
            </a:r>
            <a:endParaRPr lang="en-US" sz="1150" b="0" u="none" strike="noStrike">
              <a:solidFill>
                <a:srgbClr val="000000"/>
              </a:solidFill>
              <a:effectLst/>
              <a:uFillTx/>
              <a:latin typeface="Arial"/>
            </a:endParaRPr>
          </a:p>
        </p:txBody>
      </p:sp>
      <p:sp>
        <p:nvSpPr>
          <p:cNvPr id="337" name="Text 5"/>
          <p:cNvSpPr/>
          <p:nvPr/>
        </p:nvSpPr>
        <p:spPr>
          <a:xfrm>
            <a:off x="5806440" y="1344240"/>
            <a:ext cx="5668560" cy="1096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150" b="0" u="none" strike="noStrike">
                <a:solidFill>
                  <a:srgbClr val="16202E"/>
                </a:solidFill>
                <a:effectLst/>
                <a:uFillTx/>
                <a:latin typeface="Calibri"/>
                <a:ea typeface="Calibri"/>
              </a:rPr>
              <a:t>Rotating by a full N steps returns to the same point on the unit circle. Twiddle-factor tables only ever need N distinct entries, however large the exponent gets.</a:t>
            </a:r>
            <a:endParaRPr lang="en-US" sz="1150" b="0" u="none" strike="noStrike">
              <a:solidFill>
                <a:srgbClr val="000000"/>
              </a:solidFill>
              <a:effectLst/>
              <a:uFillTx/>
              <a:latin typeface="Arial"/>
            </a:endParaRPr>
          </a:p>
        </p:txBody>
      </p:sp>
      <p:sp>
        <p:nvSpPr>
          <p:cNvPr id="338" name="Shape 6"/>
          <p:cNvSpPr/>
          <p:nvPr/>
        </p:nvSpPr>
        <p:spPr>
          <a:xfrm>
            <a:off x="502920" y="2679120"/>
            <a:ext cx="11154960" cy="1297800"/>
          </a:xfrm>
          <a:prstGeom prst="roundRect">
            <a:avLst>
              <a:gd name="adj" fmla="val 5634"/>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Text 7"/>
          <p:cNvSpPr/>
          <p:nvPr/>
        </p:nvSpPr>
        <p:spPr>
          <a:xfrm>
            <a:off x="731520" y="2770560"/>
            <a:ext cx="493704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0" u="none" strike="noStrike">
                <a:solidFill>
                  <a:srgbClr val="000000"/>
                </a:solidFill>
                <a:effectLst/>
                <a:uFillTx/>
                <a:latin typeface="Cambria"/>
                <a:ea typeface="Cambria"/>
              </a:rPr>
              <a:t>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k+N/2</a:t>
            </a:r>
            <a:r>
              <a:rPr lang="en-US" sz="1800" b="0" u="none" strike="noStrike">
                <a:solidFill>
                  <a:srgbClr val="000000"/>
                </a:solidFill>
                <a:effectLst/>
                <a:uFillTx/>
                <a:latin typeface="Cambria"/>
                <a:ea typeface="Cambria"/>
              </a:rPr>
              <a:t>  =  −W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a:t>
            </a:r>
            <a:endParaRPr lang="en-US" sz="1800" b="0" u="none" strike="noStrike">
              <a:solidFill>
                <a:srgbClr val="000000"/>
              </a:solidFill>
              <a:effectLst/>
              <a:uFillTx/>
              <a:latin typeface="Arial"/>
            </a:endParaRPr>
          </a:p>
        </p:txBody>
      </p:sp>
      <p:sp>
        <p:nvSpPr>
          <p:cNvPr id="340" name="Text 8"/>
          <p:cNvSpPr/>
          <p:nvPr/>
        </p:nvSpPr>
        <p:spPr>
          <a:xfrm>
            <a:off x="731520" y="3300840"/>
            <a:ext cx="49370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0E8388"/>
                </a:solidFill>
                <a:effectLst/>
                <a:uFillTx/>
                <a:latin typeface="Calibri"/>
                <a:ea typeface="Calibri"/>
              </a:rPr>
              <a:t>Half-period (used in Section 6)</a:t>
            </a:r>
            <a:endParaRPr lang="en-US" sz="1150" b="0" u="none" strike="noStrike">
              <a:solidFill>
                <a:srgbClr val="000000"/>
              </a:solidFill>
              <a:effectLst/>
              <a:uFillTx/>
              <a:latin typeface="Arial"/>
            </a:endParaRPr>
          </a:p>
        </p:txBody>
      </p:sp>
      <p:sp>
        <p:nvSpPr>
          <p:cNvPr id="341" name="Text 9"/>
          <p:cNvSpPr/>
          <p:nvPr/>
        </p:nvSpPr>
        <p:spPr>
          <a:xfrm>
            <a:off x="5806440" y="2788920"/>
            <a:ext cx="5668560" cy="1096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150" b="0" u="none" strike="noStrike">
                <a:solidFill>
                  <a:srgbClr val="16202E"/>
                </a:solidFill>
                <a:effectLst/>
                <a:uFillTx/>
                <a:latin typeface="Calibri"/>
                <a:ea typeface="Calibri"/>
              </a:rPr>
              <a:t>A rotation of half the circle is exactly a sign flip. This is precisely what turns X[k+N/2] into A − B instead of a brand-new computation.</a:t>
            </a:r>
            <a:endParaRPr lang="en-US" sz="1150" b="0" u="none" strike="noStrike">
              <a:solidFill>
                <a:srgbClr val="000000"/>
              </a:solidFill>
              <a:effectLst/>
              <a:uFillTx/>
              <a:latin typeface="Arial"/>
            </a:endParaRPr>
          </a:p>
        </p:txBody>
      </p:sp>
      <p:sp>
        <p:nvSpPr>
          <p:cNvPr id="342" name="Shape 10"/>
          <p:cNvSpPr/>
          <p:nvPr/>
        </p:nvSpPr>
        <p:spPr>
          <a:xfrm>
            <a:off x="502920" y="4123800"/>
            <a:ext cx="11154960" cy="1297800"/>
          </a:xfrm>
          <a:prstGeom prst="roundRect">
            <a:avLst>
              <a:gd name="adj" fmla="val 5634"/>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3" name="Text 11"/>
          <p:cNvSpPr/>
          <p:nvPr/>
        </p:nvSpPr>
        <p:spPr>
          <a:xfrm>
            <a:off x="731520" y="4215240"/>
            <a:ext cx="4937040" cy="547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0" u="none" strike="noStrike">
                <a:solidFill>
                  <a:srgbClr val="000000"/>
                </a:solidFill>
                <a:effectLst/>
                <a:uFillTx/>
                <a:latin typeface="Cambria"/>
                <a:ea typeface="Cambria"/>
              </a:rPr>
              <a:t>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a:t>
            </a:r>
            <a:r>
              <a:rPr lang="en-US" sz="1800" b="0" u="none" strike="noStrike">
                <a:solidFill>
                  <a:srgbClr val="000000"/>
                </a:solidFill>
                <a:effectLst/>
                <a:uFillTx/>
                <a:latin typeface="Cambria"/>
                <a:ea typeface="Cambria"/>
              </a:rPr>
              <a:t>  =  W</a:t>
            </a:r>
            <a:r>
              <a:rPr lang="en-US" sz="1800" b="0" u="none" strike="noStrike" baseline="-40000">
                <a:solidFill>
                  <a:srgbClr val="000000"/>
                </a:solidFill>
                <a:effectLst/>
                <a:uFillTx/>
                <a:latin typeface="Cambria"/>
                <a:ea typeface="Cambria"/>
              </a:rPr>
              <a:t>N</a:t>
            </a:r>
            <a:r>
              <a:rPr lang="en-US" sz="1800" b="0" u="none" strike="noStrike" baseline="30000">
                <a:solidFill>
                  <a:srgbClr val="000000"/>
                </a:solidFill>
                <a:effectLst/>
                <a:uFillTx/>
                <a:latin typeface="Cambria"/>
                <a:ea typeface="Cambria"/>
              </a:rPr>
              <a:t>k*</a:t>
            </a:r>
            <a:endParaRPr lang="en-US" sz="1800" b="0" u="none" strike="noStrike">
              <a:solidFill>
                <a:srgbClr val="000000"/>
              </a:solidFill>
              <a:effectLst/>
              <a:uFillTx/>
              <a:latin typeface="Arial"/>
            </a:endParaRPr>
          </a:p>
        </p:txBody>
      </p:sp>
      <p:sp>
        <p:nvSpPr>
          <p:cNvPr id="344" name="Text 12"/>
          <p:cNvSpPr/>
          <p:nvPr/>
        </p:nvSpPr>
        <p:spPr>
          <a:xfrm>
            <a:off x="731520" y="4745880"/>
            <a:ext cx="49370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0E8388"/>
                </a:solidFill>
                <a:effectLst/>
                <a:uFillTx/>
                <a:latin typeface="Calibri"/>
                <a:ea typeface="Calibri"/>
              </a:rPr>
              <a:t>Conjugate symmetry</a:t>
            </a:r>
            <a:endParaRPr lang="en-US" sz="1150" b="0" u="none" strike="noStrike">
              <a:solidFill>
                <a:srgbClr val="000000"/>
              </a:solidFill>
              <a:effectLst/>
              <a:uFillTx/>
              <a:latin typeface="Arial"/>
            </a:endParaRPr>
          </a:p>
        </p:txBody>
      </p:sp>
      <p:sp>
        <p:nvSpPr>
          <p:cNvPr id="345" name="Text 13"/>
          <p:cNvSpPr/>
          <p:nvPr/>
        </p:nvSpPr>
        <p:spPr>
          <a:xfrm>
            <a:off x="5806440" y="4233600"/>
            <a:ext cx="5668560" cy="1096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150" b="0" u="none" strike="noStrike">
                <a:solidFill>
                  <a:srgbClr val="16202E"/>
                </a:solidFill>
                <a:effectLst/>
                <a:uFillTx/>
                <a:latin typeface="Calibri"/>
                <a:ea typeface="Calibri"/>
              </a:rPr>
              <a:t>Negative-frequency twiddle values are just conjugates of positive ones, so only half the unit circle needs to be stored; the rest is a sign flip on the imaginary part.</a:t>
            </a:r>
            <a:endParaRPr lang="en-US" sz="1150" b="0" u="none" strike="noStrike">
              <a:solidFill>
                <a:srgbClr val="000000"/>
              </a:solidFill>
              <a:effectLst/>
              <a:uFillTx/>
              <a:latin typeface="Arial"/>
            </a:endParaRPr>
          </a:p>
        </p:txBody>
      </p:sp>
      <p:sp>
        <p:nvSpPr>
          <p:cNvPr id="346" name="Text 1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347" name="Text 1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Twiddle Factors</a:t>
            </a:r>
            <a:endParaRPr lang="en-US" sz="900" b="0" u="none" strike="noStrike">
              <a:solidFill>
                <a:srgbClr val="000000"/>
              </a:solidFill>
              <a:effectLst/>
              <a:uFillTx/>
              <a:latin typeface="Arial"/>
            </a:endParaRPr>
          </a:p>
        </p:txBody>
      </p:sp>
      <p:sp>
        <p:nvSpPr>
          <p:cNvPr id="348" name="Text 1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49"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9 · BUILDING THE 8-POINT FFT</a:t>
            </a:r>
            <a:endParaRPr lang="en-US" sz="1150" b="0" u="none" strike="noStrike">
              <a:solidFill>
                <a:srgbClr val="000000"/>
              </a:solidFill>
              <a:effectLst/>
              <a:uFillTx/>
              <a:latin typeface="Arial"/>
            </a:endParaRPr>
          </a:p>
        </p:txBody>
      </p:sp>
      <p:sp>
        <p:nvSpPr>
          <p:cNvPr id="350"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Apply the Decomposition to N = 8</a:t>
            </a:r>
            <a:endParaRPr lang="en-US" sz="2700" b="0" u="none" strike="noStrike">
              <a:solidFill>
                <a:srgbClr val="000000"/>
              </a:solidFill>
              <a:effectLst/>
              <a:uFillTx/>
              <a:latin typeface="Arial"/>
            </a:endParaRPr>
          </a:p>
        </p:txBody>
      </p:sp>
      <p:sp>
        <p:nvSpPr>
          <p:cNvPr id="351"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The 8-point input sequence, in natural time order:</a:t>
            </a:r>
            <a:endParaRPr lang="en-US" sz="1300" b="0" u="none" strike="noStrike">
              <a:solidFill>
                <a:srgbClr val="000000"/>
              </a:solidFill>
              <a:effectLst/>
              <a:uFillTx/>
              <a:latin typeface="Arial"/>
            </a:endParaRPr>
          </a:p>
        </p:txBody>
      </p:sp>
      <p:sp>
        <p:nvSpPr>
          <p:cNvPr id="352" name="Shape 3"/>
          <p:cNvSpPr/>
          <p:nvPr/>
        </p:nvSpPr>
        <p:spPr>
          <a:xfrm>
            <a:off x="68580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3" name="Text 4"/>
          <p:cNvSpPr/>
          <p:nvPr/>
        </p:nvSpPr>
        <p:spPr>
          <a:xfrm>
            <a:off x="68580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354" name="Shape 5"/>
          <p:cNvSpPr/>
          <p:nvPr/>
        </p:nvSpPr>
        <p:spPr>
          <a:xfrm>
            <a:off x="203904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5" name="Text 6"/>
          <p:cNvSpPr/>
          <p:nvPr/>
        </p:nvSpPr>
        <p:spPr>
          <a:xfrm>
            <a:off x="203904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356" name="Shape 7"/>
          <p:cNvSpPr/>
          <p:nvPr/>
        </p:nvSpPr>
        <p:spPr>
          <a:xfrm>
            <a:off x="339228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7" name="Text 8"/>
          <p:cNvSpPr/>
          <p:nvPr/>
        </p:nvSpPr>
        <p:spPr>
          <a:xfrm>
            <a:off x="339228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358" name="Shape 9"/>
          <p:cNvSpPr/>
          <p:nvPr/>
        </p:nvSpPr>
        <p:spPr>
          <a:xfrm>
            <a:off x="474588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9" name="Text 10"/>
          <p:cNvSpPr/>
          <p:nvPr/>
        </p:nvSpPr>
        <p:spPr>
          <a:xfrm>
            <a:off x="474588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360" name="Shape 11"/>
          <p:cNvSpPr/>
          <p:nvPr/>
        </p:nvSpPr>
        <p:spPr>
          <a:xfrm>
            <a:off x="609912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1" name="Text 12"/>
          <p:cNvSpPr/>
          <p:nvPr/>
        </p:nvSpPr>
        <p:spPr>
          <a:xfrm>
            <a:off x="609912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362" name="Shape 13"/>
          <p:cNvSpPr/>
          <p:nvPr/>
        </p:nvSpPr>
        <p:spPr>
          <a:xfrm>
            <a:off x="745236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3" name="Text 14"/>
          <p:cNvSpPr/>
          <p:nvPr/>
        </p:nvSpPr>
        <p:spPr>
          <a:xfrm>
            <a:off x="745236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364" name="Shape 15"/>
          <p:cNvSpPr/>
          <p:nvPr/>
        </p:nvSpPr>
        <p:spPr>
          <a:xfrm>
            <a:off x="880560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5" name="Text 16"/>
          <p:cNvSpPr/>
          <p:nvPr/>
        </p:nvSpPr>
        <p:spPr>
          <a:xfrm>
            <a:off x="880560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366" name="Shape 17"/>
          <p:cNvSpPr/>
          <p:nvPr/>
        </p:nvSpPr>
        <p:spPr>
          <a:xfrm>
            <a:off x="10158840" y="150876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7" name="Text 18"/>
          <p:cNvSpPr/>
          <p:nvPr/>
        </p:nvSpPr>
        <p:spPr>
          <a:xfrm>
            <a:off x="10158840" y="150876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368" name="Text 19"/>
          <p:cNvSpPr/>
          <p:nvPr/>
        </p:nvSpPr>
        <p:spPr>
          <a:xfrm>
            <a:off x="502920" y="214884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5C6B7A"/>
                </a:solidFill>
                <a:effectLst/>
                <a:uFillTx/>
                <a:latin typeface="Calibri"/>
                <a:ea typeface="Calibri"/>
              </a:rPr>
              <a:t>↓  split by parity, per Section 5 / 6</a:t>
            </a:r>
            <a:endParaRPr lang="en-US" sz="1150" b="0" u="none" strike="noStrike">
              <a:solidFill>
                <a:srgbClr val="000000"/>
              </a:solidFill>
              <a:effectLst/>
              <a:uFillTx/>
              <a:latin typeface="Arial"/>
            </a:endParaRPr>
          </a:p>
        </p:txBody>
      </p:sp>
      <p:sp>
        <p:nvSpPr>
          <p:cNvPr id="369" name="Text 20"/>
          <p:cNvSpPr/>
          <p:nvPr/>
        </p:nvSpPr>
        <p:spPr>
          <a:xfrm>
            <a:off x="502920" y="248724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0E8388"/>
                </a:solidFill>
                <a:effectLst/>
                <a:uFillTx/>
                <a:latin typeface="Calibri"/>
                <a:ea typeface="Calibri"/>
              </a:rPr>
              <a:t>Even branch, feeds a 4-point DFT called E[k]</a:t>
            </a:r>
            <a:endParaRPr lang="en-US" sz="1200" b="0" u="none" strike="noStrike">
              <a:solidFill>
                <a:srgbClr val="000000"/>
              </a:solidFill>
              <a:effectLst/>
              <a:uFillTx/>
              <a:latin typeface="Arial"/>
            </a:endParaRPr>
          </a:p>
        </p:txBody>
      </p:sp>
      <p:sp>
        <p:nvSpPr>
          <p:cNvPr id="370" name="Shape 21"/>
          <p:cNvSpPr/>
          <p:nvPr/>
        </p:nvSpPr>
        <p:spPr>
          <a:xfrm>
            <a:off x="68580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Text 22"/>
          <p:cNvSpPr/>
          <p:nvPr/>
        </p:nvSpPr>
        <p:spPr>
          <a:xfrm>
            <a:off x="68580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372" name="Shape 23"/>
          <p:cNvSpPr/>
          <p:nvPr/>
        </p:nvSpPr>
        <p:spPr>
          <a:xfrm>
            <a:off x="203904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3" name="Text 24"/>
          <p:cNvSpPr/>
          <p:nvPr/>
        </p:nvSpPr>
        <p:spPr>
          <a:xfrm>
            <a:off x="203904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374" name="Shape 25"/>
          <p:cNvSpPr/>
          <p:nvPr/>
        </p:nvSpPr>
        <p:spPr>
          <a:xfrm>
            <a:off x="339228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5" name="Text 26"/>
          <p:cNvSpPr/>
          <p:nvPr/>
        </p:nvSpPr>
        <p:spPr>
          <a:xfrm>
            <a:off x="339228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376" name="Shape 27"/>
          <p:cNvSpPr/>
          <p:nvPr/>
        </p:nvSpPr>
        <p:spPr>
          <a:xfrm>
            <a:off x="474588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7" name="Text 28"/>
          <p:cNvSpPr/>
          <p:nvPr/>
        </p:nvSpPr>
        <p:spPr>
          <a:xfrm>
            <a:off x="474588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378" name="Text 29"/>
          <p:cNvSpPr/>
          <p:nvPr/>
        </p:nvSpPr>
        <p:spPr>
          <a:xfrm>
            <a:off x="502920" y="342900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D98324"/>
                </a:solidFill>
                <a:effectLst/>
                <a:uFillTx/>
                <a:latin typeface="Calibri"/>
                <a:ea typeface="Calibri"/>
              </a:rPr>
              <a:t>Odd branch, feeds a 4-point DFT called O[k]</a:t>
            </a:r>
            <a:endParaRPr lang="en-US" sz="1200" b="0" u="none" strike="noStrike">
              <a:solidFill>
                <a:srgbClr val="000000"/>
              </a:solidFill>
              <a:effectLst/>
              <a:uFillTx/>
              <a:latin typeface="Arial"/>
            </a:endParaRPr>
          </a:p>
        </p:txBody>
      </p:sp>
      <p:sp>
        <p:nvSpPr>
          <p:cNvPr id="379" name="Shape 30"/>
          <p:cNvSpPr/>
          <p:nvPr/>
        </p:nvSpPr>
        <p:spPr>
          <a:xfrm>
            <a:off x="685800" y="373068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0" name="Text 31"/>
          <p:cNvSpPr/>
          <p:nvPr/>
        </p:nvSpPr>
        <p:spPr>
          <a:xfrm>
            <a:off x="685800" y="373068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381" name="Shape 32"/>
          <p:cNvSpPr/>
          <p:nvPr/>
        </p:nvSpPr>
        <p:spPr>
          <a:xfrm>
            <a:off x="2039040" y="373068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2" name="Text 33"/>
          <p:cNvSpPr/>
          <p:nvPr/>
        </p:nvSpPr>
        <p:spPr>
          <a:xfrm>
            <a:off x="2039040" y="373068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383" name="Shape 34"/>
          <p:cNvSpPr/>
          <p:nvPr/>
        </p:nvSpPr>
        <p:spPr>
          <a:xfrm>
            <a:off x="3392280" y="373068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4" name="Text 35"/>
          <p:cNvSpPr/>
          <p:nvPr/>
        </p:nvSpPr>
        <p:spPr>
          <a:xfrm>
            <a:off x="3392280" y="373068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385" name="Shape 36"/>
          <p:cNvSpPr/>
          <p:nvPr/>
        </p:nvSpPr>
        <p:spPr>
          <a:xfrm>
            <a:off x="4745880" y="373068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6" name="Text 37"/>
          <p:cNvSpPr/>
          <p:nvPr/>
        </p:nvSpPr>
        <p:spPr>
          <a:xfrm>
            <a:off x="4745880" y="373068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387" name="Shape 38"/>
          <p:cNvSpPr/>
          <p:nvPr/>
        </p:nvSpPr>
        <p:spPr>
          <a:xfrm>
            <a:off x="502920" y="4434840"/>
            <a:ext cx="11154960" cy="1736640"/>
          </a:xfrm>
          <a:prstGeom prst="roundRect">
            <a:avLst>
              <a:gd name="adj" fmla="val 421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8" name="Text 39"/>
          <p:cNvSpPr/>
          <p:nvPr/>
        </p:nvSpPr>
        <p:spPr>
          <a:xfrm>
            <a:off x="731520" y="4544640"/>
            <a:ext cx="10697760" cy="1553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50" b="1" u="none" strike="noStrike">
                <a:solidFill>
                  <a:srgbClr val="132A4A"/>
                </a:solidFill>
                <a:effectLst/>
                <a:uFillTx/>
                <a:latin typeface="Calibri"/>
                <a:ea typeface="Calibri"/>
              </a:rPr>
              <a:t>Each 4-point DFT is itself a smaller instance of the same problem.  </a:t>
            </a:r>
            <a:r>
              <a:rPr lang="en-US" sz="1300" b="0" u="none" strike="noStrike">
                <a:solidFill>
                  <a:srgbClr val="16202E"/>
                </a:solidFill>
                <a:effectLst/>
                <a:uFillTx/>
                <a:latin typeface="Calibri"/>
                <a:ea typeface="Calibri"/>
              </a:rPr>
              <a:t>E[k] is the 4-point DFT of {x[0], x[2], x[4], x[6]}. O[k] is the 4-point DFT of {x[1], x[3], x[5], x[7]}. Radix-2 says: do not compute either 4-point DFT directly, split each one again by parity, exactly as in Section 6, but now with N replaced by 4. The next slide carries this out fully.</a:t>
            </a:r>
            <a:endParaRPr lang="en-US" sz="1300" b="0" u="none" strike="noStrike">
              <a:solidFill>
                <a:srgbClr val="000000"/>
              </a:solidFill>
              <a:effectLst/>
              <a:uFillTx/>
              <a:latin typeface="Arial"/>
            </a:endParaRPr>
          </a:p>
        </p:txBody>
      </p:sp>
      <p:sp>
        <p:nvSpPr>
          <p:cNvPr id="389" name="Text 40"/>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390" name="Text 41"/>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Building the 8-Point FFT</a:t>
            </a:r>
            <a:endParaRPr lang="en-US" sz="900" b="0" u="none" strike="noStrike">
              <a:solidFill>
                <a:srgbClr val="000000"/>
              </a:solidFill>
              <a:effectLst/>
              <a:uFillTx/>
              <a:latin typeface="Arial"/>
            </a:endParaRPr>
          </a:p>
        </p:txBody>
      </p:sp>
      <p:sp>
        <p:nvSpPr>
          <p:cNvPr id="391" name="Text 42"/>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9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9 · BUILDING THE 8-POINT FFT</a:t>
            </a:r>
            <a:endParaRPr lang="en-US" sz="1150" b="0" u="none" strike="noStrike">
              <a:solidFill>
                <a:srgbClr val="000000"/>
              </a:solidFill>
              <a:effectLst/>
              <a:uFillTx/>
              <a:latin typeface="Arial"/>
            </a:endParaRPr>
          </a:p>
        </p:txBody>
      </p:sp>
      <p:sp>
        <p:nvSpPr>
          <p:cNvPr id="39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Full Recursive Decomposition Down to 2-Point Groups</a:t>
            </a:r>
            <a:endParaRPr lang="en-US" sz="2700" b="0" u="none" strike="noStrike">
              <a:solidFill>
                <a:srgbClr val="000000"/>
              </a:solidFill>
              <a:effectLst/>
              <a:uFillTx/>
              <a:latin typeface="Arial"/>
            </a:endParaRPr>
          </a:p>
        </p:txBody>
      </p:sp>
      <p:sp>
        <p:nvSpPr>
          <p:cNvPr id="394" name="Shape 2"/>
          <p:cNvSpPr/>
          <p:nvPr/>
        </p:nvSpPr>
        <p:spPr>
          <a:xfrm>
            <a:off x="5257800" y="1188720"/>
            <a:ext cx="1645200" cy="456480"/>
          </a:xfrm>
          <a:prstGeom prst="roundRect">
            <a:avLst>
              <a:gd name="adj" fmla="val 12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5" name="Text 3"/>
          <p:cNvSpPr/>
          <p:nvPr/>
        </p:nvSpPr>
        <p:spPr>
          <a:xfrm>
            <a:off x="5257800" y="1188720"/>
            <a:ext cx="164520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x[0..7]  (8-pt)</a:t>
            </a:r>
            <a:endParaRPr lang="en-US" sz="1100" b="0" u="none" strike="noStrike">
              <a:solidFill>
                <a:srgbClr val="000000"/>
              </a:solidFill>
              <a:effectLst/>
              <a:uFillTx/>
              <a:latin typeface="Arial"/>
            </a:endParaRPr>
          </a:p>
        </p:txBody>
      </p:sp>
      <p:sp>
        <p:nvSpPr>
          <p:cNvPr id="396" name="Shape 4"/>
          <p:cNvSpPr/>
          <p:nvPr/>
        </p:nvSpPr>
        <p:spPr>
          <a:xfrm>
            <a:off x="2331720" y="1965960"/>
            <a:ext cx="2742480" cy="456480"/>
          </a:xfrm>
          <a:prstGeom prst="roundRect">
            <a:avLst>
              <a:gd name="adj" fmla="val 12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7" name="Text 5"/>
          <p:cNvSpPr/>
          <p:nvPr/>
        </p:nvSpPr>
        <p:spPr>
          <a:xfrm>
            <a:off x="2331720" y="1965960"/>
            <a:ext cx="27424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onsolas"/>
                <a:ea typeface="Consolas"/>
              </a:rPr>
              <a:t>x[0],x[2],x[4],x[6]  (4-pt E)</a:t>
            </a:r>
            <a:endParaRPr lang="en-US" sz="950" b="0" u="none" strike="noStrike">
              <a:solidFill>
                <a:srgbClr val="000000"/>
              </a:solidFill>
              <a:effectLst/>
              <a:uFillTx/>
              <a:latin typeface="Arial"/>
            </a:endParaRPr>
          </a:p>
        </p:txBody>
      </p:sp>
      <p:sp>
        <p:nvSpPr>
          <p:cNvPr id="398" name="Shape 6"/>
          <p:cNvSpPr/>
          <p:nvPr/>
        </p:nvSpPr>
        <p:spPr>
          <a:xfrm>
            <a:off x="7132320" y="1965960"/>
            <a:ext cx="2742480" cy="45648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9" name="Text 7"/>
          <p:cNvSpPr/>
          <p:nvPr/>
        </p:nvSpPr>
        <p:spPr>
          <a:xfrm>
            <a:off x="7132320" y="1965960"/>
            <a:ext cx="27424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32A4A"/>
                </a:solidFill>
                <a:effectLst/>
                <a:uFillTx/>
                <a:latin typeface="Consolas"/>
                <a:ea typeface="Consolas"/>
              </a:rPr>
              <a:t>x[1],x[3],x[5],x[7]  (4-pt O)</a:t>
            </a:r>
            <a:endParaRPr lang="en-US" sz="950" b="0" u="none" strike="noStrike">
              <a:solidFill>
                <a:srgbClr val="000000"/>
              </a:solidFill>
              <a:effectLst/>
              <a:uFillTx/>
              <a:latin typeface="Arial"/>
            </a:endParaRPr>
          </a:p>
        </p:txBody>
      </p:sp>
      <p:sp>
        <p:nvSpPr>
          <p:cNvPr id="400" name="Shape 8"/>
          <p:cNvSpPr/>
          <p:nvPr/>
        </p:nvSpPr>
        <p:spPr>
          <a:xfrm>
            <a:off x="2743200" y="2103120"/>
            <a:ext cx="5715000" cy="720"/>
          </a:xfrm>
          <a:prstGeom prst="line">
            <a:avLst/>
          </a:prstGeom>
          <a:ln w="12700">
            <a:solidFill>
              <a:srgbClr val="5C6B7A"/>
            </a:solidFill>
            <a:round/>
          </a:ln>
        </p:spPr>
        <p:style>
          <a:lnRef idx="0"/>
          <a:fillRef idx="0"/>
          <a:effectRef idx="0"/>
          <a:fontRef idx="minor"/>
        </p:style>
        <p:txBody>
          <a:bodyPr lIns="90000" tIns="-44280" rIns="90000" bIns="-44280" anchor="t" anchorCtr="1">
            <a:noAutofit/>
          </a:bodyPr>
          <a:p>
            <a:endParaRPr lang="en-US" sz="1800" b="0" u="none" strike="noStrike">
              <a:solidFill>
                <a:srgbClr val="000000"/>
              </a:solidFill>
              <a:effectLst/>
              <a:uFillTx/>
              <a:latin typeface="Arial"/>
            </a:endParaRPr>
          </a:p>
        </p:txBody>
      </p:sp>
      <p:sp>
        <p:nvSpPr>
          <p:cNvPr id="401" name="Shape 9"/>
          <p:cNvSpPr/>
          <p:nvPr/>
        </p:nvSpPr>
        <p:spPr>
          <a:xfrm>
            <a:off x="6080760" y="1645920"/>
            <a:ext cx="720" cy="320040"/>
          </a:xfrm>
          <a:prstGeom prst="line">
            <a:avLst/>
          </a:prstGeom>
          <a:ln w="12700">
            <a:solidFill>
              <a:srgbClr val="5C6B7A"/>
            </a:solidFill>
            <a:round/>
          </a:ln>
        </p:spPr>
        <p:style>
          <a:lnRef idx="0"/>
          <a:fillRef idx="0"/>
          <a:effectRef idx="0"/>
          <a:fontRef idx="minor"/>
        </p:style>
        <p:txBody>
          <a:bodyPr lIns="360" tIns="45000" rIns="360" bIns="45000" anchor="t" anchorCtr="1">
            <a:noAutofit/>
          </a:bodyPr>
          <a:p>
            <a:endParaRPr lang="en-US" sz="1800" b="0" u="none" strike="noStrike">
              <a:solidFill>
                <a:srgbClr val="000000"/>
              </a:solidFill>
              <a:effectLst/>
              <a:uFillTx/>
              <a:latin typeface="Arial"/>
            </a:endParaRPr>
          </a:p>
        </p:txBody>
      </p:sp>
      <p:sp>
        <p:nvSpPr>
          <p:cNvPr id="402" name="Shape 10"/>
          <p:cNvSpPr/>
          <p:nvPr/>
        </p:nvSpPr>
        <p:spPr>
          <a:xfrm>
            <a:off x="3703320" y="1645920"/>
            <a:ext cx="360" cy="320040"/>
          </a:xfrm>
          <a:prstGeom prst="line">
            <a:avLst/>
          </a:prstGeom>
          <a:ln w="12700">
            <a:solidFill>
              <a:srgbClr val="5C6B7A"/>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403" name="Shape 11"/>
          <p:cNvSpPr/>
          <p:nvPr/>
        </p:nvSpPr>
        <p:spPr>
          <a:xfrm>
            <a:off x="8458200" y="1645920"/>
            <a:ext cx="360" cy="320040"/>
          </a:xfrm>
          <a:prstGeom prst="line">
            <a:avLst/>
          </a:prstGeom>
          <a:ln w="12700">
            <a:solidFill>
              <a:srgbClr val="5C6B7A"/>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404" name="Shape 12"/>
          <p:cNvSpPr/>
          <p:nvPr/>
        </p:nvSpPr>
        <p:spPr>
          <a:xfrm>
            <a:off x="1280160" y="2743200"/>
            <a:ext cx="1736640" cy="456480"/>
          </a:xfrm>
          <a:prstGeom prst="roundRect">
            <a:avLst>
              <a:gd name="adj" fmla="val 12000"/>
            </a:avLst>
          </a:prstGeom>
          <a:solidFill>
            <a:srgbClr val="D8ECE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5" name="Text 13"/>
          <p:cNvSpPr/>
          <p:nvPr/>
        </p:nvSpPr>
        <p:spPr>
          <a:xfrm>
            <a:off x="1280160" y="2743200"/>
            <a:ext cx="173664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x[0],x[4]  (2-pt)</a:t>
            </a:r>
            <a:endParaRPr lang="en-US" sz="1050" b="0" u="none" strike="noStrike">
              <a:solidFill>
                <a:srgbClr val="000000"/>
              </a:solidFill>
              <a:effectLst/>
              <a:uFillTx/>
              <a:latin typeface="Arial"/>
            </a:endParaRPr>
          </a:p>
        </p:txBody>
      </p:sp>
      <p:sp>
        <p:nvSpPr>
          <p:cNvPr id="406" name="Shape 14"/>
          <p:cNvSpPr/>
          <p:nvPr/>
        </p:nvSpPr>
        <p:spPr>
          <a:xfrm>
            <a:off x="3200400" y="2743200"/>
            <a:ext cx="1736640" cy="456480"/>
          </a:xfrm>
          <a:prstGeom prst="roundRect">
            <a:avLst>
              <a:gd name="adj" fmla="val 12000"/>
            </a:avLst>
          </a:prstGeom>
          <a:solidFill>
            <a:srgbClr val="D8ECE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7" name="Text 15"/>
          <p:cNvSpPr/>
          <p:nvPr/>
        </p:nvSpPr>
        <p:spPr>
          <a:xfrm>
            <a:off x="3200400" y="2743200"/>
            <a:ext cx="173664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x[2],x[6]  (2-pt)</a:t>
            </a:r>
            <a:endParaRPr lang="en-US" sz="1050" b="0" u="none" strike="noStrike">
              <a:solidFill>
                <a:srgbClr val="000000"/>
              </a:solidFill>
              <a:effectLst/>
              <a:uFillTx/>
              <a:latin typeface="Arial"/>
            </a:endParaRPr>
          </a:p>
        </p:txBody>
      </p:sp>
      <p:sp>
        <p:nvSpPr>
          <p:cNvPr id="408" name="Shape 16"/>
          <p:cNvSpPr/>
          <p:nvPr/>
        </p:nvSpPr>
        <p:spPr>
          <a:xfrm>
            <a:off x="6035040" y="2743200"/>
            <a:ext cx="1736640" cy="456480"/>
          </a:xfrm>
          <a:prstGeom prst="roundRect">
            <a:avLst>
              <a:gd name="adj" fmla="val 12000"/>
            </a:avLst>
          </a:prstGeom>
          <a:solidFill>
            <a:srgbClr val="F8E4C6"/>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9" name="Text 17"/>
          <p:cNvSpPr/>
          <p:nvPr/>
        </p:nvSpPr>
        <p:spPr>
          <a:xfrm>
            <a:off x="6035040" y="2743200"/>
            <a:ext cx="173664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x[1],x[5]  (2-pt)</a:t>
            </a:r>
            <a:endParaRPr lang="en-US" sz="1050" b="0" u="none" strike="noStrike">
              <a:solidFill>
                <a:srgbClr val="000000"/>
              </a:solidFill>
              <a:effectLst/>
              <a:uFillTx/>
              <a:latin typeface="Arial"/>
            </a:endParaRPr>
          </a:p>
        </p:txBody>
      </p:sp>
      <p:sp>
        <p:nvSpPr>
          <p:cNvPr id="410" name="Shape 18"/>
          <p:cNvSpPr/>
          <p:nvPr/>
        </p:nvSpPr>
        <p:spPr>
          <a:xfrm>
            <a:off x="7955280" y="2743200"/>
            <a:ext cx="1736640" cy="456480"/>
          </a:xfrm>
          <a:prstGeom prst="roundRect">
            <a:avLst>
              <a:gd name="adj" fmla="val 12000"/>
            </a:avLst>
          </a:prstGeom>
          <a:solidFill>
            <a:srgbClr val="F8E4C6"/>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1" name="Text 19"/>
          <p:cNvSpPr/>
          <p:nvPr/>
        </p:nvSpPr>
        <p:spPr>
          <a:xfrm>
            <a:off x="7955280" y="2743200"/>
            <a:ext cx="173664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x[3],x[7]  (2-pt)</a:t>
            </a:r>
            <a:endParaRPr lang="en-US" sz="1050" b="0" u="none" strike="noStrike">
              <a:solidFill>
                <a:srgbClr val="000000"/>
              </a:solidFill>
              <a:effectLst/>
              <a:uFillTx/>
              <a:latin typeface="Arial"/>
            </a:endParaRPr>
          </a:p>
        </p:txBody>
      </p:sp>
      <p:sp>
        <p:nvSpPr>
          <p:cNvPr id="412" name="Shape 20"/>
          <p:cNvSpPr/>
          <p:nvPr/>
        </p:nvSpPr>
        <p:spPr>
          <a:xfrm>
            <a:off x="105156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3" name="Text 21"/>
          <p:cNvSpPr/>
          <p:nvPr/>
        </p:nvSpPr>
        <p:spPr>
          <a:xfrm>
            <a:off x="105156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x[0]</a:t>
            </a:r>
            <a:endParaRPr lang="en-US" sz="1000" b="0" u="none" strike="noStrike">
              <a:solidFill>
                <a:srgbClr val="000000"/>
              </a:solidFill>
              <a:effectLst/>
              <a:uFillTx/>
              <a:latin typeface="Arial"/>
            </a:endParaRPr>
          </a:p>
        </p:txBody>
      </p:sp>
      <p:sp>
        <p:nvSpPr>
          <p:cNvPr id="414" name="Shape 22"/>
          <p:cNvSpPr/>
          <p:nvPr/>
        </p:nvSpPr>
        <p:spPr>
          <a:xfrm>
            <a:off x="205740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5" name="Text 23"/>
          <p:cNvSpPr/>
          <p:nvPr/>
        </p:nvSpPr>
        <p:spPr>
          <a:xfrm>
            <a:off x="205740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x[4]</a:t>
            </a:r>
            <a:endParaRPr lang="en-US" sz="1000" b="0" u="none" strike="noStrike">
              <a:solidFill>
                <a:srgbClr val="000000"/>
              </a:solidFill>
              <a:effectLst/>
              <a:uFillTx/>
              <a:latin typeface="Arial"/>
            </a:endParaRPr>
          </a:p>
        </p:txBody>
      </p:sp>
      <p:sp>
        <p:nvSpPr>
          <p:cNvPr id="416" name="Shape 24"/>
          <p:cNvSpPr/>
          <p:nvPr/>
        </p:nvSpPr>
        <p:spPr>
          <a:xfrm>
            <a:off x="297180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7" name="Text 25"/>
          <p:cNvSpPr/>
          <p:nvPr/>
        </p:nvSpPr>
        <p:spPr>
          <a:xfrm>
            <a:off x="297180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x[2]</a:t>
            </a:r>
            <a:endParaRPr lang="en-US" sz="1000" b="0" u="none" strike="noStrike">
              <a:solidFill>
                <a:srgbClr val="000000"/>
              </a:solidFill>
              <a:effectLst/>
              <a:uFillTx/>
              <a:latin typeface="Arial"/>
            </a:endParaRPr>
          </a:p>
        </p:txBody>
      </p:sp>
      <p:sp>
        <p:nvSpPr>
          <p:cNvPr id="418" name="Shape 26"/>
          <p:cNvSpPr/>
          <p:nvPr/>
        </p:nvSpPr>
        <p:spPr>
          <a:xfrm>
            <a:off x="397764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9" name="Text 27"/>
          <p:cNvSpPr/>
          <p:nvPr/>
        </p:nvSpPr>
        <p:spPr>
          <a:xfrm>
            <a:off x="397764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x[6]</a:t>
            </a:r>
            <a:endParaRPr lang="en-US" sz="1000" b="0" u="none" strike="noStrike">
              <a:solidFill>
                <a:srgbClr val="000000"/>
              </a:solidFill>
              <a:effectLst/>
              <a:uFillTx/>
              <a:latin typeface="Arial"/>
            </a:endParaRPr>
          </a:p>
        </p:txBody>
      </p:sp>
      <p:sp>
        <p:nvSpPr>
          <p:cNvPr id="420" name="Shape 28"/>
          <p:cNvSpPr/>
          <p:nvPr/>
        </p:nvSpPr>
        <p:spPr>
          <a:xfrm>
            <a:off x="580644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1" name="Text 29"/>
          <p:cNvSpPr/>
          <p:nvPr/>
        </p:nvSpPr>
        <p:spPr>
          <a:xfrm>
            <a:off x="580644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x[1]</a:t>
            </a:r>
            <a:endParaRPr lang="en-US" sz="1000" b="0" u="none" strike="noStrike">
              <a:solidFill>
                <a:srgbClr val="000000"/>
              </a:solidFill>
              <a:effectLst/>
              <a:uFillTx/>
              <a:latin typeface="Arial"/>
            </a:endParaRPr>
          </a:p>
        </p:txBody>
      </p:sp>
      <p:sp>
        <p:nvSpPr>
          <p:cNvPr id="422" name="Shape 30"/>
          <p:cNvSpPr/>
          <p:nvPr/>
        </p:nvSpPr>
        <p:spPr>
          <a:xfrm>
            <a:off x="681228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3" name="Text 31"/>
          <p:cNvSpPr/>
          <p:nvPr/>
        </p:nvSpPr>
        <p:spPr>
          <a:xfrm>
            <a:off x="681228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x[5]</a:t>
            </a:r>
            <a:endParaRPr lang="en-US" sz="1000" b="0" u="none" strike="noStrike">
              <a:solidFill>
                <a:srgbClr val="000000"/>
              </a:solidFill>
              <a:effectLst/>
              <a:uFillTx/>
              <a:latin typeface="Arial"/>
            </a:endParaRPr>
          </a:p>
        </p:txBody>
      </p:sp>
      <p:sp>
        <p:nvSpPr>
          <p:cNvPr id="424" name="Shape 32"/>
          <p:cNvSpPr/>
          <p:nvPr/>
        </p:nvSpPr>
        <p:spPr>
          <a:xfrm>
            <a:off x="772668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5" name="Text 33"/>
          <p:cNvSpPr/>
          <p:nvPr/>
        </p:nvSpPr>
        <p:spPr>
          <a:xfrm>
            <a:off x="772668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x[3]</a:t>
            </a:r>
            <a:endParaRPr lang="en-US" sz="1000" b="0" u="none" strike="noStrike">
              <a:solidFill>
                <a:srgbClr val="000000"/>
              </a:solidFill>
              <a:effectLst/>
              <a:uFillTx/>
              <a:latin typeface="Arial"/>
            </a:endParaRPr>
          </a:p>
        </p:txBody>
      </p:sp>
      <p:sp>
        <p:nvSpPr>
          <p:cNvPr id="426" name="Shape 34"/>
          <p:cNvSpPr/>
          <p:nvPr/>
        </p:nvSpPr>
        <p:spPr>
          <a:xfrm>
            <a:off x="8732520" y="3520440"/>
            <a:ext cx="867960" cy="45648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7" name="Text 35"/>
          <p:cNvSpPr/>
          <p:nvPr/>
        </p:nvSpPr>
        <p:spPr>
          <a:xfrm>
            <a:off x="8732520" y="3520440"/>
            <a:ext cx="867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132A4A"/>
                </a:solidFill>
                <a:effectLst/>
                <a:uFillTx/>
                <a:latin typeface="Consolas"/>
                <a:ea typeface="Consolas"/>
              </a:rPr>
              <a:t>x[7]</a:t>
            </a:r>
            <a:endParaRPr lang="en-US" sz="1000" b="0" u="none" strike="noStrike">
              <a:solidFill>
                <a:srgbClr val="000000"/>
              </a:solidFill>
              <a:effectLst/>
              <a:uFillTx/>
              <a:latin typeface="Arial"/>
            </a:endParaRPr>
          </a:p>
        </p:txBody>
      </p:sp>
      <p:sp>
        <p:nvSpPr>
          <p:cNvPr id="428" name="Text 36"/>
          <p:cNvSpPr/>
          <p:nvPr/>
        </p:nvSpPr>
        <p:spPr>
          <a:xfrm>
            <a:off x="502920" y="4160520"/>
            <a:ext cx="11154960" cy="456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5C6B7A"/>
                </a:solidFill>
                <a:effectLst/>
                <a:uFillTx/>
                <a:latin typeface="Calibri"/>
                <a:ea typeface="Calibri"/>
              </a:rPr>
              <a:t>Each 2-point group is a trivial 2-point DFT: DFT2{a,b} = [a+b, a−b], no twiddle multiplication needed (W_2^0 = 1). This is the recursion's base case.</a:t>
            </a:r>
            <a:endParaRPr lang="en-US" sz="1200" b="0" u="none" strike="noStrike">
              <a:solidFill>
                <a:srgbClr val="000000"/>
              </a:solidFill>
              <a:effectLst/>
              <a:uFillTx/>
              <a:latin typeface="Arial"/>
            </a:endParaRPr>
          </a:p>
        </p:txBody>
      </p:sp>
      <p:sp>
        <p:nvSpPr>
          <p:cNvPr id="429" name="Shape 37"/>
          <p:cNvSpPr/>
          <p:nvPr/>
        </p:nvSpPr>
        <p:spPr>
          <a:xfrm>
            <a:off x="502920" y="4709160"/>
            <a:ext cx="11154960" cy="1690920"/>
          </a:xfrm>
          <a:prstGeom prst="roundRect">
            <a:avLst>
              <a:gd name="adj" fmla="val 4324"/>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0" name="Text 38"/>
          <p:cNvSpPr/>
          <p:nvPr/>
        </p:nvSpPr>
        <p:spPr>
          <a:xfrm>
            <a:off x="731520" y="4818960"/>
            <a:ext cx="10697760" cy="15080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50" b="1" u="none" strike="noStrike">
                <a:solidFill>
                  <a:srgbClr val="132A4A"/>
                </a:solidFill>
                <a:effectLst/>
                <a:uFillTx/>
                <a:latin typeface="Calibri"/>
                <a:ea typeface="Calibri"/>
              </a:rPr>
              <a:t>Read this tree from the bottom up, not the top down.  </a:t>
            </a:r>
            <a:r>
              <a:rPr lang="en-US" sz="1250" b="0" u="none" strike="noStrike">
                <a:solidFill>
                  <a:srgbClr val="16202E"/>
                </a:solidFill>
                <a:effectLst/>
                <a:uFillTx/>
                <a:latin typeface="Calibri"/>
                <a:ea typeface="Calibri"/>
              </a:rPr>
              <a:t>Computation actually starts at the leaves: the eight trivial 1-point “DFTs” (a single sample equals its own transform). Adjacent leaves combine into 2-point DFTs using the butterfly with W_2^0=1. Pairs of 2-point results combine into 4-point DFTs using the butterfly with W_4^0 and W_4^1. Finally the two 4-point results, E[k] and O[k], combine into the full 8-point DFT using the butterfly with W_8^0..W_8^3. This bottom-up order, applied stage by stage instead of recursive call by recursive call, is exactly the iterative FFT structure built in Section 11.</a:t>
            </a:r>
            <a:endParaRPr lang="en-US" sz="1250" b="0" u="none" strike="noStrike">
              <a:solidFill>
                <a:srgbClr val="000000"/>
              </a:solidFill>
              <a:effectLst/>
              <a:uFillTx/>
              <a:latin typeface="Arial"/>
            </a:endParaRPr>
          </a:p>
        </p:txBody>
      </p:sp>
      <p:sp>
        <p:nvSpPr>
          <p:cNvPr id="431" name="Text 3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432" name="Text 4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Building the 8-Point FFT</a:t>
            </a:r>
            <a:endParaRPr lang="en-US" sz="900" b="0" u="none" strike="noStrike">
              <a:solidFill>
                <a:srgbClr val="000000"/>
              </a:solidFill>
              <a:effectLst/>
              <a:uFillTx/>
              <a:latin typeface="Arial"/>
            </a:endParaRPr>
          </a:p>
        </p:txBody>
      </p:sp>
      <p:sp>
        <p:nvSpPr>
          <p:cNvPr id="433" name="Text 4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3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10 · BIT-REVERSAL ORDERING</a:t>
            </a:r>
            <a:endParaRPr lang="en-US" sz="1150" b="0" u="none" strike="noStrike">
              <a:solidFill>
                <a:srgbClr val="000000"/>
              </a:solidFill>
              <a:effectLst/>
              <a:uFillTx/>
              <a:latin typeface="Arial"/>
            </a:endParaRPr>
          </a:p>
        </p:txBody>
      </p:sp>
      <p:sp>
        <p:nvSpPr>
          <p:cNvPr id="43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Why Bit-Reversal Appears in the Iterative Algorithm</a:t>
            </a:r>
            <a:endParaRPr lang="en-US" sz="2700" b="0" u="none" strike="noStrike">
              <a:solidFill>
                <a:srgbClr val="000000"/>
              </a:solidFill>
              <a:effectLst/>
              <a:uFillTx/>
              <a:latin typeface="Arial"/>
            </a:endParaRPr>
          </a:p>
        </p:txBody>
      </p:sp>
      <p:sp>
        <p:nvSpPr>
          <p:cNvPr id="436" name="Text 2"/>
          <p:cNvSpPr/>
          <p:nvPr/>
        </p:nvSpPr>
        <p:spPr>
          <a:xfrm>
            <a:off x="502920" y="1234440"/>
            <a:ext cx="11154960" cy="1553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The recursive decomposition tree keeps re-sorting samples by parity: even/odd, then even/odd of each half, then again.</a:t>
            </a:r>
            <a:endParaRPr lang="en-US" sz="13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If that same sorting is instead done once, up front, as a single index permutation, the rest of the algorithm becomes purely local: it only ever combines neighboring elements at each stage, in place.</a:t>
            </a:r>
            <a:endParaRPr lang="en-US" sz="13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That single permutation is bit-reversal: write the index in binary and reverse the order of its bits.</a:t>
            </a:r>
            <a:endParaRPr lang="en-US" sz="1300" b="0" u="none" strike="noStrike">
              <a:solidFill>
                <a:srgbClr val="000000"/>
              </a:solidFill>
              <a:effectLst/>
              <a:uFillTx/>
              <a:latin typeface="Arial"/>
            </a:endParaRPr>
          </a:p>
        </p:txBody>
      </p:sp>
      <p:sp>
        <p:nvSpPr>
          <p:cNvPr id="437" name="Text 3"/>
          <p:cNvSpPr/>
          <p:nvPr/>
        </p:nvSpPr>
        <p:spPr>
          <a:xfrm>
            <a:off x="502920" y="283464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For N = 8, indices need 3 bits (log₂ 8 = 3):</a:t>
            </a:r>
            <a:endParaRPr lang="en-US" sz="1300" b="0" u="none" strike="noStrike">
              <a:solidFill>
                <a:srgbClr val="000000"/>
              </a:solidFill>
              <a:effectLst/>
              <a:uFillTx/>
              <a:latin typeface="Arial"/>
            </a:endParaRPr>
          </a:p>
        </p:txBody>
      </p:sp>
      <p:graphicFrame>
        <p:nvGraphicFramePr>
          <p:cNvPr id="438" name="Table 0"/>
          <p:cNvGraphicFramePr/>
          <p:nvPr/>
        </p:nvGraphicFramePr>
        <p:xfrm>
          <a:off x="502920" y="3154680"/>
          <a:ext cx="11155320" cy="2540160"/>
        </p:xfrm>
        <a:graphic>
          <a:graphicData uri="http://schemas.openxmlformats.org/drawingml/2006/table">
            <a:tbl>
              <a:tblPr/>
              <a:tblGrid>
                <a:gridCol w="2788920"/>
                <a:gridCol w="2788920"/>
                <a:gridCol w="2788920"/>
                <a:gridCol w="27889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Original index</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Binary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Bits reversed</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Bit-reversed index</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000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000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001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011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001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011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111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111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439" name="Text 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440" name="Text 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Bit-Reversal Ordering</a:t>
            </a:r>
            <a:endParaRPr lang="en-US" sz="900" b="0" u="none" strike="noStrike">
              <a:solidFill>
                <a:srgbClr val="000000"/>
              </a:solidFill>
              <a:effectLst/>
              <a:uFillTx/>
              <a:latin typeface="Arial"/>
            </a:endParaRPr>
          </a:p>
        </p:txBody>
      </p:sp>
      <p:sp>
        <p:nvSpPr>
          <p:cNvPr id="441" name="Text 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4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10 · BIT-REVERSAL ORDERING</a:t>
            </a:r>
            <a:endParaRPr lang="en-US" sz="1150" b="0" u="none" strike="noStrike">
              <a:solidFill>
                <a:srgbClr val="000000"/>
              </a:solidFill>
              <a:effectLst/>
              <a:uFillTx/>
              <a:latin typeface="Arial"/>
            </a:endParaRPr>
          </a:p>
        </p:txBody>
      </p:sp>
      <p:sp>
        <p:nvSpPr>
          <p:cNvPr id="44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Bit-Reversed Input Ordering for N = 8</a:t>
            </a:r>
            <a:endParaRPr lang="en-US" sz="2700" b="0" u="none" strike="noStrike">
              <a:solidFill>
                <a:srgbClr val="000000"/>
              </a:solidFill>
              <a:effectLst/>
              <a:uFillTx/>
              <a:latin typeface="Arial"/>
            </a:endParaRPr>
          </a:p>
        </p:txBody>
      </p:sp>
      <p:sp>
        <p:nvSpPr>
          <p:cNvPr id="444" name="Text 2"/>
          <p:cNvSpPr/>
          <p:nvPr/>
        </p:nvSpPr>
        <p:spPr>
          <a:xfrm>
            <a:off x="502920" y="123444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Natural order (as stored / sampled)</a:t>
            </a:r>
            <a:endParaRPr lang="en-US" sz="1250" b="0" u="none" strike="noStrike">
              <a:solidFill>
                <a:srgbClr val="000000"/>
              </a:solidFill>
              <a:effectLst/>
              <a:uFillTx/>
              <a:latin typeface="Arial"/>
            </a:endParaRPr>
          </a:p>
        </p:txBody>
      </p:sp>
      <p:sp>
        <p:nvSpPr>
          <p:cNvPr id="445" name="Shape 3"/>
          <p:cNvSpPr/>
          <p:nvPr/>
        </p:nvSpPr>
        <p:spPr>
          <a:xfrm>
            <a:off x="68580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6" name="Text 4"/>
          <p:cNvSpPr/>
          <p:nvPr/>
        </p:nvSpPr>
        <p:spPr>
          <a:xfrm>
            <a:off x="68580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447" name="Shape 5"/>
          <p:cNvSpPr/>
          <p:nvPr/>
        </p:nvSpPr>
        <p:spPr>
          <a:xfrm>
            <a:off x="203904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8" name="Text 6"/>
          <p:cNvSpPr/>
          <p:nvPr/>
        </p:nvSpPr>
        <p:spPr>
          <a:xfrm>
            <a:off x="203904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449" name="Shape 7"/>
          <p:cNvSpPr/>
          <p:nvPr/>
        </p:nvSpPr>
        <p:spPr>
          <a:xfrm>
            <a:off x="339228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0" name="Text 8"/>
          <p:cNvSpPr/>
          <p:nvPr/>
        </p:nvSpPr>
        <p:spPr>
          <a:xfrm>
            <a:off x="339228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451" name="Shape 9"/>
          <p:cNvSpPr/>
          <p:nvPr/>
        </p:nvSpPr>
        <p:spPr>
          <a:xfrm>
            <a:off x="474588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2" name="Text 10"/>
          <p:cNvSpPr/>
          <p:nvPr/>
        </p:nvSpPr>
        <p:spPr>
          <a:xfrm>
            <a:off x="474588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453" name="Shape 11"/>
          <p:cNvSpPr/>
          <p:nvPr/>
        </p:nvSpPr>
        <p:spPr>
          <a:xfrm>
            <a:off x="609912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12"/>
          <p:cNvSpPr/>
          <p:nvPr/>
        </p:nvSpPr>
        <p:spPr>
          <a:xfrm>
            <a:off x="609912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455" name="Shape 13"/>
          <p:cNvSpPr/>
          <p:nvPr/>
        </p:nvSpPr>
        <p:spPr>
          <a:xfrm>
            <a:off x="745236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6" name="Text 14"/>
          <p:cNvSpPr/>
          <p:nvPr/>
        </p:nvSpPr>
        <p:spPr>
          <a:xfrm>
            <a:off x="745236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457" name="Shape 15"/>
          <p:cNvSpPr/>
          <p:nvPr/>
        </p:nvSpPr>
        <p:spPr>
          <a:xfrm>
            <a:off x="880560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8" name="Text 16"/>
          <p:cNvSpPr/>
          <p:nvPr/>
        </p:nvSpPr>
        <p:spPr>
          <a:xfrm>
            <a:off x="880560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459" name="Shape 17"/>
          <p:cNvSpPr/>
          <p:nvPr/>
        </p:nvSpPr>
        <p:spPr>
          <a:xfrm>
            <a:off x="10158840" y="1536120"/>
            <a:ext cx="1261080" cy="502200"/>
          </a:xfrm>
          <a:prstGeom prst="roundRect">
            <a:avLst>
              <a:gd name="adj" fmla="val 909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0" name="Text 18"/>
          <p:cNvSpPr/>
          <p:nvPr/>
        </p:nvSpPr>
        <p:spPr>
          <a:xfrm>
            <a:off x="10158840" y="15361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461" name="Text 19"/>
          <p:cNvSpPr/>
          <p:nvPr/>
        </p:nvSpPr>
        <p:spPr>
          <a:xfrm>
            <a:off x="502920" y="2148840"/>
            <a:ext cx="82288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5C6B7A"/>
                </a:solidFill>
                <a:effectLst/>
                <a:uFillTx/>
                <a:latin typeface="Calibri"/>
                <a:ea typeface="Calibri"/>
              </a:rPr>
              <a:t>↓  reorder using the bit-reversed index from the table on the previous slide</a:t>
            </a:r>
            <a:endParaRPr lang="en-US" sz="1150" b="0" u="none" strike="noStrike">
              <a:solidFill>
                <a:srgbClr val="000000"/>
              </a:solidFill>
              <a:effectLst/>
              <a:uFillTx/>
              <a:latin typeface="Arial"/>
            </a:endParaRPr>
          </a:p>
        </p:txBody>
      </p:sp>
      <p:sp>
        <p:nvSpPr>
          <p:cNvPr id="462" name="Text 20"/>
          <p:cNvSpPr/>
          <p:nvPr/>
        </p:nvSpPr>
        <p:spPr>
          <a:xfrm>
            <a:off x="502920" y="248724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Bit-reversed order (as fed into the iterative FFT)</a:t>
            </a:r>
            <a:endParaRPr lang="en-US" sz="1250" b="0" u="none" strike="noStrike">
              <a:solidFill>
                <a:srgbClr val="000000"/>
              </a:solidFill>
              <a:effectLst/>
              <a:uFillTx/>
              <a:latin typeface="Arial"/>
            </a:endParaRPr>
          </a:p>
        </p:txBody>
      </p:sp>
      <p:sp>
        <p:nvSpPr>
          <p:cNvPr id="463" name="Shape 21"/>
          <p:cNvSpPr/>
          <p:nvPr/>
        </p:nvSpPr>
        <p:spPr>
          <a:xfrm>
            <a:off x="68580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4" name="Text 22"/>
          <p:cNvSpPr/>
          <p:nvPr/>
        </p:nvSpPr>
        <p:spPr>
          <a:xfrm>
            <a:off x="68580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x[0]</a:t>
            </a:r>
            <a:endParaRPr lang="en-US" sz="1300" b="0" u="none" strike="noStrike">
              <a:solidFill>
                <a:srgbClr val="000000"/>
              </a:solidFill>
              <a:effectLst/>
              <a:uFillTx/>
              <a:latin typeface="Arial"/>
            </a:endParaRPr>
          </a:p>
        </p:txBody>
      </p:sp>
      <p:sp>
        <p:nvSpPr>
          <p:cNvPr id="465" name="Shape 23"/>
          <p:cNvSpPr/>
          <p:nvPr/>
        </p:nvSpPr>
        <p:spPr>
          <a:xfrm>
            <a:off x="203904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6" name="Text 24"/>
          <p:cNvSpPr/>
          <p:nvPr/>
        </p:nvSpPr>
        <p:spPr>
          <a:xfrm>
            <a:off x="203904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x[4]</a:t>
            </a:r>
            <a:endParaRPr lang="en-US" sz="1300" b="0" u="none" strike="noStrike">
              <a:solidFill>
                <a:srgbClr val="000000"/>
              </a:solidFill>
              <a:effectLst/>
              <a:uFillTx/>
              <a:latin typeface="Arial"/>
            </a:endParaRPr>
          </a:p>
        </p:txBody>
      </p:sp>
      <p:sp>
        <p:nvSpPr>
          <p:cNvPr id="467" name="Shape 25"/>
          <p:cNvSpPr/>
          <p:nvPr/>
        </p:nvSpPr>
        <p:spPr>
          <a:xfrm>
            <a:off x="339228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8" name="Text 26"/>
          <p:cNvSpPr/>
          <p:nvPr/>
        </p:nvSpPr>
        <p:spPr>
          <a:xfrm>
            <a:off x="339228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x[2]</a:t>
            </a:r>
            <a:endParaRPr lang="en-US" sz="1300" b="0" u="none" strike="noStrike">
              <a:solidFill>
                <a:srgbClr val="000000"/>
              </a:solidFill>
              <a:effectLst/>
              <a:uFillTx/>
              <a:latin typeface="Arial"/>
            </a:endParaRPr>
          </a:p>
        </p:txBody>
      </p:sp>
      <p:sp>
        <p:nvSpPr>
          <p:cNvPr id="469" name="Shape 27"/>
          <p:cNvSpPr/>
          <p:nvPr/>
        </p:nvSpPr>
        <p:spPr>
          <a:xfrm>
            <a:off x="4745880" y="2788920"/>
            <a:ext cx="1261080" cy="502200"/>
          </a:xfrm>
          <a:prstGeom prst="roundRect">
            <a:avLst>
              <a:gd name="adj" fmla="val 9091"/>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0" name="Text 28"/>
          <p:cNvSpPr/>
          <p:nvPr/>
        </p:nvSpPr>
        <p:spPr>
          <a:xfrm>
            <a:off x="474588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x[6]</a:t>
            </a:r>
            <a:endParaRPr lang="en-US" sz="1300" b="0" u="none" strike="noStrike">
              <a:solidFill>
                <a:srgbClr val="000000"/>
              </a:solidFill>
              <a:effectLst/>
              <a:uFillTx/>
              <a:latin typeface="Arial"/>
            </a:endParaRPr>
          </a:p>
        </p:txBody>
      </p:sp>
      <p:sp>
        <p:nvSpPr>
          <p:cNvPr id="471" name="Shape 29"/>
          <p:cNvSpPr/>
          <p:nvPr/>
        </p:nvSpPr>
        <p:spPr>
          <a:xfrm>
            <a:off x="6099120" y="278892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2" name="Text 30"/>
          <p:cNvSpPr/>
          <p:nvPr/>
        </p:nvSpPr>
        <p:spPr>
          <a:xfrm>
            <a:off x="609912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x[1]</a:t>
            </a:r>
            <a:endParaRPr lang="en-US" sz="1300" b="0" u="none" strike="noStrike">
              <a:solidFill>
                <a:srgbClr val="000000"/>
              </a:solidFill>
              <a:effectLst/>
              <a:uFillTx/>
              <a:latin typeface="Arial"/>
            </a:endParaRPr>
          </a:p>
        </p:txBody>
      </p:sp>
      <p:sp>
        <p:nvSpPr>
          <p:cNvPr id="473" name="Shape 31"/>
          <p:cNvSpPr/>
          <p:nvPr/>
        </p:nvSpPr>
        <p:spPr>
          <a:xfrm>
            <a:off x="7452360" y="278892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4" name="Text 32"/>
          <p:cNvSpPr/>
          <p:nvPr/>
        </p:nvSpPr>
        <p:spPr>
          <a:xfrm>
            <a:off x="745236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x[5]</a:t>
            </a:r>
            <a:endParaRPr lang="en-US" sz="1300" b="0" u="none" strike="noStrike">
              <a:solidFill>
                <a:srgbClr val="000000"/>
              </a:solidFill>
              <a:effectLst/>
              <a:uFillTx/>
              <a:latin typeface="Arial"/>
            </a:endParaRPr>
          </a:p>
        </p:txBody>
      </p:sp>
      <p:sp>
        <p:nvSpPr>
          <p:cNvPr id="475" name="Shape 33"/>
          <p:cNvSpPr/>
          <p:nvPr/>
        </p:nvSpPr>
        <p:spPr>
          <a:xfrm>
            <a:off x="8805600" y="278892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6" name="Text 34"/>
          <p:cNvSpPr/>
          <p:nvPr/>
        </p:nvSpPr>
        <p:spPr>
          <a:xfrm>
            <a:off x="880560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x[3]</a:t>
            </a:r>
            <a:endParaRPr lang="en-US" sz="1300" b="0" u="none" strike="noStrike">
              <a:solidFill>
                <a:srgbClr val="000000"/>
              </a:solidFill>
              <a:effectLst/>
              <a:uFillTx/>
              <a:latin typeface="Arial"/>
            </a:endParaRPr>
          </a:p>
        </p:txBody>
      </p:sp>
      <p:sp>
        <p:nvSpPr>
          <p:cNvPr id="477" name="Shape 35"/>
          <p:cNvSpPr/>
          <p:nvPr/>
        </p:nvSpPr>
        <p:spPr>
          <a:xfrm>
            <a:off x="10158840" y="2788920"/>
            <a:ext cx="1261080" cy="502200"/>
          </a:xfrm>
          <a:prstGeom prst="roundRect">
            <a:avLst>
              <a:gd name="adj" fmla="val 9091"/>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8" name="Text 36"/>
          <p:cNvSpPr/>
          <p:nvPr/>
        </p:nvSpPr>
        <p:spPr>
          <a:xfrm>
            <a:off x="10158840" y="2788920"/>
            <a:ext cx="1261080" cy="502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32A4A"/>
                </a:solidFill>
                <a:effectLst/>
                <a:uFillTx/>
                <a:latin typeface="Consolas"/>
                <a:ea typeface="Consolas"/>
              </a:rPr>
              <a:t>x[7]</a:t>
            </a:r>
            <a:endParaRPr lang="en-US" sz="1300" b="0" u="none" strike="noStrike">
              <a:solidFill>
                <a:srgbClr val="000000"/>
              </a:solidFill>
              <a:effectLst/>
              <a:uFillTx/>
              <a:latin typeface="Arial"/>
            </a:endParaRPr>
          </a:p>
        </p:txBody>
      </p:sp>
      <p:sp>
        <p:nvSpPr>
          <p:cNvPr id="479" name="Shape 37"/>
          <p:cNvSpPr/>
          <p:nvPr/>
        </p:nvSpPr>
        <p:spPr>
          <a:xfrm>
            <a:off x="502920" y="3566160"/>
            <a:ext cx="11154960" cy="2605320"/>
          </a:xfrm>
          <a:prstGeom prst="roundRect">
            <a:avLst>
              <a:gd name="adj" fmla="val 2807"/>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0" name="Text 38"/>
          <p:cNvSpPr/>
          <p:nvPr/>
        </p:nvSpPr>
        <p:spPr>
          <a:xfrm>
            <a:off x="731520" y="3675960"/>
            <a:ext cx="10697760" cy="24224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1400" b="1" u="none" strike="noStrike">
                <a:solidFill>
                  <a:srgbClr val="132A4A"/>
                </a:solidFill>
                <a:effectLst/>
                <a:uFillTx/>
                <a:latin typeface="Calibri"/>
                <a:ea typeface="Calibri"/>
              </a:rPr>
              <a:t>Two representations, one algorithm.  </a:t>
            </a:r>
            <a:r>
              <a:rPr lang="en-US" sz="1300" b="0" u="none" strike="noStrike">
                <a:solidFill>
                  <a:srgbClr val="16202E"/>
                </a:solidFill>
                <a:effectLst/>
                <a:uFillTx/>
                <a:latin typeface="Calibri"/>
                <a:ea typeface="Calibri"/>
              </a:rPr>
              <a:t>The mathematical recursion in Section 9 sorts samples by repeatedly separating evens from odds; the iterative flow graph achieves an identical grouping by reading the input in bit-reversed order first, and then only ever combining adjacent pairs, then adjacent groups of four, then the final group of eight.</a:t>
            </a:r>
            <a:endParaRPr lang="en-US" sz="1300" b="0" u="none" strike="noStrike">
              <a:solidFill>
                <a:srgbClr val="000000"/>
              </a:solidFill>
              <a:effectLst/>
              <a:uFillTx/>
              <a:latin typeface="Arial"/>
            </a:endParaRPr>
          </a:p>
          <a:p>
            <a:pPr>
              <a:lnSpc>
                <a:spcPct val="100000"/>
              </a:lnSpc>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6202E"/>
                </a:solidFill>
                <a:effectLst/>
                <a:uFillTx/>
                <a:latin typeface="Calibri"/>
                <a:ea typeface="Calibri"/>
              </a:rPr>
              <a:t>Notice that the bit-reversed order, x[0], x[4], x[2], x[6], x[1], x[5], x[3], x[7], is exactly the order the leaves appeared in the decomposition tree on the previous section's slide, read left to right. This is not a coincidence: bit-reversal is simply the flattened, iterative equivalent of the recursive even/odd splitting.</a:t>
            </a:r>
            <a:endParaRPr lang="en-US" sz="1300" b="0" u="none" strike="noStrike">
              <a:solidFill>
                <a:srgbClr val="000000"/>
              </a:solidFill>
              <a:effectLst/>
              <a:uFillTx/>
              <a:latin typeface="Arial"/>
            </a:endParaRPr>
          </a:p>
        </p:txBody>
      </p:sp>
      <p:sp>
        <p:nvSpPr>
          <p:cNvPr id="481" name="Text 3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482" name="Text 4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Bit-Reversal Ordering</a:t>
            </a:r>
            <a:endParaRPr lang="en-US" sz="900" b="0" u="none" strike="noStrike">
              <a:solidFill>
                <a:srgbClr val="000000"/>
              </a:solidFill>
              <a:effectLst/>
              <a:uFillTx/>
              <a:latin typeface="Arial"/>
            </a:endParaRPr>
          </a:p>
        </p:txBody>
      </p:sp>
      <p:sp>
        <p:nvSpPr>
          <p:cNvPr id="483" name="Text 4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8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11 · BUILDING IN STAGES</a:t>
            </a:r>
            <a:endParaRPr lang="en-US" sz="1150" b="0" u="none" strike="noStrike">
              <a:solidFill>
                <a:srgbClr val="000000"/>
              </a:solidFill>
              <a:effectLst/>
              <a:uFillTx/>
              <a:latin typeface="Arial"/>
            </a:endParaRPr>
          </a:p>
        </p:txBody>
      </p:sp>
      <p:sp>
        <p:nvSpPr>
          <p:cNvPr id="48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8-Point FFT Organizes Into log₂(8) = 3 Stages</a:t>
            </a:r>
            <a:endParaRPr lang="en-US" sz="2700" b="0" u="none" strike="noStrike">
              <a:solidFill>
                <a:srgbClr val="000000"/>
              </a:solidFill>
              <a:effectLst/>
              <a:uFillTx/>
              <a:latin typeface="Arial"/>
            </a:endParaRPr>
          </a:p>
        </p:txBody>
      </p:sp>
      <p:sp>
        <p:nvSpPr>
          <p:cNvPr id="486" name="Shape 2"/>
          <p:cNvSpPr/>
          <p:nvPr/>
        </p:nvSpPr>
        <p:spPr>
          <a:xfrm>
            <a:off x="2926080" y="1207080"/>
            <a:ext cx="6308640" cy="685080"/>
          </a:xfrm>
          <a:prstGeom prst="roundRect">
            <a:avLst>
              <a:gd name="adj" fmla="val 10667"/>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7" name="Text 3"/>
          <p:cNvSpPr/>
          <p:nvPr/>
        </p:nvSpPr>
        <p:spPr>
          <a:xfrm>
            <a:off x="3063240" y="1207080"/>
            <a:ext cx="6034320" cy="685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0" u="none" strike="noStrike">
                <a:solidFill>
                  <a:srgbClr val="132A4A"/>
                </a:solidFill>
                <a:effectLst/>
                <a:uFillTx/>
                <a:latin typeface="Cambria"/>
                <a:ea typeface="Cambria"/>
              </a:rPr>
              <a:t>Number of stages  =  log</a:t>
            </a:r>
            <a:r>
              <a:rPr lang="en-US" sz="1100" b="0" u="none" strike="noStrike" baseline="-40000">
                <a:solidFill>
                  <a:srgbClr val="132A4A"/>
                </a:solidFill>
                <a:effectLst/>
                <a:uFillTx/>
                <a:latin typeface="Cambria"/>
                <a:ea typeface="Cambria"/>
              </a:rPr>
              <a:t>2</a:t>
            </a:r>
            <a:r>
              <a:rPr lang="en-US" sz="1800" b="0" u="none" strike="noStrike">
                <a:solidFill>
                  <a:srgbClr val="132A4A"/>
                </a:solidFill>
                <a:effectLst/>
                <a:uFillTx/>
                <a:latin typeface="Cambria"/>
                <a:ea typeface="Cambria"/>
              </a:rPr>
              <a:t>(N)  =  log</a:t>
            </a:r>
            <a:r>
              <a:rPr lang="en-US" sz="1100" b="0" u="none" strike="noStrike" baseline="-40000">
                <a:solidFill>
                  <a:srgbClr val="132A4A"/>
                </a:solidFill>
                <a:effectLst/>
                <a:uFillTx/>
                <a:latin typeface="Cambria"/>
                <a:ea typeface="Cambria"/>
              </a:rPr>
              <a:t>2</a:t>
            </a:r>
            <a:r>
              <a:rPr lang="en-US" sz="1800" b="0" u="none" strike="noStrike">
                <a:solidFill>
                  <a:srgbClr val="132A4A"/>
                </a:solidFill>
                <a:effectLst/>
                <a:uFillTx/>
                <a:latin typeface="Cambria"/>
                <a:ea typeface="Cambria"/>
              </a:rPr>
              <a:t>(8)  =  3</a:t>
            </a:r>
            <a:endParaRPr lang="en-US" sz="1800" b="0" u="none" strike="noStrike">
              <a:solidFill>
                <a:srgbClr val="000000"/>
              </a:solidFill>
              <a:effectLst/>
              <a:uFillTx/>
              <a:latin typeface="Arial"/>
            </a:endParaRPr>
          </a:p>
        </p:txBody>
      </p:sp>
      <p:sp>
        <p:nvSpPr>
          <p:cNvPr id="488" name="Text 4"/>
          <p:cNvSpPr/>
          <p:nvPr/>
        </p:nvSpPr>
        <p:spPr>
          <a:xfrm>
            <a:off x="502920" y="2011680"/>
            <a:ext cx="11154960" cy="502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Each stage corresponds to one level of the recursive decomposition tree, read bottom-up: combine 1-point results into 2-point results, combine 2-point results into 4-point results, combine 4-point results into the final 8-point result.</a:t>
            </a:r>
            <a:endParaRPr lang="en-US" sz="1250" b="0" u="none" strike="noStrike">
              <a:solidFill>
                <a:srgbClr val="000000"/>
              </a:solidFill>
              <a:effectLst/>
              <a:uFillTx/>
              <a:latin typeface="Arial"/>
            </a:endParaRPr>
          </a:p>
        </p:txBody>
      </p:sp>
      <p:graphicFrame>
        <p:nvGraphicFramePr>
          <p:cNvPr id="489" name="Table 0"/>
          <p:cNvGraphicFramePr/>
          <p:nvPr/>
        </p:nvGraphicFramePr>
        <p:xfrm>
          <a:off x="502920" y="2651760"/>
          <a:ext cx="11155320" cy="1128960"/>
        </p:xfrm>
        <a:graphic>
          <a:graphicData uri="http://schemas.openxmlformats.org/drawingml/2006/table">
            <a:tbl>
              <a:tblPr/>
              <a:tblGrid>
                <a:gridCol w="914400"/>
                <a:gridCol w="3291840"/>
                <a:gridCol w="1828800"/>
                <a:gridCol w="2926080"/>
                <a:gridCol w="219456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Stage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Combines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Butterfly size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 factors used</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Number of butterflies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1-pt results → 2-pt results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W₂⁰ = 1 (trivial)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2-pt results → 4-pt results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W₄⁰, W₄¹</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4-pt results → 8-pt result</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W₈⁰, W₈¹, W₈², W₈³</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490" name="Shape 5"/>
          <p:cNvSpPr/>
          <p:nvPr/>
        </p:nvSpPr>
        <p:spPr>
          <a:xfrm>
            <a:off x="502920" y="4343400"/>
            <a:ext cx="11154960" cy="1782360"/>
          </a:xfrm>
          <a:prstGeom prst="roundRect">
            <a:avLst>
              <a:gd name="adj" fmla="val 410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1" name="Text 6"/>
          <p:cNvSpPr/>
          <p:nvPr/>
        </p:nvSpPr>
        <p:spPr>
          <a:xfrm>
            <a:off x="731520" y="4453200"/>
            <a:ext cx="10697760" cy="159948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1350" b="1" u="none" strike="noStrike">
                <a:solidFill>
                  <a:srgbClr val="132A4A"/>
                </a:solidFill>
                <a:effectLst/>
                <a:uFillTx/>
                <a:latin typeface="Calibri"/>
                <a:ea typeface="Calibri"/>
              </a:rPr>
              <a:t>Every stage has exactly N/2 = 4 butterflies.  </a:t>
            </a:r>
            <a:r>
              <a:rPr lang="en-US" sz="1300" b="0" u="none" strike="noStrike">
                <a:solidFill>
                  <a:srgbClr val="16202E"/>
                </a:solidFill>
                <a:effectLst/>
                <a:uFillTx/>
                <a:latin typeface="Calibri"/>
                <a:ea typeface="Calibri"/>
              </a:rPr>
              <a:t>This is because every butterfly consumes 2 inputs and produces 2 outputs, and every stage processes all N = 8 data points exactly once. With N/2 butterflies per stage and log₂N = 3 stages, the total butterfly count is:</a:t>
            </a:r>
            <a:endParaRPr lang="en-US" sz="1300" b="0" u="none" strike="noStrike">
              <a:solidFill>
                <a:srgbClr val="000000"/>
              </a:solidFill>
              <a:effectLst/>
              <a:uFillTx/>
              <a:latin typeface="Arial"/>
            </a:endParaRPr>
          </a:p>
          <a:p>
            <a:pPr>
              <a:lnSpc>
                <a:spcPct val="100000"/>
              </a:lnSpc>
            </a:pPr>
            <a:endParaRPr lang="en-US" sz="1300" b="0" u="none" strike="noStrike">
              <a:solidFill>
                <a:srgbClr val="000000"/>
              </a:solidFill>
              <a:effectLst/>
              <a:uFillTx/>
              <a:latin typeface="Arial"/>
            </a:endParaRPr>
          </a:p>
          <a:p>
            <a:pPr defTabSz="914400">
              <a:lnSpc>
                <a:spcPct val="100000"/>
              </a:lnSpc>
              <a:tabLst>
                <a:tab pos="0" algn="l"/>
              </a:tabLst>
            </a:pPr>
            <a:r>
              <a:rPr lang="en-US" sz="1500" b="1" u="none" strike="noStrike">
                <a:solidFill>
                  <a:srgbClr val="132A4A"/>
                </a:solidFill>
                <a:effectLst/>
                <a:uFillTx/>
                <a:latin typeface="Cambria"/>
                <a:ea typeface="Cambria"/>
              </a:rPr>
              <a:t>(N/2) × log₂N  =  4 × 3  =  12 butterflies</a:t>
            </a:r>
            <a:r>
              <a:rPr lang="en-US" sz="1300" b="0" u="none" strike="noStrike">
                <a:solidFill>
                  <a:srgbClr val="16202E"/>
                </a:solidFill>
                <a:effectLst/>
                <a:uFillTx/>
                <a:latin typeface="Calibri"/>
                <a:ea typeface="Calibri"/>
              </a:rPr>
              <a:t>   for the full 8-point transform. Sections 13 and 14 build on this count directly.</a:t>
            </a:r>
            <a:endParaRPr lang="en-US" sz="1300" b="0" u="none" strike="noStrike">
              <a:solidFill>
                <a:srgbClr val="000000"/>
              </a:solidFill>
              <a:effectLst/>
              <a:uFillTx/>
              <a:latin typeface="Arial"/>
            </a:endParaRPr>
          </a:p>
        </p:txBody>
      </p:sp>
      <p:sp>
        <p:nvSpPr>
          <p:cNvPr id="492" name="Text 7"/>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493" name="Text 8"/>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 Stages</a:t>
            </a:r>
            <a:endParaRPr lang="en-US" sz="900" b="0" u="none" strike="noStrike">
              <a:solidFill>
                <a:srgbClr val="000000"/>
              </a:solidFill>
              <a:effectLst/>
              <a:uFillTx/>
              <a:latin typeface="Arial"/>
            </a:endParaRPr>
          </a:p>
        </p:txBody>
      </p:sp>
      <p:sp>
        <p:nvSpPr>
          <p:cNvPr id="494" name="Text 9"/>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95"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11 · BUILDING IN STAGES</a:t>
            </a:r>
            <a:endParaRPr lang="en-US" sz="1150" b="0" u="none" strike="noStrike">
              <a:solidFill>
                <a:srgbClr val="000000"/>
              </a:solidFill>
              <a:effectLst/>
              <a:uFillTx/>
              <a:latin typeface="Arial"/>
            </a:endParaRPr>
          </a:p>
        </p:txBody>
      </p:sp>
      <p:sp>
        <p:nvSpPr>
          <p:cNvPr id="496"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1: Four 2-Point Butterflies</a:t>
            </a:r>
            <a:endParaRPr lang="en-US" sz="2700" b="0" u="none" strike="noStrike">
              <a:solidFill>
                <a:srgbClr val="000000"/>
              </a:solidFill>
              <a:effectLst/>
              <a:uFillTx/>
              <a:latin typeface="Arial"/>
            </a:endParaRPr>
          </a:p>
        </p:txBody>
      </p:sp>
      <p:sp>
        <p:nvSpPr>
          <p:cNvPr id="497"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Inputs: the bit-reversed sequence, taken two samples at a time.</a:t>
            </a:r>
            <a:endParaRPr lang="en-US" sz="1300" b="0" u="none" strike="noStrike">
              <a:solidFill>
                <a:srgbClr val="000000"/>
              </a:solidFill>
              <a:effectLst/>
              <a:uFillTx/>
              <a:latin typeface="Arial"/>
            </a:endParaRPr>
          </a:p>
        </p:txBody>
      </p:sp>
      <p:graphicFrame>
        <p:nvGraphicFramePr>
          <p:cNvPr id="498" name="Table 0"/>
          <p:cNvGraphicFramePr/>
          <p:nvPr/>
        </p:nvGraphicFramePr>
        <p:xfrm>
          <a:off x="502920" y="1536120"/>
          <a:ext cx="11155320" cy="1411200"/>
        </p:xfrm>
        <a:graphic>
          <a:graphicData uri="http://schemas.openxmlformats.org/drawingml/2006/table">
            <a:tbl>
              <a:tblPr/>
              <a:tblGrid>
                <a:gridCol w="1280160"/>
                <a:gridCol w="2743200"/>
                <a:gridCol w="1645920"/>
                <a:gridCol w="2743200"/>
                <a:gridCol w="27432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Butterfly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Inputs (bit-reversed order)</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Output top = A+B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Output bottom = A−B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 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W₂⁰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x[2], 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W₂⁰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x[2]+x[6]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x[2]−x[6]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 x[5]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W₂⁰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x[1]+x[5]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x[1]−x[5]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x[3], 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W₂⁰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x[3]+x[7]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x[3]−x[7]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499" name="Shape 3"/>
          <p:cNvSpPr/>
          <p:nvPr/>
        </p:nvSpPr>
        <p:spPr>
          <a:xfrm>
            <a:off x="502920" y="3246120"/>
            <a:ext cx="11154960" cy="1919520"/>
          </a:xfrm>
          <a:prstGeom prst="roundRect">
            <a:avLst>
              <a:gd name="adj" fmla="val 381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0" name="Text 4"/>
          <p:cNvSpPr/>
          <p:nvPr/>
        </p:nvSpPr>
        <p:spPr>
          <a:xfrm>
            <a:off x="731520" y="3355920"/>
            <a:ext cx="10697760" cy="17366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1350" b="1" u="none" strike="noStrike">
                <a:solidFill>
                  <a:srgbClr val="132A4A"/>
                </a:solidFill>
                <a:effectLst/>
                <a:uFillTx/>
                <a:latin typeface="Calibri"/>
                <a:ea typeface="Calibri"/>
              </a:rPr>
              <a:t>Every twiddle factor in Stage 1 is trivial.  </a:t>
            </a:r>
            <a:r>
              <a:rPr lang="en-US" sz="1250" b="0" u="none" strike="noStrike">
                <a:solidFill>
                  <a:srgbClr val="16202E"/>
                </a:solidFill>
                <a:effectLst/>
                <a:uFillTx/>
                <a:latin typeface="Calibri"/>
                <a:ea typeface="Calibri"/>
              </a:rPr>
              <a:t>A 2-point DFT only ever needs W₂⁰ = 1, so no genuine complex multiplication happens anywhere in this stage, only additions and subtractions. Each butterfly consumes 2 adjacent samples from the bit-reversed array and writes its two outputs back to the same two positions (an “in-place” computation), which is exactly what makes the iterative, memory-efficient hardware implementation possible.</a:t>
            </a:r>
            <a:endParaRPr lang="en-US" sz="1250" b="0" u="none" strike="noStrike">
              <a:solidFill>
                <a:srgbClr val="000000"/>
              </a:solidFill>
              <a:effectLst/>
              <a:uFillTx/>
              <a:latin typeface="Arial"/>
            </a:endParaRPr>
          </a:p>
          <a:p>
            <a:pPr>
              <a:lnSpc>
                <a:spcPct val="100000"/>
              </a:lnSpc>
            </a:pPr>
            <a:endParaRPr lang="en-US" sz="1250" b="0" u="none" strike="noStrike">
              <a:solidFill>
                <a:srgbClr val="000000"/>
              </a:solidFill>
              <a:effectLst/>
              <a:uFillTx/>
              <a:latin typeface="Arial"/>
            </a:endParaRPr>
          </a:p>
          <a:p>
            <a:pPr defTabSz="914400">
              <a:lnSpc>
                <a:spcPct val="100000"/>
              </a:lnSpc>
              <a:tabLst>
                <a:tab pos="0" algn="l"/>
              </a:tabLst>
            </a:pPr>
            <a:r>
              <a:rPr lang="en-US" sz="1250" b="1" u="none" strike="noStrike">
                <a:solidFill>
                  <a:srgbClr val="132A4A"/>
                </a:solidFill>
                <a:effectLst/>
                <a:uFillTx/>
                <a:latin typeface="Calibri"/>
                <a:ea typeface="Calibri"/>
              </a:rPr>
              <a:t>Butterflies in this stage: 4  (= N/2)</a:t>
            </a:r>
            <a:endParaRPr lang="en-US" sz="1250" b="0" u="none" strike="noStrike">
              <a:solidFill>
                <a:srgbClr val="000000"/>
              </a:solidFill>
              <a:effectLst/>
              <a:uFillTx/>
              <a:latin typeface="Arial"/>
            </a:endParaRPr>
          </a:p>
        </p:txBody>
      </p:sp>
      <p:sp>
        <p:nvSpPr>
          <p:cNvPr id="501"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02"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Stage 1</a:t>
            </a:r>
            <a:endParaRPr lang="en-US" sz="900" b="0" u="none" strike="noStrike">
              <a:solidFill>
                <a:srgbClr val="000000"/>
              </a:solidFill>
              <a:effectLst/>
              <a:uFillTx/>
              <a:latin typeface="Arial"/>
            </a:endParaRPr>
          </a:p>
        </p:txBody>
      </p:sp>
      <p:sp>
        <p:nvSpPr>
          <p:cNvPr id="503"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0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11 · BUILDING IN STAGES</a:t>
            </a:r>
            <a:endParaRPr lang="en-US" sz="1150" b="0" u="none" strike="noStrike">
              <a:solidFill>
                <a:srgbClr val="000000"/>
              </a:solidFill>
              <a:effectLst/>
              <a:uFillTx/>
              <a:latin typeface="Arial"/>
            </a:endParaRPr>
          </a:p>
        </p:txBody>
      </p:sp>
      <p:sp>
        <p:nvSpPr>
          <p:cNvPr id="50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2: Combine Into Four-Point Results</a:t>
            </a:r>
            <a:endParaRPr lang="en-US" sz="2700" b="0" u="none" strike="noStrike">
              <a:solidFill>
                <a:srgbClr val="000000"/>
              </a:solidFill>
              <a:effectLst/>
              <a:uFillTx/>
              <a:latin typeface="Arial"/>
            </a:endParaRPr>
          </a:p>
        </p:txBody>
      </p:sp>
      <p:sp>
        <p:nvSpPr>
          <p:cNvPr id="506"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Inputs: the four 2-point results from Stage 1, combined in groups of four using the 4-point twiddle factors.</a:t>
            </a:r>
            <a:endParaRPr lang="en-US" sz="1300" b="0" u="none" strike="noStrike">
              <a:solidFill>
                <a:srgbClr val="000000"/>
              </a:solidFill>
              <a:effectLst/>
              <a:uFillTx/>
              <a:latin typeface="Arial"/>
            </a:endParaRPr>
          </a:p>
        </p:txBody>
      </p:sp>
      <p:graphicFrame>
        <p:nvGraphicFramePr>
          <p:cNvPr id="507" name="Table 0"/>
          <p:cNvGraphicFramePr/>
          <p:nvPr/>
        </p:nvGraphicFramePr>
        <p:xfrm>
          <a:off x="502920" y="1536120"/>
          <a:ext cx="11155320" cy="1411200"/>
        </p:xfrm>
        <a:graphic>
          <a:graphicData uri="http://schemas.openxmlformats.org/drawingml/2006/table">
            <a:tbl>
              <a:tblPr/>
              <a:tblGrid>
                <a:gridCol w="1005840"/>
                <a:gridCol w="1188720"/>
                <a:gridCol w="3108960"/>
                <a:gridCol w="1828800"/>
                <a:gridCol w="402336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Group</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Butterfly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Stage-1 inputs used</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Outputs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k=0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(x0+x4), (x2+x6)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W₄⁰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sum, difference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k=1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(x0−x4), (x2−x6)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W₄¹ = −j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sum, difference (after −j rotation)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k=0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(x1+x5), (x3+x7)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W₄⁰ = 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sum, difference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k=1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(x1−x5), (x3−x7)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W₄¹ = −j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sum, difference (after −j rotation)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508" name="Shape 3"/>
          <p:cNvSpPr/>
          <p:nvPr/>
        </p:nvSpPr>
        <p:spPr>
          <a:xfrm>
            <a:off x="502920" y="3429000"/>
            <a:ext cx="11154960" cy="1782360"/>
          </a:xfrm>
          <a:prstGeom prst="roundRect">
            <a:avLst>
              <a:gd name="adj" fmla="val 410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9" name="Text 4"/>
          <p:cNvSpPr/>
          <p:nvPr/>
        </p:nvSpPr>
        <p:spPr>
          <a:xfrm>
            <a:off x="731520" y="3538800"/>
            <a:ext cx="10697760" cy="15994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Group A produces E[0..3] (from even samples), Group B produces O[0..3] (from odd samples).  </a:t>
            </a:r>
            <a:r>
              <a:rPr lang="en-US" sz="1250" b="0" u="none" strike="noStrike">
                <a:solidFill>
                  <a:srgbClr val="16202E"/>
                </a:solidFill>
                <a:effectLst/>
                <a:uFillTx/>
                <a:latin typeface="Calibri"/>
                <a:ea typeface="Calibri"/>
              </a:rPr>
              <a:t>W₄¹ = −j is another trivial twiddle factor: multiplying by −j swaps the real and imaginary parts and flips one sign, so it also needs no true multiplier (Section 17). Butterflies in this stage: 4 (= N/2).</a:t>
            </a:r>
            <a:endParaRPr lang="en-US" sz="1250" b="0" u="none" strike="noStrike">
              <a:solidFill>
                <a:srgbClr val="000000"/>
              </a:solidFill>
              <a:effectLst/>
              <a:uFillTx/>
              <a:latin typeface="Arial"/>
            </a:endParaRPr>
          </a:p>
        </p:txBody>
      </p:sp>
      <p:sp>
        <p:nvSpPr>
          <p:cNvPr id="510"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11"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Stage 2</a:t>
            </a:r>
            <a:endParaRPr lang="en-US" sz="900" b="0" u="none" strike="noStrike">
              <a:solidFill>
                <a:srgbClr val="000000"/>
              </a:solidFill>
              <a:effectLst/>
              <a:uFillTx/>
              <a:latin typeface="Arial"/>
            </a:endParaRPr>
          </a:p>
        </p:txBody>
      </p:sp>
      <p:sp>
        <p:nvSpPr>
          <p:cNvPr id="512"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13"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11 · BUILDING IN STAGES</a:t>
            </a:r>
            <a:endParaRPr lang="en-US" sz="1150" b="0" u="none" strike="noStrike">
              <a:solidFill>
                <a:srgbClr val="000000"/>
              </a:solidFill>
              <a:effectLst/>
              <a:uFillTx/>
              <a:latin typeface="Arial"/>
            </a:endParaRPr>
          </a:p>
        </p:txBody>
      </p:sp>
      <p:sp>
        <p:nvSpPr>
          <p:cNvPr id="514"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3: Final Combination Into the 8-Point Result</a:t>
            </a:r>
            <a:endParaRPr lang="en-US" sz="2700" b="0" u="none" strike="noStrike">
              <a:solidFill>
                <a:srgbClr val="000000"/>
              </a:solidFill>
              <a:effectLst/>
              <a:uFillTx/>
              <a:latin typeface="Arial"/>
            </a:endParaRPr>
          </a:p>
        </p:txBody>
      </p:sp>
      <p:sp>
        <p:nvSpPr>
          <p:cNvPr id="515"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Inputs: the two 4-point results, E[k] (Group A) and O[k] (Group B), combined with the full set of 8-point twiddle factors.</a:t>
            </a:r>
            <a:endParaRPr lang="en-US" sz="1300" b="0" u="none" strike="noStrike">
              <a:solidFill>
                <a:srgbClr val="000000"/>
              </a:solidFill>
              <a:effectLst/>
              <a:uFillTx/>
              <a:latin typeface="Arial"/>
            </a:endParaRPr>
          </a:p>
        </p:txBody>
      </p:sp>
      <p:graphicFrame>
        <p:nvGraphicFramePr>
          <p:cNvPr id="516" name="Table 0"/>
          <p:cNvGraphicFramePr/>
          <p:nvPr/>
        </p:nvGraphicFramePr>
        <p:xfrm>
          <a:off x="502920" y="1536120"/>
          <a:ext cx="11155320" cy="1411200"/>
        </p:xfrm>
        <a:graphic>
          <a:graphicData uri="http://schemas.openxmlformats.org/drawingml/2006/table">
            <a:tbl>
              <a:tblPr/>
              <a:tblGrid>
                <a:gridCol w="1280160"/>
                <a:gridCol w="2011680"/>
                <a:gridCol w="2377440"/>
                <a:gridCol w="2743200"/>
                <a:gridCol w="27432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Butterfly (k)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Inputs</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 W₈ᵏ</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Output X[k] = E[k]+W₈ᵏO[k]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Output X[k+4] = E[k]−W₈ᵏO[k]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E[0], O[0]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E[1], O[1]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0.7071−j0.7071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E[2], O[2]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E[3], O[3]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−0.7071−j0.7071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517" name="Shape 3"/>
          <p:cNvSpPr/>
          <p:nvPr/>
        </p:nvSpPr>
        <p:spPr>
          <a:xfrm>
            <a:off x="502920" y="3337560"/>
            <a:ext cx="11154960" cy="1873800"/>
          </a:xfrm>
          <a:prstGeom prst="roundRect">
            <a:avLst>
              <a:gd name="adj" fmla="val 390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8" name="Text 4"/>
          <p:cNvSpPr/>
          <p:nvPr/>
        </p:nvSpPr>
        <p:spPr>
          <a:xfrm>
            <a:off x="731520" y="3447360"/>
            <a:ext cx="10697760" cy="16909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50" b="1" u="none" strike="noStrike">
                <a:solidFill>
                  <a:srgbClr val="132A4A"/>
                </a:solidFill>
                <a:effectLst/>
                <a:uFillTx/>
                <a:latin typeface="Calibri"/>
                <a:ea typeface="Calibri"/>
              </a:rPr>
              <a:t>This is exactly the equation pair from Section 6, evaluated four times.  </a:t>
            </a:r>
            <a:r>
              <a:rPr lang="en-US" sz="1250" b="0" u="none" strike="noStrike">
                <a:solidFill>
                  <a:srgbClr val="16202E"/>
                </a:solidFill>
                <a:effectLst/>
                <a:uFillTx/>
                <a:latin typeface="Calibri"/>
                <a:ea typeface="Calibri"/>
              </a:rPr>
              <a:t>Only butterflies k=1 and k=3 require a genuine complex multiplication (by W₈¹ and W₈³); k=0 and k=2 use trivial twiddle factors (1 and −j). Butterflies in this stage: 4 (= N/2). After this stage, the outputs X[0] through X[7] are already in natural, non-permuted order, which is the DIT property noted in Section 5's comparison table.</a:t>
            </a:r>
            <a:endParaRPr lang="en-US" sz="1250" b="0" u="none" strike="noStrike">
              <a:solidFill>
                <a:srgbClr val="000000"/>
              </a:solidFill>
              <a:effectLst/>
              <a:uFillTx/>
              <a:latin typeface="Arial"/>
            </a:endParaRPr>
          </a:p>
        </p:txBody>
      </p:sp>
      <p:sp>
        <p:nvSpPr>
          <p:cNvPr id="519"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20"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Stage 3</a:t>
            </a:r>
            <a:endParaRPr lang="en-US" sz="900" b="0" u="none" strike="noStrike">
              <a:solidFill>
                <a:srgbClr val="000000"/>
              </a:solidFill>
              <a:effectLst/>
              <a:uFillTx/>
              <a:latin typeface="Arial"/>
            </a:endParaRPr>
          </a:p>
        </p:txBody>
      </p:sp>
      <p:sp>
        <p:nvSpPr>
          <p:cNvPr id="521"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2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12 · NUMERICAL EXAMPLE</a:t>
            </a:r>
            <a:endParaRPr lang="en-US" sz="1150" b="0" u="none" strike="noStrike">
              <a:solidFill>
                <a:srgbClr val="000000"/>
              </a:solidFill>
              <a:effectLst/>
              <a:uFillTx/>
              <a:latin typeface="Arial"/>
            </a:endParaRPr>
          </a:p>
        </p:txBody>
      </p:sp>
      <p:sp>
        <p:nvSpPr>
          <p:cNvPr id="52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A Fully Worked 8-Point FFT: x[n] = 1, 2, ..., 8</a:t>
            </a:r>
            <a:endParaRPr lang="en-US" sz="2700" b="0" u="none" strike="noStrike">
              <a:solidFill>
                <a:srgbClr val="000000"/>
              </a:solidFill>
              <a:effectLst/>
              <a:uFillTx/>
              <a:latin typeface="Arial"/>
            </a:endParaRPr>
          </a:p>
        </p:txBody>
      </p:sp>
      <p:sp>
        <p:nvSpPr>
          <p:cNvPr id="524"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Input sequence, natural order</a:t>
            </a:r>
            <a:endParaRPr lang="en-US" sz="1250" b="0" u="none" strike="noStrike">
              <a:solidFill>
                <a:srgbClr val="000000"/>
              </a:solidFill>
              <a:effectLst/>
              <a:uFillTx/>
              <a:latin typeface="Arial"/>
            </a:endParaRPr>
          </a:p>
        </p:txBody>
      </p:sp>
      <p:sp>
        <p:nvSpPr>
          <p:cNvPr id="525" name="Shape 3"/>
          <p:cNvSpPr/>
          <p:nvPr/>
        </p:nvSpPr>
        <p:spPr>
          <a:xfrm>
            <a:off x="68580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6" name="Text 4"/>
          <p:cNvSpPr/>
          <p:nvPr/>
        </p:nvSpPr>
        <p:spPr>
          <a:xfrm>
            <a:off x="68580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x[0]=1</a:t>
            </a:r>
            <a:endParaRPr lang="en-US" sz="1250" b="0" u="none" strike="noStrike">
              <a:solidFill>
                <a:srgbClr val="000000"/>
              </a:solidFill>
              <a:effectLst/>
              <a:uFillTx/>
              <a:latin typeface="Arial"/>
            </a:endParaRPr>
          </a:p>
        </p:txBody>
      </p:sp>
      <p:sp>
        <p:nvSpPr>
          <p:cNvPr id="527" name="Shape 5"/>
          <p:cNvSpPr/>
          <p:nvPr/>
        </p:nvSpPr>
        <p:spPr>
          <a:xfrm>
            <a:off x="203904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8" name="Text 6"/>
          <p:cNvSpPr/>
          <p:nvPr/>
        </p:nvSpPr>
        <p:spPr>
          <a:xfrm>
            <a:off x="203904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x[1]=2</a:t>
            </a:r>
            <a:endParaRPr lang="en-US" sz="1250" b="0" u="none" strike="noStrike">
              <a:solidFill>
                <a:srgbClr val="000000"/>
              </a:solidFill>
              <a:effectLst/>
              <a:uFillTx/>
              <a:latin typeface="Arial"/>
            </a:endParaRPr>
          </a:p>
        </p:txBody>
      </p:sp>
      <p:sp>
        <p:nvSpPr>
          <p:cNvPr id="529" name="Shape 7"/>
          <p:cNvSpPr/>
          <p:nvPr/>
        </p:nvSpPr>
        <p:spPr>
          <a:xfrm>
            <a:off x="339228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0" name="Text 8"/>
          <p:cNvSpPr/>
          <p:nvPr/>
        </p:nvSpPr>
        <p:spPr>
          <a:xfrm>
            <a:off x="339228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x[2]=3</a:t>
            </a:r>
            <a:endParaRPr lang="en-US" sz="1250" b="0" u="none" strike="noStrike">
              <a:solidFill>
                <a:srgbClr val="000000"/>
              </a:solidFill>
              <a:effectLst/>
              <a:uFillTx/>
              <a:latin typeface="Arial"/>
            </a:endParaRPr>
          </a:p>
        </p:txBody>
      </p:sp>
      <p:sp>
        <p:nvSpPr>
          <p:cNvPr id="531" name="Shape 9"/>
          <p:cNvSpPr/>
          <p:nvPr/>
        </p:nvSpPr>
        <p:spPr>
          <a:xfrm>
            <a:off x="474588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2" name="Text 10"/>
          <p:cNvSpPr/>
          <p:nvPr/>
        </p:nvSpPr>
        <p:spPr>
          <a:xfrm>
            <a:off x="474588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x[3]=4</a:t>
            </a:r>
            <a:endParaRPr lang="en-US" sz="1250" b="0" u="none" strike="noStrike">
              <a:solidFill>
                <a:srgbClr val="000000"/>
              </a:solidFill>
              <a:effectLst/>
              <a:uFillTx/>
              <a:latin typeface="Arial"/>
            </a:endParaRPr>
          </a:p>
        </p:txBody>
      </p:sp>
      <p:sp>
        <p:nvSpPr>
          <p:cNvPr id="533" name="Shape 11"/>
          <p:cNvSpPr/>
          <p:nvPr/>
        </p:nvSpPr>
        <p:spPr>
          <a:xfrm>
            <a:off x="609912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Text 12"/>
          <p:cNvSpPr/>
          <p:nvPr/>
        </p:nvSpPr>
        <p:spPr>
          <a:xfrm>
            <a:off x="609912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x[4]=5</a:t>
            </a:r>
            <a:endParaRPr lang="en-US" sz="1250" b="0" u="none" strike="noStrike">
              <a:solidFill>
                <a:srgbClr val="000000"/>
              </a:solidFill>
              <a:effectLst/>
              <a:uFillTx/>
              <a:latin typeface="Arial"/>
            </a:endParaRPr>
          </a:p>
        </p:txBody>
      </p:sp>
      <p:sp>
        <p:nvSpPr>
          <p:cNvPr id="535" name="Shape 13"/>
          <p:cNvSpPr/>
          <p:nvPr/>
        </p:nvSpPr>
        <p:spPr>
          <a:xfrm>
            <a:off x="745236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6" name="Text 14"/>
          <p:cNvSpPr/>
          <p:nvPr/>
        </p:nvSpPr>
        <p:spPr>
          <a:xfrm>
            <a:off x="745236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x[5]=6</a:t>
            </a:r>
            <a:endParaRPr lang="en-US" sz="1250" b="0" u="none" strike="noStrike">
              <a:solidFill>
                <a:srgbClr val="000000"/>
              </a:solidFill>
              <a:effectLst/>
              <a:uFillTx/>
              <a:latin typeface="Arial"/>
            </a:endParaRPr>
          </a:p>
        </p:txBody>
      </p:sp>
      <p:sp>
        <p:nvSpPr>
          <p:cNvPr id="537" name="Shape 15"/>
          <p:cNvSpPr/>
          <p:nvPr/>
        </p:nvSpPr>
        <p:spPr>
          <a:xfrm>
            <a:off x="880560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16"/>
          <p:cNvSpPr/>
          <p:nvPr/>
        </p:nvSpPr>
        <p:spPr>
          <a:xfrm>
            <a:off x="880560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x[6]=7</a:t>
            </a:r>
            <a:endParaRPr lang="en-US" sz="1250" b="0" u="none" strike="noStrike">
              <a:solidFill>
                <a:srgbClr val="000000"/>
              </a:solidFill>
              <a:effectLst/>
              <a:uFillTx/>
              <a:latin typeface="Arial"/>
            </a:endParaRPr>
          </a:p>
        </p:txBody>
      </p:sp>
      <p:sp>
        <p:nvSpPr>
          <p:cNvPr id="539" name="Shape 17"/>
          <p:cNvSpPr/>
          <p:nvPr/>
        </p:nvSpPr>
        <p:spPr>
          <a:xfrm>
            <a:off x="10158840" y="1508760"/>
            <a:ext cx="1261080" cy="547920"/>
          </a:xfrm>
          <a:prstGeom prst="roundRect">
            <a:avLst>
              <a:gd name="adj" fmla="val 8333"/>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0" name="Text 18"/>
          <p:cNvSpPr/>
          <p:nvPr/>
        </p:nvSpPr>
        <p:spPr>
          <a:xfrm>
            <a:off x="10158840" y="15087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x[7]=8</a:t>
            </a:r>
            <a:endParaRPr lang="en-US" sz="1250" b="0" u="none" strike="noStrike">
              <a:solidFill>
                <a:srgbClr val="000000"/>
              </a:solidFill>
              <a:effectLst/>
              <a:uFillTx/>
              <a:latin typeface="Arial"/>
            </a:endParaRPr>
          </a:p>
        </p:txBody>
      </p:sp>
      <p:sp>
        <p:nvSpPr>
          <p:cNvPr id="541" name="Text 19"/>
          <p:cNvSpPr/>
          <p:nvPr/>
        </p:nvSpPr>
        <p:spPr>
          <a:xfrm>
            <a:off x="502920" y="228600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Reordered by bit-reversal (Section 10), ready for the iterative stages</a:t>
            </a:r>
            <a:endParaRPr lang="en-US" sz="1250" b="0" u="none" strike="noStrike">
              <a:solidFill>
                <a:srgbClr val="000000"/>
              </a:solidFill>
              <a:effectLst/>
              <a:uFillTx/>
              <a:latin typeface="Arial"/>
            </a:endParaRPr>
          </a:p>
        </p:txBody>
      </p:sp>
      <p:sp>
        <p:nvSpPr>
          <p:cNvPr id="542" name="Shape 20"/>
          <p:cNvSpPr/>
          <p:nvPr/>
        </p:nvSpPr>
        <p:spPr>
          <a:xfrm>
            <a:off x="685800" y="2587680"/>
            <a:ext cx="1261080" cy="547920"/>
          </a:xfrm>
          <a:prstGeom prst="roundRect">
            <a:avLst>
              <a:gd name="adj" fmla="val 8333"/>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3" name="Text 21"/>
          <p:cNvSpPr/>
          <p:nvPr/>
        </p:nvSpPr>
        <p:spPr>
          <a:xfrm>
            <a:off x="68580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x[0]=1</a:t>
            </a:r>
            <a:endParaRPr lang="en-US" sz="1250" b="0" u="none" strike="noStrike">
              <a:solidFill>
                <a:srgbClr val="000000"/>
              </a:solidFill>
              <a:effectLst/>
              <a:uFillTx/>
              <a:latin typeface="Arial"/>
            </a:endParaRPr>
          </a:p>
        </p:txBody>
      </p:sp>
      <p:sp>
        <p:nvSpPr>
          <p:cNvPr id="544" name="Shape 22"/>
          <p:cNvSpPr/>
          <p:nvPr/>
        </p:nvSpPr>
        <p:spPr>
          <a:xfrm>
            <a:off x="2039040" y="2587680"/>
            <a:ext cx="1261080" cy="547920"/>
          </a:xfrm>
          <a:prstGeom prst="roundRect">
            <a:avLst>
              <a:gd name="adj" fmla="val 8333"/>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5" name="Text 23"/>
          <p:cNvSpPr/>
          <p:nvPr/>
        </p:nvSpPr>
        <p:spPr>
          <a:xfrm>
            <a:off x="203904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x[4]=5</a:t>
            </a:r>
            <a:endParaRPr lang="en-US" sz="1250" b="0" u="none" strike="noStrike">
              <a:solidFill>
                <a:srgbClr val="000000"/>
              </a:solidFill>
              <a:effectLst/>
              <a:uFillTx/>
              <a:latin typeface="Arial"/>
            </a:endParaRPr>
          </a:p>
        </p:txBody>
      </p:sp>
      <p:sp>
        <p:nvSpPr>
          <p:cNvPr id="546" name="Shape 24"/>
          <p:cNvSpPr/>
          <p:nvPr/>
        </p:nvSpPr>
        <p:spPr>
          <a:xfrm>
            <a:off x="3392280" y="2587680"/>
            <a:ext cx="1261080" cy="547920"/>
          </a:xfrm>
          <a:prstGeom prst="roundRect">
            <a:avLst>
              <a:gd name="adj" fmla="val 8333"/>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7" name="Text 25"/>
          <p:cNvSpPr/>
          <p:nvPr/>
        </p:nvSpPr>
        <p:spPr>
          <a:xfrm>
            <a:off x="339228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x[2]=3</a:t>
            </a:r>
            <a:endParaRPr lang="en-US" sz="1250" b="0" u="none" strike="noStrike">
              <a:solidFill>
                <a:srgbClr val="000000"/>
              </a:solidFill>
              <a:effectLst/>
              <a:uFillTx/>
              <a:latin typeface="Arial"/>
            </a:endParaRPr>
          </a:p>
        </p:txBody>
      </p:sp>
      <p:sp>
        <p:nvSpPr>
          <p:cNvPr id="548" name="Shape 26"/>
          <p:cNvSpPr/>
          <p:nvPr/>
        </p:nvSpPr>
        <p:spPr>
          <a:xfrm>
            <a:off x="4745880" y="2587680"/>
            <a:ext cx="1261080" cy="547920"/>
          </a:xfrm>
          <a:prstGeom prst="roundRect">
            <a:avLst>
              <a:gd name="adj" fmla="val 8333"/>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9" name="Text 27"/>
          <p:cNvSpPr/>
          <p:nvPr/>
        </p:nvSpPr>
        <p:spPr>
          <a:xfrm>
            <a:off x="474588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x[6]=7</a:t>
            </a:r>
            <a:endParaRPr lang="en-US" sz="1250" b="0" u="none" strike="noStrike">
              <a:solidFill>
                <a:srgbClr val="000000"/>
              </a:solidFill>
              <a:effectLst/>
              <a:uFillTx/>
              <a:latin typeface="Arial"/>
            </a:endParaRPr>
          </a:p>
        </p:txBody>
      </p:sp>
      <p:sp>
        <p:nvSpPr>
          <p:cNvPr id="550" name="Shape 28"/>
          <p:cNvSpPr/>
          <p:nvPr/>
        </p:nvSpPr>
        <p:spPr>
          <a:xfrm>
            <a:off x="6099120" y="2587680"/>
            <a:ext cx="1261080" cy="547920"/>
          </a:xfrm>
          <a:prstGeom prst="roundRect">
            <a:avLst>
              <a:gd name="adj" fmla="val 8333"/>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1" name="Text 29"/>
          <p:cNvSpPr/>
          <p:nvPr/>
        </p:nvSpPr>
        <p:spPr>
          <a:xfrm>
            <a:off x="609912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x[1]=2</a:t>
            </a:r>
            <a:endParaRPr lang="en-US" sz="1250" b="0" u="none" strike="noStrike">
              <a:solidFill>
                <a:srgbClr val="000000"/>
              </a:solidFill>
              <a:effectLst/>
              <a:uFillTx/>
              <a:latin typeface="Arial"/>
            </a:endParaRPr>
          </a:p>
        </p:txBody>
      </p:sp>
      <p:sp>
        <p:nvSpPr>
          <p:cNvPr id="552" name="Shape 30"/>
          <p:cNvSpPr/>
          <p:nvPr/>
        </p:nvSpPr>
        <p:spPr>
          <a:xfrm>
            <a:off x="7452360" y="2587680"/>
            <a:ext cx="1261080" cy="547920"/>
          </a:xfrm>
          <a:prstGeom prst="roundRect">
            <a:avLst>
              <a:gd name="adj" fmla="val 8333"/>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3" name="Text 31"/>
          <p:cNvSpPr/>
          <p:nvPr/>
        </p:nvSpPr>
        <p:spPr>
          <a:xfrm>
            <a:off x="745236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x[5]=6</a:t>
            </a:r>
            <a:endParaRPr lang="en-US" sz="1250" b="0" u="none" strike="noStrike">
              <a:solidFill>
                <a:srgbClr val="000000"/>
              </a:solidFill>
              <a:effectLst/>
              <a:uFillTx/>
              <a:latin typeface="Arial"/>
            </a:endParaRPr>
          </a:p>
        </p:txBody>
      </p:sp>
      <p:sp>
        <p:nvSpPr>
          <p:cNvPr id="554" name="Shape 32"/>
          <p:cNvSpPr/>
          <p:nvPr/>
        </p:nvSpPr>
        <p:spPr>
          <a:xfrm>
            <a:off x="8805600" y="2587680"/>
            <a:ext cx="1261080" cy="547920"/>
          </a:xfrm>
          <a:prstGeom prst="roundRect">
            <a:avLst>
              <a:gd name="adj" fmla="val 8333"/>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5" name="Text 33"/>
          <p:cNvSpPr/>
          <p:nvPr/>
        </p:nvSpPr>
        <p:spPr>
          <a:xfrm>
            <a:off x="880560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x[3]=4</a:t>
            </a:r>
            <a:endParaRPr lang="en-US" sz="1250" b="0" u="none" strike="noStrike">
              <a:solidFill>
                <a:srgbClr val="000000"/>
              </a:solidFill>
              <a:effectLst/>
              <a:uFillTx/>
              <a:latin typeface="Arial"/>
            </a:endParaRPr>
          </a:p>
        </p:txBody>
      </p:sp>
      <p:sp>
        <p:nvSpPr>
          <p:cNvPr id="556" name="Shape 34"/>
          <p:cNvSpPr/>
          <p:nvPr/>
        </p:nvSpPr>
        <p:spPr>
          <a:xfrm>
            <a:off x="10158840" y="2587680"/>
            <a:ext cx="1261080" cy="547920"/>
          </a:xfrm>
          <a:prstGeom prst="roundRect">
            <a:avLst>
              <a:gd name="adj" fmla="val 8333"/>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Text 35"/>
          <p:cNvSpPr/>
          <p:nvPr/>
        </p:nvSpPr>
        <p:spPr>
          <a:xfrm>
            <a:off x="10158840" y="258768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132A4A"/>
                </a:solidFill>
                <a:effectLst/>
                <a:uFillTx/>
                <a:latin typeface="Consolas"/>
                <a:ea typeface="Consolas"/>
              </a:rPr>
              <a:t>x[7]=8</a:t>
            </a:r>
            <a:endParaRPr lang="en-US" sz="1250" b="0" u="none" strike="noStrike">
              <a:solidFill>
                <a:srgbClr val="000000"/>
              </a:solidFill>
              <a:effectLst/>
              <a:uFillTx/>
              <a:latin typeface="Arial"/>
            </a:endParaRPr>
          </a:p>
        </p:txBody>
      </p:sp>
      <p:sp>
        <p:nvSpPr>
          <p:cNvPr id="558" name="Shape 36"/>
          <p:cNvSpPr/>
          <p:nvPr/>
        </p:nvSpPr>
        <p:spPr>
          <a:xfrm>
            <a:off x="502920" y="3429000"/>
            <a:ext cx="11154960" cy="2651040"/>
          </a:xfrm>
          <a:prstGeom prst="roundRect">
            <a:avLst>
              <a:gd name="adj" fmla="val 27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9" name="Text 37"/>
          <p:cNvSpPr/>
          <p:nvPr/>
        </p:nvSpPr>
        <p:spPr>
          <a:xfrm>
            <a:off x="731520" y="3566160"/>
            <a:ext cx="10697760" cy="2422440"/>
          </a:xfrm>
          <a:prstGeom prst="rect">
            <a:avLst/>
          </a:prstGeom>
          <a:noFill/>
          <a:ln w="0">
            <a:noFill/>
          </a:ln>
        </p:spPr>
        <p:style>
          <a:lnRef idx="0"/>
          <a:fillRef idx="0"/>
          <a:effectRef idx="0"/>
          <a:fontRef idx="minor"/>
        </p:style>
        <p:txBody>
          <a:bodyPr lIns="90000" tIns="45000" rIns="90000" bIns="45000" anchor="t">
            <a:noAutofit/>
          </a:bodyPr>
          <a:p>
            <a:pPr>
              <a:lnSpc>
                <a:spcPct val="100000"/>
              </a:lnSpc>
            </a:pPr>
            <a:r>
              <a:rPr lang="en-US" sz="1400" b="1" u="none" strike="noStrike">
                <a:solidFill>
                  <a:srgbClr val="132A4A"/>
                </a:solidFill>
                <a:effectLst/>
                <a:uFillTx/>
                <a:latin typeface="Calibri"/>
                <a:ea typeface="Calibri"/>
              </a:rPr>
              <a:t>Plan for the next three slides.  </a:t>
            </a:r>
            <a:r>
              <a:rPr lang="en-US" sz="1300" b="0" u="none" strike="noStrike">
                <a:solidFill>
                  <a:srgbClr val="16202E"/>
                </a:solidFill>
                <a:effectLst/>
                <a:uFillTx/>
                <a:latin typeface="Calibri"/>
                <a:ea typeface="Calibri"/>
              </a:rPr>
              <a:t>Starting from the bit-reversed sequence above, [1, 5, 3, 7, 2, 6, 4, 8], every butterfly in all three stages will be calculated explicitly: which two numbers go in (A and B), which twiddle factor is used, and what the sum (A+B) and difference (A−B) are. No step is skipped and no result is only stated.</a:t>
            </a:r>
            <a:endParaRPr lang="en-US" sz="1300" b="0" u="none" strike="noStrike">
              <a:solidFill>
                <a:srgbClr val="000000"/>
              </a:solidFill>
              <a:effectLst/>
              <a:uFillTx/>
              <a:latin typeface="Arial"/>
            </a:endParaRPr>
          </a:p>
          <a:p>
            <a:pPr>
              <a:lnSpc>
                <a:spcPct val="100000"/>
              </a:lnSpc>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6202E"/>
                </a:solidFill>
                <a:effectLst/>
                <a:uFillTx/>
                <a:latin typeface="Calibri"/>
                <a:ea typeface="Calibri"/>
              </a:rPr>
              <a:t>At the end, the eight outputs X[0] ... X[7] will be checked against the direct DFT summation from Section 2, to confirm the FFT and DFT produce identical numbers.</a:t>
            </a:r>
            <a:endParaRPr lang="en-US" sz="1300" b="0" u="none" strike="noStrike">
              <a:solidFill>
                <a:srgbClr val="000000"/>
              </a:solidFill>
              <a:effectLst/>
              <a:uFillTx/>
              <a:latin typeface="Arial"/>
            </a:endParaRPr>
          </a:p>
        </p:txBody>
      </p:sp>
      <p:sp>
        <p:nvSpPr>
          <p:cNvPr id="560" name="Text 38"/>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61" name="Text 39"/>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Numerical Example</a:t>
            </a:r>
            <a:endParaRPr lang="en-US" sz="900" b="0" u="none" strike="noStrike">
              <a:solidFill>
                <a:srgbClr val="000000"/>
              </a:solidFill>
              <a:effectLst/>
              <a:uFillTx/>
              <a:latin typeface="Arial"/>
            </a:endParaRPr>
          </a:p>
        </p:txBody>
      </p:sp>
      <p:sp>
        <p:nvSpPr>
          <p:cNvPr id="562" name="Text 40"/>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63"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12 · NUMERICAL EXAMPLE</a:t>
            </a:r>
            <a:endParaRPr lang="en-US" sz="1150" b="0" u="none" strike="noStrike">
              <a:solidFill>
                <a:srgbClr val="000000"/>
              </a:solidFill>
              <a:effectLst/>
              <a:uFillTx/>
              <a:latin typeface="Arial"/>
            </a:endParaRPr>
          </a:p>
        </p:txBody>
      </p:sp>
      <p:sp>
        <p:nvSpPr>
          <p:cNvPr id="564"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1 Calculation: Four Trivial 2-Point Butterflies</a:t>
            </a:r>
            <a:endParaRPr lang="en-US" sz="2700" b="0" u="none" strike="noStrike">
              <a:solidFill>
                <a:srgbClr val="000000"/>
              </a:solidFill>
              <a:effectLst/>
              <a:uFillTx/>
              <a:latin typeface="Arial"/>
            </a:endParaRPr>
          </a:p>
        </p:txBody>
      </p:sp>
      <p:graphicFrame>
        <p:nvGraphicFramePr>
          <p:cNvPr id="565" name="Table 0"/>
          <p:cNvGraphicFramePr/>
          <p:nvPr/>
        </p:nvGraphicFramePr>
        <p:xfrm>
          <a:off x="502920" y="1280160"/>
          <a:ext cx="11155320" cy="1411200"/>
        </p:xfrm>
        <a:graphic>
          <a:graphicData uri="http://schemas.openxmlformats.org/drawingml/2006/table">
            <a:tbl>
              <a:tblPr/>
              <a:tblGrid>
                <a:gridCol w="2194560"/>
                <a:gridCol w="1645920"/>
                <a:gridCol w="1645920"/>
                <a:gridCol w="1463040"/>
                <a:gridCol w="2103120"/>
                <a:gridCol w="21031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Butterfly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 + 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 − 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1  (x0,x4)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1+5 = 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1−5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2  (x2,x6)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3+7 = 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3−7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3  (x1,x5)</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2+6 = 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2−6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4  (x3,x7)</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4+8 = 12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4−8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566" name="Text 2"/>
          <p:cNvSpPr/>
          <p:nvPr/>
        </p:nvSpPr>
        <p:spPr>
          <a:xfrm>
            <a:off x="502920" y="324612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Stage 1 outputs, in position order</a:t>
            </a:r>
            <a:endParaRPr lang="en-US" sz="1250" b="0" u="none" strike="noStrike">
              <a:solidFill>
                <a:srgbClr val="000000"/>
              </a:solidFill>
              <a:effectLst/>
              <a:uFillTx/>
              <a:latin typeface="Arial"/>
            </a:endParaRPr>
          </a:p>
        </p:txBody>
      </p:sp>
      <p:sp>
        <p:nvSpPr>
          <p:cNvPr id="567" name="Shape 3"/>
          <p:cNvSpPr/>
          <p:nvPr/>
        </p:nvSpPr>
        <p:spPr>
          <a:xfrm>
            <a:off x="68580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8" name="Text 4"/>
          <p:cNvSpPr/>
          <p:nvPr/>
        </p:nvSpPr>
        <p:spPr>
          <a:xfrm>
            <a:off x="68580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6</a:t>
            </a:r>
            <a:endParaRPr lang="en-US" sz="1400" b="0" u="none" strike="noStrike">
              <a:solidFill>
                <a:srgbClr val="000000"/>
              </a:solidFill>
              <a:effectLst/>
              <a:uFillTx/>
              <a:latin typeface="Arial"/>
            </a:endParaRPr>
          </a:p>
        </p:txBody>
      </p:sp>
      <p:sp>
        <p:nvSpPr>
          <p:cNvPr id="569" name="Shape 5"/>
          <p:cNvSpPr/>
          <p:nvPr/>
        </p:nvSpPr>
        <p:spPr>
          <a:xfrm>
            <a:off x="203904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0" name="Text 6"/>
          <p:cNvSpPr/>
          <p:nvPr/>
        </p:nvSpPr>
        <p:spPr>
          <a:xfrm>
            <a:off x="203904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-4</a:t>
            </a:r>
            <a:endParaRPr lang="en-US" sz="1400" b="0" u="none" strike="noStrike">
              <a:solidFill>
                <a:srgbClr val="000000"/>
              </a:solidFill>
              <a:effectLst/>
              <a:uFillTx/>
              <a:latin typeface="Arial"/>
            </a:endParaRPr>
          </a:p>
        </p:txBody>
      </p:sp>
      <p:sp>
        <p:nvSpPr>
          <p:cNvPr id="571" name="Shape 7"/>
          <p:cNvSpPr/>
          <p:nvPr/>
        </p:nvSpPr>
        <p:spPr>
          <a:xfrm>
            <a:off x="339228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2" name="Text 8"/>
          <p:cNvSpPr/>
          <p:nvPr/>
        </p:nvSpPr>
        <p:spPr>
          <a:xfrm>
            <a:off x="339228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10</a:t>
            </a:r>
            <a:endParaRPr lang="en-US" sz="1400" b="0" u="none" strike="noStrike">
              <a:solidFill>
                <a:srgbClr val="000000"/>
              </a:solidFill>
              <a:effectLst/>
              <a:uFillTx/>
              <a:latin typeface="Arial"/>
            </a:endParaRPr>
          </a:p>
        </p:txBody>
      </p:sp>
      <p:sp>
        <p:nvSpPr>
          <p:cNvPr id="573" name="Shape 9"/>
          <p:cNvSpPr/>
          <p:nvPr/>
        </p:nvSpPr>
        <p:spPr>
          <a:xfrm>
            <a:off x="474588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4" name="Text 10"/>
          <p:cNvSpPr/>
          <p:nvPr/>
        </p:nvSpPr>
        <p:spPr>
          <a:xfrm>
            <a:off x="474588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-4</a:t>
            </a:r>
            <a:endParaRPr lang="en-US" sz="1400" b="0" u="none" strike="noStrike">
              <a:solidFill>
                <a:srgbClr val="000000"/>
              </a:solidFill>
              <a:effectLst/>
              <a:uFillTx/>
              <a:latin typeface="Arial"/>
            </a:endParaRPr>
          </a:p>
        </p:txBody>
      </p:sp>
      <p:sp>
        <p:nvSpPr>
          <p:cNvPr id="575" name="Shape 11"/>
          <p:cNvSpPr/>
          <p:nvPr/>
        </p:nvSpPr>
        <p:spPr>
          <a:xfrm>
            <a:off x="609912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6" name="Text 12"/>
          <p:cNvSpPr/>
          <p:nvPr/>
        </p:nvSpPr>
        <p:spPr>
          <a:xfrm>
            <a:off x="609912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8</a:t>
            </a:r>
            <a:endParaRPr lang="en-US" sz="1400" b="0" u="none" strike="noStrike">
              <a:solidFill>
                <a:srgbClr val="000000"/>
              </a:solidFill>
              <a:effectLst/>
              <a:uFillTx/>
              <a:latin typeface="Arial"/>
            </a:endParaRPr>
          </a:p>
        </p:txBody>
      </p:sp>
      <p:sp>
        <p:nvSpPr>
          <p:cNvPr id="577" name="Shape 13"/>
          <p:cNvSpPr/>
          <p:nvPr/>
        </p:nvSpPr>
        <p:spPr>
          <a:xfrm>
            <a:off x="745236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8" name="Text 14"/>
          <p:cNvSpPr/>
          <p:nvPr/>
        </p:nvSpPr>
        <p:spPr>
          <a:xfrm>
            <a:off x="745236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-4</a:t>
            </a:r>
            <a:endParaRPr lang="en-US" sz="1400" b="0" u="none" strike="noStrike">
              <a:solidFill>
                <a:srgbClr val="000000"/>
              </a:solidFill>
              <a:effectLst/>
              <a:uFillTx/>
              <a:latin typeface="Arial"/>
            </a:endParaRPr>
          </a:p>
        </p:txBody>
      </p:sp>
      <p:sp>
        <p:nvSpPr>
          <p:cNvPr id="579" name="Shape 15"/>
          <p:cNvSpPr/>
          <p:nvPr/>
        </p:nvSpPr>
        <p:spPr>
          <a:xfrm>
            <a:off x="880560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0" name="Text 16"/>
          <p:cNvSpPr/>
          <p:nvPr/>
        </p:nvSpPr>
        <p:spPr>
          <a:xfrm>
            <a:off x="880560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12</a:t>
            </a:r>
            <a:endParaRPr lang="en-US" sz="1400" b="0" u="none" strike="noStrike">
              <a:solidFill>
                <a:srgbClr val="000000"/>
              </a:solidFill>
              <a:effectLst/>
              <a:uFillTx/>
              <a:latin typeface="Arial"/>
            </a:endParaRPr>
          </a:p>
        </p:txBody>
      </p:sp>
      <p:sp>
        <p:nvSpPr>
          <p:cNvPr id="581" name="Shape 17"/>
          <p:cNvSpPr/>
          <p:nvPr/>
        </p:nvSpPr>
        <p:spPr>
          <a:xfrm>
            <a:off x="10158840" y="3566160"/>
            <a:ext cx="1261080" cy="547920"/>
          </a:xfrm>
          <a:prstGeom prst="roundRect">
            <a:avLst>
              <a:gd name="adj" fmla="val 8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2" name="Text 18"/>
          <p:cNvSpPr/>
          <p:nvPr/>
        </p:nvSpPr>
        <p:spPr>
          <a:xfrm>
            <a:off x="10158840" y="3566160"/>
            <a:ext cx="126108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32A4A"/>
                </a:solidFill>
                <a:effectLst/>
                <a:uFillTx/>
                <a:latin typeface="Consolas"/>
                <a:ea typeface="Consolas"/>
              </a:rPr>
              <a:t>-4</a:t>
            </a:r>
            <a:endParaRPr lang="en-US" sz="1400" b="0" u="none" strike="noStrike">
              <a:solidFill>
                <a:srgbClr val="000000"/>
              </a:solidFill>
              <a:effectLst/>
              <a:uFillTx/>
              <a:latin typeface="Arial"/>
            </a:endParaRPr>
          </a:p>
        </p:txBody>
      </p:sp>
      <p:sp>
        <p:nvSpPr>
          <p:cNvPr id="583" name="Shape 19"/>
          <p:cNvSpPr/>
          <p:nvPr/>
        </p:nvSpPr>
        <p:spPr>
          <a:xfrm>
            <a:off x="502920" y="4343400"/>
            <a:ext cx="11154960" cy="1462320"/>
          </a:xfrm>
          <a:prstGeom prst="roundRect">
            <a:avLst>
              <a:gd name="adj" fmla="val 5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4" name="Text 20"/>
          <p:cNvSpPr/>
          <p:nvPr/>
        </p:nvSpPr>
        <p:spPr>
          <a:xfrm>
            <a:off x="731520" y="4453200"/>
            <a:ext cx="10697760" cy="12337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16202E"/>
                </a:solidFill>
                <a:effectLst/>
                <a:uFillTx/>
                <a:latin typeface="Calibri"/>
                <a:ea typeface="Calibri"/>
              </a:rPr>
              <a:t>All values here happen to be real because the twiddle factor is 1 in every Stage-1 butterfly (a 2-point DFT never needs a rotation). Complex values first appear in Stage 2, where W4^1 = −j is used.</a:t>
            </a:r>
            <a:endParaRPr lang="en-US" sz="1300" b="0" u="none" strike="noStrike">
              <a:solidFill>
                <a:srgbClr val="000000"/>
              </a:solidFill>
              <a:effectLst/>
              <a:uFillTx/>
              <a:latin typeface="Arial"/>
            </a:endParaRPr>
          </a:p>
        </p:txBody>
      </p:sp>
      <p:sp>
        <p:nvSpPr>
          <p:cNvPr id="585" name="Text 21"/>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86" name="Text 22"/>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Numerical Example</a:t>
            </a:r>
            <a:endParaRPr lang="en-US" sz="900" b="0" u="none" strike="noStrike">
              <a:solidFill>
                <a:srgbClr val="000000"/>
              </a:solidFill>
              <a:effectLst/>
              <a:uFillTx/>
              <a:latin typeface="Arial"/>
            </a:endParaRPr>
          </a:p>
        </p:txBody>
      </p:sp>
      <p:sp>
        <p:nvSpPr>
          <p:cNvPr id="587" name="Text 23"/>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88"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12 · NUMERICAL EXAMPLE</a:t>
            </a:r>
            <a:endParaRPr lang="en-US" sz="1150" b="0" u="none" strike="noStrike">
              <a:solidFill>
                <a:srgbClr val="000000"/>
              </a:solidFill>
              <a:effectLst/>
              <a:uFillTx/>
              <a:latin typeface="Arial"/>
            </a:endParaRPr>
          </a:p>
        </p:txBody>
      </p:sp>
      <p:sp>
        <p:nvSpPr>
          <p:cNvPr id="589"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2 Calculation: Combine Into Four-Point Results</a:t>
            </a:r>
            <a:endParaRPr lang="en-US" sz="2700" b="0" u="none" strike="noStrike">
              <a:solidFill>
                <a:srgbClr val="000000"/>
              </a:solidFill>
              <a:effectLst/>
              <a:uFillTx/>
              <a:latin typeface="Arial"/>
            </a:endParaRPr>
          </a:p>
        </p:txBody>
      </p:sp>
      <p:graphicFrame>
        <p:nvGraphicFramePr>
          <p:cNvPr id="590" name="Table 0"/>
          <p:cNvGraphicFramePr/>
          <p:nvPr/>
        </p:nvGraphicFramePr>
        <p:xfrm>
          <a:off x="502920" y="1280160"/>
          <a:ext cx="11155320" cy="1411200"/>
        </p:xfrm>
        <a:graphic>
          <a:graphicData uri="http://schemas.openxmlformats.org/drawingml/2006/table">
            <a:tbl>
              <a:tblPr/>
              <a:tblGrid>
                <a:gridCol w="1188720"/>
                <a:gridCol w="822960"/>
                <a:gridCol w="1737360"/>
                <a:gridCol w="1737360"/>
                <a:gridCol w="1371600"/>
                <a:gridCol w="2194560"/>
                <a:gridCol w="21031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Group</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 W₄ᵏ</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 + W₄ᵏB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 − W₄ᵏB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A</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6+10 = 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6−10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A</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−4+(−j)(−4) = −4+4j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−4−(−j)(−4) = −4−4j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8+12 = 20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8−12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−4+(−j)(−4) = −4+4j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−4−(−j)(−4) = −4−4j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591" name="Text 2"/>
          <p:cNvSpPr/>
          <p:nvPr/>
        </p:nvSpPr>
        <p:spPr>
          <a:xfrm>
            <a:off x="502920" y="356616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Stage 2 outputs (Group A = E[0..3], Group B = O[0..3])</a:t>
            </a:r>
            <a:endParaRPr lang="en-US" sz="1250" b="0" u="none" strike="noStrike">
              <a:solidFill>
                <a:srgbClr val="000000"/>
              </a:solidFill>
              <a:effectLst/>
              <a:uFillTx/>
              <a:latin typeface="Arial"/>
            </a:endParaRPr>
          </a:p>
        </p:txBody>
      </p:sp>
      <p:graphicFrame>
        <p:nvGraphicFramePr>
          <p:cNvPr id="592" name="Table 1"/>
          <p:cNvGraphicFramePr/>
          <p:nvPr/>
        </p:nvGraphicFramePr>
        <p:xfrm>
          <a:off x="502920" y="3886200"/>
          <a:ext cx="11155320" cy="564480"/>
        </p:xfrm>
        <a:graphic>
          <a:graphicData uri="http://schemas.openxmlformats.org/drawingml/2006/table">
            <a:tbl>
              <a:tblPr/>
              <a:tblGrid>
                <a:gridCol w="1371600"/>
                <a:gridCol w="1371600"/>
                <a:gridCol w="1371600"/>
                <a:gridCol w="1371600"/>
                <a:gridCol w="1371600"/>
                <a:gridCol w="1371600"/>
                <a:gridCol w="1371600"/>
                <a:gridCol w="155448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E[0]</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E[1]</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E[2]</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E[3]</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O[0]</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O[1]</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O[2]</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O[3]</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593" name="Shape 3"/>
          <p:cNvSpPr/>
          <p:nvPr/>
        </p:nvSpPr>
        <p:spPr>
          <a:xfrm>
            <a:off x="502920" y="4892040"/>
            <a:ext cx="11154960" cy="913680"/>
          </a:xfrm>
          <a:prstGeom prst="roundRect">
            <a:avLst>
              <a:gd name="adj" fmla="val 8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4" name="Text 4"/>
          <p:cNvSpPr/>
          <p:nvPr/>
        </p:nvSpPr>
        <p:spPr>
          <a:xfrm>
            <a:off x="731520" y="4983480"/>
            <a:ext cx="10697760" cy="730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W4^1 = −j is a trivial rotation: multiplying by −j swaps real and imaginary parts and negates one of them, so (−j)(−4) = 4j needs only a sign flip and a swap, not a general complex multiplier (see Section 17).</a:t>
            </a:r>
            <a:endParaRPr lang="en-US" sz="1250" b="0" u="none" strike="noStrike">
              <a:solidFill>
                <a:srgbClr val="000000"/>
              </a:solidFill>
              <a:effectLst/>
              <a:uFillTx/>
              <a:latin typeface="Arial"/>
            </a:endParaRPr>
          </a:p>
        </p:txBody>
      </p:sp>
      <p:sp>
        <p:nvSpPr>
          <p:cNvPr id="595"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596"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Numerical Example</a:t>
            </a:r>
            <a:endParaRPr lang="en-US" sz="900" b="0" u="none" strike="noStrike">
              <a:solidFill>
                <a:srgbClr val="000000"/>
              </a:solidFill>
              <a:effectLst/>
              <a:uFillTx/>
              <a:latin typeface="Arial"/>
            </a:endParaRPr>
          </a:p>
        </p:txBody>
      </p:sp>
      <p:sp>
        <p:nvSpPr>
          <p:cNvPr id="597"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98"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12 · NUMERICAL EXAMPLE</a:t>
            </a:r>
            <a:endParaRPr lang="en-US" sz="1150" b="0" u="none" strike="noStrike">
              <a:solidFill>
                <a:srgbClr val="000000"/>
              </a:solidFill>
              <a:effectLst/>
              <a:uFillTx/>
              <a:latin typeface="Arial"/>
            </a:endParaRPr>
          </a:p>
        </p:txBody>
      </p:sp>
      <p:sp>
        <p:nvSpPr>
          <p:cNvPr id="599"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Stage 3 Calculation: Final Combination Into X[k]</a:t>
            </a:r>
            <a:endParaRPr lang="en-US" sz="2700" b="0" u="none" strike="noStrike">
              <a:solidFill>
                <a:srgbClr val="000000"/>
              </a:solidFill>
              <a:effectLst/>
              <a:uFillTx/>
              <a:latin typeface="Arial"/>
            </a:endParaRPr>
          </a:p>
        </p:txBody>
      </p:sp>
      <p:graphicFrame>
        <p:nvGraphicFramePr>
          <p:cNvPr id="600" name="Table 0"/>
          <p:cNvGraphicFramePr/>
          <p:nvPr/>
        </p:nvGraphicFramePr>
        <p:xfrm>
          <a:off x="502920" y="1234440"/>
          <a:ext cx="11155320" cy="1411200"/>
        </p:xfrm>
        <a:graphic>
          <a:graphicData uri="http://schemas.openxmlformats.org/drawingml/2006/table">
            <a:tbl>
              <a:tblPr/>
              <a:tblGrid>
                <a:gridCol w="640080"/>
                <a:gridCol w="1920240"/>
                <a:gridCol w="1920240"/>
                <a:gridCol w="2103120"/>
                <a:gridCol w="2286000"/>
                <a:gridCol w="22860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 = E[k]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B = O[k]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Twiddle W₈ᵏ</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X[k] = A+W₈ᵏB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X[k+4] = A−W₈ᵏB</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20</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16+20 = 36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16−20 = −4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0.7071−0.7071j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−4+4j+j5.657 = −4+9.657j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−4+4j−j5.657 = −4−1.657j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−0.7071−0.7071j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−4−4j+j5.657 = −4+1.657j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−4−4j−j5.657 = −4−9.657j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601" name="Text 2"/>
          <p:cNvSpPr/>
          <p:nvPr/>
        </p:nvSpPr>
        <p:spPr>
          <a:xfrm>
            <a:off x="502920" y="3520440"/>
            <a:ext cx="11154960" cy="5936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5C6B7A"/>
                </a:solidFill>
                <a:effectLst/>
                <a:uFillTx/>
                <a:latin typeface="Calibri"/>
                <a:ea typeface="Calibri"/>
              </a:rPr>
              <a:t>Note for k=1 and k=3: W₈ᵏ·B is computed as a full complex multiplication (Section 17), e.g. for k=1: (0.7071−0.7071j)(−4+4j) = 0 + j5.657. These are the only two genuine complex multiplications in the entire 8-point transform (see Section 14).</a:t>
            </a:r>
            <a:endParaRPr lang="en-US" sz="1150" b="0" u="none" strike="noStrike">
              <a:solidFill>
                <a:srgbClr val="000000"/>
              </a:solidFill>
              <a:effectLst/>
              <a:uFillTx/>
              <a:latin typeface="Arial"/>
            </a:endParaRPr>
          </a:p>
        </p:txBody>
      </p:sp>
      <p:sp>
        <p:nvSpPr>
          <p:cNvPr id="602" name="Text 3"/>
          <p:cNvSpPr/>
          <p:nvPr/>
        </p:nvSpPr>
        <p:spPr>
          <a:xfrm>
            <a:off x="502920" y="416052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Final outputs X[0] .. X[7], natural order (no permutation needed for DIT)</a:t>
            </a:r>
            <a:endParaRPr lang="en-US" sz="1250" b="0" u="none" strike="noStrike">
              <a:solidFill>
                <a:srgbClr val="000000"/>
              </a:solidFill>
              <a:effectLst/>
              <a:uFillTx/>
              <a:latin typeface="Arial"/>
            </a:endParaRPr>
          </a:p>
        </p:txBody>
      </p:sp>
      <p:graphicFrame>
        <p:nvGraphicFramePr>
          <p:cNvPr id="603" name="Table 1"/>
          <p:cNvGraphicFramePr/>
          <p:nvPr/>
        </p:nvGraphicFramePr>
        <p:xfrm>
          <a:off x="502920" y="4480560"/>
          <a:ext cx="11155320" cy="564480"/>
        </p:xfrm>
        <a:graphic>
          <a:graphicData uri="http://schemas.openxmlformats.org/drawingml/2006/table">
            <a:tbl>
              <a:tblPr/>
              <a:tblGrid>
                <a:gridCol w="1371600"/>
                <a:gridCol w="1371600"/>
                <a:gridCol w="1371600"/>
                <a:gridCol w="1371600"/>
                <a:gridCol w="1371600"/>
                <a:gridCol w="1371600"/>
                <a:gridCol w="1371600"/>
                <a:gridCol w="155448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X[0]</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X[1]</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X[2]</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X[3]</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X[4]</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X[5]</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X[6]</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X[7]</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36</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−4+9.657j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−4+1.657j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−4−1.657j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−4−9.657j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604" name="Text 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05" name="Text 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Numerical Example</a:t>
            </a:r>
            <a:endParaRPr lang="en-US" sz="900" b="0" u="none" strike="noStrike">
              <a:solidFill>
                <a:srgbClr val="000000"/>
              </a:solidFill>
              <a:effectLst/>
              <a:uFillTx/>
              <a:latin typeface="Arial"/>
            </a:endParaRPr>
          </a:p>
        </p:txBody>
      </p:sp>
      <p:sp>
        <p:nvSpPr>
          <p:cNvPr id="606" name="Text 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29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07"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12 · NUMERICAL EXAMPLE</a:t>
            </a:r>
            <a:endParaRPr lang="en-US" sz="1150" b="0" u="none" strike="noStrike">
              <a:solidFill>
                <a:srgbClr val="000000"/>
              </a:solidFill>
              <a:effectLst/>
              <a:uFillTx/>
              <a:latin typeface="Arial"/>
            </a:endParaRPr>
          </a:p>
        </p:txBody>
      </p:sp>
      <p:sp>
        <p:nvSpPr>
          <p:cNvPr id="608"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Verifying the FFT Result Against the Direct DFT</a:t>
            </a:r>
            <a:endParaRPr lang="en-US" sz="2700" b="0" u="none" strike="noStrike">
              <a:solidFill>
                <a:srgbClr val="000000"/>
              </a:solidFill>
              <a:effectLst/>
              <a:uFillTx/>
              <a:latin typeface="Arial"/>
            </a:endParaRPr>
          </a:p>
        </p:txBody>
      </p:sp>
      <p:sp>
        <p:nvSpPr>
          <p:cNvPr id="609" name="Text 2"/>
          <p:cNvSpPr/>
          <p:nvPr/>
        </p:nvSpPr>
        <p:spPr>
          <a:xfrm>
            <a:off x="502920" y="12070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Cross-check 1: X[0] must equal the sum of all samples</a:t>
            </a:r>
            <a:endParaRPr lang="en-US" sz="1250" b="0" u="none" strike="noStrike">
              <a:solidFill>
                <a:srgbClr val="000000"/>
              </a:solidFill>
              <a:effectLst/>
              <a:uFillTx/>
              <a:latin typeface="Arial"/>
            </a:endParaRPr>
          </a:p>
        </p:txBody>
      </p:sp>
      <p:sp>
        <p:nvSpPr>
          <p:cNvPr id="610" name="Shape 3"/>
          <p:cNvSpPr/>
          <p:nvPr/>
        </p:nvSpPr>
        <p:spPr>
          <a:xfrm>
            <a:off x="502920" y="1508760"/>
            <a:ext cx="11154960" cy="639360"/>
          </a:xfrm>
          <a:prstGeom prst="roundRect">
            <a:avLst>
              <a:gd name="adj" fmla="val 1142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1" name="Text 4"/>
          <p:cNvSpPr/>
          <p:nvPr/>
        </p:nvSpPr>
        <p:spPr>
          <a:xfrm>
            <a:off x="640080" y="1508760"/>
            <a:ext cx="10880640" cy="639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0" u="none" strike="noStrike">
                <a:solidFill>
                  <a:srgbClr val="132A4A"/>
                </a:solidFill>
                <a:effectLst/>
                <a:uFillTx/>
                <a:latin typeface="Cambria"/>
                <a:ea typeface="Cambria"/>
              </a:rPr>
              <a:t>X[0] = Σ x[n] = 1+2+3+4+5+6+7+8 = 36    matches the FFT result X[0] = 36</a:t>
            </a:r>
            <a:endParaRPr lang="en-US" sz="1600" b="0" u="none" strike="noStrike">
              <a:solidFill>
                <a:srgbClr val="000000"/>
              </a:solidFill>
              <a:effectLst/>
              <a:uFillTx/>
              <a:latin typeface="Arial"/>
            </a:endParaRPr>
          </a:p>
        </p:txBody>
      </p:sp>
      <p:sp>
        <p:nvSpPr>
          <p:cNvPr id="612" name="Text 5"/>
          <p:cNvSpPr/>
          <p:nvPr/>
        </p:nvSpPr>
        <p:spPr>
          <a:xfrm>
            <a:off x="502920" y="228600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Cross-check 2: direct evaluation of X[1] from the DFT definition</a:t>
            </a:r>
            <a:endParaRPr lang="en-US" sz="1250" b="0" u="none" strike="noStrike">
              <a:solidFill>
                <a:srgbClr val="000000"/>
              </a:solidFill>
              <a:effectLst/>
              <a:uFillTx/>
              <a:latin typeface="Arial"/>
            </a:endParaRPr>
          </a:p>
        </p:txBody>
      </p:sp>
      <p:sp>
        <p:nvSpPr>
          <p:cNvPr id="613" name="Shape 6"/>
          <p:cNvSpPr/>
          <p:nvPr/>
        </p:nvSpPr>
        <p:spPr>
          <a:xfrm>
            <a:off x="502920" y="2587680"/>
            <a:ext cx="11154960" cy="867960"/>
          </a:xfrm>
          <a:prstGeom prst="roundRect">
            <a:avLst>
              <a:gd name="adj" fmla="val 842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4" name="Text 7"/>
          <p:cNvSpPr/>
          <p:nvPr/>
        </p:nvSpPr>
        <p:spPr>
          <a:xfrm>
            <a:off x="640080" y="2587680"/>
            <a:ext cx="10880640" cy="867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0" u="none" strike="noStrike">
                <a:solidFill>
                  <a:srgbClr val="132A4A"/>
                </a:solidFill>
                <a:effectLst/>
                <a:uFillTx/>
                <a:latin typeface="Cambria"/>
                <a:ea typeface="Cambria"/>
              </a:rPr>
              <a:t>X</a:t>
            </a:r>
            <a:r>
              <a:rPr lang="en-US" sz="1500" b="0" u="none" strike="noStrike" baseline="-40000">
                <a:solidFill>
                  <a:srgbClr val="132A4A"/>
                </a:solidFill>
                <a:effectLst/>
                <a:uFillTx/>
                <a:latin typeface="Cambria"/>
                <a:ea typeface="Cambria"/>
              </a:rPr>
              <a:t>1</a:t>
            </a:r>
            <a:r>
              <a:rPr lang="en-US" sz="1600" b="0" u="none" strike="noStrike">
                <a:solidFill>
                  <a:srgbClr val="132A4A"/>
                </a:solidFill>
                <a:effectLst/>
                <a:uFillTx/>
                <a:latin typeface="Cambria"/>
                <a:ea typeface="Cambria"/>
              </a:rPr>
              <a:t> = Σ</a:t>
            </a:r>
            <a:r>
              <a:rPr lang="en-US" sz="900" b="0" u="none" strike="noStrike" baseline="-40000">
                <a:solidFill>
                  <a:srgbClr val="132A4A"/>
                </a:solidFill>
                <a:effectLst/>
                <a:uFillTx/>
                <a:latin typeface="Cambria"/>
                <a:ea typeface="Cambria"/>
              </a:rPr>
              <a:t>n=0</a:t>
            </a:r>
            <a:r>
              <a:rPr lang="en-US" sz="900" b="0" u="none" strike="noStrike" baseline="30000">
                <a:solidFill>
                  <a:srgbClr val="132A4A"/>
                </a:solidFill>
                <a:effectLst/>
                <a:uFillTx/>
                <a:latin typeface="Cambria"/>
                <a:ea typeface="Cambria"/>
              </a:rPr>
              <a:t>7</a:t>
            </a:r>
            <a:r>
              <a:rPr lang="en-US" sz="1500" b="0" u="none" strike="noStrike">
                <a:solidFill>
                  <a:srgbClr val="132A4A"/>
                </a:solidFill>
                <a:effectLst/>
                <a:uFillTx/>
                <a:latin typeface="Cambria"/>
                <a:ea typeface="Cambria"/>
              </a:rPr>
              <a:t> x[n]·W₈</a:t>
            </a:r>
            <a:r>
              <a:rPr lang="en-US" sz="1500" b="0" u="none" strike="noStrike" baseline="30000">
                <a:solidFill>
                  <a:srgbClr val="132A4A"/>
                </a:solidFill>
                <a:effectLst/>
                <a:uFillTx/>
                <a:latin typeface="Cambria"/>
                <a:ea typeface="Cambria"/>
              </a:rPr>
              <a:t>n</a:t>
            </a:r>
            <a:r>
              <a:rPr lang="en-US" sz="1500" b="0" u="none" strike="noStrike">
                <a:solidFill>
                  <a:srgbClr val="132A4A"/>
                </a:solidFill>
                <a:effectLst/>
                <a:uFillTx/>
                <a:latin typeface="Cambria"/>
                <a:ea typeface="Cambria"/>
              </a:rPr>
              <a:t> = −4 + j(4+4√2) = −4 + j9.657    matches the FFT result X[1] = −4+9.657j</a:t>
            </a:r>
            <a:endParaRPr lang="en-US" sz="1500" b="0" u="none" strike="noStrike">
              <a:solidFill>
                <a:srgbClr val="000000"/>
              </a:solidFill>
              <a:effectLst/>
              <a:uFillTx/>
              <a:latin typeface="Arial"/>
            </a:endParaRPr>
          </a:p>
        </p:txBody>
      </p:sp>
      <p:sp>
        <p:nvSpPr>
          <p:cNvPr id="615" name="Text 8"/>
          <p:cNvSpPr/>
          <p:nvPr/>
        </p:nvSpPr>
        <p:spPr>
          <a:xfrm>
            <a:off x="502920" y="356616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Cross-check 3: conjugate symmetry (x[n] is real-valued)</a:t>
            </a:r>
            <a:endParaRPr lang="en-US" sz="1250" b="0" u="none" strike="noStrike">
              <a:solidFill>
                <a:srgbClr val="000000"/>
              </a:solidFill>
              <a:effectLst/>
              <a:uFillTx/>
              <a:latin typeface="Arial"/>
            </a:endParaRPr>
          </a:p>
        </p:txBody>
      </p:sp>
      <p:graphicFrame>
        <p:nvGraphicFramePr>
          <p:cNvPr id="616" name="Table 0"/>
          <p:cNvGraphicFramePr/>
          <p:nvPr/>
        </p:nvGraphicFramePr>
        <p:xfrm>
          <a:off x="502920" y="3867840"/>
          <a:ext cx="11155320" cy="1411200"/>
        </p:xfrm>
        <a:graphic>
          <a:graphicData uri="http://schemas.openxmlformats.org/drawingml/2006/table">
            <a:tbl>
              <a:tblPr/>
              <a:tblGrid>
                <a:gridCol w="2377440"/>
                <a:gridCol w="4846320"/>
                <a:gridCol w="39319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Pair</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Expected relation X[N−k] = X[k]*</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FFT result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X[7] vs X[1]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conj(−4+9.657j) = −4−9.657j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X[7] = −4−9.657j  ✓</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X[6] vs X[2]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conj(−4+4j) = −4−4j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X[6] = −4−4j  ✓</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X[5] vs X[3]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conj(−4+1.657j) = −4−1.657j</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X[5] = −4−1.657j  ✓</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must be purely real (Nyquist bin)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X[4] = −4  ✓</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617" name="Shape 9"/>
          <p:cNvSpPr/>
          <p:nvPr/>
        </p:nvSpPr>
        <p:spPr>
          <a:xfrm>
            <a:off x="502920" y="5623560"/>
            <a:ext cx="11154960" cy="776520"/>
          </a:xfrm>
          <a:prstGeom prst="roundRect">
            <a:avLst>
              <a:gd name="adj" fmla="val 9412"/>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8" name="Text 10"/>
          <p:cNvSpPr/>
          <p:nvPr/>
        </p:nvSpPr>
        <p:spPr>
          <a:xfrm>
            <a:off x="731520" y="5715000"/>
            <a:ext cx="10697760" cy="59364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Every check agrees. The 12-butterfly FFT computation and the 64-multiply direct DFT summation produce numerically identical results, as they must: the FFT is an algorithm for the DFT, not a different transform (Section 3).</a:t>
            </a:r>
            <a:endParaRPr lang="en-US" sz="1250" b="0" u="none" strike="noStrike">
              <a:solidFill>
                <a:srgbClr val="000000"/>
              </a:solidFill>
              <a:effectLst/>
              <a:uFillTx/>
              <a:latin typeface="Arial"/>
            </a:endParaRPr>
          </a:p>
        </p:txBody>
      </p:sp>
      <p:sp>
        <p:nvSpPr>
          <p:cNvPr id="619" name="Text 11"/>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20" name="Text 12"/>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Numerical Example</a:t>
            </a:r>
            <a:endParaRPr lang="en-US" sz="900" b="0" u="none" strike="noStrike">
              <a:solidFill>
                <a:srgbClr val="000000"/>
              </a:solidFill>
              <a:effectLst/>
              <a:uFillTx/>
              <a:latin typeface="Arial"/>
            </a:endParaRPr>
          </a:p>
        </p:txBody>
      </p:sp>
      <p:sp>
        <p:nvSpPr>
          <p:cNvPr id="621" name="Text 13"/>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22"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13 · MATH ↔ FLOW GRAPH</a:t>
            </a:r>
            <a:endParaRPr lang="en-US" sz="1150" b="0" u="none" strike="noStrike">
              <a:solidFill>
                <a:srgbClr val="000000"/>
              </a:solidFill>
              <a:effectLst/>
              <a:uFillTx/>
              <a:latin typeface="Arial"/>
            </a:endParaRPr>
          </a:p>
        </p:txBody>
      </p:sp>
      <p:sp>
        <p:nvSpPr>
          <p:cNvPr id="623"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How Every Equation Maps Onto the Flow Graph</a:t>
            </a:r>
            <a:endParaRPr lang="en-US" sz="2700" b="0" u="none" strike="noStrike">
              <a:solidFill>
                <a:srgbClr val="000000"/>
              </a:solidFill>
              <a:effectLst/>
              <a:uFillTx/>
              <a:latin typeface="Arial"/>
            </a:endParaRPr>
          </a:p>
        </p:txBody>
      </p:sp>
      <p:sp>
        <p:nvSpPr>
          <p:cNvPr id="624" name="Shape 2"/>
          <p:cNvSpPr/>
          <p:nvPr/>
        </p:nvSpPr>
        <p:spPr>
          <a:xfrm>
            <a:off x="502920" y="1188720"/>
            <a:ext cx="11154960" cy="429120"/>
          </a:xfrm>
          <a:prstGeom prst="roundRect">
            <a:avLst>
              <a:gd name="adj" fmla="val 10638"/>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Text 3"/>
          <p:cNvSpPr/>
          <p:nvPr/>
        </p:nvSpPr>
        <p:spPr>
          <a:xfrm>
            <a:off x="685800" y="118872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DFT equation</a:t>
            </a:r>
            <a:endParaRPr lang="en-US" sz="1150" b="0" u="none" strike="noStrike">
              <a:solidFill>
                <a:srgbClr val="000000"/>
              </a:solidFill>
              <a:effectLst/>
              <a:uFillTx/>
              <a:latin typeface="Arial"/>
            </a:endParaRPr>
          </a:p>
        </p:txBody>
      </p:sp>
      <p:sp>
        <p:nvSpPr>
          <p:cNvPr id="626" name="Text 4"/>
          <p:cNvSpPr/>
          <p:nvPr/>
        </p:nvSpPr>
        <p:spPr>
          <a:xfrm>
            <a:off x="3383280" y="118872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X[k] = Σ x[n] W_N^(nk)</a:t>
            </a:r>
            <a:endParaRPr lang="en-US" sz="1100" b="0" u="none" strike="noStrike">
              <a:solidFill>
                <a:srgbClr val="000000"/>
              </a:solidFill>
              <a:effectLst/>
              <a:uFillTx/>
              <a:latin typeface="Arial"/>
            </a:endParaRPr>
          </a:p>
        </p:txBody>
      </p:sp>
      <p:sp>
        <p:nvSpPr>
          <p:cNvPr id="627" name="Text 5"/>
          <p:cNvSpPr/>
          <p:nvPr/>
        </p:nvSpPr>
        <p:spPr>
          <a:xfrm>
            <a:off x="6766560" y="118872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full signal-flow graph, start to finish, computes this sum for every k.</a:t>
            </a:r>
            <a:endParaRPr lang="en-US" sz="1070" b="0" u="none" strike="noStrike">
              <a:solidFill>
                <a:srgbClr val="000000"/>
              </a:solidFill>
              <a:effectLst/>
              <a:uFillTx/>
              <a:latin typeface="Arial"/>
            </a:endParaRPr>
          </a:p>
        </p:txBody>
      </p:sp>
      <p:sp>
        <p:nvSpPr>
          <p:cNvPr id="628" name="Shape 6"/>
          <p:cNvSpPr/>
          <p:nvPr/>
        </p:nvSpPr>
        <p:spPr>
          <a:xfrm>
            <a:off x="502920" y="1728360"/>
            <a:ext cx="11154960" cy="429120"/>
          </a:xfrm>
          <a:prstGeom prst="roundRect">
            <a:avLst>
              <a:gd name="adj" fmla="val 10638"/>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9" name="Text 7"/>
          <p:cNvSpPr/>
          <p:nvPr/>
        </p:nvSpPr>
        <p:spPr>
          <a:xfrm>
            <a:off x="685800" y="172836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Even/odd decomposition</a:t>
            </a:r>
            <a:endParaRPr lang="en-US" sz="1150" b="0" u="none" strike="noStrike">
              <a:solidFill>
                <a:srgbClr val="000000"/>
              </a:solidFill>
              <a:effectLst/>
              <a:uFillTx/>
              <a:latin typeface="Arial"/>
            </a:endParaRPr>
          </a:p>
        </p:txBody>
      </p:sp>
      <p:sp>
        <p:nvSpPr>
          <p:cNvPr id="630" name="Text 8"/>
          <p:cNvSpPr/>
          <p:nvPr/>
        </p:nvSpPr>
        <p:spPr>
          <a:xfrm>
            <a:off x="3383280" y="172836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n = 2r or n = 2r+1</a:t>
            </a:r>
            <a:endParaRPr lang="en-US" sz="1100" b="0" u="none" strike="noStrike">
              <a:solidFill>
                <a:srgbClr val="000000"/>
              </a:solidFill>
              <a:effectLst/>
              <a:uFillTx/>
              <a:latin typeface="Arial"/>
            </a:endParaRPr>
          </a:p>
        </p:txBody>
      </p:sp>
      <p:sp>
        <p:nvSpPr>
          <p:cNvPr id="631" name="Text 9"/>
          <p:cNvSpPr/>
          <p:nvPr/>
        </p:nvSpPr>
        <p:spPr>
          <a:xfrm>
            <a:off x="6766560" y="172836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vertical position at which a sample first enters the graph (its row).</a:t>
            </a:r>
            <a:endParaRPr lang="en-US" sz="1070" b="0" u="none" strike="noStrike">
              <a:solidFill>
                <a:srgbClr val="000000"/>
              </a:solidFill>
              <a:effectLst/>
              <a:uFillTx/>
              <a:latin typeface="Arial"/>
            </a:endParaRPr>
          </a:p>
        </p:txBody>
      </p:sp>
      <p:sp>
        <p:nvSpPr>
          <p:cNvPr id="632" name="Shape 10"/>
          <p:cNvSpPr/>
          <p:nvPr/>
        </p:nvSpPr>
        <p:spPr>
          <a:xfrm>
            <a:off x="502920" y="2267640"/>
            <a:ext cx="11154960" cy="429120"/>
          </a:xfrm>
          <a:prstGeom prst="roundRect">
            <a:avLst>
              <a:gd name="adj" fmla="val 10638"/>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3" name="Text 11"/>
          <p:cNvSpPr/>
          <p:nvPr/>
        </p:nvSpPr>
        <p:spPr>
          <a:xfrm>
            <a:off x="685800" y="226764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Smaller DFTs</a:t>
            </a:r>
            <a:endParaRPr lang="en-US" sz="1150" b="0" u="none" strike="noStrike">
              <a:solidFill>
                <a:srgbClr val="000000"/>
              </a:solidFill>
              <a:effectLst/>
              <a:uFillTx/>
              <a:latin typeface="Arial"/>
            </a:endParaRPr>
          </a:p>
        </p:txBody>
      </p:sp>
      <p:sp>
        <p:nvSpPr>
          <p:cNvPr id="634" name="Text 12"/>
          <p:cNvSpPr/>
          <p:nvPr/>
        </p:nvSpPr>
        <p:spPr>
          <a:xfrm>
            <a:off x="3383280" y="226764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E[k], O[k]</a:t>
            </a:r>
            <a:endParaRPr lang="en-US" sz="1100" b="0" u="none" strike="noStrike">
              <a:solidFill>
                <a:srgbClr val="000000"/>
              </a:solidFill>
              <a:effectLst/>
              <a:uFillTx/>
              <a:latin typeface="Arial"/>
            </a:endParaRPr>
          </a:p>
        </p:txBody>
      </p:sp>
      <p:sp>
        <p:nvSpPr>
          <p:cNvPr id="635" name="Text 13"/>
          <p:cNvSpPr/>
          <p:nvPr/>
        </p:nvSpPr>
        <p:spPr>
          <a:xfrm>
            <a:off x="6766560" y="226764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sub-networks feeding each butterfly stage; recursively, more sub-networks feeding those.</a:t>
            </a:r>
            <a:endParaRPr lang="en-US" sz="1070" b="0" u="none" strike="noStrike">
              <a:solidFill>
                <a:srgbClr val="000000"/>
              </a:solidFill>
              <a:effectLst/>
              <a:uFillTx/>
              <a:latin typeface="Arial"/>
            </a:endParaRPr>
          </a:p>
        </p:txBody>
      </p:sp>
      <p:sp>
        <p:nvSpPr>
          <p:cNvPr id="636" name="Shape 14"/>
          <p:cNvSpPr/>
          <p:nvPr/>
        </p:nvSpPr>
        <p:spPr>
          <a:xfrm>
            <a:off x="502920" y="2807280"/>
            <a:ext cx="11154960" cy="429120"/>
          </a:xfrm>
          <a:prstGeom prst="roundRect">
            <a:avLst>
              <a:gd name="adj" fmla="val 10638"/>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7" name="Text 15"/>
          <p:cNvSpPr/>
          <p:nvPr/>
        </p:nvSpPr>
        <p:spPr>
          <a:xfrm>
            <a:off x="685800" y="280728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Twiddle multiplication</a:t>
            </a:r>
            <a:endParaRPr lang="en-US" sz="1150" b="0" u="none" strike="noStrike">
              <a:solidFill>
                <a:srgbClr val="000000"/>
              </a:solidFill>
              <a:effectLst/>
              <a:uFillTx/>
              <a:latin typeface="Arial"/>
            </a:endParaRPr>
          </a:p>
        </p:txBody>
      </p:sp>
      <p:sp>
        <p:nvSpPr>
          <p:cNvPr id="638" name="Text 16"/>
          <p:cNvSpPr/>
          <p:nvPr/>
        </p:nvSpPr>
        <p:spPr>
          <a:xfrm>
            <a:off x="3383280" y="280728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W_N^k · O[k]</a:t>
            </a:r>
            <a:endParaRPr lang="en-US" sz="1100" b="0" u="none" strike="noStrike">
              <a:solidFill>
                <a:srgbClr val="000000"/>
              </a:solidFill>
              <a:effectLst/>
              <a:uFillTx/>
              <a:latin typeface="Arial"/>
            </a:endParaRPr>
          </a:p>
        </p:txBody>
      </p:sp>
      <p:sp>
        <p:nvSpPr>
          <p:cNvPr id="639" name="Text 17"/>
          <p:cNvSpPr/>
          <p:nvPr/>
        </p:nvSpPr>
        <p:spPr>
          <a:xfrm>
            <a:off x="6766560" y="280728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single multiplier symbol (⊗) drawn on the lower input wire of every butterfly.</a:t>
            </a:r>
            <a:endParaRPr lang="en-US" sz="1070" b="0" u="none" strike="noStrike">
              <a:solidFill>
                <a:srgbClr val="000000"/>
              </a:solidFill>
              <a:effectLst/>
              <a:uFillTx/>
              <a:latin typeface="Arial"/>
            </a:endParaRPr>
          </a:p>
        </p:txBody>
      </p:sp>
      <p:sp>
        <p:nvSpPr>
          <p:cNvPr id="640" name="Shape 18"/>
          <p:cNvSpPr/>
          <p:nvPr/>
        </p:nvSpPr>
        <p:spPr>
          <a:xfrm>
            <a:off x="502920" y="3346560"/>
            <a:ext cx="11154960" cy="429120"/>
          </a:xfrm>
          <a:prstGeom prst="roundRect">
            <a:avLst>
              <a:gd name="adj" fmla="val 10638"/>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1" name="Text 19"/>
          <p:cNvSpPr/>
          <p:nvPr/>
        </p:nvSpPr>
        <p:spPr>
          <a:xfrm>
            <a:off x="685800" y="334656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Butterfly</a:t>
            </a:r>
            <a:endParaRPr lang="en-US" sz="1150" b="0" u="none" strike="noStrike">
              <a:solidFill>
                <a:srgbClr val="000000"/>
              </a:solidFill>
              <a:effectLst/>
              <a:uFillTx/>
              <a:latin typeface="Arial"/>
            </a:endParaRPr>
          </a:p>
        </p:txBody>
      </p:sp>
      <p:sp>
        <p:nvSpPr>
          <p:cNvPr id="642" name="Text 20"/>
          <p:cNvSpPr/>
          <p:nvPr/>
        </p:nvSpPr>
        <p:spPr>
          <a:xfrm>
            <a:off x="3383280" y="334656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X[k]=A+B,  X[k+N/2]=A−B</a:t>
            </a:r>
            <a:endParaRPr lang="en-US" sz="1100" b="0" u="none" strike="noStrike">
              <a:solidFill>
                <a:srgbClr val="000000"/>
              </a:solidFill>
              <a:effectLst/>
              <a:uFillTx/>
              <a:latin typeface="Arial"/>
            </a:endParaRPr>
          </a:p>
        </p:txBody>
      </p:sp>
      <p:sp>
        <p:nvSpPr>
          <p:cNvPr id="643" name="Text 21"/>
          <p:cNvSpPr/>
          <p:nvPr/>
        </p:nvSpPr>
        <p:spPr>
          <a:xfrm>
            <a:off x="6766560" y="334656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crossing pair of wires plus the (+) and (−) nodes.</a:t>
            </a:r>
            <a:endParaRPr lang="en-US" sz="1070" b="0" u="none" strike="noStrike">
              <a:solidFill>
                <a:srgbClr val="000000"/>
              </a:solidFill>
              <a:effectLst/>
              <a:uFillTx/>
              <a:latin typeface="Arial"/>
            </a:endParaRPr>
          </a:p>
        </p:txBody>
      </p:sp>
      <p:sp>
        <p:nvSpPr>
          <p:cNvPr id="644" name="Shape 22"/>
          <p:cNvSpPr/>
          <p:nvPr/>
        </p:nvSpPr>
        <p:spPr>
          <a:xfrm>
            <a:off x="502920" y="3886200"/>
            <a:ext cx="11154960" cy="429120"/>
          </a:xfrm>
          <a:prstGeom prst="roundRect">
            <a:avLst>
              <a:gd name="adj" fmla="val 10638"/>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5" name="Text 23"/>
          <p:cNvSpPr/>
          <p:nvPr/>
        </p:nvSpPr>
        <p:spPr>
          <a:xfrm>
            <a:off x="685800" y="388620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Recursive decomposition</a:t>
            </a:r>
            <a:endParaRPr lang="en-US" sz="1150" b="0" u="none" strike="noStrike">
              <a:solidFill>
                <a:srgbClr val="000000"/>
              </a:solidFill>
              <a:effectLst/>
              <a:uFillTx/>
              <a:latin typeface="Arial"/>
            </a:endParaRPr>
          </a:p>
        </p:txBody>
      </p:sp>
      <p:sp>
        <p:nvSpPr>
          <p:cNvPr id="646" name="Text 24"/>
          <p:cNvSpPr/>
          <p:nvPr/>
        </p:nvSpPr>
        <p:spPr>
          <a:xfrm>
            <a:off x="3383280" y="388620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tree of N/2, N/4, ... point DFTs</a:t>
            </a:r>
            <a:endParaRPr lang="en-US" sz="1100" b="0" u="none" strike="noStrike">
              <a:solidFill>
                <a:srgbClr val="000000"/>
              </a:solidFill>
              <a:effectLst/>
              <a:uFillTx/>
              <a:latin typeface="Arial"/>
            </a:endParaRPr>
          </a:p>
        </p:txBody>
      </p:sp>
      <p:sp>
        <p:nvSpPr>
          <p:cNvPr id="647" name="Text 25"/>
          <p:cNvSpPr/>
          <p:nvPr/>
        </p:nvSpPr>
        <p:spPr>
          <a:xfrm>
            <a:off x="6766560" y="388620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number of columns (stages) in the graph, and which wires cross where.</a:t>
            </a:r>
            <a:endParaRPr lang="en-US" sz="1070" b="0" u="none" strike="noStrike">
              <a:solidFill>
                <a:srgbClr val="000000"/>
              </a:solidFill>
              <a:effectLst/>
              <a:uFillTx/>
              <a:latin typeface="Arial"/>
            </a:endParaRPr>
          </a:p>
        </p:txBody>
      </p:sp>
      <p:sp>
        <p:nvSpPr>
          <p:cNvPr id="648" name="Shape 26"/>
          <p:cNvSpPr/>
          <p:nvPr/>
        </p:nvSpPr>
        <p:spPr>
          <a:xfrm>
            <a:off x="502920" y="4425840"/>
            <a:ext cx="11154960" cy="429120"/>
          </a:xfrm>
          <a:prstGeom prst="roundRect">
            <a:avLst>
              <a:gd name="adj" fmla="val 10638"/>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9" name="Text 27"/>
          <p:cNvSpPr/>
          <p:nvPr/>
        </p:nvSpPr>
        <p:spPr>
          <a:xfrm>
            <a:off x="685800" y="442584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FFT stages</a:t>
            </a:r>
            <a:endParaRPr lang="en-US" sz="1150" b="0" u="none" strike="noStrike">
              <a:solidFill>
                <a:srgbClr val="000000"/>
              </a:solidFill>
              <a:effectLst/>
              <a:uFillTx/>
              <a:latin typeface="Arial"/>
            </a:endParaRPr>
          </a:p>
        </p:txBody>
      </p:sp>
      <p:sp>
        <p:nvSpPr>
          <p:cNvPr id="650" name="Text 28"/>
          <p:cNvSpPr/>
          <p:nvPr/>
        </p:nvSpPr>
        <p:spPr>
          <a:xfrm>
            <a:off x="3383280" y="442584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log₂N columns of butterflies</a:t>
            </a:r>
            <a:endParaRPr lang="en-US" sz="1100" b="0" u="none" strike="noStrike">
              <a:solidFill>
                <a:srgbClr val="000000"/>
              </a:solidFill>
              <a:effectLst/>
              <a:uFillTx/>
              <a:latin typeface="Arial"/>
            </a:endParaRPr>
          </a:p>
        </p:txBody>
      </p:sp>
      <p:sp>
        <p:nvSpPr>
          <p:cNvPr id="651" name="Text 29"/>
          <p:cNvSpPr/>
          <p:nvPr/>
        </p:nvSpPr>
        <p:spPr>
          <a:xfrm>
            <a:off x="6766560" y="442584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Each vertical column of the flow graph, left to right.</a:t>
            </a:r>
            <a:endParaRPr lang="en-US" sz="1070" b="0" u="none" strike="noStrike">
              <a:solidFill>
                <a:srgbClr val="000000"/>
              </a:solidFill>
              <a:effectLst/>
              <a:uFillTx/>
              <a:latin typeface="Arial"/>
            </a:endParaRPr>
          </a:p>
        </p:txBody>
      </p:sp>
      <p:sp>
        <p:nvSpPr>
          <p:cNvPr id="652" name="Shape 30"/>
          <p:cNvSpPr/>
          <p:nvPr/>
        </p:nvSpPr>
        <p:spPr>
          <a:xfrm>
            <a:off x="502920" y="4965120"/>
            <a:ext cx="11154960" cy="429120"/>
          </a:xfrm>
          <a:prstGeom prst="roundRect">
            <a:avLst>
              <a:gd name="adj" fmla="val 10638"/>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3" name="Text 31"/>
          <p:cNvSpPr/>
          <p:nvPr/>
        </p:nvSpPr>
        <p:spPr>
          <a:xfrm>
            <a:off x="685800" y="4965120"/>
            <a:ext cx="265104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32A4A"/>
                </a:solidFill>
                <a:effectLst/>
                <a:uFillTx/>
                <a:latin typeface="Calibri"/>
                <a:ea typeface="Calibri"/>
              </a:rPr>
              <a:t>Final samples</a:t>
            </a:r>
            <a:endParaRPr lang="en-US" sz="1150" b="0" u="none" strike="noStrike">
              <a:solidFill>
                <a:srgbClr val="000000"/>
              </a:solidFill>
              <a:effectLst/>
              <a:uFillTx/>
              <a:latin typeface="Arial"/>
            </a:endParaRPr>
          </a:p>
        </p:txBody>
      </p:sp>
      <p:sp>
        <p:nvSpPr>
          <p:cNvPr id="654" name="Text 32"/>
          <p:cNvSpPr/>
          <p:nvPr/>
        </p:nvSpPr>
        <p:spPr>
          <a:xfrm>
            <a:off x="3383280" y="4965120"/>
            <a:ext cx="329112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u="none" strike="noStrike">
                <a:solidFill>
                  <a:srgbClr val="3D5A80"/>
                </a:solidFill>
                <a:effectLst/>
                <a:uFillTx/>
                <a:latin typeface="Consolas"/>
                <a:ea typeface="Consolas"/>
              </a:rPr>
              <a:t>X[0] ... X[N−1]</a:t>
            </a:r>
            <a:endParaRPr lang="en-US" sz="1100" b="0" u="none" strike="noStrike">
              <a:solidFill>
                <a:srgbClr val="000000"/>
              </a:solidFill>
              <a:effectLst/>
              <a:uFillTx/>
              <a:latin typeface="Arial"/>
            </a:endParaRPr>
          </a:p>
        </p:txBody>
      </p:sp>
      <p:sp>
        <p:nvSpPr>
          <p:cNvPr id="655" name="Text 33"/>
          <p:cNvSpPr/>
          <p:nvPr/>
        </p:nvSpPr>
        <p:spPr>
          <a:xfrm>
            <a:off x="6766560" y="4965120"/>
            <a:ext cx="4799880" cy="429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70" b="0" u="none" strike="noStrike">
                <a:solidFill>
                  <a:srgbClr val="16202E"/>
                </a:solidFill>
                <a:effectLst/>
                <a:uFillTx/>
                <a:latin typeface="Calibri"/>
                <a:ea typeface="Calibri"/>
              </a:rPr>
              <a:t>The right-hand edge of the graph, in natural order for DIT.</a:t>
            </a:r>
            <a:endParaRPr lang="en-US" sz="1070" b="0" u="none" strike="noStrike">
              <a:solidFill>
                <a:srgbClr val="000000"/>
              </a:solidFill>
              <a:effectLst/>
              <a:uFillTx/>
              <a:latin typeface="Arial"/>
            </a:endParaRPr>
          </a:p>
        </p:txBody>
      </p:sp>
      <p:sp>
        <p:nvSpPr>
          <p:cNvPr id="656" name="Text 3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57" name="Text 3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Math to Flow Graph</a:t>
            </a:r>
            <a:endParaRPr lang="en-US" sz="900" b="0" u="none" strike="noStrike">
              <a:solidFill>
                <a:srgbClr val="000000"/>
              </a:solidFill>
              <a:effectLst/>
              <a:uFillTx/>
              <a:latin typeface="Arial"/>
            </a:endParaRPr>
          </a:p>
        </p:txBody>
      </p:sp>
      <p:sp>
        <p:nvSpPr>
          <p:cNvPr id="658" name="Text 3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59"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14 · OPERATION COUNT</a:t>
            </a:r>
            <a:endParaRPr lang="en-US" sz="1150" b="0" u="none" strike="noStrike">
              <a:solidFill>
                <a:srgbClr val="000000"/>
              </a:solidFill>
              <a:effectLst/>
              <a:uFillTx/>
              <a:latin typeface="Arial"/>
            </a:endParaRPr>
          </a:p>
        </p:txBody>
      </p:sp>
      <p:sp>
        <p:nvSpPr>
          <p:cNvPr id="660"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Deriving the Number of Multiplications and Additions</a:t>
            </a:r>
            <a:endParaRPr lang="en-US" sz="2700" b="0" u="none" strike="noStrike">
              <a:solidFill>
                <a:srgbClr val="000000"/>
              </a:solidFill>
              <a:effectLst/>
              <a:uFillTx/>
              <a:latin typeface="Arial"/>
            </a:endParaRPr>
          </a:p>
        </p:txBody>
      </p:sp>
      <p:sp>
        <p:nvSpPr>
          <p:cNvPr id="661" name="Text 2"/>
          <p:cNvSpPr/>
          <p:nvPr/>
        </p:nvSpPr>
        <p:spPr>
          <a:xfrm>
            <a:off x="502920" y="1234440"/>
            <a:ext cx="11154960" cy="14623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Number of stages: log₂N  (Section 11).</a:t>
            </a:r>
            <a:endParaRPr lang="en-US" sz="13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Butterflies per stage: N/2  (every stage touches all N samples in groups of 2).</a:t>
            </a:r>
            <a:endParaRPr lang="en-US" sz="13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300" b="0" u="none" strike="noStrike">
                <a:solidFill>
                  <a:srgbClr val="16202E"/>
                </a:solidFill>
                <a:effectLst/>
                <a:uFillTx/>
                <a:latin typeface="Calibri"/>
                <a:ea typeface="Calibri"/>
              </a:rPr>
              <a:t>Total butterflies: (N/2)×log₂N.</a:t>
            </a:r>
            <a:endParaRPr lang="en-US" sz="1300" b="0" u="none" strike="noStrike">
              <a:solidFill>
                <a:srgbClr val="000000"/>
              </a:solidFill>
              <a:effectLst/>
              <a:uFillTx/>
              <a:latin typeface="Arial"/>
            </a:endParaRPr>
          </a:p>
        </p:txBody>
      </p:sp>
      <p:sp>
        <p:nvSpPr>
          <p:cNvPr id="662" name="Shape 3"/>
          <p:cNvSpPr/>
          <p:nvPr/>
        </p:nvSpPr>
        <p:spPr>
          <a:xfrm>
            <a:off x="2743200" y="2743200"/>
            <a:ext cx="6674400" cy="685080"/>
          </a:xfrm>
          <a:prstGeom prst="roundRect">
            <a:avLst>
              <a:gd name="adj" fmla="val 10667"/>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3" name="Text 4"/>
          <p:cNvSpPr/>
          <p:nvPr/>
        </p:nvSpPr>
        <p:spPr>
          <a:xfrm>
            <a:off x="2880360" y="2743200"/>
            <a:ext cx="6400080" cy="685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900" b="0" u="none" strike="noStrike">
                <a:solidFill>
                  <a:srgbClr val="132A4A"/>
                </a:solidFill>
                <a:effectLst/>
                <a:uFillTx/>
                <a:latin typeface="Cambria"/>
                <a:ea typeface="Cambria"/>
              </a:rPr>
              <a:t>Total butterflies  =  (N/2) log</a:t>
            </a:r>
            <a:r>
              <a:rPr lang="en-US" sz="1200" b="0" u="none" strike="noStrike" baseline="-40000">
                <a:solidFill>
                  <a:srgbClr val="132A4A"/>
                </a:solidFill>
                <a:effectLst/>
                <a:uFillTx/>
                <a:latin typeface="Cambria"/>
                <a:ea typeface="Cambria"/>
              </a:rPr>
              <a:t>2</a:t>
            </a:r>
            <a:r>
              <a:rPr lang="en-US" sz="1900" b="0" u="none" strike="noStrike">
                <a:solidFill>
                  <a:srgbClr val="132A4A"/>
                </a:solidFill>
                <a:effectLst/>
                <a:uFillTx/>
                <a:latin typeface="Cambria"/>
                <a:ea typeface="Cambria"/>
              </a:rPr>
              <a:t>N</a:t>
            </a:r>
            <a:endParaRPr lang="en-US" sz="1900" b="0" u="none" strike="noStrike">
              <a:solidFill>
                <a:srgbClr val="000000"/>
              </a:solidFill>
              <a:effectLst/>
              <a:uFillTx/>
              <a:latin typeface="Arial"/>
            </a:endParaRPr>
          </a:p>
        </p:txBody>
      </p:sp>
      <p:sp>
        <p:nvSpPr>
          <p:cNvPr id="664" name="Text 5"/>
          <p:cNvSpPr/>
          <p:nvPr/>
        </p:nvSpPr>
        <p:spPr>
          <a:xfrm>
            <a:off x="502920" y="361188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Each butterfly performs, in the generic case:</a:t>
            </a:r>
            <a:endParaRPr lang="en-US" sz="1300" b="0" u="none" strike="noStrike">
              <a:solidFill>
                <a:srgbClr val="000000"/>
              </a:solidFill>
              <a:effectLst/>
              <a:uFillTx/>
              <a:latin typeface="Arial"/>
            </a:endParaRPr>
          </a:p>
        </p:txBody>
      </p:sp>
      <p:graphicFrame>
        <p:nvGraphicFramePr>
          <p:cNvPr id="665" name="Table 0"/>
          <p:cNvGraphicFramePr/>
          <p:nvPr/>
        </p:nvGraphicFramePr>
        <p:xfrm>
          <a:off x="502920" y="3931920"/>
          <a:ext cx="11155320" cy="1128960"/>
        </p:xfrm>
        <a:graphic>
          <a:graphicData uri="http://schemas.openxmlformats.org/drawingml/2006/table">
            <a:tbl>
              <a:tblPr/>
              <a:tblGrid>
                <a:gridCol w="7498080"/>
                <a:gridCol w="36576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Operation</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Count per butterfly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multiplication (forming B = W_N^k · O[k])</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addition (A + 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subtraction (A − B)</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  (2 real add/sub operations total)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666" name="Shape 6"/>
          <p:cNvSpPr/>
          <p:nvPr/>
        </p:nvSpPr>
        <p:spPr>
          <a:xfrm>
            <a:off x="502920" y="5257800"/>
            <a:ext cx="11154960" cy="1142280"/>
          </a:xfrm>
          <a:prstGeom prst="roundRect">
            <a:avLst>
              <a:gd name="adj" fmla="val 64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7" name="Text 7"/>
          <p:cNvSpPr/>
          <p:nvPr/>
        </p:nvSpPr>
        <p:spPr>
          <a:xfrm>
            <a:off x="731520" y="5367600"/>
            <a:ext cx="10697760" cy="9594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50" b="1" u="none" strike="noStrike">
                <a:solidFill>
                  <a:srgbClr val="132A4A"/>
                </a:solidFill>
                <a:effectLst/>
                <a:uFillTx/>
                <a:latin typeface="Calibri"/>
                <a:ea typeface="Calibri"/>
              </a:rPr>
              <a:t>Multiplying out across all butterflies:  </a:t>
            </a:r>
            <a:r>
              <a:rPr lang="en-US" sz="1300" b="0" u="none" strike="noStrike">
                <a:solidFill>
                  <a:srgbClr val="16202E"/>
                </a:solidFill>
                <a:effectLst/>
                <a:uFillTx/>
                <a:latin typeface="Calibri"/>
                <a:ea typeface="Calibri"/>
              </a:rPr>
              <a:t>complex multiplications = (N/2) log₂N.  Complex additions/subtractions = 2 × (N/2) log₂N = N log₂N.</a:t>
            </a:r>
            <a:endParaRPr lang="en-US" sz="1300" b="0" u="none" strike="noStrike">
              <a:solidFill>
                <a:srgbClr val="000000"/>
              </a:solidFill>
              <a:effectLst/>
              <a:uFillTx/>
              <a:latin typeface="Arial"/>
            </a:endParaRPr>
          </a:p>
        </p:txBody>
      </p:sp>
      <p:sp>
        <p:nvSpPr>
          <p:cNvPr id="668" name="Text 8"/>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69" name="Text 9"/>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Operation Count</a:t>
            </a:r>
            <a:endParaRPr lang="en-US" sz="900" b="0" u="none" strike="noStrike">
              <a:solidFill>
                <a:srgbClr val="000000"/>
              </a:solidFill>
              <a:effectLst/>
              <a:uFillTx/>
              <a:latin typeface="Arial"/>
            </a:endParaRPr>
          </a:p>
        </p:txBody>
      </p:sp>
      <p:sp>
        <p:nvSpPr>
          <p:cNvPr id="670" name="Text 10"/>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71"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14 · OPERATION COUNT</a:t>
            </a:r>
            <a:endParaRPr lang="en-US" sz="1150" b="0" u="none" strike="noStrike">
              <a:solidFill>
                <a:srgbClr val="000000"/>
              </a:solidFill>
              <a:effectLst/>
              <a:uFillTx/>
              <a:latin typeface="Arial"/>
            </a:endParaRPr>
          </a:p>
        </p:txBody>
      </p:sp>
      <p:sp>
        <p:nvSpPr>
          <p:cNvPr id="672"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Operation Count for N = 8, and Trivial-Twiddle Savings</a:t>
            </a:r>
            <a:endParaRPr lang="en-US" sz="2700" b="0" u="none" strike="noStrike">
              <a:solidFill>
                <a:srgbClr val="000000"/>
              </a:solidFill>
              <a:effectLst/>
              <a:uFillTx/>
              <a:latin typeface="Arial"/>
            </a:endParaRPr>
          </a:p>
        </p:txBody>
      </p:sp>
      <p:graphicFrame>
        <p:nvGraphicFramePr>
          <p:cNvPr id="673" name="Table 0"/>
          <p:cNvGraphicFramePr/>
          <p:nvPr/>
        </p:nvGraphicFramePr>
        <p:xfrm>
          <a:off x="502920" y="1234440"/>
          <a:ext cx="11155320" cy="1693440"/>
        </p:xfrm>
        <a:graphic>
          <a:graphicData uri="http://schemas.openxmlformats.org/drawingml/2006/table">
            <a:tbl>
              <a:tblPr/>
              <a:tblGrid>
                <a:gridCol w="4846320"/>
                <a:gridCol w="3657600"/>
                <a:gridCol w="265176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Quantity</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Formula</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N = 8 value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Stages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log₂N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3</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Butterflies per stage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Total butterflies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(N/2) log₂N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multiplications (generic case)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(N/2) log₂N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12</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Complex additions/subtractions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 log₂N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algn="ctr" defTabSz="914400">
                        <a:lnSpc>
                          <a:spcPct val="100000"/>
                        </a:lnSpc>
                        <a:tabLst>
                          <a:tab pos="0" algn="l"/>
                        </a:tabLst>
                      </a:pPr>
                      <a:r>
                        <a:rPr lang="en-US" sz="1250" b="0" u="none" strike="noStrike">
                          <a:solidFill>
                            <a:srgbClr val="16202E"/>
                          </a:solidFill>
                          <a:effectLst/>
                          <a:uFillTx/>
                          <a:latin typeface="Calibri"/>
                          <a:ea typeface="Calibri"/>
                        </a:rPr>
                        <a:t>24</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674" name="Text 2"/>
          <p:cNvSpPr/>
          <p:nvPr/>
        </p:nvSpPr>
        <p:spPr>
          <a:xfrm>
            <a:off x="502920" y="3246120"/>
            <a:ext cx="109720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32A4A"/>
                </a:solidFill>
                <a:effectLst/>
                <a:uFillTx/>
                <a:latin typeface="Calibri"/>
                <a:ea typeface="Calibri"/>
              </a:rPr>
              <a:t>But some twiddle factors are trivial</a:t>
            </a:r>
            <a:endParaRPr lang="en-US" sz="1350" b="0" u="none" strike="noStrike">
              <a:solidFill>
                <a:srgbClr val="000000"/>
              </a:solidFill>
              <a:effectLst/>
              <a:uFillTx/>
              <a:latin typeface="Arial"/>
            </a:endParaRPr>
          </a:p>
        </p:txBody>
      </p:sp>
      <p:sp>
        <p:nvSpPr>
          <p:cNvPr id="675" name="Text 3"/>
          <p:cNvSpPr/>
          <p:nvPr/>
        </p:nvSpPr>
        <p:spPr>
          <a:xfrm>
            <a:off x="502920" y="3547800"/>
            <a:ext cx="11154960" cy="13708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250" b="0" u="none" strike="noStrike">
                <a:solidFill>
                  <a:srgbClr val="16202E"/>
                </a:solidFill>
                <a:effectLst/>
                <a:uFillTx/>
                <a:latin typeface="Calibri"/>
                <a:ea typeface="Calibri"/>
              </a:rPr>
              <a:t>W_N^k = 1, −1, j, or −j needs no general complex multiplier: only sign flips and/or a swap of real/imaginary parts (Section 17).</a:t>
            </a:r>
            <a:endParaRPr lang="en-US" sz="125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50" b="0" u="none" strike="noStrike">
                <a:solidFill>
                  <a:srgbClr val="16202E"/>
                </a:solidFill>
                <a:effectLst/>
                <a:uFillTx/>
                <a:latin typeface="Calibri"/>
                <a:ea typeface="Calibri"/>
              </a:rPr>
              <a:t>In the worked example (Section 12): Stage 1 uses only W₂^0=1 (4 trivial butterflies). Stage 2 uses only W₄^0=1 and W₄^1=−j (4 trivial butterflies). Stage 3 uses W₈^0=1 and W₈^2=−j (trivial) plus W₈^1 and W₈^3 (genuine).</a:t>
            </a:r>
            <a:endParaRPr lang="en-US" sz="1250" b="0" u="none" strike="noStrike">
              <a:solidFill>
                <a:srgbClr val="000000"/>
              </a:solidFill>
              <a:effectLst/>
              <a:uFillTx/>
              <a:latin typeface="Arial"/>
            </a:endParaRPr>
          </a:p>
        </p:txBody>
      </p:sp>
      <p:sp>
        <p:nvSpPr>
          <p:cNvPr id="676" name="Shape 4"/>
          <p:cNvSpPr/>
          <p:nvPr/>
        </p:nvSpPr>
        <p:spPr>
          <a:xfrm>
            <a:off x="502920" y="5074920"/>
            <a:ext cx="11154960" cy="1325160"/>
          </a:xfrm>
          <a:prstGeom prst="roundRect">
            <a:avLst>
              <a:gd name="adj" fmla="val 5517"/>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7" name="Text 5"/>
          <p:cNvSpPr/>
          <p:nvPr/>
        </p:nvSpPr>
        <p:spPr>
          <a:xfrm>
            <a:off x="731520" y="5184720"/>
            <a:ext cx="10697760" cy="11422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1" u="none" strike="noStrike">
                <a:solidFill>
                  <a:srgbClr val="132A4A"/>
                </a:solidFill>
                <a:effectLst/>
                <a:uFillTx/>
                <a:latin typeface="Calibri"/>
                <a:ea typeface="Calibri"/>
              </a:rPr>
              <a:t>Result: of the 12 “generic” complex multiplications counted above, only 2 are genuine general complex multiplications for N = 8 (both in Stage 3, k=1 and k=3).  </a:t>
            </a:r>
            <a:r>
              <a:rPr lang="en-US" sz="1250" b="0" u="none" strike="noStrike">
                <a:solidFill>
                  <a:srgbClr val="16202E"/>
                </a:solidFill>
                <a:effectLst/>
                <a:uFillTx/>
                <a:latin typeface="Calibri"/>
                <a:ea typeface="Calibri"/>
              </a:rPr>
              <a:t>The other 10 reduce to sign flips and swaps. This is why real FFT implementations special-case trivial twiddle factors instead of running every butterfly through a full multiplier.</a:t>
            </a:r>
            <a:endParaRPr lang="en-US" sz="1250" b="0" u="none" strike="noStrike">
              <a:solidFill>
                <a:srgbClr val="000000"/>
              </a:solidFill>
              <a:effectLst/>
              <a:uFillTx/>
              <a:latin typeface="Arial"/>
            </a:endParaRPr>
          </a:p>
        </p:txBody>
      </p:sp>
      <p:sp>
        <p:nvSpPr>
          <p:cNvPr id="678" name="Text 6"/>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679" name="Text 7"/>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Operation Count</a:t>
            </a:r>
            <a:endParaRPr lang="en-US" sz="900" b="0" u="none" strike="noStrike">
              <a:solidFill>
                <a:srgbClr val="000000"/>
              </a:solidFill>
              <a:effectLst/>
              <a:uFillTx/>
              <a:latin typeface="Arial"/>
            </a:endParaRPr>
          </a:p>
        </p:txBody>
      </p:sp>
      <p:sp>
        <p:nvSpPr>
          <p:cNvPr id="680" name="Text 8"/>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81"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15 · DIT FFT DATA FLOW</a:t>
            </a:r>
            <a:endParaRPr lang="en-US" sz="1150" b="0" u="none" strike="noStrike">
              <a:solidFill>
                <a:srgbClr val="000000"/>
              </a:solidFill>
              <a:effectLst/>
              <a:uFillTx/>
              <a:latin typeface="Arial"/>
            </a:endParaRPr>
          </a:p>
        </p:txBody>
      </p:sp>
      <p:sp>
        <p:nvSpPr>
          <p:cNvPr id="682"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400" b="1" u="none" strike="noStrike">
                <a:solidFill>
                  <a:srgbClr val="132A4A"/>
                </a:solidFill>
                <a:effectLst/>
                <a:uFillTx/>
                <a:latin typeface="Cambria"/>
                <a:ea typeface="Cambria"/>
              </a:rPr>
              <a:t>Complete 8-Point Radix-2 DIT Flow Graph</a:t>
            </a:r>
            <a:endParaRPr lang="en-US" sz="2400" b="0" u="none" strike="noStrike">
              <a:solidFill>
                <a:srgbClr val="000000"/>
              </a:solidFill>
              <a:effectLst/>
              <a:uFillTx/>
              <a:latin typeface="Arial"/>
            </a:endParaRPr>
          </a:p>
        </p:txBody>
      </p:sp>
      <p:sp>
        <p:nvSpPr>
          <p:cNvPr id="683" name="Text 2"/>
          <p:cNvSpPr/>
          <p:nvPr/>
        </p:nvSpPr>
        <p:spPr>
          <a:xfrm>
            <a:off x="137160" y="135324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x[0]=1</a:t>
            </a:r>
            <a:endParaRPr lang="en-US" sz="950" b="0" u="none" strike="noStrike">
              <a:solidFill>
                <a:srgbClr val="000000"/>
              </a:solidFill>
              <a:effectLst/>
              <a:uFillTx/>
              <a:latin typeface="Arial"/>
            </a:endParaRPr>
          </a:p>
        </p:txBody>
      </p:sp>
      <p:sp>
        <p:nvSpPr>
          <p:cNvPr id="684" name="Shape 3"/>
          <p:cNvSpPr/>
          <p:nvPr/>
        </p:nvSpPr>
        <p:spPr>
          <a:xfrm>
            <a:off x="13762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85" name="Text 4"/>
          <p:cNvSpPr/>
          <p:nvPr/>
        </p:nvSpPr>
        <p:spPr>
          <a:xfrm>
            <a:off x="137160" y="191556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x[4]=5</a:t>
            </a:r>
            <a:endParaRPr lang="en-US" sz="950" b="0" u="none" strike="noStrike">
              <a:solidFill>
                <a:srgbClr val="000000"/>
              </a:solidFill>
              <a:effectLst/>
              <a:uFillTx/>
              <a:latin typeface="Arial"/>
            </a:endParaRPr>
          </a:p>
        </p:txBody>
      </p:sp>
      <p:sp>
        <p:nvSpPr>
          <p:cNvPr id="686" name="Shape 5"/>
          <p:cNvSpPr/>
          <p:nvPr/>
        </p:nvSpPr>
        <p:spPr>
          <a:xfrm>
            <a:off x="13762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87" name="Text 6"/>
          <p:cNvSpPr/>
          <p:nvPr/>
        </p:nvSpPr>
        <p:spPr>
          <a:xfrm>
            <a:off x="137160" y="247788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x[2]=3</a:t>
            </a:r>
            <a:endParaRPr lang="en-US" sz="950" b="0" u="none" strike="noStrike">
              <a:solidFill>
                <a:srgbClr val="000000"/>
              </a:solidFill>
              <a:effectLst/>
              <a:uFillTx/>
              <a:latin typeface="Arial"/>
            </a:endParaRPr>
          </a:p>
        </p:txBody>
      </p:sp>
      <p:sp>
        <p:nvSpPr>
          <p:cNvPr id="688" name="Shape 7"/>
          <p:cNvSpPr/>
          <p:nvPr/>
        </p:nvSpPr>
        <p:spPr>
          <a:xfrm>
            <a:off x="13762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89" name="Text 8"/>
          <p:cNvSpPr/>
          <p:nvPr/>
        </p:nvSpPr>
        <p:spPr>
          <a:xfrm>
            <a:off x="137160" y="304056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x[6]=7</a:t>
            </a:r>
            <a:endParaRPr lang="en-US" sz="950" b="0" u="none" strike="noStrike">
              <a:solidFill>
                <a:srgbClr val="000000"/>
              </a:solidFill>
              <a:effectLst/>
              <a:uFillTx/>
              <a:latin typeface="Arial"/>
            </a:endParaRPr>
          </a:p>
        </p:txBody>
      </p:sp>
      <p:sp>
        <p:nvSpPr>
          <p:cNvPr id="690" name="Shape 9"/>
          <p:cNvSpPr/>
          <p:nvPr/>
        </p:nvSpPr>
        <p:spPr>
          <a:xfrm>
            <a:off x="13762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91" name="Text 10"/>
          <p:cNvSpPr/>
          <p:nvPr/>
        </p:nvSpPr>
        <p:spPr>
          <a:xfrm>
            <a:off x="137160" y="360288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x[1]=2</a:t>
            </a:r>
            <a:endParaRPr lang="en-US" sz="950" b="0" u="none" strike="noStrike">
              <a:solidFill>
                <a:srgbClr val="000000"/>
              </a:solidFill>
              <a:effectLst/>
              <a:uFillTx/>
              <a:latin typeface="Arial"/>
            </a:endParaRPr>
          </a:p>
        </p:txBody>
      </p:sp>
      <p:sp>
        <p:nvSpPr>
          <p:cNvPr id="692" name="Shape 11"/>
          <p:cNvSpPr/>
          <p:nvPr/>
        </p:nvSpPr>
        <p:spPr>
          <a:xfrm>
            <a:off x="13762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93" name="Text 12"/>
          <p:cNvSpPr/>
          <p:nvPr/>
        </p:nvSpPr>
        <p:spPr>
          <a:xfrm>
            <a:off x="137160" y="416520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x[5]=6</a:t>
            </a:r>
            <a:endParaRPr lang="en-US" sz="950" b="0" u="none" strike="noStrike">
              <a:solidFill>
                <a:srgbClr val="000000"/>
              </a:solidFill>
              <a:effectLst/>
              <a:uFillTx/>
              <a:latin typeface="Arial"/>
            </a:endParaRPr>
          </a:p>
        </p:txBody>
      </p:sp>
      <p:sp>
        <p:nvSpPr>
          <p:cNvPr id="694" name="Shape 13"/>
          <p:cNvSpPr/>
          <p:nvPr/>
        </p:nvSpPr>
        <p:spPr>
          <a:xfrm>
            <a:off x="13762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95" name="Text 14"/>
          <p:cNvSpPr/>
          <p:nvPr/>
        </p:nvSpPr>
        <p:spPr>
          <a:xfrm>
            <a:off x="137160" y="472752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x[3]=4</a:t>
            </a:r>
            <a:endParaRPr lang="en-US" sz="950" b="0" u="none" strike="noStrike">
              <a:solidFill>
                <a:srgbClr val="000000"/>
              </a:solidFill>
              <a:effectLst/>
              <a:uFillTx/>
              <a:latin typeface="Arial"/>
            </a:endParaRPr>
          </a:p>
        </p:txBody>
      </p:sp>
      <p:sp>
        <p:nvSpPr>
          <p:cNvPr id="696" name="Shape 15"/>
          <p:cNvSpPr/>
          <p:nvPr/>
        </p:nvSpPr>
        <p:spPr>
          <a:xfrm>
            <a:off x="13762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97" name="Text 16"/>
          <p:cNvSpPr/>
          <p:nvPr/>
        </p:nvSpPr>
        <p:spPr>
          <a:xfrm>
            <a:off x="137160" y="5289840"/>
            <a:ext cx="1142280" cy="255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132A4A"/>
                </a:solidFill>
                <a:effectLst/>
                <a:uFillTx/>
                <a:latin typeface="Consolas"/>
                <a:ea typeface="Consolas"/>
              </a:rPr>
              <a:t>x[7]=8</a:t>
            </a:r>
            <a:endParaRPr lang="en-US" sz="950" b="0" u="none" strike="noStrike">
              <a:solidFill>
                <a:srgbClr val="000000"/>
              </a:solidFill>
              <a:effectLst/>
              <a:uFillTx/>
              <a:latin typeface="Arial"/>
            </a:endParaRPr>
          </a:p>
        </p:txBody>
      </p:sp>
      <p:sp>
        <p:nvSpPr>
          <p:cNvPr id="698" name="Shape 17"/>
          <p:cNvSpPr/>
          <p:nvPr/>
        </p:nvSpPr>
        <p:spPr>
          <a:xfrm>
            <a:off x="13762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699" name="Shape 18"/>
          <p:cNvSpPr/>
          <p:nvPr/>
        </p:nvSpPr>
        <p:spPr>
          <a:xfrm>
            <a:off x="1417320" y="148104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0" name="Shape 19"/>
          <p:cNvSpPr/>
          <p:nvPr/>
        </p:nvSpPr>
        <p:spPr>
          <a:xfrm flipV="1">
            <a:off x="1417320" y="148104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1" name="Shape 20"/>
          <p:cNvSpPr/>
          <p:nvPr/>
        </p:nvSpPr>
        <p:spPr>
          <a:xfrm>
            <a:off x="13762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02" name="Shape 21"/>
          <p:cNvSpPr/>
          <p:nvPr/>
        </p:nvSpPr>
        <p:spPr>
          <a:xfrm>
            <a:off x="13762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03" name="Shape 22"/>
          <p:cNvSpPr/>
          <p:nvPr/>
        </p:nvSpPr>
        <p:spPr>
          <a:xfrm>
            <a:off x="41194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04" name="Shape 23"/>
          <p:cNvSpPr/>
          <p:nvPr/>
        </p:nvSpPr>
        <p:spPr>
          <a:xfrm>
            <a:off x="41194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05" name="Shape 24"/>
          <p:cNvSpPr/>
          <p:nvPr/>
        </p:nvSpPr>
        <p:spPr>
          <a:xfrm>
            <a:off x="2477880" y="163008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6" name="Text 25"/>
          <p:cNvSpPr/>
          <p:nvPr/>
        </p:nvSpPr>
        <p:spPr>
          <a:xfrm>
            <a:off x="2477880" y="163008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07" name="Shape 26"/>
          <p:cNvSpPr/>
          <p:nvPr/>
        </p:nvSpPr>
        <p:spPr>
          <a:xfrm>
            <a:off x="1417320" y="260604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8" name="Shape 27"/>
          <p:cNvSpPr/>
          <p:nvPr/>
        </p:nvSpPr>
        <p:spPr>
          <a:xfrm flipV="1">
            <a:off x="1417320" y="260604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9" name="Shape 28"/>
          <p:cNvSpPr/>
          <p:nvPr/>
        </p:nvSpPr>
        <p:spPr>
          <a:xfrm>
            <a:off x="13762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0" name="Shape 29"/>
          <p:cNvSpPr/>
          <p:nvPr/>
        </p:nvSpPr>
        <p:spPr>
          <a:xfrm>
            <a:off x="13762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1" name="Shape 30"/>
          <p:cNvSpPr/>
          <p:nvPr/>
        </p:nvSpPr>
        <p:spPr>
          <a:xfrm>
            <a:off x="41194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2" name="Shape 31"/>
          <p:cNvSpPr/>
          <p:nvPr/>
        </p:nvSpPr>
        <p:spPr>
          <a:xfrm>
            <a:off x="41194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3" name="Shape 32"/>
          <p:cNvSpPr/>
          <p:nvPr/>
        </p:nvSpPr>
        <p:spPr>
          <a:xfrm>
            <a:off x="2477880" y="275472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4" name="Text 33"/>
          <p:cNvSpPr/>
          <p:nvPr/>
        </p:nvSpPr>
        <p:spPr>
          <a:xfrm>
            <a:off x="2477880" y="275472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15" name="Shape 34"/>
          <p:cNvSpPr/>
          <p:nvPr/>
        </p:nvSpPr>
        <p:spPr>
          <a:xfrm>
            <a:off x="1417320" y="373068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16" name="Shape 35"/>
          <p:cNvSpPr/>
          <p:nvPr/>
        </p:nvSpPr>
        <p:spPr>
          <a:xfrm flipV="1">
            <a:off x="1417320" y="373068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17" name="Shape 36"/>
          <p:cNvSpPr/>
          <p:nvPr/>
        </p:nvSpPr>
        <p:spPr>
          <a:xfrm>
            <a:off x="13762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8" name="Shape 37"/>
          <p:cNvSpPr/>
          <p:nvPr/>
        </p:nvSpPr>
        <p:spPr>
          <a:xfrm>
            <a:off x="13762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19" name="Shape 38"/>
          <p:cNvSpPr/>
          <p:nvPr/>
        </p:nvSpPr>
        <p:spPr>
          <a:xfrm>
            <a:off x="41194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0" name="Shape 39"/>
          <p:cNvSpPr/>
          <p:nvPr/>
        </p:nvSpPr>
        <p:spPr>
          <a:xfrm>
            <a:off x="41194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1" name="Shape 40"/>
          <p:cNvSpPr/>
          <p:nvPr/>
        </p:nvSpPr>
        <p:spPr>
          <a:xfrm>
            <a:off x="2477880" y="387936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2" name="Text 41"/>
          <p:cNvSpPr/>
          <p:nvPr/>
        </p:nvSpPr>
        <p:spPr>
          <a:xfrm>
            <a:off x="2477880" y="387936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23" name="Shape 42"/>
          <p:cNvSpPr/>
          <p:nvPr/>
        </p:nvSpPr>
        <p:spPr>
          <a:xfrm>
            <a:off x="1417320" y="485532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4" name="Shape 43"/>
          <p:cNvSpPr/>
          <p:nvPr/>
        </p:nvSpPr>
        <p:spPr>
          <a:xfrm flipV="1">
            <a:off x="1417320" y="4855320"/>
            <a:ext cx="2743200" cy="56232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5" name="Shape 44"/>
          <p:cNvSpPr/>
          <p:nvPr/>
        </p:nvSpPr>
        <p:spPr>
          <a:xfrm>
            <a:off x="13762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6" name="Shape 45"/>
          <p:cNvSpPr/>
          <p:nvPr/>
        </p:nvSpPr>
        <p:spPr>
          <a:xfrm>
            <a:off x="13762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7" name="Shape 46"/>
          <p:cNvSpPr/>
          <p:nvPr/>
        </p:nvSpPr>
        <p:spPr>
          <a:xfrm>
            <a:off x="41194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8" name="Shape 47"/>
          <p:cNvSpPr/>
          <p:nvPr/>
        </p:nvSpPr>
        <p:spPr>
          <a:xfrm>
            <a:off x="41194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29" name="Shape 48"/>
          <p:cNvSpPr/>
          <p:nvPr/>
        </p:nvSpPr>
        <p:spPr>
          <a:xfrm>
            <a:off x="2477880" y="500400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0" name="Text 49"/>
          <p:cNvSpPr/>
          <p:nvPr/>
        </p:nvSpPr>
        <p:spPr>
          <a:xfrm>
            <a:off x="2477880" y="500400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31" name="Shape 50"/>
          <p:cNvSpPr/>
          <p:nvPr/>
        </p:nvSpPr>
        <p:spPr>
          <a:xfrm>
            <a:off x="4160520" y="1481040"/>
            <a:ext cx="2743200" cy="112500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32" name="Shape 51"/>
          <p:cNvSpPr/>
          <p:nvPr/>
        </p:nvSpPr>
        <p:spPr>
          <a:xfrm flipV="1">
            <a:off x="4160520" y="1481040"/>
            <a:ext cx="2743200" cy="112500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33" name="Shape 52"/>
          <p:cNvSpPr/>
          <p:nvPr/>
        </p:nvSpPr>
        <p:spPr>
          <a:xfrm>
            <a:off x="41194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34" name="Shape 53"/>
          <p:cNvSpPr/>
          <p:nvPr/>
        </p:nvSpPr>
        <p:spPr>
          <a:xfrm>
            <a:off x="41194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35" name="Shape 54"/>
          <p:cNvSpPr/>
          <p:nvPr/>
        </p:nvSpPr>
        <p:spPr>
          <a:xfrm>
            <a:off x="68626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36" name="Shape 55"/>
          <p:cNvSpPr/>
          <p:nvPr/>
        </p:nvSpPr>
        <p:spPr>
          <a:xfrm>
            <a:off x="68626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37" name="Shape 56"/>
          <p:cNvSpPr/>
          <p:nvPr/>
        </p:nvSpPr>
        <p:spPr>
          <a:xfrm>
            <a:off x="5221080" y="191124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8" name="Text 57"/>
          <p:cNvSpPr/>
          <p:nvPr/>
        </p:nvSpPr>
        <p:spPr>
          <a:xfrm>
            <a:off x="5221080" y="191124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39" name="Shape 58"/>
          <p:cNvSpPr/>
          <p:nvPr/>
        </p:nvSpPr>
        <p:spPr>
          <a:xfrm>
            <a:off x="4160520" y="2043360"/>
            <a:ext cx="2743200" cy="112500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0" name="Shape 59"/>
          <p:cNvSpPr/>
          <p:nvPr/>
        </p:nvSpPr>
        <p:spPr>
          <a:xfrm flipV="1">
            <a:off x="4160520" y="2043360"/>
            <a:ext cx="2743200" cy="112500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1" name="Shape 60"/>
          <p:cNvSpPr/>
          <p:nvPr/>
        </p:nvSpPr>
        <p:spPr>
          <a:xfrm>
            <a:off x="41194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42" name="Shape 61"/>
          <p:cNvSpPr/>
          <p:nvPr/>
        </p:nvSpPr>
        <p:spPr>
          <a:xfrm>
            <a:off x="41194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43" name="Shape 62"/>
          <p:cNvSpPr/>
          <p:nvPr/>
        </p:nvSpPr>
        <p:spPr>
          <a:xfrm>
            <a:off x="68626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44" name="Shape 63"/>
          <p:cNvSpPr/>
          <p:nvPr/>
        </p:nvSpPr>
        <p:spPr>
          <a:xfrm>
            <a:off x="68626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45" name="Shape 64"/>
          <p:cNvSpPr/>
          <p:nvPr/>
        </p:nvSpPr>
        <p:spPr>
          <a:xfrm>
            <a:off x="5221080" y="2473560"/>
            <a:ext cx="621000" cy="264600"/>
          </a:xfrm>
          <a:prstGeom prst="roundRect">
            <a:avLst>
              <a:gd name="adj" fmla="val 17241"/>
            </a:avLst>
          </a:prstGeom>
          <a:solidFill>
            <a:srgbClr val="FFFFFF"/>
          </a:solidFill>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6" name="Text 65"/>
          <p:cNvSpPr/>
          <p:nvPr/>
        </p:nvSpPr>
        <p:spPr>
          <a:xfrm>
            <a:off x="5221080" y="247356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D98324"/>
                </a:solidFill>
                <a:effectLst/>
                <a:uFillTx/>
                <a:latin typeface="Consolas"/>
                <a:ea typeface="Consolas"/>
              </a:rPr>
              <a:t>-j</a:t>
            </a:r>
            <a:endParaRPr lang="en-US" sz="900" b="0" u="none" strike="noStrike">
              <a:solidFill>
                <a:srgbClr val="000000"/>
              </a:solidFill>
              <a:effectLst/>
              <a:uFillTx/>
              <a:latin typeface="Arial"/>
            </a:endParaRPr>
          </a:p>
        </p:txBody>
      </p:sp>
      <p:sp>
        <p:nvSpPr>
          <p:cNvPr id="747" name="Shape 66"/>
          <p:cNvSpPr/>
          <p:nvPr/>
        </p:nvSpPr>
        <p:spPr>
          <a:xfrm>
            <a:off x="4160520" y="3730680"/>
            <a:ext cx="2743200" cy="1124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8" name="Shape 67"/>
          <p:cNvSpPr/>
          <p:nvPr/>
        </p:nvSpPr>
        <p:spPr>
          <a:xfrm flipV="1">
            <a:off x="4160520" y="3730680"/>
            <a:ext cx="2743200" cy="1124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9" name="Shape 68"/>
          <p:cNvSpPr/>
          <p:nvPr/>
        </p:nvSpPr>
        <p:spPr>
          <a:xfrm>
            <a:off x="41194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0" name="Shape 69"/>
          <p:cNvSpPr/>
          <p:nvPr/>
        </p:nvSpPr>
        <p:spPr>
          <a:xfrm>
            <a:off x="41194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1" name="Shape 70"/>
          <p:cNvSpPr/>
          <p:nvPr/>
        </p:nvSpPr>
        <p:spPr>
          <a:xfrm>
            <a:off x="68626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2" name="Shape 71"/>
          <p:cNvSpPr/>
          <p:nvPr/>
        </p:nvSpPr>
        <p:spPr>
          <a:xfrm>
            <a:off x="68626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3" name="Shape 72"/>
          <p:cNvSpPr/>
          <p:nvPr/>
        </p:nvSpPr>
        <p:spPr>
          <a:xfrm>
            <a:off x="5221080" y="416052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4" name="Text 73"/>
          <p:cNvSpPr/>
          <p:nvPr/>
        </p:nvSpPr>
        <p:spPr>
          <a:xfrm>
            <a:off x="5221080" y="416052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55" name="Shape 74"/>
          <p:cNvSpPr/>
          <p:nvPr/>
        </p:nvSpPr>
        <p:spPr>
          <a:xfrm>
            <a:off x="4160520" y="4293000"/>
            <a:ext cx="2743200" cy="1124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56" name="Shape 75"/>
          <p:cNvSpPr/>
          <p:nvPr/>
        </p:nvSpPr>
        <p:spPr>
          <a:xfrm flipV="1">
            <a:off x="4160520" y="4293000"/>
            <a:ext cx="2743200" cy="1124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57" name="Shape 76"/>
          <p:cNvSpPr/>
          <p:nvPr/>
        </p:nvSpPr>
        <p:spPr>
          <a:xfrm>
            <a:off x="41194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8" name="Shape 77"/>
          <p:cNvSpPr/>
          <p:nvPr/>
        </p:nvSpPr>
        <p:spPr>
          <a:xfrm>
            <a:off x="41194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59" name="Shape 78"/>
          <p:cNvSpPr/>
          <p:nvPr/>
        </p:nvSpPr>
        <p:spPr>
          <a:xfrm>
            <a:off x="68626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0" name="Shape 79"/>
          <p:cNvSpPr/>
          <p:nvPr/>
        </p:nvSpPr>
        <p:spPr>
          <a:xfrm>
            <a:off x="68626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1" name="Shape 80"/>
          <p:cNvSpPr/>
          <p:nvPr/>
        </p:nvSpPr>
        <p:spPr>
          <a:xfrm>
            <a:off x="5221080" y="4722840"/>
            <a:ext cx="621000" cy="264600"/>
          </a:xfrm>
          <a:prstGeom prst="roundRect">
            <a:avLst>
              <a:gd name="adj" fmla="val 17241"/>
            </a:avLst>
          </a:prstGeom>
          <a:solidFill>
            <a:srgbClr val="FFFFFF"/>
          </a:solidFill>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2" name="Text 81"/>
          <p:cNvSpPr/>
          <p:nvPr/>
        </p:nvSpPr>
        <p:spPr>
          <a:xfrm>
            <a:off x="5221080" y="472284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D98324"/>
                </a:solidFill>
                <a:effectLst/>
                <a:uFillTx/>
                <a:latin typeface="Consolas"/>
                <a:ea typeface="Consolas"/>
              </a:rPr>
              <a:t>-j</a:t>
            </a:r>
            <a:endParaRPr lang="en-US" sz="900" b="0" u="none" strike="noStrike">
              <a:solidFill>
                <a:srgbClr val="000000"/>
              </a:solidFill>
              <a:effectLst/>
              <a:uFillTx/>
              <a:latin typeface="Arial"/>
            </a:endParaRPr>
          </a:p>
        </p:txBody>
      </p:sp>
      <p:sp>
        <p:nvSpPr>
          <p:cNvPr id="763" name="Shape 82"/>
          <p:cNvSpPr/>
          <p:nvPr/>
        </p:nvSpPr>
        <p:spPr>
          <a:xfrm>
            <a:off x="6903720" y="1481040"/>
            <a:ext cx="2743200" cy="2249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4" name="Shape 83"/>
          <p:cNvSpPr/>
          <p:nvPr/>
        </p:nvSpPr>
        <p:spPr>
          <a:xfrm flipV="1">
            <a:off x="6903720" y="1481040"/>
            <a:ext cx="2743200" cy="2249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5" name="Shape 84"/>
          <p:cNvSpPr/>
          <p:nvPr/>
        </p:nvSpPr>
        <p:spPr>
          <a:xfrm>
            <a:off x="68626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6" name="Shape 85"/>
          <p:cNvSpPr/>
          <p:nvPr/>
        </p:nvSpPr>
        <p:spPr>
          <a:xfrm>
            <a:off x="68626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7" name="Shape 86"/>
          <p:cNvSpPr/>
          <p:nvPr/>
        </p:nvSpPr>
        <p:spPr>
          <a:xfrm>
            <a:off x="9605880" y="14403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8" name="Shape 87"/>
          <p:cNvSpPr/>
          <p:nvPr/>
        </p:nvSpPr>
        <p:spPr>
          <a:xfrm>
            <a:off x="9605880" y="368964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69" name="Shape 88"/>
          <p:cNvSpPr/>
          <p:nvPr/>
        </p:nvSpPr>
        <p:spPr>
          <a:xfrm>
            <a:off x="7964280" y="2473560"/>
            <a:ext cx="621000" cy="264600"/>
          </a:xfrm>
          <a:prstGeom prst="roundRect">
            <a:avLst>
              <a:gd name="adj" fmla="val 17241"/>
            </a:avLst>
          </a:prstGeom>
          <a:solidFill>
            <a:srgbClr val="FFFFFF"/>
          </a:solidFill>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0" name="Text 89"/>
          <p:cNvSpPr/>
          <p:nvPr/>
        </p:nvSpPr>
        <p:spPr>
          <a:xfrm>
            <a:off x="7964280" y="247356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0E8388"/>
                </a:solidFill>
                <a:effectLst/>
                <a:uFillTx/>
                <a:latin typeface="Consolas"/>
                <a:ea typeface="Consolas"/>
              </a:rPr>
              <a:t>1</a:t>
            </a:r>
            <a:endParaRPr lang="en-US" sz="900" b="0" u="none" strike="noStrike">
              <a:solidFill>
                <a:srgbClr val="000000"/>
              </a:solidFill>
              <a:effectLst/>
              <a:uFillTx/>
              <a:latin typeface="Arial"/>
            </a:endParaRPr>
          </a:p>
        </p:txBody>
      </p:sp>
      <p:sp>
        <p:nvSpPr>
          <p:cNvPr id="771" name="Shape 90"/>
          <p:cNvSpPr/>
          <p:nvPr/>
        </p:nvSpPr>
        <p:spPr>
          <a:xfrm>
            <a:off x="6903720" y="2043360"/>
            <a:ext cx="2743200" cy="2249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2" name="Shape 91"/>
          <p:cNvSpPr/>
          <p:nvPr/>
        </p:nvSpPr>
        <p:spPr>
          <a:xfrm flipV="1">
            <a:off x="6903720" y="2043360"/>
            <a:ext cx="2743200" cy="2249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3" name="Shape 92"/>
          <p:cNvSpPr/>
          <p:nvPr/>
        </p:nvSpPr>
        <p:spPr>
          <a:xfrm>
            <a:off x="68626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74" name="Shape 93"/>
          <p:cNvSpPr/>
          <p:nvPr/>
        </p:nvSpPr>
        <p:spPr>
          <a:xfrm>
            <a:off x="68626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75" name="Shape 94"/>
          <p:cNvSpPr/>
          <p:nvPr/>
        </p:nvSpPr>
        <p:spPr>
          <a:xfrm>
            <a:off x="9605880" y="20026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76" name="Shape 95"/>
          <p:cNvSpPr/>
          <p:nvPr/>
        </p:nvSpPr>
        <p:spPr>
          <a:xfrm>
            <a:off x="9605880" y="425196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77" name="Shape 96"/>
          <p:cNvSpPr/>
          <p:nvPr/>
        </p:nvSpPr>
        <p:spPr>
          <a:xfrm>
            <a:off x="7964280" y="3035880"/>
            <a:ext cx="621000" cy="264600"/>
          </a:xfrm>
          <a:prstGeom prst="roundRect">
            <a:avLst>
              <a:gd name="adj" fmla="val 17241"/>
            </a:avLst>
          </a:prstGeom>
          <a:solidFill>
            <a:srgbClr val="FFFFFF"/>
          </a:solidFill>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8" name="Text 97"/>
          <p:cNvSpPr/>
          <p:nvPr/>
        </p:nvSpPr>
        <p:spPr>
          <a:xfrm>
            <a:off x="7964280" y="303588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D98324"/>
                </a:solidFill>
                <a:effectLst/>
                <a:uFillTx/>
                <a:latin typeface="Consolas"/>
                <a:ea typeface="Consolas"/>
              </a:rPr>
              <a:t>W8^1</a:t>
            </a:r>
            <a:endParaRPr lang="en-US" sz="900" b="0" u="none" strike="noStrike">
              <a:solidFill>
                <a:srgbClr val="000000"/>
              </a:solidFill>
              <a:effectLst/>
              <a:uFillTx/>
              <a:latin typeface="Arial"/>
            </a:endParaRPr>
          </a:p>
        </p:txBody>
      </p:sp>
      <p:sp>
        <p:nvSpPr>
          <p:cNvPr id="779" name="Shape 98"/>
          <p:cNvSpPr/>
          <p:nvPr/>
        </p:nvSpPr>
        <p:spPr>
          <a:xfrm>
            <a:off x="6903720" y="2606040"/>
            <a:ext cx="2743200" cy="224928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0" name="Shape 99"/>
          <p:cNvSpPr/>
          <p:nvPr/>
        </p:nvSpPr>
        <p:spPr>
          <a:xfrm flipV="1">
            <a:off x="6903720" y="2605680"/>
            <a:ext cx="2743200" cy="224964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1" name="Shape 100"/>
          <p:cNvSpPr/>
          <p:nvPr/>
        </p:nvSpPr>
        <p:spPr>
          <a:xfrm>
            <a:off x="68626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82" name="Shape 101"/>
          <p:cNvSpPr/>
          <p:nvPr/>
        </p:nvSpPr>
        <p:spPr>
          <a:xfrm>
            <a:off x="68626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83" name="Shape 102"/>
          <p:cNvSpPr/>
          <p:nvPr/>
        </p:nvSpPr>
        <p:spPr>
          <a:xfrm>
            <a:off x="9605880" y="25650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84" name="Shape 103"/>
          <p:cNvSpPr/>
          <p:nvPr/>
        </p:nvSpPr>
        <p:spPr>
          <a:xfrm>
            <a:off x="9605880" y="481428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85" name="Shape 104"/>
          <p:cNvSpPr/>
          <p:nvPr/>
        </p:nvSpPr>
        <p:spPr>
          <a:xfrm>
            <a:off x="7964280" y="3598200"/>
            <a:ext cx="621000" cy="264600"/>
          </a:xfrm>
          <a:prstGeom prst="roundRect">
            <a:avLst>
              <a:gd name="adj" fmla="val 17241"/>
            </a:avLst>
          </a:prstGeom>
          <a:solidFill>
            <a:srgbClr val="FFFFFF"/>
          </a:solidFill>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6" name="Text 105"/>
          <p:cNvSpPr/>
          <p:nvPr/>
        </p:nvSpPr>
        <p:spPr>
          <a:xfrm>
            <a:off x="7964280" y="359820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D98324"/>
                </a:solidFill>
                <a:effectLst/>
                <a:uFillTx/>
                <a:latin typeface="Consolas"/>
                <a:ea typeface="Consolas"/>
              </a:rPr>
              <a:t>-j</a:t>
            </a:r>
            <a:endParaRPr lang="en-US" sz="900" b="0" u="none" strike="noStrike">
              <a:solidFill>
                <a:srgbClr val="000000"/>
              </a:solidFill>
              <a:effectLst/>
              <a:uFillTx/>
              <a:latin typeface="Arial"/>
            </a:endParaRPr>
          </a:p>
        </p:txBody>
      </p:sp>
      <p:sp>
        <p:nvSpPr>
          <p:cNvPr id="787" name="Shape 106"/>
          <p:cNvSpPr/>
          <p:nvPr/>
        </p:nvSpPr>
        <p:spPr>
          <a:xfrm>
            <a:off x="6903720" y="3168360"/>
            <a:ext cx="2743200" cy="224928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8" name="Shape 107"/>
          <p:cNvSpPr/>
          <p:nvPr/>
        </p:nvSpPr>
        <p:spPr>
          <a:xfrm flipV="1">
            <a:off x="6903720" y="3168360"/>
            <a:ext cx="2743200" cy="2249280"/>
          </a:xfrm>
          <a:prstGeom prst="line">
            <a:avLst/>
          </a:prstGeom>
          <a:ln w="15875">
            <a:solidFill>
              <a:srgbClr val="9FB0C7"/>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9" name="Shape 108"/>
          <p:cNvSpPr/>
          <p:nvPr/>
        </p:nvSpPr>
        <p:spPr>
          <a:xfrm>
            <a:off x="68626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90" name="Shape 109"/>
          <p:cNvSpPr/>
          <p:nvPr/>
        </p:nvSpPr>
        <p:spPr>
          <a:xfrm>
            <a:off x="68626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91" name="Shape 110"/>
          <p:cNvSpPr/>
          <p:nvPr/>
        </p:nvSpPr>
        <p:spPr>
          <a:xfrm>
            <a:off x="9605880" y="312732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92" name="Shape 111"/>
          <p:cNvSpPr/>
          <p:nvPr/>
        </p:nvSpPr>
        <p:spPr>
          <a:xfrm>
            <a:off x="9605880" y="5376600"/>
            <a:ext cx="81720" cy="81720"/>
          </a:xfrm>
          <a:prstGeom prst="ellipse">
            <a:avLst/>
          </a:prstGeom>
          <a:solidFill>
            <a:srgbClr val="132A4A"/>
          </a:solidFill>
          <a:ln w="0">
            <a:noFill/>
          </a:ln>
        </p:spPr>
        <p:style>
          <a:lnRef idx="0"/>
          <a:fillRef idx="0"/>
          <a:effectRef idx="0"/>
          <a:fontRef idx="minor"/>
        </p:style>
        <p:txBody>
          <a:bodyPr lIns="41040" tIns="13320" rIns="41040" bIns="13320" anchor="t">
            <a:noAutofit/>
          </a:bodyPr>
          <a:p>
            <a:endParaRPr lang="en-US" sz="1800" b="0" u="none" strike="noStrike">
              <a:solidFill>
                <a:srgbClr val="FFFFFF"/>
              </a:solidFill>
              <a:effectLst/>
              <a:uFillTx/>
              <a:latin typeface="Arial"/>
            </a:endParaRPr>
          </a:p>
        </p:txBody>
      </p:sp>
      <p:sp>
        <p:nvSpPr>
          <p:cNvPr id="793" name="Shape 112"/>
          <p:cNvSpPr/>
          <p:nvPr/>
        </p:nvSpPr>
        <p:spPr>
          <a:xfrm>
            <a:off x="7964280" y="4160520"/>
            <a:ext cx="621000" cy="264600"/>
          </a:xfrm>
          <a:prstGeom prst="roundRect">
            <a:avLst>
              <a:gd name="adj" fmla="val 17241"/>
            </a:avLst>
          </a:prstGeom>
          <a:solidFill>
            <a:srgbClr val="FFFFFF"/>
          </a:solidFill>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4" name="Text 113"/>
          <p:cNvSpPr/>
          <p:nvPr/>
        </p:nvSpPr>
        <p:spPr>
          <a:xfrm>
            <a:off x="7964280" y="4160520"/>
            <a:ext cx="621000" cy="264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D98324"/>
                </a:solidFill>
                <a:effectLst/>
                <a:uFillTx/>
                <a:latin typeface="Consolas"/>
                <a:ea typeface="Consolas"/>
              </a:rPr>
              <a:t>W8^3</a:t>
            </a:r>
            <a:endParaRPr lang="en-US" sz="900" b="0" u="none" strike="noStrike">
              <a:solidFill>
                <a:srgbClr val="000000"/>
              </a:solidFill>
              <a:effectLst/>
              <a:uFillTx/>
              <a:latin typeface="Arial"/>
            </a:endParaRPr>
          </a:p>
        </p:txBody>
      </p:sp>
      <p:sp>
        <p:nvSpPr>
          <p:cNvPr id="795" name="Shape 114"/>
          <p:cNvSpPr/>
          <p:nvPr/>
        </p:nvSpPr>
        <p:spPr>
          <a:xfrm>
            <a:off x="9875520" y="133488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6" name="Text 115"/>
          <p:cNvSpPr/>
          <p:nvPr/>
        </p:nvSpPr>
        <p:spPr>
          <a:xfrm>
            <a:off x="9875520" y="133488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X[0]</a:t>
            </a:r>
            <a:endParaRPr lang="en-US" sz="1050" b="0" u="none" strike="noStrike">
              <a:solidFill>
                <a:srgbClr val="000000"/>
              </a:solidFill>
              <a:effectLst/>
              <a:uFillTx/>
              <a:latin typeface="Arial"/>
            </a:endParaRPr>
          </a:p>
        </p:txBody>
      </p:sp>
      <p:sp>
        <p:nvSpPr>
          <p:cNvPr id="797" name="Shape 116"/>
          <p:cNvSpPr/>
          <p:nvPr/>
        </p:nvSpPr>
        <p:spPr>
          <a:xfrm>
            <a:off x="9875520" y="189756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8" name="Text 117"/>
          <p:cNvSpPr/>
          <p:nvPr/>
        </p:nvSpPr>
        <p:spPr>
          <a:xfrm>
            <a:off x="9875520" y="189756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X[1]</a:t>
            </a:r>
            <a:endParaRPr lang="en-US" sz="1050" b="0" u="none" strike="noStrike">
              <a:solidFill>
                <a:srgbClr val="000000"/>
              </a:solidFill>
              <a:effectLst/>
              <a:uFillTx/>
              <a:latin typeface="Arial"/>
            </a:endParaRPr>
          </a:p>
        </p:txBody>
      </p:sp>
      <p:sp>
        <p:nvSpPr>
          <p:cNvPr id="799" name="Shape 118"/>
          <p:cNvSpPr/>
          <p:nvPr/>
        </p:nvSpPr>
        <p:spPr>
          <a:xfrm>
            <a:off x="9875520" y="245988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0" name="Text 119"/>
          <p:cNvSpPr/>
          <p:nvPr/>
        </p:nvSpPr>
        <p:spPr>
          <a:xfrm>
            <a:off x="9875520" y="245988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X[2]</a:t>
            </a:r>
            <a:endParaRPr lang="en-US" sz="1050" b="0" u="none" strike="noStrike">
              <a:solidFill>
                <a:srgbClr val="000000"/>
              </a:solidFill>
              <a:effectLst/>
              <a:uFillTx/>
              <a:latin typeface="Arial"/>
            </a:endParaRPr>
          </a:p>
        </p:txBody>
      </p:sp>
      <p:sp>
        <p:nvSpPr>
          <p:cNvPr id="801" name="Shape 120"/>
          <p:cNvSpPr/>
          <p:nvPr/>
        </p:nvSpPr>
        <p:spPr>
          <a:xfrm>
            <a:off x="9875520" y="302220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2" name="Text 121"/>
          <p:cNvSpPr/>
          <p:nvPr/>
        </p:nvSpPr>
        <p:spPr>
          <a:xfrm>
            <a:off x="9875520" y="302220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X[3]</a:t>
            </a:r>
            <a:endParaRPr lang="en-US" sz="1050" b="0" u="none" strike="noStrike">
              <a:solidFill>
                <a:srgbClr val="000000"/>
              </a:solidFill>
              <a:effectLst/>
              <a:uFillTx/>
              <a:latin typeface="Arial"/>
            </a:endParaRPr>
          </a:p>
        </p:txBody>
      </p:sp>
      <p:sp>
        <p:nvSpPr>
          <p:cNvPr id="803" name="Shape 122"/>
          <p:cNvSpPr/>
          <p:nvPr/>
        </p:nvSpPr>
        <p:spPr>
          <a:xfrm>
            <a:off x="9875520" y="358452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4" name="Text 123"/>
          <p:cNvSpPr/>
          <p:nvPr/>
        </p:nvSpPr>
        <p:spPr>
          <a:xfrm>
            <a:off x="9875520" y="358452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X[4]</a:t>
            </a:r>
            <a:endParaRPr lang="en-US" sz="1050" b="0" u="none" strike="noStrike">
              <a:solidFill>
                <a:srgbClr val="000000"/>
              </a:solidFill>
              <a:effectLst/>
              <a:uFillTx/>
              <a:latin typeface="Arial"/>
            </a:endParaRPr>
          </a:p>
        </p:txBody>
      </p:sp>
      <p:sp>
        <p:nvSpPr>
          <p:cNvPr id="805" name="Shape 124"/>
          <p:cNvSpPr/>
          <p:nvPr/>
        </p:nvSpPr>
        <p:spPr>
          <a:xfrm>
            <a:off x="9875520" y="414684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6" name="Text 125"/>
          <p:cNvSpPr/>
          <p:nvPr/>
        </p:nvSpPr>
        <p:spPr>
          <a:xfrm>
            <a:off x="9875520" y="414684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X[5]</a:t>
            </a:r>
            <a:endParaRPr lang="en-US" sz="1050" b="0" u="none" strike="noStrike">
              <a:solidFill>
                <a:srgbClr val="000000"/>
              </a:solidFill>
              <a:effectLst/>
              <a:uFillTx/>
              <a:latin typeface="Arial"/>
            </a:endParaRPr>
          </a:p>
        </p:txBody>
      </p:sp>
      <p:sp>
        <p:nvSpPr>
          <p:cNvPr id="807" name="Shape 126"/>
          <p:cNvSpPr/>
          <p:nvPr/>
        </p:nvSpPr>
        <p:spPr>
          <a:xfrm>
            <a:off x="9875520" y="470916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8" name="Text 127"/>
          <p:cNvSpPr/>
          <p:nvPr/>
        </p:nvSpPr>
        <p:spPr>
          <a:xfrm>
            <a:off x="9875520" y="470916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X[6]</a:t>
            </a:r>
            <a:endParaRPr lang="en-US" sz="1050" b="0" u="none" strike="noStrike">
              <a:solidFill>
                <a:srgbClr val="000000"/>
              </a:solidFill>
              <a:effectLst/>
              <a:uFillTx/>
              <a:latin typeface="Arial"/>
            </a:endParaRPr>
          </a:p>
        </p:txBody>
      </p:sp>
      <p:sp>
        <p:nvSpPr>
          <p:cNvPr id="809" name="Shape 128"/>
          <p:cNvSpPr/>
          <p:nvPr/>
        </p:nvSpPr>
        <p:spPr>
          <a:xfrm>
            <a:off x="9875520" y="5271480"/>
            <a:ext cx="959400" cy="291960"/>
          </a:xfrm>
          <a:prstGeom prst="roundRect">
            <a:avLst>
              <a:gd name="adj" fmla="val 1562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0" name="Text 129"/>
          <p:cNvSpPr/>
          <p:nvPr/>
        </p:nvSpPr>
        <p:spPr>
          <a:xfrm>
            <a:off x="9875520" y="5271480"/>
            <a:ext cx="959400" cy="2919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1" u="none" strike="noStrike">
                <a:solidFill>
                  <a:srgbClr val="132A4A"/>
                </a:solidFill>
                <a:effectLst/>
                <a:uFillTx/>
                <a:latin typeface="Consolas"/>
                <a:ea typeface="Consolas"/>
              </a:rPr>
              <a:t>X[7]</a:t>
            </a:r>
            <a:endParaRPr lang="en-US" sz="1050" b="0" u="none" strike="noStrike">
              <a:solidFill>
                <a:srgbClr val="000000"/>
              </a:solidFill>
              <a:effectLst/>
              <a:uFillTx/>
              <a:latin typeface="Arial"/>
            </a:endParaRPr>
          </a:p>
        </p:txBody>
      </p:sp>
      <p:sp>
        <p:nvSpPr>
          <p:cNvPr id="811" name="Text 130"/>
          <p:cNvSpPr/>
          <p:nvPr/>
        </p:nvSpPr>
        <p:spPr>
          <a:xfrm>
            <a:off x="137160" y="1042560"/>
            <a:ext cx="1142280" cy="319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50" b="1" u="none" strike="noStrike">
                <a:solidFill>
                  <a:srgbClr val="5C6B7A"/>
                </a:solidFill>
                <a:effectLst/>
                <a:uFillTx/>
                <a:latin typeface="Calibri"/>
                <a:ea typeface="Calibri"/>
              </a:rPr>
              <a:t>Bit-reversed input</a:t>
            </a:r>
            <a:endParaRPr lang="en-US" sz="950" b="0" u="none" strike="noStrike">
              <a:solidFill>
                <a:srgbClr val="000000"/>
              </a:solidFill>
              <a:effectLst/>
              <a:uFillTx/>
              <a:latin typeface="Arial"/>
            </a:endParaRPr>
          </a:p>
        </p:txBody>
      </p:sp>
      <p:sp>
        <p:nvSpPr>
          <p:cNvPr id="812" name="Text 131"/>
          <p:cNvSpPr/>
          <p:nvPr/>
        </p:nvSpPr>
        <p:spPr>
          <a:xfrm>
            <a:off x="1417320" y="1078920"/>
            <a:ext cx="2742480" cy="255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1</a:t>
            </a:r>
            <a:endParaRPr lang="en-US" sz="1100" b="0" u="none" strike="noStrike">
              <a:solidFill>
                <a:srgbClr val="000000"/>
              </a:solidFill>
              <a:effectLst/>
              <a:uFillTx/>
              <a:latin typeface="Arial"/>
            </a:endParaRPr>
          </a:p>
        </p:txBody>
      </p:sp>
      <p:sp>
        <p:nvSpPr>
          <p:cNvPr id="813" name="Text 132"/>
          <p:cNvSpPr/>
          <p:nvPr/>
        </p:nvSpPr>
        <p:spPr>
          <a:xfrm>
            <a:off x="4160520" y="1078920"/>
            <a:ext cx="2742480" cy="255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2</a:t>
            </a:r>
            <a:endParaRPr lang="en-US" sz="1100" b="0" u="none" strike="noStrike">
              <a:solidFill>
                <a:srgbClr val="000000"/>
              </a:solidFill>
              <a:effectLst/>
              <a:uFillTx/>
              <a:latin typeface="Arial"/>
            </a:endParaRPr>
          </a:p>
        </p:txBody>
      </p:sp>
      <p:sp>
        <p:nvSpPr>
          <p:cNvPr id="814" name="Text 133"/>
          <p:cNvSpPr/>
          <p:nvPr/>
        </p:nvSpPr>
        <p:spPr>
          <a:xfrm>
            <a:off x="6903720" y="1078920"/>
            <a:ext cx="2742480" cy="255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3</a:t>
            </a:r>
            <a:endParaRPr lang="en-US" sz="1100" b="0" u="none" strike="noStrike">
              <a:solidFill>
                <a:srgbClr val="000000"/>
              </a:solidFill>
              <a:effectLst/>
              <a:uFillTx/>
              <a:latin typeface="Arial"/>
            </a:endParaRPr>
          </a:p>
        </p:txBody>
      </p:sp>
      <p:sp>
        <p:nvSpPr>
          <p:cNvPr id="815" name="Text 134"/>
          <p:cNvSpPr/>
          <p:nvPr/>
        </p:nvSpPr>
        <p:spPr>
          <a:xfrm>
            <a:off x="9875520" y="1042560"/>
            <a:ext cx="1370880" cy="319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1" u="none" strike="noStrike">
                <a:solidFill>
                  <a:srgbClr val="5C6B7A"/>
                </a:solidFill>
                <a:effectLst/>
                <a:uFillTx/>
                <a:latin typeface="Calibri"/>
                <a:ea typeface="Calibri"/>
              </a:rPr>
              <a:t>Output (natural order)</a:t>
            </a:r>
            <a:endParaRPr lang="en-US" sz="900" b="0" u="none" strike="noStrike">
              <a:solidFill>
                <a:srgbClr val="000000"/>
              </a:solidFill>
              <a:effectLst/>
              <a:uFillTx/>
              <a:latin typeface="Arial"/>
            </a:endParaRPr>
          </a:p>
        </p:txBody>
      </p:sp>
      <p:sp>
        <p:nvSpPr>
          <p:cNvPr id="816" name="Text 135"/>
          <p:cNvSpPr/>
          <p:nvPr/>
        </p:nvSpPr>
        <p:spPr>
          <a:xfrm>
            <a:off x="365760" y="5989320"/>
            <a:ext cx="1142928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i="1" u="none" strike="noStrike">
                <a:solidFill>
                  <a:srgbClr val="5C6B7A"/>
                </a:solidFill>
                <a:effectLst/>
                <a:uFillTx/>
                <a:latin typeface="Calibri"/>
                <a:ea typeface="Calibri"/>
              </a:rPr>
              <a:t>Data flows left to right. Each crossing pair is one butterfly; the boxed label is its twiddle factor. Twiddle span doubles each stage (1, 2, then 4 rows apart), matching the recursive decomposition of Section 9.</a:t>
            </a:r>
            <a:endParaRPr lang="en-US" sz="1100" b="0" u="none" strike="noStrike">
              <a:solidFill>
                <a:srgbClr val="000000"/>
              </a:solidFill>
              <a:effectLst/>
              <a:uFillTx/>
              <a:latin typeface="Arial"/>
            </a:endParaRPr>
          </a:p>
        </p:txBody>
      </p:sp>
      <p:sp>
        <p:nvSpPr>
          <p:cNvPr id="817" name="Text 136"/>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18" name="Text 137"/>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FFT Data Flow</a:t>
            </a:r>
            <a:endParaRPr lang="en-US" sz="900" b="0" u="none" strike="noStrike">
              <a:solidFill>
                <a:srgbClr val="000000"/>
              </a:solidFill>
              <a:effectLst/>
              <a:uFillTx/>
              <a:latin typeface="Arial"/>
            </a:endParaRPr>
          </a:p>
        </p:txBody>
      </p:sp>
      <p:sp>
        <p:nvSpPr>
          <p:cNvPr id="819" name="Text 138"/>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20"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16 · DIT VS. DIF</a:t>
            </a:r>
            <a:endParaRPr lang="en-US" sz="1150" b="0" u="none" strike="noStrike">
              <a:solidFill>
                <a:srgbClr val="000000"/>
              </a:solidFill>
              <a:effectLst/>
              <a:uFillTx/>
              <a:latin typeface="Arial"/>
            </a:endParaRPr>
          </a:p>
        </p:txBody>
      </p:sp>
      <p:sp>
        <p:nvSpPr>
          <p:cNvPr id="821"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Decimation-in-Time vs. Decimation-in-Frequency, Revisited</a:t>
            </a:r>
            <a:endParaRPr lang="en-US" sz="2700" b="0" u="none" strike="noStrike">
              <a:solidFill>
                <a:srgbClr val="000000"/>
              </a:solidFill>
              <a:effectLst/>
              <a:uFillTx/>
              <a:latin typeface="Arial"/>
            </a:endParaRPr>
          </a:p>
        </p:txBody>
      </p:sp>
      <p:sp>
        <p:nvSpPr>
          <p:cNvPr id="822" name="Text 2"/>
          <p:cNvSpPr/>
          <p:nvPr/>
        </p:nvSpPr>
        <p:spPr>
          <a:xfrm>
            <a:off x="502920" y="1188720"/>
            <a:ext cx="11154960" cy="502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6202E"/>
                </a:solidFill>
                <a:effectLst/>
                <a:uFillTx/>
                <a:latin typeface="Calibri"/>
                <a:ea typeface="Calibri"/>
              </a:rPr>
              <a:t>Having derived and fully calculated the DIT algorithm, it is worth restating precisely how its dual, DIF, differs, now that every term in the table below has been defined and worked through an example.</a:t>
            </a:r>
            <a:endParaRPr lang="en-US" sz="1300" b="0" u="none" strike="noStrike">
              <a:solidFill>
                <a:srgbClr val="000000"/>
              </a:solidFill>
              <a:effectLst/>
              <a:uFillTx/>
              <a:latin typeface="Arial"/>
            </a:endParaRPr>
          </a:p>
        </p:txBody>
      </p:sp>
      <p:graphicFrame>
        <p:nvGraphicFramePr>
          <p:cNvPr id="823" name="Table 0"/>
          <p:cNvGraphicFramePr/>
          <p:nvPr/>
        </p:nvGraphicFramePr>
        <p:xfrm>
          <a:off x="502920" y="1828800"/>
          <a:ext cx="11155320" cy="2356560"/>
        </p:xfrm>
        <a:graphic>
          <a:graphicData uri="http://schemas.openxmlformats.org/drawingml/2006/table">
            <a:tbl>
              <a:tblPr/>
              <a:tblGrid>
                <a:gridCol w="2377440"/>
                <a:gridCol w="4389120"/>
                <a:gridCol w="438912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Feature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Radix-2 DIT</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Radix-2 DIF</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Decomposition domain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Time / input sequence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Frequency / output sequence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Input ordering</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Bit-reversed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Natural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Output ordering</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Natural</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Bit-reversed</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First operation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Small-DFT decomposition, then combine (butterfly at the end of each merge)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Butterfly first (add/sub), then twiddle, then recurse into smaller DFTs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Twiddle placement in the butterfly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Before the add/subtract (multiply, then combine)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After the add/subtract (combine, then multiply)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Typical interpretation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“Split input samples, then combine into the spectrum”</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“Split frequency outputs, then simplify”</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bl>
          </a:graphicData>
        </a:graphic>
      </p:graphicFrame>
      <p:sp>
        <p:nvSpPr>
          <p:cNvPr id="824" name="Shape 3"/>
          <p:cNvSpPr/>
          <p:nvPr/>
        </p:nvSpPr>
        <p:spPr>
          <a:xfrm>
            <a:off x="502920" y="5349240"/>
            <a:ext cx="11154960" cy="867960"/>
          </a:xfrm>
          <a:prstGeom prst="roundRect">
            <a:avLst>
              <a:gd name="adj" fmla="val 842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5" name="Text 4"/>
          <p:cNvSpPr/>
          <p:nvPr/>
        </p:nvSpPr>
        <p:spPr>
          <a:xfrm>
            <a:off x="731520" y="5440680"/>
            <a:ext cx="10697760" cy="6850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50" b="0" u="none" strike="noStrike">
                <a:solidFill>
                  <a:srgbClr val="16202E"/>
                </a:solidFill>
                <a:effectLst/>
                <a:uFillTx/>
                <a:latin typeface="Calibri"/>
                <a:ea typeface="Calibri"/>
              </a:rPr>
              <a:t>Both algorithms compute the identical DFT and both require exactly (N/2)log₂N butterflies. Choosing between them in practice is usually a matter of which ordering (input or output) is more convenient for the surrounding system, not computational cost.</a:t>
            </a:r>
            <a:endParaRPr lang="en-US" sz="1250" b="0" u="none" strike="noStrike">
              <a:solidFill>
                <a:srgbClr val="000000"/>
              </a:solidFill>
              <a:effectLst/>
              <a:uFillTx/>
              <a:latin typeface="Arial"/>
            </a:endParaRPr>
          </a:p>
        </p:txBody>
      </p:sp>
      <p:sp>
        <p:nvSpPr>
          <p:cNvPr id="826" name="Text 5"/>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27" name="Text 6"/>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vs DIF</a:t>
            </a:r>
            <a:endParaRPr lang="en-US" sz="900" b="0" u="none" strike="noStrike">
              <a:solidFill>
                <a:srgbClr val="000000"/>
              </a:solidFill>
              <a:effectLst/>
              <a:uFillTx/>
              <a:latin typeface="Arial"/>
            </a:endParaRPr>
          </a:p>
        </p:txBody>
      </p:sp>
      <p:sp>
        <p:nvSpPr>
          <p:cNvPr id="828" name="Text 7"/>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29"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17 · COMPLEX ARITHMETIC</a:t>
            </a:r>
            <a:endParaRPr lang="en-US" sz="1150" b="0" u="none" strike="noStrike">
              <a:solidFill>
                <a:srgbClr val="000000"/>
              </a:solidFill>
              <a:effectLst/>
              <a:uFillTx/>
              <a:latin typeface="Arial"/>
            </a:endParaRPr>
          </a:p>
        </p:txBody>
      </p:sp>
      <p:sp>
        <p:nvSpPr>
          <p:cNvPr id="830"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The Complex Multiplication Inside Every Butterfly</a:t>
            </a:r>
            <a:endParaRPr lang="en-US" sz="2700" b="0" u="none" strike="noStrike">
              <a:solidFill>
                <a:srgbClr val="000000"/>
              </a:solidFill>
              <a:effectLst/>
              <a:uFillTx/>
              <a:latin typeface="Arial"/>
            </a:endParaRPr>
          </a:p>
        </p:txBody>
      </p:sp>
      <p:sp>
        <p:nvSpPr>
          <p:cNvPr id="831" name="Text 2"/>
          <p:cNvSpPr/>
          <p:nvPr/>
        </p:nvSpPr>
        <p:spPr>
          <a:xfrm>
            <a:off x="502920" y="120708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General complex multiplication</a:t>
            </a:r>
            <a:endParaRPr lang="en-US" sz="1300" b="0" u="none" strike="noStrike">
              <a:solidFill>
                <a:srgbClr val="000000"/>
              </a:solidFill>
              <a:effectLst/>
              <a:uFillTx/>
              <a:latin typeface="Arial"/>
            </a:endParaRPr>
          </a:p>
        </p:txBody>
      </p:sp>
      <p:sp>
        <p:nvSpPr>
          <p:cNvPr id="832" name="Shape 3"/>
          <p:cNvSpPr/>
          <p:nvPr/>
        </p:nvSpPr>
        <p:spPr>
          <a:xfrm>
            <a:off x="502920" y="1508760"/>
            <a:ext cx="5394240" cy="913680"/>
          </a:xfrm>
          <a:prstGeom prst="roundRect">
            <a:avLst>
              <a:gd name="adj" fmla="val 8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3" name="Text 4"/>
          <p:cNvSpPr/>
          <p:nvPr/>
        </p:nvSpPr>
        <p:spPr>
          <a:xfrm>
            <a:off x="640080" y="1508760"/>
            <a:ext cx="511992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0" u="none" strike="noStrike">
                <a:solidFill>
                  <a:srgbClr val="132A4A"/>
                </a:solidFill>
                <a:effectLst/>
                <a:uFillTx/>
                <a:latin typeface="Cambria"/>
                <a:ea typeface="Cambria"/>
              </a:rPr>
              <a:t>(a+jb)(c+jd) = (ac−bd) + j(ad+bc)</a:t>
            </a:r>
            <a:endParaRPr lang="en-US" sz="1600" b="0" u="none" strike="noStrike">
              <a:solidFill>
                <a:srgbClr val="000000"/>
              </a:solidFill>
              <a:effectLst/>
              <a:uFillTx/>
              <a:latin typeface="Arial"/>
            </a:endParaRPr>
          </a:p>
        </p:txBody>
      </p:sp>
      <p:sp>
        <p:nvSpPr>
          <p:cNvPr id="834" name="Text 5"/>
          <p:cNvSpPr/>
          <p:nvPr/>
        </p:nvSpPr>
        <p:spPr>
          <a:xfrm>
            <a:off x="502920" y="2606040"/>
            <a:ext cx="5394240" cy="20109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4 real multiplications (ac, bd, ad, bc) and 2 real additions/subtractions.</a:t>
            </a:r>
            <a:endParaRPr lang="en-US" sz="12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Applied to B = W_N^k · O[k]: a,b are the real/imaginary parts of W_N^k; c,d are the real/imaginary parts of O[k].</a:t>
            </a:r>
            <a:endParaRPr lang="en-US" sz="12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A real adder costs far less silicon/logic and less latency than a real multiplier, so the multiply count, not the add count, usually dominates FFT hardware cost.</a:t>
            </a:r>
            <a:endParaRPr lang="en-US" sz="1200" b="0" u="none" strike="noStrike">
              <a:solidFill>
                <a:srgbClr val="000000"/>
              </a:solidFill>
              <a:effectLst/>
              <a:uFillTx/>
              <a:latin typeface="Arial"/>
            </a:endParaRPr>
          </a:p>
        </p:txBody>
      </p:sp>
      <p:sp>
        <p:nvSpPr>
          <p:cNvPr id="835" name="Text 6"/>
          <p:cNvSpPr/>
          <p:nvPr/>
        </p:nvSpPr>
        <p:spPr>
          <a:xfrm>
            <a:off x="6263640" y="1207080"/>
            <a:ext cx="5394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D98324"/>
                </a:solidFill>
                <a:effectLst/>
                <a:uFillTx/>
                <a:latin typeface="Calibri"/>
                <a:ea typeface="Calibri"/>
              </a:rPr>
              <a:t>Special case: multiplying by j</a:t>
            </a:r>
            <a:endParaRPr lang="en-US" sz="1300" b="0" u="none" strike="noStrike">
              <a:solidFill>
                <a:srgbClr val="000000"/>
              </a:solidFill>
              <a:effectLst/>
              <a:uFillTx/>
              <a:latin typeface="Arial"/>
            </a:endParaRPr>
          </a:p>
        </p:txBody>
      </p:sp>
      <p:sp>
        <p:nvSpPr>
          <p:cNvPr id="836" name="Shape 7"/>
          <p:cNvSpPr/>
          <p:nvPr/>
        </p:nvSpPr>
        <p:spPr>
          <a:xfrm>
            <a:off x="6263640" y="1508760"/>
            <a:ext cx="5394240" cy="913680"/>
          </a:xfrm>
          <a:prstGeom prst="roundRect">
            <a:avLst>
              <a:gd name="adj" fmla="val 8000"/>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7" name="Text 8"/>
          <p:cNvSpPr/>
          <p:nvPr/>
        </p:nvSpPr>
        <p:spPr>
          <a:xfrm>
            <a:off x="6400800" y="1508760"/>
            <a:ext cx="5119920" cy="913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0" u="none" strike="noStrike">
                <a:solidFill>
                  <a:srgbClr val="132A4A"/>
                </a:solidFill>
                <a:effectLst/>
                <a:uFillTx/>
                <a:latin typeface="Cambria"/>
                <a:ea typeface="Cambria"/>
              </a:rPr>
              <a:t>j(a+jb) = ja + j</a:t>
            </a:r>
            <a:r>
              <a:rPr lang="en-US" sz="1000" b="0" u="none" strike="noStrike" baseline="30000">
                <a:solidFill>
                  <a:srgbClr val="132A4A"/>
                </a:solidFill>
                <a:effectLst/>
                <a:uFillTx/>
                <a:latin typeface="Cambria"/>
                <a:ea typeface="Cambria"/>
              </a:rPr>
              <a:t>2</a:t>
            </a:r>
            <a:r>
              <a:rPr lang="en-US" sz="1600" b="0" u="none" strike="noStrike">
                <a:solidFill>
                  <a:srgbClr val="132A4A"/>
                </a:solidFill>
                <a:effectLst/>
                <a:uFillTx/>
                <a:latin typeface="Cambria"/>
                <a:ea typeface="Cambria"/>
              </a:rPr>
              <a:t>b = −b + ja</a:t>
            </a:r>
            <a:endParaRPr lang="en-US" sz="1600" b="0" u="none" strike="noStrike">
              <a:solidFill>
                <a:srgbClr val="000000"/>
              </a:solidFill>
              <a:effectLst/>
              <a:uFillTx/>
              <a:latin typeface="Arial"/>
            </a:endParaRPr>
          </a:p>
        </p:txBody>
      </p:sp>
      <p:sp>
        <p:nvSpPr>
          <p:cNvPr id="838" name="Text 9"/>
          <p:cNvSpPr/>
          <p:nvPr/>
        </p:nvSpPr>
        <p:spPr>
          <a:xfrm>
            <a:off x="6263640" y="2606040"/>
            <a:ext cx="5394240" cy="2193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Multiplying by j (or −j) only swaps the real and imaginary parts and flips one sign; multiplying by −1 only flips both signs.</a:t>
            </a:r>
            <a:endParaRPr lang="en-US" sz="12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No real multiplier is needed at all, just wiring and a sign inversion.</a:t>
            </a:r>
            <a:endParaRPr lang="en-US" sz="1200" b="0" u="none" strike="noStrike">
              <a:solidFill>
                <a:srgbClr val="000000"/>
              </a:solidFill>
              <a:effectLst/>
              <a:uFillTx/>
              <a:latin typeface="Arial"/>
            </a:endParaRPr>
          </a:p>
          <a:p>
            <a:pPr marL="343080" indent="-343080" defTabSz="914400">
              <a:lnSpc>
                <a:spcPct val="105000"/>
              </a:lnSpc>
              <a:spcAft>
                <a:spcPts val="799"/>
              </a:spcAft>
              <a:buClr>
                <a:srgbClr val="16202E"/>
              </a:buClr>
              <a:buFont typeface="Symbol" charset="2"/>
              <a:buChar char=""/>
            </a:pPr>
            <a:r>
              <a:rPr lang="en-US" sz="1200" b="0" u="none" strike="noStrike">
                <a:solidFill>
                  <a:srgbClr val="16202E"/>
                </a:solidFill>
                <a:effectLst/>
                <a:uFillTx/>
                <a:latin typeface="Calibri"/>
                <a:ea typeface="Calibri"/>
              </a:rPr>
              <a:t>This is exactly why the trivial twiddle factors identified in Sections 8 and 14 (1, −1, j, −j) can be special-cased out of the multiply count in hardware.</a:t>
            </a:r>
            <a:endParaRPr lang="en-US" sz="1200" b="0" u="none" strike="noStrike">
              <a:solidFill>
                <a:srgbClr val="000000"/>
              </a:solidFill>
              <a:effectLst/>
              <a:uFillTx/>
              <a:latin typeface="Arial"/>
            </a:endParaRPr>
          </a:p>
        </p:txBody>
      </p:sp>
      <p:sp>
        <p:nvSpPr>
          <p:cNvPr id="839" name="Shape 10"/>
          <p:cNvSpPr/>
          <p:nvPr/>
        </p:nvSpPr>
        <p:spPr>
          <a:xfrm>
            <a:off x="502920" y="5029200"/>
            <a:ext cx="11154960" cy="1188000"/>
          </a:xfrm>
          <a:prstGeom prst="roundRect">
            <a:avLst>
              <a:gd name="adj" fmla="val 6154"/>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0" name="Text 11"/>
          <p:cNvSpPr/>
          <p:nvPr/>
        </p:nvSpPr>
        <p:spPr>
          <a:xfrm>
            <a:off x="731520" y="5120640"/>
            <a:ext cx="10697760" cy="10051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16202E"/>
                </a:solidFill>
                <a:effectLst/>
                <a:uFillTx/>
                <a:latin typeface="Calibri"/>
                <a:ea typeface="Calibri"/>
              </a:rPr>
              <a:t>Hardware connection: an FPGA/ASIC butterfly processing element typically implements the general complex multiplier as 3 or 4 real multiplier blocks (3 with the Karatsuba-style trick that trades a multiply for extra adds) plus adders, but recognizes trivial twiddle factors in the control logic and bypasses the multiplier entirely for them (Section 18).</a:t>
            </a:r>
            <a:endParaRPr lang="en-US" sz="1200" b="0" u="none" strike="noStrike">
              <a:solidFill>
                <a:srgbClr val="000000"/>
              </a:solidFill>
              <a:effectLst/>
              <a:uFillTx/>
              <a:latin typeface="Arial"/>
            </a:endParaRPr>
          </a:p>
        </p:txBody>
      </p:sp>
      <p:sp>
        <p:nvSpPr>
          <p:cNvPr id="841" name="Text 12"/>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42" name="Text 13"/>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Complex Arithmetic</a:t>
            </a:r>
            <a:endParaRPr lang="en-US" sz="900" b="0" u="none" strike="noStrike">
              <a:solidFill>
                <a:srgbClr val="000000"/>
              </a:solidFill>
              <a:effectLst/>
              <a:uFillTx/>
              <a:latin typeface="Arial"/>
            </a:endParaRPr>
          </a:p>
        </p:txBody>
      </p:sp>
      <p:sp>
        <p:nvSpPr>
          <p:cNvPr id="843" name="Text 14"/>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4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18 · HARDWARE MAPPING</a:t>
            </a:r>
            <a:endParaRPr lang="en-US" sz="1150" b="0" u="none" strike="noStrike">
              <a:solidFill>
                <a:srgbClr val="000000"/>
              </a:solidFill>
              <a:effectLst/>
              <a:uFillTx/>
              <a:latin typeface="Arial"/>
            </a:endParaRPr>
          </a:p>
        </p:txBody>
      </p:sp>
      <p:sp>
        <p:nvSpPr>
          <p:cNvPr id="84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From Algorithm to RTL: FFT Hardware Building Blocks</a:t>
            </a:r>
            <a:endParaRPr lang="en-US" sz="2700" b="0" u="none" strike="noStrike">
              <a:solidFill>
                <a:srgbClr val="000000"/>
              </a:solidFill>
              <a:effectLst/>
              <a:uFillTx/>
              <a:latin typeface="Arial"/>
            </a:endParaRPr>
          </a:p>
        </p:txBody>
      </p:sp>
      <p:sp>
        <p:nvSpPr>
          <p:cNvPr id="846" name="Text 2"/>
          <p:cNvSpPr/>
          <p:nvPr/>
        </p:nvSpPr>
        <p:spPr>
          <a:xfrm>
            <a:off x="502920" y="1207080"/>
            <a:ext cx="5302800" cy="40226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Complex multipliers</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Implement B = W_N^k · O[k]; often the most area/power-costly block, so trivial twiddles bypass them.</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Complex adders</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Form A+B and A−B; cheap, and needed twice as often as multipliers (Section 14).</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Registers / delay lines</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Hold intermediate butterfly outputs between stages in pipelined or streaming designs.</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Memory (input/working RAM)</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Stores samples between stages; in-place butterfly computation (Section 11) minimizes memory needed.</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Address generation / bit-reversal unit</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Produces the bit-reversed read/write addresses of Section 10, often as a small counter with reversed bit wiring.</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32A4A"/>
              </a:buClr>
              <a:buFont typeface="Symbol" charset="2"/>
              <a:buChar char=""/>
            </a:pPr>
            <a:r>
              <a:rPr lang="en-US" sz="1250" b="1" u="none" strike="noStrike">
                <a:solidFill>
                  <a:srgbClr val="132A4A"/>
                </a:solidFill>
                <a:effectLst/>
                <a:uFillTx/>
                <a:latin typeface="Calibri"/>
                <a:ea typeface="Calibri"/>
              </a:rPr>
              <a:t>Twiddle-factor ROM</a:t>
            </a:r>
            <a:endParaRPr lang="en-US" sz="1250" b="0" u="none" strike="noStrike">
              <a:solidFill>
                <a:srgbClr val="000000"/>
              </a:solidFill>
              <a:effectLst/>
              <a:uFillTx/>
              <a:latin typeface="Arial"/>
            </a:endParaRPr>
          </a:p>
          <a:p>
            <a:pPr marL="685800" lvl="1"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Stores precomputed W_N^k values (Section 8); symmetry (Section 8) allows storing only a quarter-circle.</a:t>
            </a:r>
            <a:endParaRPr lang="en-US" sz="1150" b="0" u="none" strike="noStrike">
              <a:solidFill>
                <a:srgbClr val="000000"/>
              </a:solidFill>
              <a:effectLst/>
              <a:uFillTx/>
              <a:latin typeface="Arial"/>
            </a:endParaRPr>
          </a:p>
        </p:txBody>
      </p:sp>
      <p:sp>
        <p:nvSpPr>
          <p:cNvPr id="847" name="Text 3"/>
          <p:cNvSpPr/>
          <p:nvPr/>
        </p:nvSpPr>
        <p:spPr>
          <a:xfrm>
            <a:off x="6126480" y="1207080"/>
            <a:ext cx="557712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Streaming vs. burst architectures</a:t>
            </a:r>
            <a:endParaRPr lang="en-US" sz="1250" b="0" u="none" strike="noStrike">
              <a:solidFill>
                <a:srgbClr val="000000"/>
              </a:solidFill>
              <a:effectLst/>
              <a:uFillTx/>
              <a:latin typeface="Arial"/>
            </a:endParaRPr>
          </a:p>
        </p:txBody>
      </p:sp>
      <p:sp>
        <p:nvSpPr>
          <p:cNvPr id="848" name="Text 4"/>
          <p:cNvSpPr/>
          <p:nvPr/>
        </p:nvSpPr>
        <p:spPr>
          <a:xfrm>
            <a:off x="6126480" y="1508760"/>
            <a:ext cx="5577120" cy="1279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Burst (memory-based): one butterfly processing element reused for all stages; slower but small area.</a:t>
            </a:r>
            <a:endParaRPr lang="en-US" sz="1150" b="0" u="none" strike="noStrike">
              <a:solidFill>
                <a:srgbClr val="000000"/>
              </a:solidFill>
              <a:effectLst/>
              <a:uFillTx/>
              <a:latin typeface="Arial"/>
            </a:endParaRPr>
          </a:p>
          <a:p>
            <a:pPr marL="343080" indent="-343080" defTabSz="914400">
              <a:lnSpc>
                <a:spcPct val="105000"/>
              </a:lnSpc>
              <a:spcAft>
                <a:spcPts val="601"/>
              </a:spcAft>
              <a:buClr>
                <a:srgbClr val="16202E"/>
              </a:buClr>
              <a:buFont typeface="Symbol" charset="2"/>
              <a:buChar char=""/>
            </a:pPr>
            <a:r>
              <a:rPr lang="en-US" sz="1150" b="0" u="none" strike="noStrike">
                <a:solidFill>
                  <a:srgbClr val="16202E"/>
                </a:solidFill>
                <a:effectLst/>
                <a:uFillTx/>
                <a:latin typeface="Calibri"/>
                <a:ea typeface="Calibri"/>
              </a:rPr>
              <a:t>Streaming (pipelined): one processing element per stage, data flows continuously; fast, more area.</a:t>
            </a:r>
            <a:endParaRPr lang="en-US" sz="1150" b="0" u="none" strike="noStrike">
              <a:solidFill>
                <a:srgbClr val="000000"/>
              </a:solidFill>
              <a:effectLst/>
              <a:uFillTx/>
              <a:latin typeface="Arial"/>
            </a:endParaRPr>
          </a:p>
        </p:txBody>
      </p:sp>
      <p:sp>
        <p:nvSpPr>
          <p:cNvPr id="849" name="Text 5"/>
          <p:cNvSpPr/>
          <p:nvPr/>
        </p:nvSpPr>
        <p:spPr>
          <a:xfrm>
            <a:off x="6126480" y="2788920"/>
            <a:ext cx="5577120" cy="255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Conceptual hardware datapath</a:t>
            </a:r>
            <a:endParaRPr lang="en-US" sz="1250" b="0" u="none" strike="noStrike">
              <a:solidFill>
                <a:srgbClr val="000000"/>
              </a:solidFill>
              <a:effectLst/>
              <a:uFillTx/>
              <a:latin typeface="Arial"/>
            </a:endParaRPr>
          </a:p>
        </p:txBody>
      </p:sp>
      <p:sp>
        <p:nvSpPr>
          <p:cNvPr id="850" name="Shape 6"/>
          <p:cNvSpPr/>
          <p:nvPr/>
        </p:nvSpPr>
        <p:spPr>
          <a:xfrm>
            <a:off x="6126480" y="3072240"/>
            <a:ext cx="5577120" cy="328320"/>
          </a:xfrm>
          <a:prstGeom prst="roundRect">
            <a:avLst>
              <a:gd name="adj" fmla="val 13889"/>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1" name="Text 7"/>
          <p:cNvSpPr/>
          <p:nvPr/>
        </p:nvSpPr>
        <p:spPr>
          <a:xfrm>
            <a:off x="6126480" y="30722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Input Memory</a:t>
            </a:r>
            <a:endParaRPr lang="en-US" sz="1030" b="0" u="none" strike="noStrike">
              <a:solidFill>
                <a:srgbClr val="000000"/>
              </a:solidFill>
              <a:effectLst/>
              <a:uFillTx/>
              <a:latin typeface="Arial"/>
            </a:endParaRPr>
          </a:p>
        </p:txBody>
      </p:sp>
      <p:sp>
        <p:nvSpPr>
          <p:cNvPr id="852" name="Text 8"/>
          <p:cNvSpPr/>
          <p:nvPr/>
        </p:nvSpPr>
        <p:spPr>
          <a:xfrm>
            <a:off x="6126480" y="3401640"/>
            <a:ext cx="5577120" cy="127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u="none" strike="noStrike">
                <a:solidFill>
                  <a:srgbClr val="5C6B7A"/>
                </a:solidFill>
                <a:effectLst/>
                <a:uFillTx/>
                <a:latin typeface="Calibri"/>
                <a:ea typeface="Calibri"/>
              </a:rPr>
              <a:t>↓</a:t>
            </a:r>
            <a:endParaRPr lang="en-US" sz="1000" b="0" u="none" strike="noStrike">
              <a:solidFill>
                <a:srgbClr val="000000"/>
              </a:solidFill>
              <a:effectLst/>
              <a:uFillTx/>
              <a:latin typeface="Arial"/>
            </a:endParaRPr>
          </a:p>
        </p:txBody>
      </p:sp>
      <p:sp>
        <p:nvSpPr>
          <p:cNvPr id="853" name="Shape 9"/>
          <p:cNvSpPr/>
          <p:nvPr/>
        </p:nvSpPr>
        <p:spPr>
          <a:xfrm>
            <a:off x="6126480" y="3529440"/>
            <a:ext cx="5577120" cy="328320"/>
          </a:xfrm>
          <a:prstGeom prst="roundRect">
            <a:avLst>
              <a:gd name="adj" fmla="val 13889"/>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4" name="Text 10"/>
          <p:cNvSpPr/>
          <p:nvPr/>
        </p:nvSpPr>
        <p:spPr>
          <a:xfrm>
            <a:off x="6126480" y="35294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Bit-Reversal / Address Generation</a:t>
            </a:r>
            <a:endParaRPr lang="en-US" sz="1030" b="0" u="none" strike="noStrike">
              <a:solidFill>
                <a:srgbClr val="000000"/>
              </a:solidFill>
              <a:effectLst/>
              <a:uFillTx/>
              <a:latin typeface="Arial"/>
            </a:endParaRPr>
          </a:p>
        </p:txBody>
      </p:sp>
      <p:sp>
        <p:nvSpPr>
          <p:cNvPr id="855" name="Text 11"/>
          <p:cNvSpPr/>
          <p:nvPr/>
        </p:nvSpPr>
        <p:spPr>
          <a:xfrm>
            <a:off x="6126480" y="3858840"/>
            <a:ext cx="5577120" cy="127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u="none" strike="noStrike">
                <a:solidFill>
                  <a:srgbClr val="5C6B7A"/>
                </a:solidFill>
                <a:effectLst/>
                <a:uFillTx/>
                <a:latin typeface="Calibri"/>
                <a:ea typeface="Calibri"/>
              </a:rPr>
              <a:t>↓</a:t>
            </a:r>
            <a:endParaRPr lang="en-US" sz="1000" b="0" u="none" strike="noStrike">
              <a:solidFill>
                <a:srgbClr val="000000"/>
              </a:solidFill>
              <a:effectLst/>
              <a:uFillTx/>
              <a:latin typeface="Arial"/>
            </a:endParaRPr>
          </a:p>
        </p:txBody>
      </p:sp>
      <p:sp>
        <p:nvSpPr>
          <p:cNvPr id="856" name="Shape 12"/>
          <p:cNvSpPr/>
          <p:nvPr/>
        </p:nvSpPr>
        <p:spPr>
          <a:xfrm>
            <a:off x="6126480" y="3986640"/>
            <a:ext cx="5577120" cy="328320"/>
          </a:xfrm>
          <a:prstGeom prst="roundRect">
            <a:avLst>
              <a:gd name="adj" fmla="val 13889"/>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7" name="Text 13"/>
          <p:cNvSpPr/>
          <p:nvPr/>
        </p:nvSpPr>
        <p:spPr>
          <a:xfrm>
            <a:off x="6126480" y="39866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Butterfly Processing Element</a:t>
            </a:r>
            <a:endParaRPr lang="en-US" sz="1030" b="0" u="none" strike="noStrike">
              <a:solidFill>
                <a:srgbClr val="000000"/>
              </a:solidFill>
              <a:effectLst/>
              <a:uFillTx/>
              <a:latin typeface="Arial"/>
            </a:endParaRPr>
          </a:p>
        </p:txBody>
      </p:sp>
      <p:sp>
        <p:nvSpPr>
          <p:cNvPr id="858" name="Text 14"/>
          <p:cNvSpPr/>
          <p:nvPr/>
        </p:nvSpPr>
        <p:spPr>
          <a:xfrm>
            <a:off x="6126480" y="4316040"/>
            <a:ext cx="5577120" cy="127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u="none" strike="noStrike">
                <a:solidFill>
                  <a:srgbClr val="5C6B7A"/>
                </a:solidFill>
                <a:effectLst/>
                <a:uFillTx/>
                <a:latin typeface="Calibri"/>
                <a:ea typeface="Calibri"/>
              </a:rPr>
              <a:t>↓</a:t>
            </a:r>
            <a:endParaRPr lang="en-US" sz="1000" b="0" u="none" strike="noStrike">
              <a:solidFill>
                <a:srgbClr val="000000"/>
              </a:solidFill>
              <a:effectLst/>
              <a:uFillTx/>
              <a:latin typeface="Arial"/>
            </a:endParaRPr>
          </a:p>
        </p:txBody>
      </p:sp>
      <p:sp>
        <p:nvSpPr>
          <p:cNvPr id="859" name="Shape 15"/>
          <p:cNvSpPr/>
          <p:nvPr/>
        </p:nvSpPr>
        <p:spPr>
          <a:xfrm>
            <a:off x="6126480" y="4443840"/>
            <a:ext cx="5577120" cy="328320"/>
          </a:xfrm>
          <a:prstGeom prst="roundRect">
            <a:avLst>
              <a:gd name="adj" fmla="val 13889"/>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0" name="Text 16"/>
          <p:cNvSpPr/>
          <p:nvPr/>
        </p:nvSpPr>
        <p:spPr>
          <a:xfrm>
            <a:off x="6126480" y="44438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Twiddle ROM + Complex Multiplier</a:t>
            </a:r>
            <a:endParaRPr lang="en-US" sz="1030" b="0" u="none" strike="noStrike">
              <a:solidFill>
                <a:srgbClr val="000000"/>
              </a:solidFill>
              <a:effectLst/>
              <a:uFillTx/>
              <a:latin typeface="Arial"/>
            </a:endParaRPr>
          </a:p>
        </p:txBody>
      </p:sp>
      <p:sp>
        <p:nvSpPr>
          <p:cNvPr id="861" name="Text 17"/>
          <p:cNvSpPr/>
          <p:nvPr/>
        </p:nvSpPr>
        <p:spPr>
          <a:xfrm>
            <a:off x="6126480" y="4773240"/>
            <a:ext cx="5577120" cy="127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u="none" strike="noStrike">
                <a:solidFill>
                  <a:srgbClr val="5C6B7A"/>
                </a:solidFill>
                <a:effectLst/>
                <a:uFillTx/>
                <a:latin typeface="Calibri"/>
                <a:ea typeface="Calibri"/>
              </a:rPr>
              <a:t>↓</a:t>
            </a:r>
            <a:endParaRPr lang="en-US" sz="1000" b="0" u="none" strike="noStrike">
              <a:solidFill>
                <a:srgbClr val="000000"/>
              </a:solidFill>
              <a:effectLst/>
              <a:uFillTx/>
              <a:latin typeface="Arial"/>
            </a:endParaRPr>
          </a:p>
        </p:txBody>
      </p:sp>
      <p:sp>
        <p:nvSpPr>
          <p:cNvPr id="862" name="Shape 18"/>
          <p:cNvSpPr/>
          <p:nvPr/>
        </p:nvSpPr>
        <p:spPr>
          <a:xfrm>
            <a:off x="6126480" y="4901040"/>
            <a:ext cx="5577120" cy="328320"/>
          </a:xfrm>
          <a:prstGeom prst="roundRect">
            <a:avLst>
              <a:gd name="adj" fmla="val 13889"/>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3" name="Text 19"/>
          <p:cNvSpPr/>
          <p:nvPr/>
        </p:nvSpPr>
        <p:spPr>
          <a:xfrm>
            <a:off x="6126480" y="49010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Butterfly Processing Element (next stage)</a:t>
            </a:r>
            <a:endParaRPr lang="en-US" sz="1030" b="0" u="none" strike="noStrike">
              <a:solidFill>
                <a:srgbClr val="000000"/>
              </a:solidFill>
              <a:effectLst/>
              <a:uFillTx/>
              <a:latin typeface="Arial"/>
            </a:endParaRPr>
          </a:p>
        </p:txBody>
      </p:sp>
      <p:sp>
        <p:nvSpPr>
          <p:cNvPr id="864" name="Text 20"/>
          <p:cNvSpPr/>
          <p:nvPr/>
        </p:nvSpPr>
        <p:spPr>
          <a:xfrm>
            <a:off x="6126480" y="5230440"/>
            <a:ext cx="5577120" cy="127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u="none" strike="noStrike">
                <a:solidFill>
                  <a:srgbClr val="5C6B7A"/>
                </a:solidFill>
                <a:effectLst/>
                <a:uFillTx/>
                <a:latin typeface="Calibri"/>
                <a:ea typeface="Calibri"/>
              </a:rPr>
              <a:t>↓</a:t>
            </a:r>
            <a:endParaRPr lang="en-US" sz="1000" b="0" u="none" strike="noStrike">
              <a:solidFill>
                <a:srgbClr val="000000"/>
              </a:solidFill>
              <a:effectLst/>
              <a:uFillTx/>
              <a:latin typeface="Arial"/>
            </a:endParaRPr>
          </a:p>
        </p:txBody>
      </p:sp>
      <p:sp>
        <p:nvSpPr>
          <p:cNvPr id="865" name="Shape 21"/>
          <p:cNvSpPr/>
          <p:nvPr/>
        </p:nvSpPr>
        <p:spPr>
          <a:xfrm>
            <a:off x="6126480" y="5358240"/>
            <a:ext cx="5577120" cy="328320"/>
          </a:xfrm>
          <a:prstGeom prst="roundRect">
            <a:avLst>
              <a:gd name="adj" fmla="val 13889"/>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6" name="Text 22"/>
          <p:cNvSpPr/>
          <p:nvPr/>
        </p:nvSpPr>
        <p:spPr>
          <a:xfrm>
            <a:off x="6126480" y="5358240"/>
            <a:ext cx="5577120" cy="32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30" b="1" u="none" strike="noStrike">
                <a:solidFill>
                  <a:srgbClr val="132A4A"/>
                </a:solidFill>
                <a:effectLst/>
                <a:uFillTx/>
                <a:latin typeface="Calibri"/>
                <a:ea typeface="Calibri"/>
              </a:rPr>
              <a:t>FFT Output</a:t>
            </a:r>
            <a:endParaRPr lang="en-US" sz="1030" b="0" u="none" strike="noStrike">
              <a:solidFill>
                <a:srgbClr val="000000"/>
              </a:solidFill>
              <a:effectLst/>
              <a:uFillTx/>
              <a:latin typeface="Arial"/>
            </a:endParaRPr>
          </a:p>
        </p:txBody>
      </p:sp>
      <p:sp>
        <p:nvSpPr>
          <p:cNvPr id="867" name="Text 23"/>
          <p:cNvSpPr/>
          <p:nvPr/>
        </p:nvSpPr>
        <p:spPr>
          <a:xfrm>
            <a:off x="6126480" y="5870520"/>
            <a:ext cx="5577120" cy="502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0" i="1" u="none" strike="noStrike">
                <a:solidFill>
                  <a:srgbClr val="5C6B7A"/>
                </a:solidFill>
                <a:effectLst/>
                <a:uFillTx/>
                <a:latin typeface="Calibri"/>
                <a:ea typeface="Calibri"/>
              </a:rPr>
              <a:t>This deck stays at the conceptual RTL-mapping level; vendor-specific FFT IP cores add configuration for streaming width, radix mixing, and scaling, on top of the same underlying algorithm.</a:t>
            </a:r>
            <a:endParaRPr lang="en-US" sz="1000" b="0" u="none" strike="noStrike">
              <a:solidFill>
                <a:srgbClr val="000000"/>
              </a:solidFill>
              <a:effectLst/>
              <a:uFillTx/>
              <a:latin typeface="Arial"/>
            </a:endParaRPr>
          </a:p>
        </p:txBody>
      </p:sp>
      <p:sp>
        <p:nvSpPr>
          <p:cNvPr id="868" name="Text 24"/>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69" name="Text 25"/>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Hardware Mapping</a:t>
            </a:r>
            <a:endParaRPr lang="en-US" sz="900" b="0" u="none" strike="noStrike">
              <a:solidFill>
                <a:srgbClr val="000000"/>
              </a:solidFill>
              <a:effectLst/>
              <a:uFillTx/>
              <a:latin typeface="Arial"/>
            </a:endParaRPr>
          </a:p>
        </p:txBody>
      </p:sp>
      <p:sp>
        <p:nvSpPr>
          <p:cNvPr id="870" name="Text 26"/>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71"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19 · FIXED-POINT IMPLEMENTATION</a:t>
            </a:r>
            <a:endParaRPr lang="en-US" sz="1150" b="0" u="none" strike="noStrike">
              <a:solidFill>
                <a:srgbClr val="000000"/>
              </a:solidFill>
              <a:effectLst/>
              <a:uFillTx/>
              <a:latin typeface="Arial"/>
            </a:endParaRPr>
          </a:p>
        </p:txBody>
      </p:sp>
      <p:sp>
        <p:nvSpPr>
          <p:cNvPr id="872"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Why Fixed-Point Arithmetic Needs Care in FFT Hardware</a:t>
            </a:r>
            <a:endParaRPr lang="en-US" sz="2700" b="0" u="none" strike="noStrike">
              <a:solidFill>
                <a:srgbClr val="000000"/>
              </a:solidFill>
              <a:effectLst/>
              <a:uFillTx/>
              <a:latin typeface="Arial"/>
            </a:endParaRPr>
          </a:p>
        </p:txBody>
      </p:sp>
      <p:sp>
        <p:nvSpPr>
          <p:cNvPr id="873" name="Text 2"/>
          <p:cNvSpPr/>
          <p:nvPr/>
        </p:nvSpPr>
        <p:spPr>
          <a:xfrm>
            <a:off x="502920" y="118872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FPGA and ASIC FFT implementations very often use fixed-point (integer with an implied binary point) rather than floating-point arithmetic, because fixed-point multipliers and adders are smaller, faster, and lower power. This efficiency comes with bookkeeping responsibilities:</a:t>
            </a:r>
            <a:endParaRPr lang="en-US" sz="1250" b="0" u="none" strike="noStrike">
              <a:solidFill>
                <a:srgbClr val="000000"/>
              </a:solidFill>
              <a:effectLst/>
              <a:uFillTx/>
              <a:latin typeface="Arial"/>
            </a:endParaRPr>
          </a:p>
        </p:txBody>
      </p:sp>
      <p:graphicFrame>
        <p:nvGraphicFramePr>
          <p:cNvPr id="874" name="Table 0"/>
          <p:cNvGraphicFramePr/>
          <p:nvPr/>
        </p:nvGraphicFramePr>
        <p:xfrm>
          <a:off x="502920" y="1874520"/>
          <a:ext cx="11155320" cy="1883880"/>
        </p:xfrm>
        <a:graphic>
          <a:graphicData uri="http://schemas.openxmlformats.org/drawingml/2006/table">
            <a:tbl>
              <a:tblPr/>
              <a:tblGrid>
                <a:gridCol w="2468880"/>
                <a:gridCol w="8686800"/>
              </a:tblGrid>
              <a:tr h="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Concern</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What it means here</a:t>
                      </a:r>
                      <a:endParaRPr lang="en-US" sz="1250" b="0" u="none" strike="noStrike">
                        <a:solidFill>
                          <a:srgbClr val="FFFFFF"/>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Quantization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Representing real/imaginary parts and twiddle factors with a finite number of bits introduces small rounding errors.</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Dynamic range</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Signal magnitudes can grow through the stages; the word length must cover the largest value that can occur.</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Bit growth</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Each complex addition can grow the required word length by up to 1 bit (see example below).</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Overflow</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If the word length is not grown or scaled, sums can wrap around and corrupt the result.</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3F7FC"/>
                    </a:solidFill>
                  </a:tcPr>
                </a:tc>
              </a:tr>
              <a:tr h="0">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Rounding / saturation</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anchor="ctr">
                      <a:noAutofit/>
                    </a:bodyPr>
                    <a:p>
                      <a:pPr defTabSz="914400">
                        <a:lnSpc>
                          <a:spcPct val="100000"/>
                        </a:lnSpc>
                        <a:tabLst>
                          <a:tab pos="0" algn="l"/>
                        </a:tabLst>
                      </a:pPr>
                      <a:r>
                        <a:rPr lang="en-US" sz="1250" b="0" u="none" strike="noStrike">
                          <a:solidFill>
                            <a:srgbClr val="16202E"/>
                          </a:solidFill>
                          <a:effectLst/>
                          <a:uFillTx/>
                          <a:latin typeface="Calibri"/>
                          <a:ea typeface="Calibri"/>
                        </a:rPr>
                        <a:t>After multiplication, results must be rounded or truncated back to a fixed word length; saturation clips instead of wrapping on overflow.</a:t>
                      </a:r>
                      <a:endParaRPr lang="en-US" sz="1250" b="0" u="none" strike="noStrike">
                        <a:solidFill>
                          <a:srgbClr val="000000"/>
                        </a:solidFill>
                        <a:effectLst/>
                        <a:uFillTx/>
                        <a:latin typeface="Arial"/>
                      </a:endParaRPr>
                    </a:p>
                  </a:txBody>
                  <a:tcPr anchor="ctr" marL="91440" marR="91440" marT="45720" marB="4572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875" name="Text 3"/>
          <p:cNvSpPr/>
          <p:nvPr/>
        </p:nvSpPr>
        <p:spPr>
          <a:xfrm>
            <a:off x="502920" y="4343400"/>
            <a:ext cx="548568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A minimal bit-growth example</a:t>
            </a:r>
            <a:endParaRPr lang="en-US" sz="1250" b="0" u="none" strike="noStrike">
              <a:solidFill>
                <a:srgbClr val="000000"/>
              </a:solidFill>
              <a:effectLst/>
              <a:uFillTx/>
              <a:latin typeface="Arial"/>
            </a:endParaRPr>
          </a:p>
        </p:txBody>
      </p:sp>
      <p:sp>
        <p:nvSpPr>
          <p:cNvPr id="876" name="Shape 4"/>
          <p:cNvSpPr/>
          <p:nvPr/>
        </p:nvSpPr>
        <p:spPr>
          <a:xfrm>
            <a:off x="502920" y="4645080"/>
            <a:ext cx="5394240" cy="776520"/>
          </a:xfrm>
          <a:prstGeom prst="roundRect">
            <a:avLst>
              <a:gd name="adj" fmla="val 9412"/>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7" name="Text 5"/>
          <p:cNvSpPr/>
          <p:nvPr/>
        </p:nvSpPr>
        <p:spPr>
          <a:xfrm>
            <a:off x="640080" y="4645080"/>
            <a:ext cx="5119920" cy="7765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32A4A"/>
                </a:solidFill>
                <a:effectLst/>
                <a:uFillTx/>
                <a:latin typeface="Consolas"/>
                <a:ea typeface="Consolas"/>
              </a:rPr>
              <a:t>a, b ∈ [−8,7]  (4-bit signed)   →   a+b ∈ [−16,14]  (needs 5 bits)</a:t>
            </a:r>
            <a:endParaRPr lang="en-US" sz="1300" b="0" u="none" strike="noStrike">
              <a:solidFill>
                <a:srgbClr val="000000"/>
              </a:solidFill>
              <a:effectLst/>
              <a:uFillTx/>
              <a:latin typeface="Arial"/>
            </a:endParaRPr>
          </a:p>
        </p:txBody>
      </p:sp>
      <p:sp>
        <p:nvSpPr>
          <p:cNvPr id="878" name="Text 6"/>
          <p:cNvSpPr/>
          <p:nvPr/>
        </p:nvSpPr>
        <p:spPr>
          <a:xfrm>
            <a:off x="502920" y="5486400"/>
            <a:ext cx="5394240" cy="913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u="none" strike="noStrike">
                <a:solidFill>
                  <a:srgbClr val="16202E"/>
                </a:solidFill>
                <a:effectLst/>
                <a:uFillTx/>
                <a:latin typeface="Calibri"/>
                <a:ea typeface="Calibri"/>
              </a:rPr>
              <a:t>Every butterfly addition can add 1 bit of headroom in the worst case. Across log₂N = 3 stages for N=8, up to 3 extra guard bits may be needed if no scaling is applied between stages.</a:t>
            </a:r>
            <a:endParaRPr lang="en-US" sz="1150" b="0" u="none" strike="noStrike">
              <a:solidFill>
                <a:srgbClr val="000000"/>
              </a:solidFill>
              <a:effectLst/>
              <a:uFillTx/>
              <a:latin typeface="Arial"/>
            </a:endParaRPr>
          </a:p>
        </p:txBody>
      </p:sp>
      <p:sp>
        <p:nvSpPr>
          <p:cNvPr id="879" name="Text 7"/>
          <p:cNvSpPr/>
          <p:nvPr/>
        </p:nvSpPr>
        <p:spPr>
          <a:xfrm>
            <a:off x="6263640" y="4343400"/>
            <a:ext cx="5394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32A4A"/>
                </a:solidFill>
                <a:effectLst/>
                <a:uFillTx/>
                <a:latin typeface="Calibri"/>
                <a:ea typeface="Calibri"/>
              </a:rPr>
              <a:t>Scaling strategies</a:t>
            </a:r>
            <a:endParaRPr lang="en-US" sz="1250" b="0" u="none" strike="noStrike">
              <a:solidFill>
                <a:srgbClr val="000000"/>
              </a:solidFill>
              <a:effectLst/>
              <a:uFillTx/>
              <a:latin typeface="Arial"/>
            </a:endParaRPr>
          </a:p>
        </p:txBody>
      </p:sp>
      <p:sp>
        <p:nvSpPr>
          <p:cNvPr id="880" name="Text 8"/>
          <p:cNvSpPr/>
          <p:nvPr/>
        </p:nvSpPr>
        <p:spPr>
          <a:xfrm>
            <a:off x="6263640" y="4645080"/>
            <a:ext cx="5394240" cy="18280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5000"/>
              </a:lnSpc>
              <a:spcAft>
                <a:spcPts val="499"/>
              </a:spcAft>
              <a:buClr>
                <a:srgbClr val="16202E"/>
              </a:buClr>
              <a:buFont typeface="Symbol" charset="2"/>
              <a:buChar char=""/>
            </a:pPr>
            <a:r>
              <a:rPr lang="en-US" sz="1120" b="0" u="none" strike="noStrike">
                <a:solidFill>
                  <a:srgbClr val="16202E"/>
                </a:solidFill>
                <a:effectLst/>
                <a:uFillTx/>
                <a:latin typeface="Calibri"/>
                <a:ea typeface="Calibri"/>
              </a:rPr>
              <a:t>Block scaling: scale the whole data block once, before or after the transform.</a:t>
            </a:r>
            <a:endParaRPr lang="en-US" sz="1120" b="0" u="none" strike="noStrike">
              <a:solidFill>
                <a:srgbClr val="000000"/>
              </a:solidFill>
              <a:effectLst/>
              <a:uFillTx/>
              <a:latin typeface="Arial"/>
            </a:endParaRPr>
          </a:p>
          <a:p>
            <a:pPr marL="343080" indent="-343080" defTabSz="914400">
              <a:lnSpc>
                <a:spcPct val="105000"/>
              </a:lnSpc>
              <a:spcAft>
                <a:spcPts val="499"/>
              </a:spcAft>
              <a:buClr>
                <a:srgbClr val="16202E"/>
              </a:buClr>
              <a:buFont typeface="Symbol" charset="2"/>
              <a:buChar char=""/>
            </a:pPr>
            <a:r>
              <a:rPr lang="en-US" sz="1120" b="0" u="none" strike="noStrike">
                <a:solidFill>
                  <a:srgbClr val="16202E"/>
                </a:solidFill>
                <a:effectLst/>
                <a:uFillTx/>
                <a:latin typeface="Calibri"/>
                <a:ea typeface="Calibri"/>
              </a:rPr>
              <a:t>Stage scaling: divide by 2 (a free right-shift) after every stage to bound growth.</a:t>
            </a:r>
            <a:endParaRPr lang="en-US" sz="1120" b="0" u="none" strike="noStrike">
              <a:solidFill>
                <a:srgbClr val="000000"/>
              </a:solidFill>
              <a:effectLst/>
              <a:uFillTx/>
              <a:latin typeface="Arial"/>
            </a:endParaRPr>
          </a:p>
          <a:p>
            <a:pPr marL="343080" indent="-343080" defTabSz="914400">
              <a:lnSpc>
                <a:spcPct val="105000"/>
              </a:lnSpc>
              <a:spcAft>
                <a:spcPts val="499"/>
              </a:spcAft>
              <a:buClr>
                <a:srgbClr val="16202E"/>
              </a:buClr>
              <a:buFont typeface="Symbol" charset="2"/>
              <a:buChar char=""/>
            </a:pPr>
            <a:r>
              <a:rPr lang="en-US" sz="1120" b="0" u="none" strike="noStrike">
                <a:solidFill>
                  <a:srgbClr val="16202E"/>
                </a:solidFill>
                <a:effectLst/>
                <a:uFillTx/>
                <a:latin typeface="Calibri"/>
                <a:ea typeface="Calibri"/>
              </a:rPr>
              <a:t>Saturation: clip rather than wrap on overflow, trading a bounded error for guaranteed stability.</a:t>
            </a:r>
            <a:endParaRPr lang="en-US" sz="1120" b="0" u="none" strike="noStrike">
              <a:solidFill>
                <a:srgbClr val="000000"/>
              </a:solidFill>
              <a:effectLst/>
              <a:uFillTx/>
              <a:latin typeface="Arial"/>
            </a:endParaRPr>
          </a:p>
          <a:p>
            <a:pPr marL="343080" indent="-343080" defTabSz="914400">
              <a:lnSpc>
                <a:spcPct val="105000"/>
              </a:lnSpc>
              <a:spcAft>
                <a:spcPts val="499"/>
              </a:spcAft>
              <a:buClr>
                <a:srgbClr val="16202E"/>
              </a:buClr>
              <a:buFont typeface="Symbol" charset="2"/>
              <a:buChar char=""/>
            </a:pPr>
            <a:r>
              <a:rPr lang="en-US" sz="1120" b="0" u="none" strike="noStrike">
                <a:solidFill>
                  <a:srgbClr val="16202E"/>
                </a:solidFill>
                <a:effectLst/>
                <a:uFillTx/>
                <a:latin typeface="Calibri"/>
                <a:ea typeface="Calibri"/>
              </a:rPr>
              <a:t>Guard bits: carry a few extra fractional/integer bits through the pipeline and truncate only at the end.</a:t>
            </a:r>
            <a:endParaRPr lang="en-US" sz="1120" b="0" u="none" strike="noStrike">
              <a:solidFill>
                <a:srgbClr val="000000"/>
              </a:solidFill>
              <a:effectLst/>
              <a:uFillTx/>
              <a:latin typeface="Arial"/>
            </a:endParaRPr>
          </a:p>
        </p:txBody>
      </p:sp>
      <p:sp>
        <p:nvSpPr>
          <p:cNvPr id="881" name="Text 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882" name="Text 1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Fixed-Point Implementation</a:t>
            </a:r>
            <a:endParaRPr lang="en-US" sz="900" b="0" u="none" strike="noStrike">
              <a:solidFill>
                <a:srgbClr val="000000"/>
              </a:solidFill>
              <a:effectLst/>
              <a:uFillTx/>
              <a:latin typeface="Arial"/>
            </a:endParaRPr>
          </a:p>
        </p:txBody>
      </p:sp>
      <p:sp>
        <p:nvSpPr>
          <p:cNvPr id="883" name="Text 1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84"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20 · TROUBLESHOOTING</a:t>
            </a:r>
            <a:endParaRPr lang="en-US" sz="1150" b="0" u="none" strike="noStrike">
              <a:solidFill>
                <a:srgbClr val="000000"/>
              </a:solidFill>
              <a:effectLst/>
              <a:uFillTx/>
              <a:latin typeface="Arial"/>
            </a:endParaRPr>
          </a:p>
        </p:txBody>
      </p:sp>
      <p:sp>
        <p:nvSpPr>
          <p:cNvPr id="885"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Common Mistakes When Implementing Radix-2 DIT</a:t>
            </a:r>
            <a:endParaRPr lang="en-US" sz="2700" b="0" u="none" strike="noStrike">
              <a:solidFill>
                <a:srgbClr val="000000"/>
              </a:solidFill>
              <a:effectLst/>
              <a:uFillTx/>
              <a:latin typeface="Arial"/>
            </a:endParaRPr>
          </a:p>
        </p:txBody>
      </p:sp>
      <p:sp>
        <p:nvSpPr>
          <p:cNvPr id="886" name="Shape 2"/>
          <p:cNvSpPr/>
          <p:nvPr/>
        </p:nvSpPr>
        <p:spPr>
          <a:xfrm>
            <a:off x="502920" y="1170360"/>
            <a:ext cx="11154960" cy="470160"/>
          </a:xfrm>
          <a:prstGeom prst="roundRect">
            <a:avLst>
              <a:gd name="adj" fmla="val 9709"/>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7" name="Text 3"/>
          <p:cNvSpPr/>
          <p:nvPr/>
        </p:nvSpPr>
        <p:spPr>
          <a:xfrm>
            <a:off x="658440" y="117036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Confusing DIT with DIF</a:t>
            </a:r>
            <a:endParaRPr lang="en-US" sz="1000" b="0" u="none" strike="noStrike">
              <a:solidFill>
                <a:srgbClr val="000000"/>
              </a:solidFill>
              <a:effectLst/>
              <a:uFillTx/>
              <a:latin typeface="Arial"/>
            </a:endParaRPr>
          </a:p>
        </p:txBody>
      </p:sp>
      <p:sp>
        <p:nvSpPr>
          <p:cNvPr id="888" name="Text 4"/>
          <p:cNvSpPr/>
          <p:nvPr/>
        </p:nvSpPr>
        <p:spPr>
          <a:xfrm>
            <a:off x="4023360" y="117036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Applying bit-reversal to the wrong side (output instead of input), or placing the twiddle multiply after the add/sub instead of before.</a:t>
            </a:r>
            <a:endParaRPr lang="en-US" sz="950" b="0" u="none" strike="noStrike">
              <a:solidFill>
                <a:srgbClr val="000000"/>
              </a:solidFill>
              <a:effectLst/>
              <a:uFillTx/>
              <a:latin typeface="Arial"/>
            </a:endParaRPr>
          </a:p>
        </p:txBody>
      </p:sp>
      <p:sp>
        <p:nvSpPr>
          <p:cNvPr id="889" name="Shape 5"/>
          <p:cNvSpPr/>
          <p:nvPr/>
        </p:nvSpPr>
        <p:spPr>
          <a:xfrm>
            <a:off x="502920" y="1686960"/>
            <a:ext cx="11154960" cy="470160"/>
          </a:xfrm>
          <a:prstGeom prst="roundRect">
            <a:avLst>
              <a:gd name="adj" fmla="val 9709"/>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0" name="Text 6"/>
          <p:cNvSpPr/>
          <p:nvPr/>
        </p:nvSpPr>
        <p:spPr>
          <a:xfrm>
            <a:off x="658440" y="168696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Wrong sign in the twiddle factor</a:t>
            </a:r>
            <a:endParaRPr lang="en-US" sz="1000" b="0" u="none" strike="noStrike">
              <a:solidFill>
                <a:srgbClr val="000000"/>
              </a:solidFill>
              <a:effectLst/>
              <a:uFillTx/>
              <a:latin typeface="Arial"/>
            </a:endParaRPr>
          </a:p>
        </p:txBody>
      </p:sp>
      <p:sp>
        <p:nvSpPr>
          <p:cNvPr id="891" name="Text 7"/>
          <p:cNvSpPr/>
          <p:nvPr/>
        </p:nvSpPr>
        <p:spPr>
          <a:xfrm>
            <a:off x="4023360" y="168696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Using e^(+j2π/N) instead of e^(−j2π/N) inverts the transform direction (DFT vs. inverse DFT).</a:t>
            </a:r>
            <a:endParaRPr lang="en-US" sz="950" b="0" u="none" strike="noStrike">
              <a:solidFill>
                <a:srgbClr val="000000"/>
              </a:solidFill>
              <a:effectLst/>
              <a:uFillTx/>
              <a:latin typeface="Arial"/>
            </a:endParaRPr>
          </a:p>
        </p:txBody>
      </p:sp>
      <p:sp>
        <p:nvSpPr>
          <p:cNvPr id="892" name="Shape 8"/>
          <p:cNvSpPr/>
          <p:nvPr/>
        </p:nvSpPr>
        <p:spPr>
          <a:xfrm>
            <a:off x="502920" y="2203560"/>
            <a:ext cx="11154960" cy="470160"/>
          </a:xfrm>
          <a:prstGeom prst="roundRect">
            <a:avLst>
              <a:gd name="adj" fmla="val 9709"/>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3" name="Text 9"/>
          <p:cNvSpPr/>
          <p:nvPr/>
        </p:nvSpPr>
        <p:spPr>
          <a:xfrm>
            <a:off x="658440" y="220356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Wrong bit-reversal order</a:t>
            </a:r>
            <a:endParaRPr lang="en-US" sz="1000" b="0" u="none" strike="noStrike">
              <a:solidFill>
                <a:srgbClr val="000000"/>
              </a:solidFill>
              <a:effectLst/>
              <a:uFillTx/>
              <a:latin typeface="Arial"/>
            </a:endParaRPr>
          </a:p>
        </p:txBody>
      </p:sp>
      <p:sp>
        <p:nvSpPr>
          <p:cNvPr id="894" name="Text 10"/>
          <p:cNvSpPr/>
          <p:nvPr/>
        </p:nvSpPr>
        <p:spPr>
          <a:xfrm>
            <a:off x="4023360" y="220356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Reversing bits across the wrong word length (e.g. reversing 4 bits for an 8-point, 3-bit transform) scrambles the input mapping.</a:t>
            </a:r>
            <a:endParaRPr lang="en-US" sz="950" b="0" u="none" strike="noStrike">
              <a:solidFill>
                <a:srgbClr val="000000"/>
              </a:solidFill>
              <a:effectLst/>
              <a:uFillTx/>
              <a:latin typeface="Arial"/>
            </a:endParaRPr>
          </a:p>
        </p:txBody>
      </p:sp>
      <p:sp>
        <p:nvSpPr>
          <p:cNvPr id="895" name="Shape 11"/>
          <p:cNvSpPr/>
          <p:nvPr/>
        </p:nvSpPr>
        <p:spPr>
          <a:xfrm>
            <a:off x="502920" y="2720520"/>
            <a:ext cx="11154960" cy="470160"/>
          </a:xfrm>
          <a:prstGeom prst="roundRect">
            <a:avLst>
              <a:gd name="adj" fmla="val 9709"/>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6" name="Text 12"/>
          <p:cNvSpPr/>
          <p:nvPr/>
        </p:nvSpPr>
        <p:spPr>
          <a:xfrm>
            <a:off x="658440" y="27205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Using W_N instead of W_(N/2) at the wrong stage</a:t>
            </a:r>
            <a:endParaRPr lang="en-US" sz="1000" b="0" u="none" strike="noStrike">
              <a:solidFill>
                <a:srgbClr val="000000"/>
              </a:solidFill>
              <a:effectLst/>
              <a:uFillTx/>
              <a:latin typeface="Arial"/>
            </a:endParaRPr>
          </a:p>
        </p:txBody>
      </p:sp>
      <p:sp>
        <p:nvSpPr>
          <p:cNvPr id="897" name="Text 13"/>
          <p:cNvSpPr/>
          <p:nvPr/>
        </p:nvSpPr>
        <p:spPr>
          <a:xfrm>
            <a:off x="4023360" y="27205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Each stage's twiddle factors come from the DFT size active at that stage (Section 6); reusing the top-level W_N everywhere gives incorrect phase rotations.</a:t>
            </a:r>
            <a:endParaRPr lang="en-US" sz="950" b="0" u="none" strike="noStrike">
              <a:solidFill>
                <a:srgbClr val="000000"/>
              </a:solidFill>
              <a:effectLst/>
              <a:uFillTx/>
              <a:latin typeface="Arial"/>
            </a:endParaRPr>
          </a:p>
        </p:txBody>
      </p:sp>
      <p:sp>
        <p:nvSpPr>
          <p:cNvPr id="898" name="Shape 14"/>
          <p:cNvSpPr/>
          <p:nvPr/>
        </p:nvSpPr>
        <p:spPr>
          <a:xfrm>
            <a:off x="502920" y="3237120"/>
            <a:ext cx="11154960" cy="470160"/>
          </a:xfrm>
          <a:prstGeom prst="roundRect">
            <a:avLst>
              <a:gd name="adj" fmla="val 9709"/>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9" name="Text 15"/>
          <p:cNvSpPr/>
          <p:nvPr/>
        </p:nvSpPr>
        <p:spPr>
          <a:xfrm>
            <a:off x="658440" y="32371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Incorrect butterfly pairing</a:t>
            </a:r>
            <a:endParaRPr lang="en-US" sz="1000" b="0" u="none" strike="noStrike">
              <a:solidFill>
                <a:srgbClr val="000000"/>
              </a:solidFill>
              <a:effectLst/>
              <a:uFillTx/>
              <a:latin typeface="Arial"/>
            </a:endParaRPr>
          </a:p>
        </p:txBody>
      </p:sp>
      <p:sp>
        <p:nvSpPr>
          <p:cNvPr id="900" name="Text 16"/>
          <p:cNvSpPr/>
          <p:nvPr/>
        </p:nvSpPr>
        <p:spPr>
          <a:xfrm>
            <a:off x="4023360" y="32371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Combining the wrong two elements (e.g. adjacent array elements instead of elements separated by the correct stage span) breaks the whole recursion (see Section 15's span pattern: 1, 2, 4).</a:t>
            </a:r>
            <a:endParaRPr lang="en-US" sz="950" b="0" u="none" strike="noStrike">
              <a:solidFill>
                <a:srgbClr val="000000"/>
              </a:solidFill>
              <a:effectLst/>
              <a:uFillTx/>
              <a:latin typeface="Arial"/>
            </a:endParaRPr>
          </a:p>
        </p:txBody>
      </p:sp>
      <p:sp>
        <p:nvSpPr>
          <p:cNvPr id="901" name="Shape 17"/>
          <p:cNvSpPr/>
          <p:nvPr/>
        </p:nvSpPr>
        <p:spPr>
          <a:xfrm>
            <a:off x="502920" y="3753720"/>
            <a:ext cx="11154960" cy="470160"/>
          </a:xfrm>
          <a:prstGeom prst="roundRect">
            <a:avLst>
              <a:gd name="adj" fmla="val 9709"/>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2" name="Text 18"/>
          <p:cNvSpPr/>
          <p:nvPr/>
        </p:nvSpPr>
        <p:spPr>
          <a:xfrm>
            <a:off x="658440" y="37537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Mixing natural and bit-reversed ordering</a:t>
            </a:r>
            <a:endParaRPr lang="en-US" sz="1000" b="0" u="none" strike="noStrike">
              <a:solidFill>
                <a:srgbClr val="000000"/>
              </a:solidFill>
              <a:effectLst/>
              <a:uFillTx/>
              <a:latin typeface="Arial"/>
            </a:endParaRPr>
          </a:p>
        </p:txBody>
      </p:sp>
      <p:sp>
        <p:nvSpPr>
          <p:cNvPr id="903" name="Text 19"/>
          <p:cNvSpPr/>
          <p:nvPr/>
        </p:nvSpPr>
        <p:spPr>
          <a:xfrm>
            <a:off x="4023360" y="37537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Reading inputs in natural order but writing outputs as if bit-reversed (or vice-versa) silently permutes the spectrum.</a:t>
            </a:r>
            <a:endParaRPr lang="en-US" sz="950" b="0" u="none" strike="noStrike">
              <a:solidFill>
                <a:srgbClr val="000000"/>
              </a:solidFill>
              <a:effectLst/>
              <a:uFillTx/>
              <a:latin typeface="Arial"/>
            </a:endParaRPr>
          </a:p>
        </p:txBody>
      </p:sp>
      <p:sp>
        <p:nvSpPr>
          <p:cNvPr id="904" name="Shape 20"/>
          <p:cNvSpPr/>
          <p:nvPr/>
        </p:nvSpPr>
        <p:spPr>
          <a:xfrm>
            <a:off x="502920" y="4270320"/>
            <a:ext cx="11154960" cy="470160"/>
          </a:xfrm>
          <a:prstGeom prst="roundRect">
            <a:avLst>
              <a:gd name="adj" fmla="val 9709"/>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5" name="Text 21"/>
          <p:cNvSpPr/>
          <p:nvPr/>
        </p:nvSpPr>
        <p:spPr>
          <a:xfrm>
            <a:off x="658440" y="42703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Forgetting complex arithmetic</a:t>
            </a:r>
            <a:endParaRPr lang="en-US" sz="1000" b="0" u="none" strike="noStrike">
              <a:solidFill>
                <a:srgbClr val="000000"/>
              </a:solidFill>
              <a:effectLst/>
              <a:uFillTx/>
              <a:latin typeface="Arial"/>
            </a:endParaRPr>
          </a:p>
        </p:txBody>
      </p:sp>
      <p:sp>
        <p:nvSpPr>
          <p:cNvPr id="906" name="Text 22"/>
          <p:cNvSpPr/>
          <p:nvPr/>
        </p:nvSpPr>
        <p:spPr>
          <a:xfrm>
            <a:off x="4023360" y="42703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Treating W_N^k · O[k] as a real multiplication drops the imaginary cross-terms (Section 17).</a:t>
            </a:r>
            <a:endParaRPr lang="en-US" sz="950" b="0" u="none" strike="noStrike">
              <a:solidFill>
                <a:srgbClr val="000000"/>
              </a:solidFill>
              <a:effectLst/>
              <a:uFillTx/>
              <a:latin typeface="Arial"/>
            </a:endParaRPr>
          </a:p>
        </p:txBody>
      </p:sp>
      <p:sp>
        <p:nvSpPr>
          <p:cNvPr id="907" name="Shape 23"/>
          <p:cNvSpPr/>
          <p:nvPr/>
        </p:nvSpPr>
        <p:spPr>
          <a:xfrm>
            <a:off x="502920" y="4786920"/>
            <a:ext cx="11154960" cy="470160"/>
          </a:xfrm>
          <a:prstGeom prst="roundRect">
            <a:avLst>
              <a:gd name="adj" fmla="val 9709"/>
            </a:avLst>
          </a:prstGeom>
          <a:solidFill>
            <a:srgbClr val="F3F7FC"/>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8" name="Text 24"/>
          <p:cNvSpPr/>
          <p:nvPr/>
        </p:nvSpPr>
        <p:spPr>
          <a:xfrm>
            <a:off x="658440" y="47869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Incorrect FFT normalization</a:t>
            </a:r>
            <a:endParaRPr lang="en-US" sz="1000" b="0" u="none" strike="noStrike">
              <a:solidFill>
                <a:srgbClr val="000000"/>
              </a:solidFill>
              <a:effectLst/>
              <a:uFillTx/>
              <a:latin typeface="Arial"/>
            </a:endParaRPr>
          </a:p>
        </p:txBody>
      </p:sp>
      <p:sp>
        <p:nvSpPr>
          <p:cNvPr id="909" name="Text 25"/>
          <p:cNvSpPr/>
          <p:nvPr/>
        </p:nvSpPr>
        <p:spPr>
          <a:xfrm>
            <a:off x="4023360" y="47869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The DFT/FFT pair defined here has no 1/N factor; forgetting or double-applying a 1/N (usually needed only on the inverse transform) scales results incorrectly.</a:t>
            </a:r>
            <a:endParaRPr lang="en-US" sz="950" b="0" u="none" strike="noStrike">
              <a:solidFill>
                <a:srgbClr val="000000"/>
              </a:solidFill>
              <a:effectLst/>
              <a:uFillTx/>
              <a:latin typeface="Arial"/>
            </a:endParaRPr>
          </a:p>
        </p:txBody>
      </p:sp>
      <p:sp>
        <p:nvSpPr>
          <p:cNvPr id="910" name="Shape 26"/>
          <p:cNvSpPr/>
          <p:nvPr/>
        </p:nvSpPr>
        <p:spPr>
          <a:xfrm>
            <a:off x="502920" y="5303520"/>
            <a:ext cx="11154960" cy="470160"/>
          </a:xfrm>
          <a:prstGeom prst="roundRect">
            <a:avLst>
              <a:gd name="adj" fmla="val 9709"/>
            </a:avLst>
          </a:prstGeom>
          <a:solidFill>
            <a:srgbClr val="FFFFFF"/>
          </a:solidFill>
          <a:ln w="9525">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1" name="Text 27"/>
          <p:cNvSpPr/>
          <p:nvPr/>
        </p:nvSpPr>
        <p:spPr>
          <a:xfrm>
            <a:off x="658440" y="5303520"/>
            <a:ext cx="329112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00" b="1" u="none" strike="noStrike">
                <a:solidFill>
                  <a:srgbClr val="B14A1E"/>
                </a:solidFill>
                <a:effectLst/>
                <a:uFillTx/>
                <a:latin typeface="Calibri"/>
                <a:ea typeface="Calibri"/>
              </a:rPr>
              <a:t>Confusing bin index with physical frequency</a:t>
            </a:r>
            <a:endParaRPr lang="en-US" sz="1000" b="0" u="none" strike="noStrike">
              <a:solidFill>
                <a:srgbClr val="000000"/>
              </a:solidFill>
              <a:effectLst/>
              <a:uFillTx/>
              <a:latin typeface="Arial"/>
            </a:endParaRPr>
          </a:p>
        </p:txBody>
      </p:sp>
      <p:sp>
        <p:nvSpPr>
          <p:cNvPr id="912" name="Text 28"/>
          <p:cNvSpPr/>
          <p:nvPr/>
        </p:nvSpPr>
        <p:spPr>
          <a:xfrm>
            <a:off x="4023360" y="5303520"/>
            <a:ext cx="7497360" cy="470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50" b="0" u="none" strike="noStrike">
                <a:solidFill>
                  <a:srgbClr val="16202E"/>
                </a:solidFill>
                <a:effectLst/>
                <a:uFillTx/>
                <a:latin typeface="Calibri"/>
                <a:ea typeface="Calibri"/>
              </a:rPr>
              <a:t>X[k] is a bin index, not a frequency in Hz; the actual frequency is k·f_s/N, and bins above N/2 represent negative frequencies for real input.</a:t>
            </a:r>
            <a:endParaRPr lang="en-US" sz="950" b="0" u="none" strike="noStrike">
              <a:solidFill>
                <a:srgbClr val="000000"/>
              </a:solidFill>
              <a:effectLst/>
              <a:uFillTx/>
              <a:latin typeface="Arial"/>
            </a:endParaRPr>
          </a:p>
        </p:txBody>
      </p:sp>
      <p:sp>
        <p:nvSpPr>
          <p:cNvPr id="913" name="Text 2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914" name="Text 3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Troubleshooting</a:t>
            </a:r>
            <a:endParaRPr lang="en-US" sz="900" b="0" u="none" strike="noStrike">
              <a:solidFill>
                <a:srgbClr val="000000"/>
              </a:solidFill>
              <a:effectLst/>
              <a:uFillTx/>
              <a:latin typeface="Arial"/>
            </a:endParaRPr>
          </a:p>
        </p:txBody>
      </p:sp>
      <p:sp>
        <p:nvSpPr>
          <p:cNvPr id="915" name="Text 3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39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A4A"/>
        </a:solidFill>
      </p:bgPr>
    </p:bg>
    <p:spTree>
      <p:nvGrpSpPr>
        <p:cNvPr id="1" name=""/>
        <p:cNvGrpSpPr/>
        <p:nvPr/>
      </p:nvGrpSpPr>
      <p:grpSpPr>
        <a:xfrm>
          <a:off x="0" y="0"/>
          <a:ext cx="0" cy="0"/>
          <a:chOff x="0" y="0"/>
          <a:chExt cx="0" cy="0"/>
        </a:xfrm>
      </p:grpSpPr>
      <p:sp>
        <p:nvSpPr>
          <p:cNvPr id="916"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7FD6D2"/>
                </a:solidFill>
                <a:effectLst/>
                <a:uFillTx/>
                <a:latin typeface="Calibri"/>
                <a:ea typeface="Calibri"/>
              </a:rPr>
              <a:t>SECTION 22 · SUMMARY</a:t>
            </a:r>
            <a:endParaRPr lang="en-US" sz="1150" b="0" u="none" strike="noStrike">
              <a:solidFill>
                <a:srgbClr val="FFFFFF"/>
              </a:solidFill>
              <a:effectLst/>
              <a:uFillTx/>
              <a:latin typeface="Arial"/>
            </a:endParaRPr>
          </a:p>
        </p:txBody>
      </p:sp>
      <p:sp>
        <p:nvSpPr>
          <p:cNvPr id="917"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Final Mental Model</a:t>
            </a:r>
            <a:endParaRPr lang="en-US" sz="2700" b="0" u="none" strike="noStrike">
              <a:solidFill>
                <a:srgbClr val="FFFFFF"/>
              </a:solidFill>
              <a:effectLst/>
              <a:uFillTx/>
              <a:latin typeface="Arial"/>
            </a:endParaRPr>
          </a:p>
        </p:txBody>
      </p:sp>
      <p:sp>
        <p:nvSpPr>
          <p:cNvPr id="918" name="Text 2"/>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FFFFFF"/>
                </a:solidFill>
                <a:effectLst/>
                <a:uFillTx/>
                <a:latin typeface="Cambria"/>
                <a:ea typeface="Cambria"/>
              </a:rPr>
              <a:t>Final Mental Model</a:t>
            </a:r>
            <a:endParaRPr lang="en-US" sz="2700" b="0" u="none" strike="noStrike">
              <a:solidFill>
                <a:srgbClr val="FFFFFF"/>
              </a:solidFill>
              <a:effectLst/>
              <a:uFillTx/>
              <a:latin typeface="Arial"/>
            </a:endParaRPr>
          </a:p>
        </p:txBody>
      </p:sp>
      <p:sp>
        <p:nvSpPr>
          <p:cNvPr id="919" name="Text 3"/>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7FD6D2"/>
                </a:solidFill>
                <a:effectLst/>
                <a:uFillTx/>
                <a:latin typeface="Calibri"/>
                <a:ea typeface="Calibri"/>
              </a:rPr>
              <a:t>SECTION 22 · SUMMARY</a:t>
            </a:r>
            <a:endParaRPr lang="en-US" sz="1150" b="0" u="none" strike="noStrike">
              <a:solidFill>
                <a:srgbClr val="FFFFFF"/>
              </a:solidFill>
              <a:effectLst/>
              <a:uFillTx/>
              <a:latin typeface="Arial"/>
            </a:endParaRPr>
          </a:p>
        </p:txBody>
      </p:sp>
      <p:sp>
        <p:nvSpPr>
          <p:cNvPr id="920" name="Shape 4"/>
          <p:cNvSpPr/>
          <p:nvPr/>
        </p:nvSpPr>
        <p:spPr>
          <a:xfrm>
            <a:off x="4023360" y="123444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1" name="Text 5"/>
          <p:cNvSpPr/>
          <p:nvPr/>
        </p:nvSpPr>
        <p:spPr>
          <a:xfrm>
            <a:off x="4023360" y="123444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N-point DFT</a:t>
            </a:r>
            <a:endParaRPr lang="en-US" sz="1200" b="0" u="none" strike="noStrike">
              <a:solidFill>
                <a:srgbClr val="FFFFFF"/>
              </a:solidFill>
              <a:effectLst/>
              <a:uFillTx/>
              <a:latin typeface="Arial"/>
            </a:endParaRPr>
          </a:p>
        </p:txBody>
      </p:sp>
      <p:sp>
        <p:nvSpPr>
          <p:cNvPr id="922" name="Text 6"/>
          <p:cNvSpPr/>
          <p:nvPr/>
        </p:nvSpPr>
        <p:spPr>
          <a:xfrm>
            <a:off x="4023360" y="161856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23" name="Shape 7"/>
          <p:cNvSpPr/>
          <p:nvPr/>
        </p:nvSpPr>
        <p:spPr>
          <a:xfrm>
            <a:off x="4023360" y="178308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4" name="Text 8"/>
          <p:cNvSpPr/>
          <p:nvPr/>
        </p:nvSpPr>
        <p:spPr>
          <a:xfrm>
            <a:off x="4023360" y="178308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Split time samples</a:t>
            </a:r>
            <a:endParaRPr lang="en-US" sz="1200" b="0" u="none" strike="noStrike">
              <a:solidFill>
                <a:srgbClr val="FFFFFF"/>
              </a:solidFill>
              <a:effectLst/>
              <a:uFillTx/>
              <a:latin typeface="Arial"/>
            </a:endParaRPr>
          </a:p>
        </p:txBody>
      </p:sp>
      <p:sp>
        <p:nvSpPr>
          <p:cNvPr id="925" name="Text 9"/>
          <p:cNvSpPr/>
          <p:nvPr/>
        </p:nvSpPr>
        <p:spPr>
          <a:xfrm>
            <a:off x="4023360" y="216720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26" name="Shape 10"/>
          <p:cNvSpPr/>
          <p:nvPr/>
        </p:nvSpPr>
        <p:spPr>
          <a:xfrm>
            <a:off x="4023360" y="233172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7" name="Text 11"/>
          <p:cNvSpPr/>
          <p:nvPr/>
        </p:nvSpPr>
        <p:spPr>
          <a:xfrm>
            <a:off x="4023360" y="233172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Even + Odd</a:t>
            </a:r>
            <a:endParaRPr lang="en-US" sz="1200" b="0" u="none" strike="noStrike">
              <a:solidFill>
                <a:srgbClr val="FFFFFF"/>
              </a:solidFill>
              <a:effectLst/>
              <a:uFillTx/>
              <a:latin typeface="Arial"/>
            </a:endParaRPr>
          </a:p>
        </p:txBody>
      </p:sp>
      <p:sp>
        <p:nvSpPr>
          <p:cNvPr id="928" name="Text 12"/>
          <p:cNvSpPr/>
          <p:nvPr/>
        </p:nvSpPr>
        <p:spPr>
          <a:xfrm>
            <a:off x="4023360" y="271584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29" name="Shape 13"/>
          <p:cNvSpPr/>
          <p:nvPr/>
        </p:nvSpPr>
        <p:spPr>
          <a:xfrm>
            <a:off x="4023360" y="288036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0" name="Text 14"/>
          <p:cNvSpPr/>
          <p:nvPr/>
        </p:nvSpPr>
        <p:spPr>
          <a:xfrm>
            <a:off x="4023360" y="288036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Two N/2-point DFTs</a:t>
            </a:r>
            <a:endParaRPr lang="en-US" sz="1200" b="0" u="none" strike="noStrike">
              <a:solidFill>
                <a:srgbClr val="FFFFFF"/>
              </a:solidFill>
              <a:effectLst/>
              <a:uFillTx/>
              <a:latin typeface="Arial"/>
            </a:endParaRPr>
          </a:p>
        </p:txBody>
      </p:sp>
      <p:sp>
        <p:nvSpPr>
          <p:cNvPr id="931" name="Text 15"/>
          <p:cNvSpPr/>
          <p:nvPr/>
        </p:nvSpPr>
        <p:spPr>
          <a:xfrm>
            <a:off x="4023360" y="326448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32" name="Shape 16"/>
          <p:cNvSpPr/>
          <p:nvPr/>
        </p:nvSpPr>
        <p:spPr>
          <a:xfrm>
            <a:off x="4023360" y="342900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3" name="Text 17"/>
          <p:cNvSpPr/>
          <p:nvPr/>
        </p:nvSpPr>
        <p:spPr>
          <a:xfrm>
            <a:off x="4023360" y="342900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Twiddle factor</a:t>
            </a:r>
            <a:endParaRPr lang="en-US" sz="1200" b="0" u="none" strike="noStrike">
              <a:solidFill>
                <a:srgbClr val="FFFFFF"/>
              </a:solidFill>
              <a:effectLst/>
              <a:uFillTx/>
              <a:latin typeface="Arial"/>
            </a:endParaRPr>
          </a:p>
        </p:txBody>
      </p:sp>
      <p:sp>
        <p:nvSpPr>
          <p:cNvPr id="934" name="Text 18"/>
          <p:cNvSpPr/>
          <p:nvPr/>
        </p:nvSpPr>
        <p:spPr>
          <a:xfrm>
            <a:off x="4023360" y="381312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35" name="Shape 19"/>
          <p:cNvSpPr/>
          <p:nvPr/>
        </p:nvSpPr>
        <p:spPr>
          <a:xfrm>
            <a:off x="4023360" y="397764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6" name="Text 20"/>
          <p:cNvSpPr/>
          <p:nvPr/>
        </p:nvSpPr>
        <p:spPr>
          <a:xfrm>
            <a:off x="4023360" y="397764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Butterfly</a:t>
            </a:r>
            <a:endParaRPr lang="en-US" sz="1200" b="0" u="none" strike="noStrike">
              <a:solidFill>
                <a:srgbClr val="FFFFFF"/>
              </a:solidFill>
              <a:effectLst/>
              <a:uFillTx/>
              <a:latin typeface="Arial"/>
            </a:endParaRPr>
          </a:p>
        </p:txBody>
      </p:sp>
      <p:sp>
        <p:nvSpPr>
          <p:cNvPr id="937" name="Text 21"/>
          <p:cNvSpPr/>
          <p:nvPr/>
        </p:nvSpPr>
        <p:spPr>
          <a:xfrm>
            <a:off x="4023360" y="436176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38" name="Shape 22"/>
          <p:cNvSpPr/>
          <p:nvPr/>
        </p:nvSpPr>
        <p:spPr>
          <a:xfrm>
            <a:off x="4023360" y="452628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9" name="Text 23"/>
          <p:cNvSpPr/>
          <p:nvPr/>
        </p:nvSpPr>
        <p:spPr>
          <a:xfrm>
            <a:off x="4023360" y="452628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Repeat recursively</a:t>
            </a:r>
            <a:endParaRPr lang="en-US" sz="1200" b="0" u="none" strike="noStrike">
              <a:solidFill>
                <a:srgbClr val="FFFFFF"/>
              </a:solidFill>
              <a:effectLst/>
              <a:uFillTx/>
              <a:latin typeface="Arial"/>
            </a:endParaRPr>
          </a:p>
        </p:txBody>
      </p:sp>
      <p:sp>
        <p:nvSpPr>
          <p:cNvPr id="940" name="Text 24"/>
          <p:cNvSpPr/>
          <p:nvPr/>
        </p:nvSpPr>
        <p:spPr>
          <a:xfrm>
            <a:off x="4023360" y="491040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41" name="Shape 25"/>
          <p:cNvSpPr/>
          <p:nvPr/>
        </p:nvSpPr>
        <p:spPr>
          <a:xfrm>
            <a:off x="4023360" y="5074920"/>
            <a:ext cx="4114080" cy="383400"/>
          </a:xfrm>
          <a:prstGeom prst="roundRect">
            <a:avLst>
              <a:gd name="adj" fmla="val 50000"/>
            </a:avLst>
          </a:prstGeom>
          <a:solidFill>
            <a:srgbClr val="1F3F6B"/>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2" name="Text 26"/>
          <p:cNvSpPr/>
          <p:nvPr/>
        </p:nvSpPr>
        <p:spPr>
          <a:xfrm>
            <a:off x="4023360" y="507492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log₂N stages</a:t>
            </a:r>
            <a:endParaRPr lang="en-US" sz="1200" b="0" u="none" strike="noStrike">
              <a:solidFill>
                <a:srgbClr val="FFFFFF"/>
              </a:solidFill>
              <a:effectLst/>
              <a:uFillTx/>
              <a:latin typeface="Arial"/>
            </a:endParaRPr>
          </a:p>
        </p:txBody>
      </p:sp>
      <p:sp>
        <p:nvSpPr>
          <p:cNvPr id="943" name="Text 27"/>
          <p:cNvSpPr/>
          <p:nvPr/>
        </p:nvSpPr>
        <p:spPr>
          <a:xfrm>
            <a:off x="4023360" y="5459040"/>
            <a:ext cx="4114080" cy="163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7FA8D6"/>
                </a:solidFill>
                <a:effectLst/>
                <a:uFillTx/>
                <a:latin typeface="Calibri"/>
                <a:ea typeface="Calibri"/>
              </a:rPr>
              <a:t>↓</a:t>
            </a:r>
            <a:endParaRPr lang="en-US" sz="1100" b="0" u="none" strike="noStrike">
              <a:solidFill>
                <a:srgbClr val="FFFFFF"/>
              </a:solidFill>
              <a:effectLst/>
              <a:uFillTx/>
              <a:latin typeface="Arial"/>
            </a:endParaRPr>
          </a:p>
        </p:txBody>
      </p:sp>
      <p:sp>
        <p:nvSpPr>
          <p:cNvPr id="944" name="Shape 28"/>
          <p:cNvSpPr/>
          <p:nvPr/>
        </p:nvSpPr>
        <p:spPr>
          <a:xfrm>
            <a:off x="4023360" y="5623560"/>
            <a:ext cx="4114080" cy="383400"/>
          </a:xfrm>
          <a:prstGeom prst="roundRect">
            <a:avLst>
              <a:gd name="adj" fmla="val 50000"/>
            </a:avLst>
          </a:prstGeom>
          <a:solidFill>
            <a:srgbClr val="D98324"/>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5" name="Text 29"/>
          <p:cNvSpPr/>
          <p:nvPr/>
        </p:nvSpPr>
        <p:spPr>
          <a:xfrm>
            <a:off x="4023360" y="5623560"/>
            <a:ext cx="4114080" cy="383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FFT</a:t>
            </a:r>
            <a:endParaRPr lang="en-US" sz="1200" b="0" u="none" strike="noStrike">
              <a:solidFill>
                <a:srgbClr val="FFFFFF"/>
              </a:solidFill>
              <a:effectLst/>
              <a:uFillTx/>
              <a:latin typeface="Arial"/>
            </a:endParaRPr>
          </a:p>
        </p:txBody>
      </p:sp>
      <p:sp>
        <p:nvSpPr>
          <p:cNvPr id="946" name="Text 30"/>
          <p:cNvSpPr/>
          <p:nvPr/>
        </p:nvSpPr>
        <p:spPr>
          <a:xfrm>
            <a:off x="8549640" y="1234440"/>
            <a:ext cx="310824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7FD6D2"/>
                </a:solidFill>
                <a:effectLst/>
                <a:uFillTx/>
                <a:latin typeface="Calibri"/>
                <a:ea typeface="Calibri"/>
              </a:rPr>
              <a:t>Key equations to remember</a:t>
            </a:r>
            <a:endParaRPr lang="en-US" sz="1250" b="0" u="none" strike="noStrike">
              <a:solidFill>
                <a:srgbClr val="FFFFFF"/>
              </a:solidFill>
              <a:effectLst/>
              <a:uFillTx/>
              <a:latin typeface="Arial"/>
            </a:endParaRPr>
          </a:p>
        </p:txBody>
      </p:sp>
      <p:sp>
        <p:nvSpPr>
          <p:cNvPr id="947" name="Shape 31"/>
          <p:cNvSpPr/>
          <p:nvPr/>
        </p:nvSpPr>
        <p:spPr>
          <a:xfrm>
            <a:off x="8549640" y="1572840"/>
            <a:ext cx="3108240" cy="547920"/>
          </a:xfrm>
          <a:prstGeom prst="roundRect">
            <a:avLst>
              <a:gd name="adj" fmla="val 10000"/>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8" name="Text 32"/>
          <p:cNvSpPr/>
          <p:nvPr/>
        </p:nvSpPr>
        <p:spPr>
          <a:xfrm>
            <a:off x="8641080" y="1572840"/>
            <a:ext cx="292536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CADCFC"/>
                </a:solidFill>
                <a:effectLst/>
                <a:uFillTx/>
                <a:latin typeface="Consolas"/>
                <a:ea typeface="Consolas"/>
              </a:rPr>
              <a:t>W_N = e^(-j2π/N)</a:t>
            </a:r>
            <a:endParaRPr lang="en-US" sz="1150" b="0" u="none" strike="noStrike">
              <a:solidFill>
                <a:srgbClr val="FFFFFF"/>
              </a:solidFill>
              <a:effectLst/>
              <a:uFillTx/>
              <a:latin typeface="Arial"/>
            </a:endParaRPr>
          </a:p>
        </p:txBody>
      </p:sp>
      <p:sp>
        <p:nvSpPr>
          <p:cNvPr id="949" name="Shape 33"/>
          <p:cNvSpPr/>
          <p:nvPr/>
        </p:nvSpPr>
        <p:spPr>
          <a:xfrm>
            <a:off x="8549640" y="2231280"/>
            <a:ext cx="3108240" cy="547920"/>
          </a:xfrm>
          <a:prstGeom prst="roundRect">
            <a:avLst>
              <a:gd name="adj" fmla="val 10000"/>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0" name="Text 34"/>
          <p:cNvSpPr/>
          <p:nvPr/>
        </p:nvSpPr>
        <p:spPr>
          <a:xfrm>
            <a:off x="8641080" y="2231280"/>
            <a:ext cx="292536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CADCFC"/>
                </a:solidFill>
                <a:effectLst/>
                <a:uFillTx/>
                <a:latin typeface="Consolas"/>
                <a:ea typeface="Consolas"/>
              </a:rPr>
              <a:t>X[k] = E[k] + W_N^k O[k]</a:t>
            </a:r>
            <a:endParaRPr lang="en-US" sz="1150" b="0" u="none" strike="noStrike">
              <a:solidFill>
                <a:srgbClr val="FFFFFF"/>
              </a:solidFill>
              <a:effectLst/>
              <a:uFillTx/>
              <a:latin typeface="Arial"/>
            </a:endParaRPr>
          </a:p>
        </p:txBody>
      </p:sp>
      <p:sp>
        <p:nvSpPr>
          <p:cNvPr id="951" name="Shape 35"/>
          <p:cNvSpPr/>
          <p:nvPr/>
        </p:nvSpPr>
        <p:spPr>
          <a:xfrm>
            <a:off x="8549640" y="2889360"/>
            <a:ext cx="3108240" cy="547920"/>
          </a:xfrm>
          <a:prstGeom prst="roundRect">
            <a:avLst>
              <a:gd name="adj" fmla="val 10000"/>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2" name="Text 36"/>
          <p:cNvSpPr/>
          <p:nvPr/>
        </p:nvSpPr>
        <p:spPr>
          <a:xfrm>
            <a:off x="8641080" y="2889360"/>
            <a:ext cx="292536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CADCFC"/>
                </a:solidFill>
                <a:effectLst/>
                <a:uFillTx/>
                <a:latin typeface="Consolas"/>
                <a:ea typeface="Consolas"/>
              </a:rPr>
              <a:t>X[k+N/2] = E[k] − W_N^k O[k]</a:t>
            </a:r>
            <a:endParaRPr lang="en-US" sz="1150" b="0" u="none" strike="noStrike">
              <a:solidFill>
                <a:srgbClr val="FFFFFF"/>
              </a:solidFill>
              <a:effectLst/>
              <a:uFillTx/>
              <a:latin typeface="Arial"/>
            </a:endParaRPr>
          </a:p>
        </p:txBody>
      </p:sp>
      <p:sp>
        <p:nvSpPr>
          <p:cNvPr id="953" name="Shape 37"/>
          <p:cNvSpPr/>
          <p:nvPr/>
        </p:nvSpPr>
        <p:spPr>
          <a:xfrm>
            <a:off x="8549640" y="3547800"/>
            <a:ext cx="3108240" cy="547920"/>
          </a:xfrm>
          <a:prstGeom prst="roundRect">
            <a:avLst>
              <a:gd name="adj" fmla="val 10000"/>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4" name="Text 38"/>
          <p:cNvSpPr/>
          <p:nvPr/>
        </p:nvSpPr>
        <p:spPr>
          <a:xfrm>
            <a:off x="8641080" y="3547800"/>
            <a:ext cx="292536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CADCFC"/>
                </a:solidFill>
                <a:effectLst/>
                <a:uFillTx/>
                <a:latin typeface="Consolas"/>
                <a:ea typeface="Consolas"/>
              </a:rPr>
              <a:t>Stages = log₂N</a:t>
            </a:r>
            <a:endParaRPr lang="en-US" sz="1150" b="0" u="none" strike="noStrike">
              <a:solidFill>
                <a:srgbClr val="FFFFFF"/>
              </a:solidFill>
              <a:effectLst/>
              <a:uFillTx/>
              <a:latin typeface="Arial"/>
            </a:endParaRPr>
          </a:p>
        </p:txBody>
      </p:sp>
      <p:sp>
        <p:nvSpPr>
          <p:cNvPr id="955" name="Shape 39"/>
          <p:cNvSpPr/>
          <p:nvPr/>
        </p:nvSpPr>
        <p:spPr>
          <a:xfrm>
            <a:off x="8549640" y="4206240"/>
            <a:ext cx="3108240" cy="547920"/>
          </a:xfrm>
          <a:prstGeom prst="roundRect">
            <a:avLst>
              <a:gd name="adj" fmla="val 10000"/>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56" name="Text 40"/>
          <p:cNvSpPr/>
          <p:nvPr/>
        </p:nvSpPr>
        <p:spPr>
          <a:xfrm>
            <a:off x="8641080" y="4206240"/>
            <a:ext cx="2925360" cy="5479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1" u="none" strike="noStrike">
                <a:solidFill>
                  <a:srgbClr val="CADCFC"/>
                </a:solidFill>
                <a:effectLst/>
                <a:uFillTx/>
                <a:latin typeface="Consolas"/>
                <a:ea typeface="Consolas"/>
              </a:rPr>
              <a:t>Butterflies = (N/2)log₂N</a:t>
            </a:r>
            <a:endParaRPr lang="en-US" sz="1150" b="0" u="none" strike="noStrike">
              <a:solidFill>
                <a:srgbClr val="FFFFFF"/>
              </a:solidFill>
              <a:effectLst/>
              <a:uFillTx/>
              <a:latin typeface="Arial"/>
            </a:endParaRPr>
          </a:p>
        </p:txBody>
      </p:sp>
      <p:sp>
        <p:nvSpPr>
          <p:cNvPr id="957" name="Text 41"/>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FFFFFF"/>
              </a:solidFill>
              <a:effectLst/>
              <a:uFillTx/>
              <a:latin typeface="Arial"/>
            </a:endParaRPr>
          </a:p>
        </p:txBody>
      </p:sp>
      <p:sp>
        <p:nvSpPr>
          <p:cNvPr id="958" name="Text 42"/>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Summary</a:t>
            </a:r>
            <a:endParaRPr lang="en-US" sz="900" b="0" u="none" strike="noStrike">
              <a:solidFill>
                <a:srgbClr val="FFFFFF"/>
              </a:solidFill>
              <a:effectLst/>
              <a:uFillTx/>
              <a:latin typeface="Arial"/>
            </a:endParaRPr>
          </a:p>
        </p:txBody>
      </p:sp>
      <p:sp>
        <p:nvSpPr>
          <p:cNvPr id="959" name="Text 43"/>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42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960" name="Text 0"/>
          <p:cNvSpPr/>
          <p:nvPr/>
        </p:nvSpPr>
        <p:spPr>
          <a:xfrm>
            <a:off x="502920" y="292680"/>
            <a:ext cx="111549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REFERENCES</a:t>
            </a:r>
            <a:endParaRPr lang="en-US" sz="1150" b="0" u="none" strike="noStrike">
              <a:solidFill>
                <a:srgbClr val="000000"/>
              </a:solidFill>
              <a:effectLst/>
              <a:uFillTx/>
              <a:latin typeface="Arial"/>
            </a:endParaRPr>
          </a:p>
        </p:txBody>
      </p:sp>
      <p:sp>
        <p:nvSpPr>
          <p:cNvPr id="961" name="Text 1"/>
          <p:cNvSpPr/>
          <p:nvPr/>
        </p:nvSpPr>
        <p:spPr>
          <a:xfrm>
            <a:off x="502920" y="548640"/>
            <a:ext cx="11154960" cy="566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700" b="1" u="none" strike="noStrike">
                <a:solidFill>
                  <a:srgbClr val="132A4A"/>
                </a:solidFill>
                <a:effectLst/>
                <a:uFillTx/>
                <a:latin typeface="Cambria"/>
                <a:ea typeface="Cambria"/>
              </a:rPr>
              <a:t>Sources for Further Study</a:t>
            </a:r>
            <a:endParaRPr lang="en-US" sz="2700" b="0" u="none" strike="noStrike">
              <a:solidFill>
                <a:srgbClr val="000000"/>
              </a:solidFill>
              <a:effectLst/>
              <a:uFillTx/>
              <a:latin typeface="Arial"/>
            </a:endParaRPr>
          </a:p>
        </p:txBody>
      </p:sp>
      <p:sp>
        <p:nvSpPr>
          <p:cNvPr id="962" name="Shape 2"/>
          <p:cNvSpPr/>
          <p:nvPr/>
        </p:nvSpPr>
        <p:spPr>
          <a:xfrm>
            <a:off x="502920" y="1325880"/>
            <a:ext cx="11154960" cy="1078200"/>
          </a:xfrm>
          <a:prstGeom prst="roundRect">
            <a:avLst>
              <a:gd name="adj" fmla="val 5932"/>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3" name="Text 3"/>
          <p:cNvSpPr/>
          <p:nvPr/>
        </p:nvSpPr>
        <p:spPr>
          <a:xfrm>
            <a:off x="731520" y="141732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A. V. Oppenheim and R. W. Schafer</a:t>
            </a:r>
            <a:endParaRPr lang="en-US" sz="1300" b="0" u="none" strike="noStrike">
              <a:solidFill>
                <a:srgbClr val="000000"/>
              </a:solidFill>
              <a:effectLst/>
              <a:uFillTx/>
              <a:latin typeface="Arial"/>
            </a:endParaRPr>
          </a:p>
        </p:txBody>
      </p:sp>
      <p:sp>
        <p:nvSpPr>
          <p:cNvPr id="964" name="Text 4"/>
          <p:cNvSpPr/>
          <p:nvPr/>
        </p:nvSpPr>
        <p:spPr>
          <a:xfrm>
            <a:off x="731520" y="171000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3D5A80"/>
                </a:solidFill>
                <a:effectLst/>
                <a:uFillTx/>
                <a:latin typeface="Cambria"/>
                <a:ea typeface="Cambria"/>
              </a:rPr>
              <a:t>Discrete-Time Signal Processing</a:t>
            </a:r>
            <a:endParaRPr lang="en-US" sz="1250" b="0" u="none" strike="noStrike">
              <a:solidFill>
                <a:srgbClr val="000000"/>
              </a:solidFill>
              <a:effectLst/>
              <a:uFillTx/>
              <a:latin typeface="Arial"/>
            </a:endParaRPr>
          </a:p>
        </p:txBody>
      </p:sp>
      <p:sp>
        <p:nvSpPr>
          <p:cNvPr id="965" name="Text 5"/>
          <p:cNvSpPr/>
          <p:nvPr/>
        </p:nvSpPr>
        <p:spPr>
          <a:xfrm>
            <a:off x="731520" y="2002680"/>
            <a:ext cx="1069776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5C6B7A"/>
                </a:solidFill>
                <a:effectLst/>
                <a:uFillTx/>
                <a:latin typeface="Calibri"/>
                <a:ea typeface="Calibri"/>
              </a:rPr>
              <a:t>The standard graduate reference for the DFT, the radix-2 FFT derivation, and decimation-in-time / decimation-in-frequency structures.</a:t>
            </a:r>
            <a:endParaRPr lang="en-US" sz="1080" b="0" u="none" strike="noStrike">
              <a:solidFill>
                <a:srgbClr val="000000"/>
              </a:solidFill>
              <a:effectLst/>
              <a:uFillTx/>
              <a:latin typeface="Arial"/>
            </a:endParaRPr>
          </a:p>
        </p:txBody>
      </p:sp>
      <p:sp>
        <p:nvSpPr>
          <p:cNvPr id="966" name="Shape 6"/>
          <p:cNvSpPr/>
          <p:nvPr/>
        </p:nvSpPr>
        <p:spPr>
          <a:xfrm>
            <a:off x="502920" y="2532960"/>
            <a:ext cx="11154960" cy="1078200"/>
          </a:xfrm>
          <a:prstGeom prst="roundRect">
            <a:avLst>
              <a:gd name="adj" fmla="val 5932"/>
            </a:avLst>
          </a:prstGeom>
          <a:solidFill>
            <a:srgbClr val="F3F7FC"/>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7" name="Text 7"/>
          <p:cNvSpPr/>
          <p:nvPr/>
        </p:nvSpPr>
        <p:spPr>
          <a:xfrm>
            <a:off x="731520" y="262440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J. G. Proakis and D. G. Manolakis</a:t>
            </a:r>
            <a:endParaRPr lang="en-US" sz="1300" b="0" u="none" strike="noStrike">
              <a:solidFill>
                <a:srgbClr val="000000"/>
              </a:solidFill>
              <a:effectLst/>
              <a:uFillTx/>
              <a:latin typeface="Arial"/>
            </a:endParaRPr>
          </a:p>
        </p:txBody>
      </p:sp>
      <p:sp>
        <p:nvSpPr>
          <p:cNvPr id="968" name="Text 8"/>
          <p:cNvSpPr/>
          <p:nvPr/>
        </p:nvSpPr>
        <p:spPr>
          <a:xfrm>
            <a:off x="731520" y="291708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3D5A80"/>
                </a:solidFill>
                <a:effectLst/>
                <a:uFillTx/>
                <a:latin typeface="Cambria"/>
                <a:ea typeface="Cambria"/>
              </a:rPr>
              <a:t>Digital Signal Processing: Principles, Algorithms, and Applications</a:t>
            </a:r>
            <a:endParaRPr lang="en-US" sz="1250" b="0" u="none" strike="noStrike">
              <a:solidFill>
                <a:srgbClr val="000000"/>
              </a:solidFill>
              <a:effectLst/>
              <a:uFillTx/>
              <a:latin typeface="Arial"/>
            </a:endParaRPr>
          </a:p>
        </p:txBody>
      </p:sp>
      <p:sp>
        <p:nvSpPr>
          <p:cNvPr id="969" name="Text 9"/>
          <p:cNvSpPr/>
          <p:nvPr/>
        </p:nvSpPr>
        <p:spPr>
          <a:xfrm>
            <a:off x="731520" y="3209400"/>
            <a:ext cx="1069776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5C6B7A"/>
                </a:solidFill>
                <a:effectLst/>
                <a:uFillTx/>
                <a:latin typeface="Calibri"/>
                <a:ea typeface="Calibri"/>
              </a:rPr>
              <a:t>Detailed treatment of FFT algorithms, operation counts, and fixed-point implementation issues.</a:t>
            </a:r>
            <a:endParaRPr lang="en-US" sz="1080" b="0" u="none" strike="noStrike">
              <a:solidFill>
                <a:srgbClr val="000000"/>
              </a:solidFill>
              <a:effectLst/>
              <a:uFillTx/>
              <a:latin typeface="Arial"/>
            </a:endParaRPr>
          </a:p>
        </p:txBody>
      </p:sp>
      <p:sp>
        <p:nvSpPr>
          <p:cNvPr id="970" name="Shape 10"/>
          <p:cNvSpPr/>
          <p:nvPr/>
        </p:nvSpPr>
        <p:spPr>
          <a:xfrm>
            <a:off x="502920" y="3740040"/>
            <a:ext cx="11154960" cy="1078200"/>
          </a:xfrm>
          <a:prstGeom prst="roundRect">
            <a:avLst>
              <a:gd name="adj" fmla="val 5932"/>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1" name="Text 11"/>
          <p:cNvSpPr/>
          <p:nvPr/>
        </p:nvSpPr>
        <p:spPr>
          <a:xfrm>
            <a:off x="731520" y="383148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MathWorks</a:t>
            </a:r>
            <a:endParaRPr lang="en-US" sz="1300" b="0" u="none" strike="noStrike">
              <a:solidFill>
                <a:srgbClr val="000000"/>
              </a:solidFill>
              <a:effectLst/>
              <a:uFillTx/>
              <a:latin typeface="Arial"/>
            </a:endParaRPr>
          </a:p>
        </p:txBody>
      </p:sp>
      <p:sp>
        <p:nvSpPr>
          <p:cNvPr id="972" name="Text 12"/>
          <p:cNvSpPr/>
          <p:nvPr/>
        </p:nvSpPr>
        <p:spPr>
          <a:xfrm>
            <a:off x="731520" y="412380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3D5A80"/>
                </a:solidFill>
                <a:effectLst/>
                <a:uFillTx/>
                <a:latin typeface="Cambria"/>
                <a:ea typeface="Cambria"/>
              </a:rPr>
              <a:t>MATLAB Documentation: fft, bitrevorder</a:t>
            </a:r>
            <a:endParaRPr lang="en-US" sz="1250" b="0" u="none" strike="noStrike">
              <a:solidFill>
                <a:srgbClr val="000000"/>
              </a:solidFill>
              <a:effectLst/>
              <a:uFillTx/>
              <a:latin typeface="Arial"/>
            </a:endParaRPr>
          </a:p>
        </p:txBody>
      </p:sp>
      <p:sp>
        <p:nvSpPr>
          <p:cNvPr id="973" name="Text 13"/>
          <p:cNvSpPr/>
          <p:nvPr/>
        </p:nvSpPr>
        <p:spPr>
          <a:xfrm>
            <a:off x="731520" y="4416480"/>
            <a:ext cx="1069776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5C6B7A"/>
                </a:solidFill>
                <a:effectLst/>
                <a:uFillTx/>
                <a:latin typeface="Calibri"/>
                <a:ea typeface="Calibri"/>
              </a:rPr>
              <a:t>Reference documentation for the built-in FFT function and bit-reversal ordering utility used in Section 21.</a:t>
            </a:r>
            <a:endParaRPr lang="en-US" sz="1080" b="0" u="none" strike="noStrike">
              <a:solidFill>
                <a:srgbClr val="000000"/>
              </a:solidFill>
              <a:effectLst/>
              <a:uFillTx/>
              <a:latin typeface="Arial"/>
            </a:endParaRPr>
          </a:p>
        </p:txBody>
      </p:sp>
      <p:sp>
        <p:nvSpPr>
          <p:cNvPr id="974" name="Shape 14"/>
          <p:cNvSpPr/>
          <p:nvPr/>
        </p:nvSpPr>
        <p:spPr>
          <a:xfrm>
            <a:off x="502920" y="4946760"/>
            <a:ext cx="11154960" cy="1078200"/>
          </a:xfrm>
          <a:prstGeom prst="roundRect">
            <a:avLst>
              <a:gd name="adj" fmla="val 5932"/>
            </a:avLst>
          </a:prstGeom>
          <a:solidFill>
            <a:srgbClr val="F3F7FC"/>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5" name="Text 15"/>
          <p:cNvSpPr/>
          <p:nvPr/>
        </p:nvSpPr>
        <p:spPr>
          <a:xfrm>
            <a:off x="731520" y="503820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32A4A"/>
                </a:solidFill>
                <a:effectLst/>
                <a:uFillTx/>
                <a:latin typeface="Calibri"/>
                <a:ea typeface="Calibri"/>
              </a:rPr>
              <a:t>Cooley, J. W. and Tukey, J. W. (1965)</a:t>
            </a:r>
            <a:endParaRPr lang="en-US" sz="1300" b="0" u="none" strike="noStrike">
              <a:solidFill>
                <a:srgbClr val="000000"/>
              </a:solidFill>
              <a:effectLst/>
              <a:uFillTx/>
              <a:latin typeface="Arial"/>
            </a:endParaRPr>
          </a:p>
        </p:txBody>
      </p:sp>
      <p:sp>
        <p:nvSpPr>
          <p:cNvPr id="976" name="Text 16"/>
          <p:cNvSpPr/>
          <p:nvPr/>
        </p:nvSpPr>
        <p:spPr>
          <a:xfrm>
            <a:off x="731520" y="5330880"/>
            <a:ext cx="10697760" cy="273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i="1" u="none" strike="noStrike">
                <a:solidFill>
                  <a:srgbClr val="3D5A80"/>
                </a:solidFill>
                <a:effectLst/>
                <a:uFillTx/>
                <a:latin typeface="Cambria"/>
                <a:ea typeface="Cambria"/>
              </a:rPr>
              <a:t>“An Algorithm for the Machine Calculation of Complex Fourier Series,” Mathematics of Computation</a:t>
            </a:r>
            <a:endParaRPr lang="en-US" sz="1250" b="0" u="none" strike="noStrike">
              <a:solidFill>
                <a:srgbClr val="000000"/>
              </a:solidFill>
              <a:effectLst/>
              <a:uFillTx/>
              <a:latin typeface="Arial"/>
            </a:endParaRPr>
          </a:p>
        </p:txBody>
      </p:sp>
      <p:sp>
        <p:nvSpPr>
          <p:cNvPr id="977" name="Text 17"/>
          <p:cNvSpPr/>
          <p:nvPr/>
        </p:nvSpPr>
        <p:spPr>
          <a:xfrm>
            <a:off x="731520" y="5623560"/>
            <a:ext cx="10697760" cy="365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5C6B7A"/>
                </a:solidFill>
                <a:effectLst/>
                <a:uFillTx/>
                <a:latin typeface="Calibri"/>
                <a:ea typeface="Calibri"/>
              </a:rPr>
              <a:t>The original paper describing the fast Fourier transform algorithm underlying this derivation.</a:t>
            </a:r>
            <a:endParaRPr lang="en-US" sz="1080" b="0" u="none" strike="noStrike">
              <a:solidFill>
                <a:srgbClr val="000000"/>
              </a:solidFill>
              <a:effectLst/>
              <a:uFillTx/>
              <a:latin typeface="Arial"/>
            </a:endParaRPr>
          </a:p>
        </p:txBody>
      </p:sp>
      <p:sp>
        <p:nvSpPr>
          <p:cNvPr id="978" name="Text 18"/>
          <p:cNvSpPr/>
          <p:nvPr/>
        </p:nvSpPr>
        <p:spPr>
          <a:xfrm>
            <a:off x="502920" y="6245280"/>
            <a:ext cx="11154960" cy="45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50" b="0" i="1" u="none" strike="noStrike">
                <a:solidFill>
                  <a:srgbClr val="5C6B7A"/>
                </a:solidFill>
                <a:effectLst/>
                <a:uFillTx/>
                <a:latin typeface="Calibri"/>
                <a:ea typeface="Calibri"/>
              </a:rPr>
              <a:t>This deck is a self-contained study notebook. Revisit Sections 6-15 for the full derivation-to-implementation chain whenever implementing an FFT in MATLAB, FPGA, or RTL.</a:t>
            </a:r>
            <a:endParaRPr lang="en-US" sz="1150" b="0" u="none" strike="noStrike">
              <a:solidFill>
                <a:srgbClr val="000000"/>
              </a:solidFill>
              <a:effectLst/>
              <a:uFillTx/>
              <a:latin typeface="Arial"/>
            </a:endParaRPr>
          </a:p>
        </p:txBody>
      </p:sp>
      <p:sp>
        <p:nvSpPr>
          <p:cNvPr id="979" name="Text 19"/>
          <p:cNvSpPr/>
          <p:nvPr/>
        </p:nvSpPr>
        <p:spPr>
          <a:xfrm>
            <a:off x="502920" y="6546960"/>
            <a:ext cx="5942880" cy="23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Decimation-in-Time FFT</a:t>
            </a:r>
            <a:endParaRPr lang="en-US" sz="900" b="0" u="none" strike="noStrike">
              <a:solidFill>
                <a:srgbClr val="000000"/>
              </a:solidFill>
              <a:effectLst/>
              <a:uFillTx/>
              <a:latin typeface="Arial"/>
            </a:endParaRPr>
          </a:p>
        </p:txBody>
      </p:sp>
      <p:sp>
        <p:nvSpPr>
          <p:cNvPr id="980" name="Text 20"/>
          <p:cNvSpPr/>
          <p:nvPr/>
        </p:nvSpPr>
        <p:spPr>
          <a:xfrm>
            <a:off x="6400800" y="6546960"/>
            <a:ext cx="45712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References</a:t>
            </a:r>
            <a:endParaRPr lang="en-US" sz="900" b="0" u="none" strike="noStrike">
              <a:solidFill>
                <a:srgbClr val="000000"/>
              </a:solidFill>
              <a:effectLst/>
              <a:uFillTx/>
              <a:latin typeface="Arial"/>
            </a:endParaRPr>
          </a:p>
        </p:txBody>
      </p:sp>
      <p:sp>
        <p:nvSpPr>
          <p:cNvPr id="981" name="Text 21"/>
          <p:cNvSpPr/>
          <p:nvPr/>
        </p:nvSpPr>
        <p:spPr>
          <a:xfrm>
            <a:off x="11292840" y="6546960"/>
            <a:ext cx="456480" cy="2368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43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TotalTime>
  <Application>LibreOffice/26.2.6.3$Windows_X86_64 LibreOffice_project/8221e31b3ac356a1623c672912a3d2b492f7e3d1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2026-09-26T14:34:46Z</dcterms:created>
  <dc:creator>Claude</dc:creator>
  <dc:description/>
  <dc:language>en-US</dc:language>
  <cp:lastModifiedBy/>
  <dcterms:modified xsi:type="dcterms:W3CDTF">2026-09-26T18:08:22Z</dcterms:modified>
  <cp:revision>3</cp:revision>
  <dc:subject>PptxGenJS Presentation</dc:subject>
  <dc:title>Radix-2 Decimation-in-Time (DIT) FFT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43</vt:i4>
  </property>
  <property fmtid="{D5CDD505-2E9C-101B-9397-08002B2CF9AE}" pid="3" name="PresentationFormat">
    <vt:lpwstr>On-screen Show (16:9)</vt:lpwstr>
  </property>
  <property fmtid="{D5CDD505-2E9C-101B-9397-08002B2CF9AE}" pid="4" name="Slides">
    <vt:i4>43</vt:i4>
  </property>
</Properties>
</file>