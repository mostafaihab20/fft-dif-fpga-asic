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A4A"/>
                </a:solidFill>
                <a:latin typeface="Calibri"/>
              </a:defRPr>
            </a:pPr>
            <a:r>
              <a:rPr sz="1200" b="0" i="0" u="none" strike="noStrike">
                <a:solidFill>
                  <a:srgbClr val="132A4A"/>
                </a:solidFill>
                <a:latin typeface="Calibri"/>
              </a:rPr>
              <a:t>Operations needed vs transform size N</a:t>
            </a:r>
          </a:p>
        </c:rich>
      </c:tx>
      <c:layout/>
      <c:overlay val="0"/>
    </c:title>
    <c:autoTitleDeleted val="0"/>
    <c:plotArea>
      <c:layout/>
      <c:barChart>
        <c:barDir val="col"/>
        <c:grouping val="clustered"/>
        <c:varyColors val="0"/>
        <c:ser>
          <c:idx val="0"/>
          <c:order val="0"/>
          <c:tx>
            <c:strRef>
              <c:f>Sheet1!$B$1</c:f>
              <c:strCache>
                <c:ptCount val="1"/>
                <c:pt idx="0">
                  <c:v>Direct DFT: N²</c:v>
                </c:pt>
              </c:strCache>
            </c:strRef>
          </c:tx>
          <c:spPr>
            <a:solidFill>
              <a:srgbClr val="D98324"/>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4</c:v>
                  </c:pt>
                  <c:pt idx="1">
                    <c:v>8</c:v>
                  </c:pt>
                  <c:pt idx="2">
                    <c:v>16</c:v>
                  </c:pt>
                  <c:pt idx="3">
                    <c:v>32</c:v>
                  </c:pt>
                  <c:pt idx="4">
                    <c:v>64</c:v>
                  </c:pt>
                </c:lvl>
              </c:multiLvlStrCache>
            </c:multiLvlStrRef>
          </c:cat>
          <c:val>
            <c:numRef>
              <c:f>Sheet1!$B$2:$B$6</c:f>
              <c:numCache>
                <c:formatCode>General</c:formatCode>
                <c:ptCount val="5"/>
                <c:pt idx="0">
                  <c:v>16</c:v>
                </c:pt>
                <c:pt idx="1">
                  <c:v>64</c:v>
                </c:pt>
                <c:pt idx="2">
                  <c:v>256</c:v>
                </c:pt>
                <c:pt idx="3">
                  <c:v>1024</c:v>
                </c:pt>
                <c:pt idx="4">
                  <c:v>4096</c:v>
                </c:pt>
              </c:numCache>
            </c:numRef>
          </c:val>
        </c:ser>
        <c:ser>
          <c:idx val="1"/>
          <c:order val="1"/>
          <c:tx>
            <c:strRef>
              <c:f>Sheet1!$C$1</c:f>
              <c:strCache>
                <c:ptCount val="1"/>
                <c:pt idx="0">
                  <c:v>Radix-2 FFT: (N/2)log2 N</c:v>
                </c:pt>
              </c:strCache>
            </c:strRef>
          </c:tx>
          <c:spPr>
            <a:solidFill>
              <a:srgbClr val="0E8388"/>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4</c:v>
                  </c:pt>
                  <c:pt idx="1">
                    <c:v>8</c:v>
                  </c:pt>
                  <c:pt idx="2">
                    <c:v>16</c:v>
                  </c:pt>
                  <c:pt idx="3">
                    <c:v>32</c:v>
                  </c:pt>
                  <c:pt idx="4">
                    <c:v>64</c:v>
                  </c:pt>
                </c:lvl>
              </c:multiLvlStrCache>
            </c:multiLvlStrRef>
          </c:cat>
          <c:val>
            <c:numRef>
              <c:f>Sheet1!$C$2:$C$6</c:f>
              <c:numCache>
                <c:formatCode>General</c:formatCode>
                <c:ptCount val="5"/>
                <c:pt idx="0">
                  <c:v>4</c:v>
                </c:pt>
                <c:pt idx="1">
                  <c:v>12</c:v>
                </c:pt>
                <c:pt idx="2">
                  <c:v>32</c:v>
                </c:pt>
                <c:pt idx="3">
                  <c:v>80</c:v>
                </c:pt>
                <c:pt idx="4">
                  <c:v>192</c:v>
                </c:pt>
              </c:numCache>
            </c:numRef>
          </c:val>
        </c:ser>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C6B7A"/>
                    </a:solidFill>
                    <a:latin typeface="Arial"/>
                  </a:defRPr>
                </a:pPr>
                <a:r>
                  <a:rPr sz="1000" b="0" i="0" u="none" strike="noStrike">
                    <a:solidFill>
                      <a:srgbClr val="5C6B7A"/>
                    </a:solidFill>
                    <a:latin typeface="Arial"/>
                  </a:rPr>
                  <a:t>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A4A"/>
                </a:solidFill>
                <a:latin typeface="Arial"/>
              </a:defRPr>
            </a:pPr>
            <a:r>
              <a:rPr sz="1100" b="0" i="0" u="none" strike="noStrike">
                <a:solidFill>
                  <a:srgbClr val="132A4A"/>
                </a:solidFill>
                <a:latin typeface="Arial"/>
              </a:rPr>
              <a:t>Word length needed (bits) after each stage</a:t>
            </a:r>
          </a:p>
        </c:rich>
      </c:tx>
      <c:layout/>
      <c:overlay val="0"/>
    </c:title>
    <c:autoTitleDeleted val="0"/>
    <c:plotArea>
      <c:layout/>
      <c:barChart>
        <c:barDir val="col"/>
        <c:grouping val="stacked"/>
        <c:varyColors val="0"/>
        <c:ser>
          <c:idx val="0"/>
          <c:order val="0"/>
          <c:tx>
            <c:strRef>
              <c:f>Sheet1!$B$1</c:f>
              <c:strCache>
                <c:ptCount val="1"/>
                <c:pt idx="0">
                  <c:v>Input width (16 bits)</c:v>
                </c:pt>
              </c:strCache>
            </c:strRef>
          </c:tx>
          <c:spPr>
            <a:solidFill>
              <a:srgbClr val="2F5C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In</c:v>
                  </c:pt>
                  <c:pt idx="1">
                    <c:v>S1</c:v>
                  </c:pt>
                  <c:pt idx="2">
                    <c:v>S2</c:v>
                  </c:pt>
                  <c:pt idx="3">
                    <c:v>S3</c:v>
                  </c:pt>
                  <c:pt idx="4">
                    <c:v>S4</c:v>
                  </c:pt>
                  <c:pt idx="5">
                    <c:v>S5</c:v>
                  </c:pt>
                </c:lvl>
              </c:multiLvlStrCache>
            </c:multiLvlStrRef>
          </c:cat>
          <c:val>
            <c:numRef>
              <c:f>Sheet1!$B$2:$B$7</c:f>
              <c:numCache>
                <c:formatCode>General</c:formatCode>
                <c:ptCount val="6"/>
                <c:pt idx="0">
                  <c:v>16</c:v>
                </c:pt>
                <c:pt idx="1">
                  <c:v>16</c:v>
                </c:pt>
                <c:pt idx="2">
                  <c:v>16</c:v>
                </c:pt>
                <c:pt idx="3">
                  <c:v>16</c:v>
                </c:pt>
                <c:pt idx="4">
                  <c:v>16</c:v>
                </c:pt>
                <c:pt idx="5">
                  <c:v>16</c:v>
                </c:pt>
              </c:numCache>
            </c:numRef>
          </c:val>
        </c:ser>
        <c:ser>
          <c:idx val="1"/>
          <c:order val="1"/>
          <c:tx>
            <c:strRef>
              <c:f>Sheet1!$C$1</c:f>
              <c:strCache>
                <c:ptCount val="1"/>
                <c:pt idx="0">
                  <c:v>Worst-case growth bits</c:v>
                </c:pt>
              </c:strCache>
            </c:strRef>
          </c:tx>
          <c:spPr>
            <a:solidFill>
              <a:srgbClr val="D9832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In</c:v>
                  </c:pt>
                  <c:pt idx="1">
                    <c:v>S1</c:v>
                  </c:pt>
                  <c:pt idx="2">
                    <c:v>S2</c:v>
                  </c:pt>
                  <c:pt idx="3">
                    <c:v>S3</c:v>
                  </c:pt>
                  <c:pt idx="4">
                    <c:v>S4</c:v>
                  </c:pt>
                  <c:pt idx="5">
                    <c:v>S5</c:v>
                  </c:pt>
                </c:lvl>
              </c:multiLvlStrCache>
            </c:multiLvlStrRef>
          </c:cat>
          <c:val>
            <c:numRef>
              <c:f>Sheet1!$C$2:$C$7</c:f>
              <c:numCache>
                <c:formatCode>General</c:formatCode>
                <c:ptCount val="6"/>
                <c:pt idx="0">
                  <c:v>0</c:v>
                </c:pt>
                <c:pt idx="1">
                  <c:v>1</c:v>
                </c:pt>
                <c:pt idx="2">
                  <c:v>2</c:v>
                </c:pt>
                <c:pt idx="3">
                  <c:v>3</c:v>
                </c:pt>
                <c:pt idx="4">
                  <c:v>4</c:v>
                </c:pt>
                <c:pt idx="5">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A"/>
        </a:solidFill>
      </p:bgPr>
    </p:bg>
    <p:spTree>
      <p:nvGrpSpPr>
        <p:cNvPr id="1" name=""/>
        <p:cNvGrpSpPr/>
        <p:nvPr/>
      </p:nvGrpSpPr>
      <p:grpSpPr>
        <a:xfrm>
          <a:off x="0" y="0"/>
          <a:ext cx="0" cy="0"/>
          <a:chOff x="0" y="0"/>
          <a:chExt cx="0" cy="0"/>
        </a:xfrm>
      </p:grpSpPr>
      <p:sp>
        <p:nvSpPr>
          <p:cNvPr id="2" name="Text 0"/>
          <p:cNvSpPr/>
          <p:nvPr/>
        </p:nvSpPr>
        <p:spPr>
          <a:xfrm>
            <a:off x="502920" y="2331720"/>
            <a:ext cx="11155680" cy="320040"/>
          </a:xfrm>
          <a:prstGeom prst="rect">
            <a:avLst/>
          </a:prstGeom>
          <a:noFill/>
          <a:ln/>
        </p:spPr>
        <p:txBody>
          <a:bodyPr wrap="square" rtlCol="0" anchor="ctr"/>
          <a:lstStyle/>
          <a:p>
            <a:pPr indent="0" marL="0">
              <a:buNone/>
            </a:pPr>
            <a:r>
              <a:rPr lang="en-US" sz="1300" b="1" spc="250" kern="0" dirty="0">
                <a:solidFill>
                  <a:srgbClr val="9FD4D1"/>
                </a:solidFill>
                <a:latin typeface="Calibri" pitchFamily="34" charset="0"/>
                <a:ea typeface="Calibri" pitchFamily="34" charset="-122"/>
                <a:cs typeface="Calibri" pitchFamily="34" charset="-120"/>
              </a:rPr>
              <a:t>A STUDY NOTEBOOK IN DIGITAL SIGNAL PROCESSING</a:t>
            </a:r>
            <a:endParaRPr lang="en-US" sz="1300" dirty="0"/>
          </a:p>
        </p:txBody>
      </p:sp>
      <p:sp>
        <p:nvSpPr>
          <p:cNvPr id="3" name="Text 1"/>
          <p:cNvSpPr/>
          <p:nvPr/>
        </p:nvSpPr>
        <p:spPr>
          <a:xfrm>
            <a:off x="502920" y="2697480"/>
            <a:ext cx="11155680" cy="100584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Radix-2 FFT: DIT and DIF</a:t>
            </a:r>
            <a:endParaRPr lang="en-US" sz="4200" dirty="0"/>
          </a:p>
        </p:txBody>
      </p:sp>
      <p:sp>
        <p:nvSpPr>
          <p:cNvPr id="4" name="Text 2"/>
          <p:cNvSpPr/>
          <p:nvPr/>
        </p:nvSpPr>
        <p:spPr>
          <a:xfrm>
            <a:off x="502920" y="3611880"/>
            <a:ext cx="11155680" cy="457200"/>
          </a:xfrm>
          <a:prstGeom prst="rect">
            <a:avLst/>
          </a:prstGeom>
          <a:noFill/>
          <a:ln/>
        </p:spPr>
        <p:txBody>
          <a:bodyPr wrap="square" rtlCol="0" anchor="ctr"/>
          <a:lstStyle/>
          <a:p>
            <a:pPr indent="0" marL="0">
              <a:buNone/>
            </a:pPr>
            <a:r>
              <a:rPr lang="en-US" sz="1700" dirty="0">
                <a:solidFill>
                  <a:srgbClr val="EAF1FB"/>
                </a:solidFill>
                <a:latin typeface="Calibri" pitchFamily="34" charset="0"/>
                <a:ea typeface="Calibri" pitchFamily="34" charset="-122"/>
                <a:cs typeface="Calibri" pitchFamily="34" charset="-120"/>
              </a:rPr>
              <a:t>From the DFT Equation to a Hardware-Ready FFT32 Design</a:t>
            </a:r>
            <a:endParaRPr lang="en-US" sz="1700" dirty="0"/>
          </a:p>
        </p:txBody>
      </p:sp>
      <p:sp>
        <p:nvSpPr>
          <p:cNvPr id="5" name="Shape 3"/>
          <p:cNvSpPr/>
          <p:nvPr/>
        </p:nvSpPr>
        <p:spPr>
          <a:xfrm>
            <a:off x="502920" y="4251960"/>
            <a:ext cx="2011680" cy="0"/>
          </a:xfrm>
          <a:prstGeom prst="line">
            <a:avLst/>
          </a:prstGeom>
          <a:noFill/>
          <a:ln w="31750">
            <a:solidFill>
              <a:srgbClr val="0E8388"/>
            </a:solidFill>
            <a:prstDash val="solid"/>
          </a:ln>
        </p:spPr>
        <p:txBody>
          <a:bodyPr/>
          <a:p/>
        </p:txBody>
      </p:sp>
      <p:sp>
        <p:nvSpPr>
          <p:cNvPr id="6" name="Text 4"/>
          <p:cNvSpPr/>
          <p:nvPr/>
        </p:nvSpPr>
        <p:spPr>
          <a:xfrm>
            <a:off x="502920" y="6035040"/>
            <a:ext cx="11155680" cy="365760"/>
          </a:xfrm>
          <a:prstGeom prst="rect">
            <a:avLst/>
          </a:prstGeom>
          <a:noFill/>
          <a:ln/>
        </p:spPr>
        <p:txBody>
          <a:bodyPr wrap="square" rtlCol="0" anchor="ctr"/>
          <a:lstStyle/>
          <a:p>
            <a:pPr indent="0" marL="0">
              <a:buNone/>
            </a:pPr>
            <a:r>
              <a:rPr lang="en-US" sz="1150" i="1" dirty="0">
                <a:solidFill>
                  <a:srgbClr val="5C6B7A"/>
                </a:solidFill>
                <a:latin typeface="Calibri" pitchFamily="34" charset="0"/>
                <a:ea typeface="Calibri" pitchFamily="34" charset="-122"/>
                <a:cs typeface="Calibri" pitchFamily="34" charset="-120"/>
              </a:rPr>
              <a:t>Reference notebook for MATLAB, FPGA, and RTL implementation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1 · WHY FFT?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The N-Point Discrete Fourier Transform</a:t>
            </a:r>
            <a:endParaRPr lang="en-US" sz="2600" dirty="0"/>
          </a:p>
        </p:txBody>
      </p:sp>
      <p:sp>
        <p:nvSpPr>
          <p:cNvPr id="4" name="Shape 2"/>
          <p:cNvSpPr/>
          <p:nvPr/>
        </p:nvSpPr>
        <p:spPr>
          <a:xfrm>
            <a:off x="502920" y="1234440"/>
            <a:ext cx="5394960" cy="914400"/>
          </a:xfrm>
          <a:prstGeom prst="roundRect">
            <a:avLst>
              <a:gd name="adj" fmla="val 6000"/>
            </a:avLst>
          </a:prstGeom>
          <a:solidFill>
            <a:srgbClr val="132A4A"/>
          </a:solidFill>
          <a:ln w="12700">
            <a:solidFill>
              <a:srgbClr val="132A4A"/>
            </a:solidFill>
            <a:prstDash val="solid"/>
          </a:ln>
        </p:spPr>
        <p:txBody>
          <a:bodyPr/>
          <a:p/>
        </p:txBody>
      </p:sp>
      <p:sp>
        <p:nvSpPr>
          <p:cNvPr id="5" name="Text 3"/>
          <p:cNvSpPr/>
          <p:nvPr/>
        </p:nvSpPr>
        <p:spPr>
          <a:xfrm>
            <a:off x="502920" y="1234440"/>
            <a:ext cx="5394960" cy="9144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X</a:t>
            </a:r>
            <a:pPr algn="ctr" indent="0" marL="0">
              <a:buNone/>
            </a:pPr>
            <a:r>
              <a:rPr lang="en-US" sz="2200" b="1" baseline="-40000" dirty="0">
                <a:solidFill>
                  <a:srgbClr val="FFFFFF"/>
                </a:solidFill>
                <a:latin typeface="Cambria" pitchFamily="34" charset="0"/>
                <a:ea typeface="Cambria" pitchFamily="34" charset="-122"/>
                <a:cs typeface="Cambria" pitchFamily="34" charset="-120"/>
              </a:rPr>
              <a:t>k</a:t>
            </a:r>
            <a:pPr algn="ctr" indent="0" marL="0">
              <a:buNone/>
            </a:pPr>
            <a:r>
              <a:rPr lang="en-US" sz="2200" b="1" dirty="0">
                <a:solidFill>
                  <a:srgbClr val="FFFFFF"/>
                </a:solidFill>
                <a:latin typeface="Cambria" pitchFamily="34" charset="0"/>
                <a:ea typeface="Cambria" pitchFamily="34" charset="-122"/>
                <a:cs typeface="Cambria" pitchFamily="34" charset="-120"/>
              </a:rPr>
              <a:t>  =  </a:t>
            </a:r>
            <a:pPr algn="ctr" indent="0" marL="0">
              <a:buNone/>
            </a:pPr>
            <a:r>
              <a:rPr lang="en-US" sz="3000" b="1" dirty="0">
                <a:solidFill>
                  <a:srgbClr val="FFFFFF"/>
                </a:solidFill>
                <a:latin typeface="Cambria" pitchFamily="34" charset="0"/>
                <a:ea typeface="Cambria" pitchFamily="34" charset="-122"/>
                <a:cs typeface="Cambria" pitchFamily="34" charset="-120"/>
              </a:rPr>
              <a:t>Σ</a:t>
            </a:r>
            <a:pPr algn="ctr" indent="0" marL="0">
              <a:buNone/>
            </a:pPr>
            <a:r>
              <a:rPr lang="en-US" sz="2200" b="1" baseline="-40000" dirty="0">
                <a:solidFill>
                  <a:srgbClr val="FFFFFF"/>
                </a:solidFill>
                <a:latin typeface="Cambria" pitchFamily="34" charset="0"/>
                <a:ea typeface="Cambria" pitchFamily="34" charset="-122"/>
                <a:cs typeface="Cambria" pitchFamily="34" charset="-120"/>
              </a:rPr>
              <a:t>n=0</a:t>
            </a:r>
            <a:pPr algn="ctr" indent="0" marL="0">
              <a:buNone/>
            </a:pPr>
            <a:r>
              <a:rPr lang="en-US" sz="2200" b="1" baseline="30000" dirty="0">
                <a:solidFill>
                  <a:srgbClr val="FFFFFF"/>
                </a:solidFill>
                <a:latin typeface="Cambria" pitchFamily="34" charset="0"/>
                <a:ea typeface="Cambria" pitchFamily="34" charset="-122"/>
                <a:cs typeface="Cambria" pitchFamily="34" charset="-120"/>
              </a:rPr>
              <a:t>N-1</a:t>
            </a:r>
            <a:pPr algn="ctr" indent="0" marL="0">
              <a:buNone/>
            </a:pPr>
            <a:r>
              <a:rPr lang="en-US" sz="2200" b="1" dirty="0">
                <a:solidFill>
                  <a:srgbClr val="FFFFFF"/>
                </a:solidFill>
                <a:latin typeface="Cambria" pitchFamily="34" charset="0"/>
                <a:ea typeface="Cambria" pitchFamily="34" charset="-122"/>
                <a:cs typeface="Cambria" pitchFamily="34" charset="-120"/>
              </a:rPr>
              <a:t>  x</a:t>
            </a:r>
            <a:pPr algn="ctr" indent="0" marL="0">
              <a:buNone/>
            </a:pPr>
            <a:r>
              <a:rPr lang="en-US" sz="2200" b="1" baseline="-40000" dirty="0">
                <a:solidFill>
                  <a:srgbClr val="FFFFFF"/>
                </a:solidFill>
                <a:latin typeface="Cambria" pitchFamily="34" charset="0"/>
                <a:ea typeface="Cambria" pitchFamily="34" charset="-122"/>
                <a:cs typeface="Cambria" pitchFamily="34" charset="-120"/>
              </a:rPr>
              <a:t>n</a:t>
            </a:r>
            <a:pPr algn="ctr" indent="0" marL="0">
              <a:buNone/>
            </a:pPr>
            <a:r>
              <a:rPr lang="en-US" sz="2200" b="1" dirty="0">
                <a:solidFill>
                  <a:srgbClr val="FFFFFF"/>
                </a:solidFill>
                <a:latin typeface="Cambria" pitchFamily="34" charset="0"/>
                <a:ea typeface="Cambria" pitchFamily="34" charset="-122"/>
                <a:cs typeface="Cambria" pitchFamily="34" charset="-120"/>
              </a:rPr>
              <a:t> W</a:t>
            </a:r>
            <a:pPr algn="ctr" indent="0" marL="0">
              <a:buNone/>
            </a:pPr>
            <a:r>
              <a:rPr lang="en-US" sz="2200" b="1" baseline="-40000" dirty="0">
                <a:solidFill>
                  <a:srgbClr val="FFFFFF"/>
                </a:solidFill>
                <a:latin typeface="Cambria" pitchFamily="34" charset="0"/>
                <a:ea typeface="Cambria" pitchFamily="34" charset="-122"/>
                <a:cs typeface="Cambria" pitchFamily="34" charset="-120"/>
              </a:rPr>
              <a:t>N</a:t>
            </a:r>
            <a:pPr algn="ctr" indent="0" marL="0">
              <a:buNone/>
            </a:pPr>
            <a:r>
              <a:rPr lang="en-US" sz="2200" b="1" baseline="30000" dirty="0">
                <a:solidFill>
                  <a:srgbClr val="FFFFFF"/>
                </a:solidFill>
                <a:latin typeface="Cambria" pitchFamily="34" charset="0"/>
                <a:ea typeface="Cambria" pitchFamily="34" charset="-122"/>
                <a:cs typeface="Cambria" pitchFamily="34" charset="-120"/>
              </a:rPr>
              <a:t>nk</a:t>
            </a:r>
            <a:endParaRPr lang="en-US" sz="2200" dirty="0"/>
          </a:p>
        </p:txBody>
      </p:sp>
      <p:sp>
        <p:nvSpPr>
          <p:cNvPr id="6" name="Shape 4"/>
          <p:cNvSpPr/>
          <p:nvPr/>
        </p:nvSpPr>
        <p:spPr>
          <a:xfrm>
            <a:off x="502920" y="2286000"/>
            <a:ext cx="5394960" cy="685800"/>
          </a:xfrm>
          <a:prstGeom prst="roundRect">
            <a:avLst>
              <a:gd name="adj" fmla="val 8000"/>
            </a:avLst>
          </a:prstGeom>
          <a:solidFill>
            <a:srgbClr val="0E8388"/>
          </a:solidFill>
          <a:ln w="12700">
            <a:solidFill>
              <a:srgbClr val="132A4A"/>
            </a:solidFill>
            <a:prstDash val="solid"/>
          </a:ln>
        </p:spPr>
        <p:txBody>
          <a:bodyPr/>
          <a:p/>
        </p:txBody>
      </p:sp>
      <p:sp>
        <p:nvSpPr>
          <p:cNvPr id="7" name="Text 5"/>
          <p:cNvSpPr/>
          <p:nvPr/>
        </p:nvSpPr>
        <p:spPr>
          <a:xfrm>
            <a:off x="502920" y="2286000"/>
            <a:ext cx="5394960" cy="6858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a:t>
            </a:r>
            <a:pPr algn="ctr" indent="0" marL="0">
              <a:buNone/>
            </a:pPr>
            <a:r>
              <a:rPr lang="en-US" sz="2000" b="1" baseline="-40000" dirty="0">
                <a:solidFill>
                  <a:srgbClr val="FFFFFF"/>
                </a:solidFill>
                <a:latin typeface="Cambria" pitchFamily="34" charset="0"/>
                <a:ea typeface="Cambria" pitchFamily="34" charset="-122"/>
                <a:cs typeface="Cambria" pitchFamily="34" charset="-120"/>
              </a:rPr>
              <a:t>N</a:t>
            </a:r>
            <a:pPr algn="ctr" indent="0" marL="0">
              <a:buNone/>
            </a:pPr>
            <a:r>
              <a:rPr lang="en-US" sz="2000" b="1" dirty="0">
                <a:solidFill>
                  <a:srgbClr val="FFFFFF"/>
                </a:solidFill>
                <a:latin typeface="Cambria" pitchFamily="34" charset="0"/>
                <a:ea typeface="Cambria" pitchFamily="34" charset="-122"/>
                <a:cs typeface="Cambria" pitchFamily="34" charset="-120"/>
              </a:rPr>
              <a:t>  =  e</a:t>
            </a:r>
            <a:pPr algn="ctr" indent="0" marL="0">
              <a:buNone/>
            </a:pPr>
            <a:r>
              <a:rPr lang="en-US" sz="2000" b="1" baseline="30000" dirty="0">
                <a:solidFill>
                  <a:srgbClr val="FFFFFF"/>
                </a:solidFill>
                <a:latin typeface="Cambria" pitchFamily="34" charset="0"/>
                <a:ea typeface="Cambria" pitchFamily="34" charset="-122"/>
                <a:cs typeface="Cambria" pitchFamily="34" charset="-120"/>
              </a:rPr>
              <a:t>-j2π/N</a:t>
            </a:r>
            <a:endParaRPr lang="en-US" sz="2000" dirty="0"/>
          </a:p>
        </p:txBody>
      </p:sp>
      <p:sp>
        <p:nvSpPr>
          <p:cNvPr id="8" name="Text 6"/>
          <p:cNvSpPr/>
          <p:nvPr/>
        </p:nvSpPr>
        <p:spPr>
          <a:xfrm>
            <a:off x="502920" y="3154680"/>
            <a:ext cx="5394960" cy="23774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W_N is the twiddle factor: a complex number of magnitude 1 that rotates a phasor by angle 2 pi over N in the clockwise direction. Each term x[n] times W_N^(nk) is a single complex multiply-add, and X[k] sums N of them.</a:t>
            </a:r>
            <a:endParaRPr lang="en-US" sz="148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172200" y="1234440"/>
          <a:ext cx="5257800" cy="1463040"/>
        </p:xfrm>
        <a:graphic>
          <a:graphicData uri="http://schemas.openxmlformats.org/drawingml/2006/table">
            <a:tbl>
              <a:tblPr/>
              <a:tblGrid>
                <a:gridCol w="1188720"/>
                <a:gridCol w="406908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Symbol</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n-th time-domain input sample, n = 0 ... N-1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k-th frequency-domain output sample, k = 0 ... N-1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Transform length: number of samples and frequency bins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W_N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Twiddle factor e^(-j2 pi/N): a unit-magnitude rotation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10" name="Shape 7"/>
          <p:cNvSpPr/>
          <p:nvPr/>
        </p:nvSpPr>
        <p:spPr>
          <a:xfrm>
            <a:off x="502920" y="4572000"/>
            <a:ext cx="3520440" cy="1508760"/>
          </a:xfrm>
          <a:prstGeom prst="roundRect">
            <a:avLst>
              <a:gd name="adj" fmla="val 3636"/>
            </a:avLst>
          </a:prstGeom>
          <a:solidFill>
            <a:srgbClr val="FFFFFF"/>
          </a:solidFill>
          <a:ln w="12700">
            <a:solidFill>
              <a:srgbClr val="D7DEE8"/>
            </a:solidFill>
            <a:prstDash val="solid"/>
          </a:ln>
        </p:spPr>
        <p:txBody>
          <a:bodyPr/>
          <a:p/>
        </p:txBody>
      </p:sp>
      <p:sp>
        <p:nvSpPr>
          <p:cNvPr id="11" name="Shape 8"/>
          <p:cNvSpPr/>
          <p:nvPr/>
        </p:nvSpPr>
        <p:spPr>
          <a:xfrm>
            <a:off x="502920" y="4572000"/>
            <a:ext cx="82296" cy="1508760"/>
          </a:xfrm>
          <a:prstGeom prst="rect">
            <a:avLst/>
          </a:prstGeom>
          <a:solidFill>
            <a:srgbClr val="132A4A"/>
          </a:solidFill>
          <a:ln/>
        </p:spPr>
        <p:txBody>
          <a:bodyPr/>
          <a:p/>
        </p:txBody>
      </p:sp>
      <p:sp>
        <p:nvSpPr>
          <p:cNvPr id="12" name="Text 9"/>
          <p:cNvSpPr/>
          <p:nvPr/>
        </p:nvSpPr>
        <p:spPr>
          <a:xfrm>
            <a:off x="777240" y="4681728"/>
            <a:ext cx="3017520" cy="274320"/>
          </a:xfrm>
          <a:prstGeom prst="rect">
            <a:avLst/>
          </a:prstGeom>
          <a:noFill/>
          <a:ln/>
        </p:spPr>
        <p:txBody>
          <a:bodyPr wrap="square" lIns="0" tIns="0" rIns="0" bIns="0" rtlCol="0" anchor="ctr"/>
          <a:lstStyle/>
          <a:p>
            <a:pPr indent="0" marL="0">
              <a:buNone/>
            </a:pPr>
            <a:r>
              <a:rPr lang="en-US" sz="1100" b="1" spc="200" kern="0" dirty="0">
                <a:solidFill>
                  <a:srgbClr val="132A4A"/>
                </a:solidFill>
                <a:latin typeface="Calibri" pitchFamily="34" charset="0"/>
                <a:ea typeface="Calibri" pitchFamily="34" charset="-122"/>
                <a:cs typeface="Calibri" pitchFamily="34" charset="-120"/>
              </a:rPr>
              <a:t>INPUT</a:t>
            </a:r>
            <a:endParaRPr lang="en-US" sz="1100" dirty="0"/>
          </a:p>
        </p:txBody>
      </p:sp>
      <p:sp>
        <p:nvSpPr>
          <p:cNvPr id="13" name="Text 10"/>
          <p:cNvSpPr/>
          <p:nvPr/>
        </p:nvSpPr>
        <p:spPr>
          <a:xfrm>
            <a:off x="777240" y="4983480"/>
            <a:ext cx="3017520" cy="457200"/>
          </a:xfrm>
          <a:prstGeom prst="rect">
            <a:avLst/>
          </a:prstGeom>
          <a:noFill/>
          <a:ln/>
        </p:spPr>
        <p:txBody>
          <a:bodyPr wrap="square" lIns="0" tIns="0" rIns="0" bIns="0" rtlCol="0" anchor="ctr"/>
          <a:lstStyle/>
          <a:p>
            <a:pPr indent="0" marL="0">
              <a:buNone/>
            </a:pPr>
            <a:r>
              <a:rPr lang="en-US" sz="2000" b="1" dirty="0">
                <a:solidFill>
                  <a:srgbClr val="132A4A"/>
                </a:solidFill>
                <a:latin typeface="Consolas" pitchFamily="34" charset="0"/>
                <a:ea typeface="Consolas" pitchFamily="34" charset="-122"/>
                <a:cs typeface="Consolas" pitchFamily="34" charset="-120"/>
              </a:rPr>
              <a:t>x[n]</a:t>
            </a:r>
            <a:endParaRPr lang="en-US" sz="2000" dirty="0"/>
          </a:p>
        </p:txBody>
      </p:sp>
      <p:sp>
        <p:nvSpPr>
          <p:cNvPr id="14" name="Text 11"/>
          <p:cNvSpPr/>
          <p:nvPr/>
        </p:nvSpPr>
        <p:spPr>
          <a:xfrm>
            <a:off x="777240" y="5486400"/>
            <a:ext cx="3108960" cy="4572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N time-domain samples</a:t>
            </a:r>
            <a:endParaRPr lang="en-US" sz="1250" dirty="0"/>
          </a:p>
        </p:txBody>
      </p:sp>
      <p:sp>
        <p:nvSpPr>
          <p:cNvPr id="15" name="Shape 12"/>
          <p:cNvSpPr/>
          <p:nvPr/>
        </p:nvSpPr>
        <p:spPr>
          <a:xfrm>
            <a:off x="4069080" y="5321808"/>
            <a:ext cx="182880" cy="0"/>
          </a:xfrm>
          <a:prstGeom prst="line">
            <a:avLst/>
          </a:prstGeom>
          <a:noFill/>
          <a:ln w="25400">
            <a:solidFill>
              <a:srgbClr val="5C6B7A"/>
            </a:solidFill>
            <a:prstDash val="solid"/>
            <a:tailEnd type="triangle"/>
          </a:ln>
        </p:spPr>
        <p:txBody>
          <a:bodyPr/>
          <a:p/>
        </p:txBody>
      </p:sp>
      <p:sp>
        <p:nvSpPr>
          <p:cNvPr id="16" name="Shape 13"/>
          <p:cNvSpPr/>
          <p:nvPr/>
        </p:nvSpPr>
        <p:spPr>
          <a:xfrm>
            <a:off x="4270248" y="4572000"/>
            <a:ext cx="3520440" cy="1508760"/>
          </a:xfrm>
          <a:prstGeom prst="roundRect">
            <a:avLst>
              <a:gd name="adj" fmla="val 3636"/>
            </a:avLst>
          </a:prstGeom>
          <a:solidFill>
            <a:srgbClr val="FFFFFF"/>
          </a:solidFill>
          <a:ln w="12700">
            <a:solidFill>
              <a:srgbClr val="D7DEE8"/>
            </a:solidFill>
            <a:prstDash val="solid"/>
          </a:ln>
        </p:spPr>
        <p:txBody>
          <a:bodyPr/>
          <a:p/>
        </p:txBody>
      </p:sp>
      <p:sp>
        <p:nvSpPr>
          <p:cNvPr id="17" name="Shape 14"/>
          <p:cNvSpPr/>
          <p:nvPr/>
        </p:nvSpPr>
        <p:spPr>
          <a:xfrm>
            <a:off x="4270248" y="4572000"/>
            <a:ext cx="82296" cy="1508760"/>
          </a:xfrm>
          <a:prstGeom prst="rect">
            <a:avLst/>
          </a:prstGeom>
          <a:solidFill>
            <a:srgbClr val="0E8388"/>
          </a:solidFill>
          <a:ln/>
        </p:spPr>
        <p:txBody>
          <a:bodyPr/>
          <a:p/>
        </p:txBody>
      </p:sp>
      <p:sp>
        <p:nvSpPr>
          <p:cNvPr id="18" name="Text 15"/>
          <p:cNvSpPr/>
          <p:nvPr/>
        </p:nvSpPr>
        <p:spPr>
          <a:xfrm>
            <a:off x="4544568" y="4681728"/>
            <a:ext cx="3017520" cy="274320"/>
          </a:xfrm>
          <a:prstGeom prst="rect">
            <a:avLst/>
          </a:prstGeom>
          <a:noFill/>
          <a:ln/>
        </p:spPr>
        <p:txBody>
          <a:bodyPr wrap="square" lIns="0" tIns="0" rIns="0" bIns="0" rtlCol="0" anchor="ctr"/>
          <a:lstStyle/>
          <a:p>
            <a:pPr indent="0" marL="0">
              <a:buNone/>
            </a:pPr>
            <a:r>
              <a:rPr lang="en-US" sz="1100" b="1" spc="200" kern="0" dirty="0">
                <a:solidFill>
                  <a:srgbClr val="0E8388"/>
                </a:solidFill>
                <a:latin typeface="Calibri" pitchFamily="34" charset="0"/>
                <a:ea typeface="Calibri" pitchFamily="34" charset="-122"/>
                <a:cs typeface="Calibri" pitchFamily="34" charset="-120"/>
              </a:rPr>
              <a:t>KERNEL</a:t>
            </a:r>
            <a:endParaRPr lang="en-US" sz="1100" dirty="0"/>
          </a:p>
        </p:txBody>
      </p:sp>
      <p:sp>
        <p:nvSpPr>
          <p:cNvPr id="19" name="Text 16"/>
          <p:cNvSpPr/>
          <p:nvPr/>
        </p:nvSpPr>
        <p:spPr>
          <a:xfrm>
            <a:off x="4544568" y="4983480"/>
            <a:ext cx="3017520" cy="457200"/>
          </a:xfrm>
          <a:prstGeom prst="rect">
            <a:avLst/>
          </a:prstGeom>
          <a:noFill/>
          <a:ln/>
        </p:spPr>
        <p:txBody>
          <a:bodyPr wrap="square" lIns="0" tIns="0" rIns="0" bIns="0" rtlCol="0" anchor="ctr"/>
          <a:lstStyle/>
          <a:p>
            <a:pPr indent="0" marL="0">
              <a:buNone/>
            </a:pPr>
            <a:r>
              <a:rPr lang="en-US" sz="2000" b="1" dirty="0">
                <a:solidFill>
                  <a:srgbClr val="132A4A"/>
                </a:solidFill>
                <a:latin typeface="Consolas" pitchFamily="34" charset="0"/>
                <a:ea typeface="Consolas" pitchFamily="34" charset="-122"/>
                <a:cs typeface="Consolas" pitchFamily="34" charset="-120"/>
              </a:rPr>
              <a:t>W_N^(nk)</a:t>
            </a:r>
            <a:endParaRPr lang="en-US" sz="2000" dirty="0"/>
          </a:p>
        </p:txBody>
      </p:sp>
      <p:sp>
        <p:nvSpPr>
          <p:cNvPr id="20" name="Text 17"/>
          <p:cNvSpPr/>
          <p:nvPr/>
        </p:nvSpPr>
        <p:spPr>
          <a:xfrm>
            <a:off x="4544568" y="5486400"/>
            <a:ext cx="3108960" cy="4572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one unit-circle rotation per (n,k) pair</a:t>
            </a:r>
            <a:endParaRPr lang="en-US" sz="1250" dirty="0"/>
          </a:p>
        </p:txBody>
      </p:sp>
      <p:sp>
        <p:nvSpPr>
          <p:cNvPr id="21" name="Shape 18"/>
          <p:cNvSpPr/>
          <p:nvPr/>
        </p:nvSpPr>
        <p:spPr>
          <a:xfrm>
            <a:off x="7836408" y="5321808"/>
            <a:ext cx="182880" cy="0"/>
          </a:xfrm>
          <a:prstGeom prst="line">
            <a:avLst/>
          </a:prstGeom>
          <a:noFill/>
          <a:ln w="25400">
            <a:solidFill>
              <a:srgbClr val="5C6B7A"/>
            </a:solidFill>
            <a:prstDash val="solid"/>
            <a:tailEnd type="triangle"/>
          </a:ln>
        </p:spPr>
        <p:txBody>
          <a:bodyPr/>
          <a:p/>
        </p:txBody>
      </p:sp>
      <p:sp>
        <p:nvSpPr>
          <p:cNvPr id="22" name="Shape 19"/>
          <p:cNvSpPr/>
          <p:nvPr/>
        </p:nvSpPr>
        <p:spPr>
          <a:xfrm>
            <a:off x="8037576" y="4572000"/>
            <a:ext cx="3520440" cy="1508760"/>
          </a:xfrm>
          <a:prstGeom prst="roundRect">
            <a:avLst>
              <a:gd name="adj" fmla="val 3636"/>
            </a:avLst>
          </a:prstGeom>
          <a:solidFill>
            <a:srgbClr val="FFFFFF"/>
          </a:solidFill>
          <a:ln w="12700">
            <a:solidFill>
              <a:srgbClr val="D7DEE8"/>
            </a:solidFill>
            <a:prstDash val="solid"/>
          </a:ln>
        </p:spPr>
        <p:txBody>
          <a:bodyPr/>
          <a:p/>
        </p:txBody>
      </p:sp>
      <p:sp>
        <p:nvSpPr>
          <p:cNvPr id="23" name="Shape 20"/>
          <p:cNvSpPr/>
          <p:nvPr/>
        </p:nvSpPr>
        <p:spPr>
          <a:xfrm>
            <a:off x="8037576" y="4572000"/>
            <a:ext cx="82296" cy="1508760"/>
          </a:xfrm>
          <a:prstGeom prst="rect">
            <a:avLst/>
          </a:prstGeom>
          <a:solidFill>
            <a:srgbClr val="D98324"/>
          </a:solidFill>
          <a:ln/>
        </p:spPr>
        <p:txBody>
          <a:bodyPr/>
          <a:p/>
        </p:txBody>
      </p:sp>
      <p:sp>
        <p:nvSpPr>
          <p:cNvPr id="24" name="Text 21"/>
          <p:cNvSpPr/>
          <p:nvPr/>
        </p:nvSpPr>
        <p:spPr>
          <a:xfrm>
            <a:off x="8311896" y="4681728"/>
            <a:ext cx="3017520" cy="274320"/>
          </a:xfrm>
          <a:prstGeom prst="rect">
            <a:avLst/>
          </a:prstGeom>
          <a:noFill/>
          <a:ln/>
        </p:spPr>
        <p:txBody>
          <a:bodyPr wrap="square" lIns="0" tIns="0" rIns="0" bIns="0" rtlCol="0" anchor="ctr"/>
          <a:lstStyle/>
          <a:p>
            <a:pPr indent="0" marL="0">
              <a:buNone/>
            </a:pPr>
            <a:r>
              <a:rPr lang="en-US" sz="1100" b="1" spc="200" kern="0" dirty="0">
                <a:solidFill>
                  <a:srgbClr val="D98324"/>
                </a:solidFill>
                <a:latin typeface="Calibri" pitchFamily="34" charset="0"/>
                <a:ea typeface="Calibri" pitchFamily="34" charset="-122"/>
                <a:cs typeface="Calibri" pitchFamily="34" charset="-120"/>
              </a:rPr>
              <a:t>OUTPUT</a:t>
            </a:r>
            <a:endParaRPr lang="en-US" sz="1100" dirty="0"/>
          </a:p>
        </p:txBody>
      </p:sp>
      <p:sp>
        <p:nvSpPr>
          <p:cNvPr id="25" name="Text 22"/>
          <p:cNvSpPr/>
          <p:nvPr/>
        </p:nvSpPr>
        <p:spPr>
          <a:xfrm>
            <a:off x="8311896" y="4983480"/>
            <a:ext cx="3017520" cy="457200"/>
          </a:xfrm>
          <a:prstGeom prst="rect">
            <a:avLst/>
          </a:prstGeom>
          <a:noFill/>
          <a:ln/>
        </p:spPr>
        <p:txBody>
          <a:bodyPr wrap="square" lIns="0" tIns="0" rIns="0" bIns="0" rtlCol="0" anchor="ctr"/>
          <a:lstStyle/>
          <a:p>
            <a:pPr indent="0" marL="0">
              <a:buNone/>
            </a:pPr>
            <a:r>
              <a:rPr lang="en-US" sz="2000" b="1" dirty="0">
                <a:solidFill>
                  <a:srgbClr val="132A4A"/>
                </a:solidFill>
                <a:latin typeface="Consolas" pitchFamily="34" charset="0"/>
                <a:ea typeface="Consolas" pitchFamily="34" charset="-122"/>
                <a:cs typeface="Consolas" pitchFamily="34" charset="-120"/>
              </a:rPr>
              <a:t>X[k]</a:t>
            </a:r>
            <a:endParaRPr lang="en-US" sz="2000" dirty="0"/>
          </a:p>
        </p:txBody>
      </p:sp>
      <p:sp>
        <p:nvSpPr>
          <p:cNvPr id="26" name="Text 23"/>
          <p:cNvSpPr/>
          <p:nvPr/>
        </p:nvSpPr>
        <p:spPr>
          <a:xfrm>
            <a:off x="8311896" y="5486400"/>
            <a:ext cx="3108960" cy="45720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N frequency-domain bins</a:t>
            </a:r>
            <a:endParaRPr lang="en-US" sz="1250" dirty="0"/>
          </a:p>
        </p:txBody>
      </p:sp>
      <p:sp>
        <p:nvSpPr>
          <p:cNvPr id="27" name="Shape 24"/>
          <p:cNvSpPr/>
          <p:nvPr/>
        </p:nvSpPr>
        <p:spPr>
          <a:xfrm>
            <a:off x="502920" y="6473952"/>
            <a:ext cx="11155680" cy="27432"/>
          </a:xfrm>
          <a:prstGeom prst="rect">
            <a:avLst/>
          </a:prstGeom>
          <a:solidFill>
            <a:srgbClr val="D7DEE8"/>
          </a:solidFill>
          <a:ln/>
        </p:spPr>
        <p:txBody>
          <a:bodyPr/>
          <a:p/>
        </p:txBody>
      </p:sp>
      <p:sp>
        <p:nvSpPr>
          <p:cNvPr id="28" name="Shape 25"/>
          <p:cNvSpPr/>
          <p:nvPr/>
        </p:nvSpPr>
        <p:spPr>
          <a:xfrm>
            <a:off x="502920" y="6473952"/>
            <a:ext cx="531223" cy="27432"/>
          </a:xfrm>
          <a:prstGeom prst="rect">
            <a:avLst/>
          </a:prstGeom>
          <a:solidFill>
            <a:srgbClr val="0E8388"/>
          </a:solidFill>
          <a:ln/>
        </p:spPr>
        <p:txBody>
          <a:bodyPr/>
          <a:p/>
        </p:txBody>
      </p:sp>
      <p:sp>
        <p:nvSpPr>
          <p:cNvPr id="29" name="Text 26"/>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30" name="Text 27"/>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Why FFT?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1 · WHY FFT?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Where the O(N²) Computation Cost Comes From</a:t>
            </a:r>
            <a:endParaRPr lang="en-US" sz="2600" dirty="0"/>
          </a:p>
        </p:txBody>
      </p:sp>
      <p:sp>
        <p:nvSpPr>
          <p:cNvPr id="4" name="Text 2"/>
          <p:cNvSpPr/>
          <p:nvPr/>
        </p:nvSpPr>
        <p:spPr>
          <a:xfrm>
            <a:off x="502920" y="1280160"/>
            <a:ext cx="5303520" cy="2926080"/>
          </a:xfrm>
          <a:prstGeom prst="rect">
            <a:avLst/>
          </a:prstGeom>
          <a:noFill/>
          <a:ln/>
        </p:spPr>
        <p:txBody>
          <a:bodyPr wrap="square" rtlCol="0" anchor="t"/>
          <a:lstStyle/>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Each output X[k] sums over all N input samples: N complex multiply-accumulate (MAC) operations.</a:t>
            </a:r>
            <a:endParaRPr lang="en-US" sz="1430" dirty="0"/>
          </a:p>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There are N such outputs, k = 0 ... N-1.</a:t>
            </a:r>
            <a:endParaRPr lang="en-US" sz="1430" dirty="0"/>
          </a:p>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Total work = N outputs x N terms per output = N² complex MACs.</a:t>
            </a:r>
            <a:endParaRPr lang="en-US" sz="1430" dirty="0"/>
          </a:p>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No structure in the sum is reused: every W_N^(nk) is treated as an independent number, even though many are related by simple symmetry.</a:t>
            </a:r>
            <a:endParaRPr lang="en-US" sz="1430" dirty="0"/>
          </a:p>
        </p:txBody>
      </p:sp>
      <p:sp>
        <p:nvSpPr>
          <p:cNvPr id="5" name="Shape 3"/>
          <p:cNvSpPr/>
          <p:nvPr/>
        </p:nvSpPr>
        <p:spPr>
          <a:xfrm>
            <a:off x="502920" y="4434840"/>
            <a:ext cx="5303520" cy="1188720"/>
          </a:xfrm>
          <a:prstGeom prst="roundRect">
            <a:avLst>
              <a:gd name="adj" fmla="val 4615"/>
            </a:avLst>
          </a:prstGeom>
          <a:solidFill>
            <a:srgbClr val="FBF0E2"/>
          </a:solidFill>
          <a:ln w="12700">
            <a:solidFill>
              <a:srgbClr val="E7CDA0"/>
            </a:solidFill>
            <a:prstDash val="solid"/>
          </a:ln>
        </p:spPr>
        <p:txBody>
          <a:bodyPr/>
          <a:p/>
        </p:txBody>
      </p:sp>
      <p:sp>
        <p:nvSpPr>
          <p:cNvPr id="6" name="Text 4"/>
          <p:cNvSpPr/>
          <p:nvPr/>
        </p:nvSpPr>
        <p:spPr>
          <a:xfrm>
            <a:off x="685800" y="4553712"/>
            <a:ext cx="4937760" cy="10058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Concrete case, N = 8: computing X[0] alone needs 8 complex multiply-adds. Computing all 8 outputs needs 8 x 8 = 64 complex multiply-accumulate operations.</a:t>
            </a:r>
            <a:endParaRPr lang="en-US" sz="1375" dirty="0"/>
          </a:p>
        </p:txBody>
      </p:sp>
      <p:sp>
        <p:nvSpPr>
          <p:cNvPr id="7" name="Text 5"/>
          <p:cNvSpPr/>
          <p:nvPr/>
        </p:nvSpPr>
        <p:spPr>
          <a:xfrm>
            <a:off x="502920" y="5760720"/>
            <a:ext cx="5303520" cy="64008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This is brute force: every one of the N² products is computed once, ignoring the redundancy in W_N^(nk).</a:t>
            </a:r>
            <a:endParaRPr lang="en-US" sz="121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1280160"/>
          <a:ext cx="5257800" cy="1170432"/>
        </p:xfrm>
        <a:graphic>
          <a:graphicData uri="http://schemas.openxmlformats.org/drawingml/2006/table">
            <a:tbl>
              <a:tblPr/>
              <a:tblGrid>
                <a:gridCol w="1752600"/>
                <a:gridCol w="1752600"/>
                <a:gridCol w="17526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 (outputs)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Terms/output</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 complex MACs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4,096</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1024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1024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1,048,576</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6080760" y="3063240"/>
          <a:ext cx="5486400" cy="333756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502920" y="6473952"/>
            <a:ext cx="11155680" cy="27432"/>
          </a:xfrm>
          <a:prstGeom prst="rect">
            <a:avLst/>
          </a:prstGeom>
          <a:solidFill>
            <a:srgbClr val="D7DEE8"/>
          </a:solidFill>
          <a:ln/>
        </p:spPr>
        <p:txBody>
          <a:bodyPr/>
          <a:p/>
        </p:txBody>
      </p:sp>
      <p:sp>
        <p:nvSpPr>
          <p:cNvPr id="11" name="Shape 7"/>
          <p:cNvSpPr/>
          <p:nvPr/>
        </p:nvSpPr>
        <p:spPr>
          <a:xfrm>
            <a:off x="502920" y="6473952"/>
            <a:ext cx="796834" cy="27432"/>
          </a:xfrm>
          <a:prstGeom prst="rect">
            <a:avLst/>
          </a:prstGeom>
          <a:solidFill>
            <a:srgbClr val="0E8388"/>
          </a:solidFill>
          <a:ln/>
        </p:spPr>
        <p:txBody>
          <a:bodyPr/>
          <a:p/>
        </p:txBody>
      </p:sp>
      <p:sp>
        <p:nvSpPr>
          <p:cNvPr id="12" name="Text 8"/>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3" name="Text 9"/>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Why FFT?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1 · WHY FFT?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Why FFT? Same Transform, a Far More Efficient Algorithm</a:t>
            </a:r>
            <a:endParaRPr lang="en-US" sz="2600" dirty="0"/>
          </a:p>
        </p:txBody>
      </p:sp>
      <p:sp>
        <p:nvSpPr>
          <p:cNvPr id="4" name="Shape 2"/>
          <p:cNvSpPr/>
          <p:nvPr/>
        </p:nvSpPr>
        <p:spPr>
          <a:xfrm>
            <a:off x="502920" y="1280160"/>
            <a:ext cx="11155680" cy="822960"/>
          </a:xfrm>
          <a:prstGeom prst="roundRect">
            <a:avLst>
              <a:gd name="adj" fmla="val 6667"/>
            </a:avLst>
          </a:prstGeom>
          <a:solidFill>
            <a:srgbClr val="E4F3F2"/>
          </a:solidFill>
          <a:ln w="12700">
            <a:solidFill>
              <a:srgbClr val="9FD4D1"/>
            </a:solidFill>
            <a:prstDash val="solid"/>
          </a:ln>
        </p:spPr>
        <p:txBody>
          <a:bodyPr/>
          <a:p/>
        </p:txBody>
      </p:sp>
      <p:sp>
        <p:nvSpPr>
          <p:cNvPr id="5" name="Text 3"/>
          <p:cNvSpPr/>
          <p:nvPr/>
        </p:nvSpPr>
        <p:spPr>
          <a:xfrm>
            <a:off x="731520" y="1371600"/>
            <a:ext cx="10698480" cy="68580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Key idea: the FFT does not compute a different transform from the DFT. It computes exactly the same X[k] values, using far fewer arithmetic operations by reusing partial results instead of recomputing them for every output.</a:t>
            </a:r>
            <a:endParaRPr lang="en-US" sz="148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55680" cy="1463040"/>
        </p:xfrm>
        <a:graphic>
          <a:graphicData uri="http://schemas.openxmlformats.org/drawingml/2006/table">
            <a:tbl>
              <a:tblPr/>
              <a:tblGrid>
                <a:gridCol w="2743200"/>
                <a:gridCol w="4206240"/>
                <a:gridCol w="4206240"/>
              </a:tblGrid>
              <a:tr h="292608">
                <a:tc>
                  <a:txBody>
                    <a:bodyPr/>
                    <a:lstStyle/>
                    <a:p>
                      <a:pPr algn="ctr" indent="0" marL="0">
                        <a:buNone/>
                      </a:pP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Direct DFT</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Radix-2 FFT</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Result computed</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X[k], k = 0..N-1</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X[k], k = 0..N-1 (identical)</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Strategy</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Evaluate the full sum for every k</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Recursively split the sum, reuse results</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Complex multiplications</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O(N²)</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O(N log₂N)</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Growth as N doubles</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Roughly quadruples</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Just over doubles</a:t>
                      </a:r>
                      <a:endParaRPr lang="en-US" sz="137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7" name="Shape 4"/>
          <p:cNvSpPr/>
          <p:nvPr/>
        </p:nvSpPr>
        <p:spPr>
          <a:xfrm>
            <a:off x="502920" y="4892040"/>
            <a:ext cx="5303520" cy="1188720"/>
          </a:xfrm>
          <a:prstGeom prst="roundRect">
            <a:avLst>
              <a:gd name="adj" fmla="val 4615"/>
            </a:avLst>
          </a:prstGeom>
          <a:solidFill>
            <a:srgbClr val="132A4A"/>
          </a:solidFill>
          <a:ln w="12700">
            <a:solidFill>
              <a:srgbClr val="132A4A"/>
            </a:solidFill>
            <a:prstDash val="solid"/>
          </a:ln>
        </p:spPr>
        <p:txBody>
          <a:bodyPr/>
          <a:p/>
        </p:txBody>
      </p:sp>
      <p:sp>
        <p:nvSpPr>
          <p:cNvPr id="8" name="Text 5"/>
          <p:cNvSpPr/>
          <p:nvPr/>
        </p:nvSpPr>
        <p:spPr>
          <a:xfrm>
            <a:off x="685800" y="4983480"/>
            <a:ext cx="4937760" cy="1005840"/>
          </a:xfrm>
          <a:prstGeom prst="rect">
            <a:avLst/>
          </a:prstGeom>
          <a:noFill/>
          <a:ln/>
        </p:spPr>
        <p:txBody>
          <a:bodyPr wrap="square" rtlCol="0" anchor="ctr"/>
          <a:lstStyle/>
          <a:p>
            <a:pPr indent="0" marL="0">
              <a:lnSpc>
                <a:spcPct val="130000"/>
              </a:lnSpc>
              <a:buNone/>
            </a:pPr>
            <a:r>
              <a:rPr lang="en-US" sz="1300" b="1" dirty="0">
                <a:solidFill>
                  <a:srgbClr val="9FD4D1"/>
                </a:solidFill>
              </a:rPr>
              <a:t>N = 8 in numbers
</a:t>
            </a:r>
            <a:pPr indent="0" marL="0">
              <a:lnSpc>
                <a:spcPct val="130000"/>
              </a:lnSpc>
              <a:buNone/>
            </a:pPr>
            <a:r>
              <a:rPr lang="en-US" sz="1300" dirty="0">
                <a:solidFill>
                  <a:srgbClr val="FFFFFF"/>
                </a:solidFill>
              </a:rPr>
              <a:t>Direct DFT: 8² = 64 operations
</a:t>
            </a:r>
            <a:pPr indent="0" marL="0">
              <a:lnSpc>
                <a:spcPct val="130000"/>
              </a:lnSpc>
              <a:buNone/>
            </a:pPr>
            <a:r>
              <a:rPr lang="en-US" sz="1300" dirty="0">
                <a:solidFill>
                  <a:srgbClr val="FFFFFF"/>
                </a:solidFill>
              </a:rPr>
              <a:t>Radix-2 FFT: 8 x log₂ 8 = 8 x 3 = 24 op.</a:t>
            </a:r>
            <a:endParaRPr lang="en-US" sz="1200" dirty="0"/>
          </a:p>
        </p:txBody>
      </p:sp>
      <p:sp>
        <p:nvSpPr>
          <p:cNvPr id="9" name="Text 6"/>
          <p:cNvSpPr/>
          <p:nvPr/>
        </p:nvSpPr>
        <p:spPr>
          <a:xfrm>
            <a:off x="6309360" y="4892040"/>
            <a:ext cx="5120640" cy="123444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These 24 counts are butterfly-equivalent operations (N log₂N). The exact count for N = 8 is 12 butterflies, each one multiply and two adds. The FFT wins because every butterfly output is reused as input to the next stage, instead of being one disposable term inside a giant independent sum.</a:t>
            </a:r>
            <a:endParaRPr lang="en-US" sz="1320" dirty="0"/>
          </a:p>
        </p:txBody>
      </p:sp>
      <p:sp>
        <p:nvSpPr>
          <p:cNvPr id="10" name="Shape 7"/>
          <p:cNvSpPr/>
          <p:nvPr/>
        </p:nvSpPr>
        <p:spPr>
          <a:xfrm>
            <a:off x="502920" y="6473952"/>
            <a:ext cx="11155680" cy="27432"/>
          </a:xfrm>
          <a:prstGeom prst="rect">
            <a:avLst/>
          </a:prstGeom>
          <a:solidFill>
            <a:srgbClr val="D7DEE8"/>
          </a:solidFill>
          <a:ln/>
        </p:spPr>
        <p:txBody>
          <a:bodyPr/>
          <a:p/>
        </p:txBody>
      </p:sp>
      <p:sp>
        <p:nvSpPr>
          <p:cNvPr id="11" name="Shape 8"/>
          <p:cNvSpPr/>
          <p:nvPr/>
        </p:nvSpPr>
        <p:spPr>
          <a:xfrm>
            <a:off x="502920" y="6473952"/>
            <a:ext cx="1062446" cy="27432"/>
          </a:xfrm>
          <a:prstGeom prst="rect">
            <a:avLst/>
          </a:prstGeom>
          <a:solidFill>
            <a:srgbClr val="0E8388"/>
          </a:solidFill>
          <a:ln/>
        </p:spPr>
        <p:txBody>
          <a:bodyPr/>
          <a:p/>
        </p:txBody>
      </p:sp>
      <p:sp>
        <p:nvSpPr>
          <p:cNvPr id="12" name="Text 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3" name="Text 1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Why FFT?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2A · DIT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Radix-2 Decimation-in-Time: The Decomposition Idea</a:t>
            </a:r>
            <a:endParaRPr lang="en-US" sz="2600" dirty="0"/>
          </a:p>
        </p:txBody>
      </p:sp>
      <p:sp>
        <p:nvSpPr>
          <p:cNvPr id="4" name="Text 2"/>
          <p:cNvSpPr/>
          <p:nvPr/>
        </p:nvSpPr>
        <p:spPr>
          <a:xfrm>
            <a:off x="502920" y="1234440"/>
            <a:ext cx="5303520" cy="3566160"/>
          </a:xfrm>
          <a:prstGeom prst="rect">
            <a:avLst/>
          </a:prstGeom>
          <a:noFill/>
          <a:ln/>
        </p:spPr>
        <p:txBody>
          <a:bodyPr wrap="square" rtlCol="0" anchor="t"/>
          <a:lstStyle/>
          <a:p>
            <a:pPr algn="l" marL="228600" indent="-228600">
              <a:lnSpc>
                <a:spcPct val="112000"/>
              </a:lnSpc>
              <a:spcAft>
                <a:spcPts val="990"/>
              </a:spcAft>
              <a:buSzPct val="100000"/>
              <a:buChar char="●"/>
            </a:pPr>
            <a:r>
              <a:rPr lang="en-US" sz="1300" dirty="0">
                <a:solidFill>
                  <a:srgbClr val="16202E"/>
                </a:solidFill>
                <a:latin typeface="Calibri" pitchFamily="34" charset="0"/>
                <a:ea typeface="Calibri" pitchFamily="34" charset="-122"/>
                <a:cs typeface="Calibri" pitchFamily="34" charset="-120"/>
              </a:rPr>
              <a:t>Radix: the base of a decomposition, the number of pieces a problem is split into at each step. Radix-2 means every step splits one DFT into two half-size DFTs.</a:t>
            </a:r>
            <a:endParaRPr lang="en-US" sz="1408" dirty="0"/>
          </a:p>
          <a:p>
            <a:pPr algn="l" marL="228600" indent="-228600">
              <a:lnSpc>
                <a:spcPct val="112000"/>
              </a:lnSpc>
              <a:spcAft>
                <a:spcPts val="990"/>
              </a:spcAft>
              <a:buSzPct val="100000"/>
              <a:buChar char="●"/>
            </a:pPr>
            <a:r>
              <a:rPr lang="en-US" sz="1300" dirty="0">
                <a:solidFill>
                  <a:srgbClr val="16202E"/>
                </a:solidFill>
                <a:latin typeface="Calibri" pitchFamily="34" charset="0"/>
                <a:ea typeface="Calibri" pitchFamily="34" charset="-122"/>
                <a:cs typeface="Calibri" pitchFamily="34" charset="-120"/>
              </a:rPr>
              <a:t>Decimation-in-time: the split is done on the time-domain input sequence, by whether the time index n is even or odd.</a:t>
            </a:r>
            <a:endParaRPr lang="en-US" sz="1408" dirty="0"/>
          </a:p>
          <a:p>
            <a:pPr algn="l" marL="228600" indent="-228600">
              <a:lnSpc>
                <a:spcPct val="112000"/>
              </a:lnSpc>
              <a:spcAft>
                <a:spcPts val="990"/>
              </a:spcAft>
              <a:buSzPct val="100000"/>
              <a:buChar char="●"/>
            </a:pPr>
            <a:r>
              <a:rPr lang="en-US" sz="1300" dirty="0">
                <a:solidFill>
                  <a:srgbClr val="16202E"/>
                </a:solidFill>
                <a:latin typeface="Calibri" pitchFamily="34" charset="0"/>
                <a:ea typeface="Calibri" pitchFamily="34" charset="-122"/>
                <a:cs typeface="Calibri" pitchFamily="34" charset="-120"/>
              </a:rPr>
              <a:t>Even samples x[0], x[2], x[4], ... feed one N/2-point DFT; odd samples x[1], x[3], x[5], ... feed a second N/2-point DFT.</a:t>
            </a:r>
            <a:endParaRPr lang="en-US" sz="1408" dirty="0"/>
          </a:p>
          <a:p>
            <a:pPr algn="l" marL="228600" indent="-228600">
              <a:lnSpc>
                <a:spcPct val="112000"/>
              </a:lnSpc>
              <a:spcAft>
                <a:spcPts val="990"/>
              </a:spcAft>
              <a:buSzPct val="100000"/>
              <a:buChar char="●"/>
            </a:pPr>
            <a:r>
              <a:rPr lang="en-US" sz="1300" dirty="0">
                <a:solidFill>
                  <a:srgbClr val="16202E"/>
                </a:solidFill>
                <a:latin typeface="Calibri" pitchFamily="34" charset="0"/>
                <a:ea typeface="Calibri" pitchFamily="34" charset="-122"/>
                <a:cs typeface="Calibri" pitchFamily="34" charset="-120"/>
              </a:rPr>
              <a:t>Why N must be a power of 2: radix-2 repeatedly halves N. That only reaches trivial 1-point transforms with no remainder if N = 2^m for an integer m.</a:t>
            </a:r>
            <a:endParaRPr lang="en-US" sz="1408" dirty="0"/>
          </a:p>
        </p:txBody>
      </p:sp>
      <p:sp>
        <p:nvSpPr>
          <p:cNvPr id="5" name="Text 3"/>
          <p:cNvSpPr/>
          <p:nvPr/>
        </p:nvSpPr>
        <p:spPr>
          <a:xfrm>
            <a:off x="6309360" y="1234440"/>
            <a:ext cx="4937760" cy="274320"/>
          </a:xfrm>
          <a:prstGeom prst="rect">
            <a:avLst/>
          </a:prstGeom>
          <a:noFill/>
          <a:ln/>
        </p:spPr>
        <p:txBody>
          <a:bodyPr wrap="square" rtlCol="0" anchor="ctr"/>
          <a:lstStyle/>
          <a:p>
            <a:pPr algn="l" indent="0" marL="0">
              <a:buNone/>
            </a:pPr>
            <a:r>
              <a:rPr lang="en-US" sz="1100" b="1" spc="150" kern="0" dirty="0">
                <a:solidFill>
                  <a:srgbClr val="0E8388"/>
                </a:solidFill>
                <a:latin typeface="Calibri" pitchFamily="34" charset="0"/>
                <a:ea typeface="Calibri" pitchFamily="34" charset="-122"/>
                <a:cs typeface="Calibri" pitchFamily="34" charset="-120"/>
              </a:rPr>
              <a:t>8-POINT DECOMPOSITION TREE</a:t>
            </a:r>
            <a:endParaRPr lang="en-US" sz="1150" dirty="0"/>
          </a:p>
        </p:txBody>
      </p:sp>
      <p:sp>
        <p:nvSpPr>
          <p:cNvPr id="6" name="Shape 4"/>
          <p:cNvSpPr/>
          <p:nvPr/>
        </p:nvSpPr>
        <p:spPr>
          <a:xfrm>
            <a:off x="8915400" y="2148840"/>
            <a:ext cx="0" cy="228600"/>
          </a:xfrm>
          <a:prstGeom prst="line">
            <a:avLst/>
          </a:prstGeom>
          <a:noFill/>
          <a:ln w="19050">
            <a:solidFill>
              <a:srgbClr val="9FB0C8"/>
            </a:solidFill>
            <a:prstDash val="solid"/>
          </a:ln>
        </p:spPr>
        <p:txBody>
          <a:bodyPr/>
          <a:p/>
        </p:txBody>
      </p:sp>
      <p:sp>
        <p:nvSpPr>
          <p:cNvPr id="7" name="Shape 5"/>
          <p:cNvSpPr/>
          <p:nvPr/>
        </p:nvSpPr>
        <p:spPr>
          <a:xfrm>
            <a:off x="7589520" y="2377440"/>
            <a:ext cx="1325880" cy="0"/>
          </a:xfrm>
          <a:prstGeom prst="line">
            <a:avLst/>
          </a:prstGeom>
          <a:noFill/>
          <a:ln w="19050">
            <a:solidFill>
              <a:srgbClr val="9FB0C8"/>
            </a:solidFill>
            <a:prstDash val="solid"/>
          </a:ln>
        </p:spPr>
        <p:txBody>
          <a:bodyPr/>
          <a:p/>
        </p:txBody>
      </p:sp>
      <p:sp>
        <p:nvSpPr>
          <p:cNvPr id="8" name="Shape 6"/>
          <p:cNvSpPr/>
          <p:nvPr/>
        </p:nvSpPr>
        <p:spPr>
          <a:xfrm>
            <a:off x="7589520" y="2377440"/>
            <a:ext cx="0" cy="228600"/>
          </a:xfrm>
          <a:prstGeom prst="line">
            <a:avLst/>
          </a:prstGeom>
          <a:noFill/>
          <a:ln w="19050">
            <a:solidFill>
              <a:srgbClr val="9FB0C8"/>
            </a:solidFill>
            <a:prstDash val="solid"/>
          </a:ln>
        </p:spPr>
        <p:txBody>
          <a:bodyPr/>
          <a:p/>
        </p:txBody>
      </p:sp>
      <p:sp>
        <p:nvSpPr>
          <p:cNvPr id="9" name="Shape 7"/>
          <p:cNvSpPr/>
          <p:nvPr/>
        </p:nvSpPr>
        <p:spPr>
          <a:xfrm>
            <a:off x="8915400" y="2148840"/>
            <a:ext cx="0" cy="228600"/>
          </a:xfrm>
          <a:prstGeom prst="line">
            <a:avLst/>
          </a:prstGeom>
          <a:noFill/>
          <a:ln w="19050">
            <a:solidFill>
              <a:srgbClr val="9FB0C8"/>
            </a:solidFill>
            <a:prstDash val="solid"/>
          </a:ln>
        </p:spPr>
        <p:txBody>
          <a:bodyPr/>
          <a:p/>
        </p:txBody>
      </p:sp>
      <p:sp>
        <p:nvSpPr>
          <p:cNvPr id="10" name="Shape 8"/>
          <p:cNvSpPr/>
          <p:nvPr/>
        </p:nvSpPr>
        <p:spPr>
          <a:xfrm>
            <a:off x="8915400" y="2377440"/>
            <a:ext cx="1325880" cy="0"/>
          </a:xfrm>
          <a:prstGeom prst="line">
            <a:avLst/>
          </a:prstGeom>
          <a:noFill/>
          <a:ln w="19050">
            <a:solidFill>
              <a:srgbClr val="9FB0C8"/>
            </a:solidFill>
            <a:prstDash val="solid"/>
          </a:ln>
        </p:spPr>
        <p:txBody>
          <a:bodyPr/>
          <a:p/>
        </p:txBody>
      </p:sp>
      <p:sp>
        <p:nvSpPr>
          <p:cNvPr id="11" name="Shape 9"/>
          <p:cNvSpPr/>
          <p:nvPr/>
        </p:nvSpPr>
        <p:spPr>
          <a:xfrm>
            <a:off x="10241280" y="2377440"/>
            <a:ext cx="0" cy="228600"/>
          </a:xfrm>
          <a:prstGeom prst="line">
            <a:avLst/>
          </a:prstGeom>
          <a:noFill/>
          <a:ln w="19050">
            <a:solidFill>
              <a:srgbClr val="9FB0C8"/>
            </a:solidFill>
            <a:prstDash val="solid"/>
          </a:ln>
        </p:spPr>
        <p:txBody>
          <a:bodyPr/>
          <a:p/>
        </p:txBody>
      </p:sp>
      <p:sp>
        <p:nvSpPr>
          <p:cNvPr id="12" name="Shape 10"/>
          <p:cNvSpPr/>
          <p:nvPr/>
        </p:nvSpPr>
        <p:spPr>
          <a:xfrm>
            <a:off x="7589520" y="3063240"/>
            <a:ext cx="0" cy="228600"/>
          </a:xfrm>
          <a:prstGeom prst="line">
            <a:avLst/>
          </a:prstGeom>
          <a:noFill/>
          <a:ln w="19050">
            <a:solidFill>
              <a:srgbClr val="9FB0C8"/>
            </a:solidFill>
            <a:prstDash val="solid"/>
          </a:ln>
        </p:spPr>
        <p:txBody>
          <a:bodyPr/>
          <a:p/>
        </p:txBody>
      </p:sp>
      <p:sp>
        <p:nvSpPr>
          <p:cNvPr id="13" name="Shape 11"/>
          <p:cNvSpPr/>
          <p:nvPr/>
        </p:nvSpPr>
        <p:spPr>
          <a:xfrm>
            <a:off x="6858000" y="3291840"/>
            <a:ext cx="731520" cy="0"/>
          </a:xfrm>
          <a:prstGeom prst="line">
            <a:avLst/>
          </a:prstGeom>
          <a:noFill/>
          <a:ln w="19050">
            <a:solidFill>
              <a:srgbClr val="9FB0C8"/>
            </a:solidFill>
            <a:prstDash val="solid"/>
          </a:ln>
        </p:spPr>
        <p:txBody>
          <a:bodyPr/>
          <a:p/>
        </p:txBody>
      </p:sp>
      <p:sp>
        <p:nvSpPr>
          <p:cNvPr id="14" name="Shape 12"/>
          <p:cNvSpPr/>
          <p:nvPr/>
        </p:nvSpPr>
        <p:spPr>
          <a:xfrm>
            <a:off x="6858000" y="3291840"/>
            <a:ext cx="0" cy="228600"/>
          </a:xfrm>
          <a:prstGeom prst="line">
            <a:avLst/>
          </a:prstGeom>
          <a:noFill/>
          <a:ln w="19050">
            <a:solidFill>
              <a:srgbClr val="9FB0C8"/>
            </a:solidFill>
            <a:prstDash val="solid"/>
          </a:ln>
        </p:spPr>
        <p:txBody>
          <a:bodyPr/>
          <a:p/>
        </p:txBody>
      </p:sp>
      <p:sp>
        <p:nvSpPr>
          <p:cNvPr id="15" name="Shape 13"/>
          <p:cNvSpPr/>
          <p:nvPr/>
        </p:nvSpPr>
        <p:spPr>
          <a:xfrm>
            <a:off x="7589520" y="3063240"/>
            <a:ext cx="0" cy="228600"/>
          </a:xfrm>
          <a:prstGeom prst="line">
            <a:avLst/>
          </a:prstGeom>
          <a:noFill/>
          <a:ln w="19050">
            <a:solidFill>
              <a:srgbClr val="9FB0C8"/>
            </a:solidFill>
            <a:prstDash val="solid"/>
          </a:ln>
        </p:spPr>
        <p:txBody>
          <a:bodyPr/>
          <a:p/>
        </p:txBody>
      </p:sp>
      <p:sp>
        <p:nvSpPr>
          <p:cNvPr id="16" name="Shape 14"/>
          <p:cNvSpPr/>
          <p:nvPr/>
        </p:nvSpPr>
        <p:spPr>
          <a:xfrm>
            <a:off x="7589520" y="3291840"/>
            <a:ext cx="731520" cy="0"/>
          </a:xfrm>
          <a:prstGeom prst="line">
            <a:avLst/>
          </a:prstGeom>
          <a:noFill/>
          <a:ln w="19050">
            <a:solidFill>
              <a:srgbClr val="9FB0C8"/>
            </a:solidFill>
            <a:prstDash val="solid"/>
          </a:ln>
        </p:spPr>
        <p:txBody>
          <a:bodyPr/>
          <a:p/>
        </p:txBody>
      </p:sp>
      <p:sp>
        <p:nvSpPr>
          <p:cNvPr id="17" name="Shape 15"/>
          <p:cNvSpPr/>
          <p:nvPr/>
        </p:nvSpPr>
        <p:spPr>
          <a:xfrm>
            <a:off x="8321040" y="3291840"/>
            <a:ext cx="0" cy="228600"/>
          </a:xfrm>
          <a:prstGeom prst="line">
            <a:avLst/>
          </a:prstGeom>
          <a:noFill/>
          <a:ln w="19050">
            <a:solidFill>
              <a:srgbClr val="9FB0C8"/>
            </a:solidFill>
            <a:prstDash val="solid"/>
          </a:ln>
        </p:spPr>
        <p:txBody>
          <a:bodyPr/>
          <a:p/>
        </p:txBody>
      </p:sp>
      <p:sp>
        <p:nvSpPr>
          <p:cNvPr id="18" name="Shape 16"/>
          <p:cNvSpPr/>
          <p:nvPr/>
        </p:nvSpPr>
        <p:spPr>
          <a:xfrm>
            <a:off x="10241280" y="3063240"/>
            <a:ext cx="0" cy="228600"/>
          </a:xfrm>
          <a:prstGeom prst="line">
            <a:avLst/>
          </a:prstGeom>
          <a:noFill/>
          <a:ln w="19050">
            <a:solidFill>
              <a:srgbClr val="9FB0C8"/>
            </a:solidFill>
            <a:prstDash val="solid"/>
          </a:ln>
        </p:spPr>
        <p:txBody>
          <a:bodyPr/>
          <a:p/>
        </p:txBody>
      </p:sp>
      <p:sp>
        <p:nvSpPr>
          <p:cNvPr id="19" name="Shape 17"/>
          <p:cNvSpPr/>
          <p:nvPr/>
        </p:nvSpPr>
        <p:spPr>
          <a:xfrm>
            <a:off x="9509760" y="3291840"/>
            <a:ext cx="731520" cy="0"/>
          </a:xfrm>
          <a:prstGeom prst="line">
            <a:avLst/>
          </a:prstGeom>
          <a:noFill/>
          <a:ln w="19050">
            <a:solidFill>
              <a:srgbClr val="9FB0C8"/>
            </a:solidFill>
            <a:prstDash val="solid"/>
          </a:ln>
        </p:spPr>
        <p:txBody>
          <a:bodyPr/>
          <a:p/>
        </p:txBody>
      </p:sp>
      <p:sp>
        <p:nvSpPr>
          <p:cNvPr id="20" name="Shape 18"/>
          <p:cNvSpPr/>
          <p:nvPr/>
        </p:nvSpPr>
        <p:spPr>
          <a:xfrm>
            <a:off x="9509760" y="3291840"/>
            <a:ext cx="0" cy="228600"/>
          </a:xfrm>
          <a:prstGeom prst="line">
            <a:avLst/>
          </a:prstGeom>
          <a:noFill/>
          <a:ln w="19050">
            <a:solidFill>
              <a:srgbClr val="9FB0C8"/>
            </a:solidFill>
            <a:prstDash val="solid"/>
          </a:ln>
        </p:spPr>
        <p:txBody>
          <a:bodyPr/>
          <a:p/>
        </p:txBody>
      </p:sp>
      <p:sp>
        <p:nvSpPr>
          <p:cNvPr id="21" name="Shape 19"/>
          <p:cNvSpPr/>
          <p:nvPr/>
        </p:nvSpPr>
        <p:spPr>
          <a:xfrm>
            <a:off x="10241280" y="3063240"/>
            <a:ext cx="0" cy="228600"/>
          </a:xfrm>
          <a:prstGeom prst="line">
            <a:avLst/>
          </a:prstGeom>
          <a:noFill/>
          <a:ln w="19050">
            <a:solidFill>
              <a:srgbClr val="9FB0C8"/>
            </a:solidFill>
            <a:prstDash val="solid"/>
          </a:ln>
        </p:spPr>
        <p:txBody>
          <a:bodyPr/>
          <a:p/>
        </p:txBody>
      </p:sp>
      <p:sp>
        <p:nvSpPr>
          <p:cNvPr id="22" name="Shape 20"/>
          <p:cNvSpPr/>
          <p:nvPr/>
        </p:nvSpPr>
        <p:spPr>
          <a:xfrm>
            <a:off x="10241280" y="3291840"/>
            <a:ext cx="731520" cy="0"/>
          </a:xfrm>
          <a:prstGeom prst="line">
            <a:avLst/>
          </a:prstGeom>
          <a:noFill/>
          <a:ln w="19050">
            <a:solidFill>
              <a:srgbClr val="9FB0C8"/>
            </a:solidFill>
            <a:prstDash val="solid"/>
          </a:ln>
        </p:spPr>
        <p:txBody>
          <a:bodyPr/>
          <a:p/>
        </p:txBody>
      </p:sp>
      <p:sp>
        <p:nvSpPr>
          <p:cNvPr id="23" name="Shape 21"/>
          <p:cNvSpPr/>
          <p:nvPr/>
        </p:nvSpPr>
        <p:spPr>
          <a:xfrm>
            <a:off x="10972800" y="3291840"/>
            <a:ext cx="0" cy="228600"/>
          </a:xfrm>
          <a:prstGeom prst="line">
            <a:avLst/>
          </a:prstGeom>
          <a:noFill/>
          <a:ln w="19050">
            <a:solidFill>
              <a:srgbClr val="9FB0C8"/>
            </a:solidFill>
            <a:prstDash val="solid"/>
          </a:ln>
        </p:spPr>
        <p:txBody>
          <a:bodyPr/>
          <a:p/>
        </p:txBody>
      </p:sp>
      <p:sp>
        <p:nvSpPr>
          <p:cNvPr id="24" name="Shape 22"/>
          <p:cNvSpPr/>
          <p:nvPr/>
        </p:nvSpPr>
        <p:spPr>
          <a:xfrm>
            <a:off x="7909560" y="1691640"/>
            <a:ext cx="2011680" cy="457200"/>
          </a:xfrm>
          <a:prstGeom prst="roundRect">
            <a:avLst>
              <a:gd name="adj" fmla="val 14000"/>
            </a:avLst>
          </a:prstGeom>
          <a:solidFill>
            <a:srgbClr val="132A4A"/>
          </a:solidFill>
          <a:ln w="12700">
            <a:solidFill>
              <a:srgbClr val="D7DEE8"/>
            </a:solidFill>
            <a:prstDash val="solid"/>
          </a:ln>
        </p:spPr>
        <p:txBody>
          <a:bodyPr/>
          <a:p/>
        </p:txBody>
      </p:sp>
      <p:sp>
        <p:nvSpPr>
          <p:cNvPr id="25" name="Text 23"/>
          <p:cNvSpPr/>
          <p:nvPr/>
        </p:nvSpPr>
        <p:spPr>
          <a:xfrm>
            <a:off x="7909560" y="169164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8-point FFT</a:t>
            </a:r>
            <a:endParaRPr lang="en-US" sz="1300" dirty="0"/>
          </a:p>
        </p:txBody>
      </p:sp>
      <p:sp>
        <p:nvSpPr>
          <p:cNvPr id="26" name="Shape 24"/>
          <p:cNvSpPr/>
          <p:nvPr/>
        </p:nvSpPr>
        <p:spPr>
          <a:xfrm>
            <a:off x="6675120" y="2606040"/>
            <a:ext cx="1828800" cy="457200"/>
          </a:xfrm>
          <a:prstGeom prst="roundRect">
            <a:avLst>
              <a:gd name="adj" fmla="val 14000"/>
            </a:avLst>
          </a:prstGeom>
          <a:solidFill>
            <a:srgbClr val="9FD4D1"/>
          </a:solidFill>
          <a:ln w="12700">
            <a:solidFill>
              <a:srgbClr val="D7DEE8"/>
            </a:solidFill>
            <a:prstDash val="solid"/>
          </a:ln>
        </p:spPr>
        <p:txBody>
          <a:bodyPr/>
          <a:p/>
        </p:txBody>
      </p:sp>
      <p:sp>
        <p:nvSpPr>
          <p:cNvPr id="27" name="Text 25"/>
          <p:cNvSpPr/>
          <p:nvPr/>
        </p:nvSpPr>
        <p:spPr>
          <a:xfrm>
            <a:off x="6675120" y="2606040"/>
            <a:ext cx="1828800" cy="457200"/>
          </a:xfrm>
          <a:prstGeom prst="rect">
            <a:avLst/>
          </a:prstGeom>
          <a:noFill/>
          <a:ln/>
        </p:spPr>
        <p:txBody>
          <a:bodyPr wrap="square" lIns="0" tIns="0" rIns="0" bIns="0" rtlCol="0" anchor="ctr"/>
          <a:lstStyle/>
          <a:p>
            <a:pPr algn="ctr" indent="0" marL="0">
              <a:buNone/>
            </a:pPr>
            <a:r>
              <a:rPr lang="en-US" sz="1300" b="1" dirty="0">
                <a:solidFill>
                  <a:srgbClr val="132A4A"/>
                </a:solidFill>
                <a:latin typeface="Calibri" pitchFamily="34" charset="0"/>
                <a:ea typeface="Calibri" pitchFamily="34" charset="-122"/>
                <a:cs typeface="Calibri" pitchFamily="34" charset="-120"/>
              </a:rPr>
              <a:t>4-point FFT</a:t>
            </a:r>
            <a:endParaRPr lang="en-US" sz="1200" dirty="0"/>
          </a:p>
        </p:txBody>
      </p:sp>
      <p:sp>
        <p:nvSpPr>
          <p:cNvPr id="28" name="Shape 26"/>
          <p:cNvSpPr/>
          <p:nvPr/>
        </p:nvSpPr>
        <p:spPr>
          <a:xfrm>
            <a:off x="9326880" y="2606040"/>
            <a:ext cx="1828800" cy="457200"/>
          </a:xfrm>
          <a:prstGeom prst="roundRect">
            <a:avLst>
              <a:gd name="adj" fmla="val 14000"/>
            </a:avLst>
          </a:prstGeom>
          <a:solidFill>
            <a:srgbClr val="E7CDA0"/>
          </a:solidFill>
          <a:ln w="12700">
            <a:solidFill>
              <a:srgbClr val="D7DEE8"/>
            </a:solidFill>
            <a:prstDash val="solid"/>
          </a:ln>
        </p:spPr>
        <p:txBody>
          <a:bodyPr/>
          <a:p/>
        </p:txBody>
      </p:sp>
      <p:sp>
        <p:nvSpPr>
          <p:cNvPr id="29" name="Text 27"/>
          <p:cNvSpPr/>
          <p:nvPr/>
        </p:nvSpPr>
        <p:spPr>
          <a:xfrm>
            <a:off x="9326880" y="2606040"/>
            <a:ext cx="1828800" cy="457200"/>
          </a:xfrm>
          <a:prstGeom prst="rect">
            <a:avLst/>
          </a:prstGeom>
          <a:noFill/>
          <a:ln/>
        </p:spPr>
        <p:txBody>
          <a:bodyPr wrap="square" lIns="0" tIns="0" rIns="0" bIns="0" rtlCol="0" anchor="ctr"/>
          <a:lstStyle/>
          <a:p>
            <a:pPr algn="ctr" indent="0" marL="0">
              <a:buNone/>
            </a:pPr>
            <a:r>
              <a:rPr lang="en-US" sz="1300" b="1" dirty="0">
                <a:solidFill>
                  <a:srgbClr val="132A4A"/>
                </a:solidFill>
                <a:latin typeface="Calibri" pitchFamily="34" charset="0"/>
                <a:ea typeface="Calibri" pitchFamily="34" charset="-122"/>
                <a:cs typeface="Calibri" pitchFamily="34" charset="-120"/>
              </a:rPr>
              <a:t>4-point FFT</a:t>
            </a:r>
            <a:endParaRPr lang="en-US" sz="1200" dirty="0"/>
          </a:p>
        </p:txBody>
      </p:sp>
      <p:sp>
        <p:nvSpPr>
          <p:cNvPr id="30" name="Shape 28"/>
          <p:cNvSpPr/>
          <p:nvPr/>
        </p:nvSpPr>
        <p:spPr>
          <a:xfrm>
            <a:off x="6309360" y="3520440"/>
            <a:ext cx="1097280" cy="457200"/>
          </a:xfrm>
          <a:prstGeom prst="roundRect">
            <a:avLst>
              <a:gd name="adj" fmla="val 14000"/>
            </a:avLst>
          </a:prstGeom>
          <a:solidFill>
            <a:srgbClr val="E4F3F2"/>
          </a:solidFill>
          <a:ln w="12700">
            <a:solidFill>
              <a:srgbClr val="D7DEE8"/>
            </a:solidFill>
            <a:prstDash val="solid"/>
          </a:ln>
        </p:spPr>
        <p:txBody>
          <a:bodyPr/>
          <a:p/>
        </p:txBody>
      </p:sp>
      <p:sp>
        <p:nvSpPr>
          <p:cNvPr id="31" name="Text 29"/>
          <p:cNvSpPr/>
          <p:nvPr/>
        </p:nvSpPr>
        <p:spPr>
          <a:xfrm>
            <a:off x="630936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2-point</a:t>
            </a:r>
            <a:endParaRPr lang="en-US" sz="1150" dirty="0"/>
          </a:p>
        </p:txBody>
      </p:sp>
      <p:sp>
        <p:nvSpPr>
          <p:cNvPr id="32" name="Shape 30"/>
          <p:cNvSpPr/>
          <p:nvPr/>
        </p:nvSpPr>
        <p:spPr>
          <a:xfrm>
            <a:off x="7772400" y="3520440"/>
            <a:ext cx="1097280" cy="457200"/>
          </a:xfrm>
          <a:prstGeom prst="roundRect">
            <a:avLst>
              <a:gd name="adj" fmla="val 14000"/>
            </a:avLst>
          </a:prstGeom>
          <a:solidFill>
            <a:srgbClr val="E4F3F2"/>
          </a:solidFill>
          <a:ln w="12700">
            <a:solidFill>
              <a:srgbClr val="D7DEE8"/>
            </a:solidFill>
            <a:prstDash val="solid"/>
          </a:ln>
        </p:spPr>
        <p:txBody>
          <a:bodyPr/>
          <a:p/>
        </p:txBody>
      </p:sp>
      <p:sp>
        <p:nvSpPr>
          <p:cNvPr id="33" name="Text 31"/>
          <p:cNvSpPr/>
          <p:nvPr/>
        </p:nvSpPr>
        <p:spPr>
          <a:xfrm>
            <a:off x="777240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2-point</a:t>
            </a:r>
            <a:endParaRPr lang="en-US" sz="1150" dirty="0"/>
          </a:p>
        </p:txBody>
      </p:sp>
      <p:sp>
        <p:nvSpPr>
          <p:cNvPr id="34" name="Shape 32"/>
          <p:cNvSpPr/>
          <p:nvPr/>
        </p:nvSpPr>
        <p:spPr>
          <a:xfrm>
            <a:off x="8961120" y="3520440"/>
            <a:ext cx="1097280" cy="457200"/>
          </a:xfrm>
          <a:prstGeom prst="roundRect">
            <a:avLst>
              <a:gd name="adj" fmla="val 14000"/>
            </a:avLst>
          </a:prstGeom>
          <a:solidFill>
            <a:srgbClr val="FBF0E2"/>
          </a:solidFill>
          <a:ln w="12700">
            <a:solidFill>
              <a:srgbClr val="D7DEE8"/>
            </a:solidFill>
            <a:prstDash val="solid"/>
          </a:ln>
        </p:spPr>
        <p:txBody>
          <a:bodyPr/>
          <a:p/>
        </p:txBody>
      </p:sp>
      <p:sp>
        <p:nvSpPr>
          <p:cNvPr id="35" name="Text 33"/>
          <p:cNvSpPr/>
          <p:nvPr/>
        </p:nvSpPr>
        <p:spPr>
          <a:xfrm>
            <a:off x="896112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2-point</a:t>
            </a:r>
            <a:endParaRPr lang="en-US" sz="1150" dirty="0"/>
          </a:p>
        </p:txBody>
      </p:sp>
      <p:sp>
        <p:nvSpPr>
          <p:cNvPr id="36" name="Shape 34"/>
          <p:cNvSpPr/>
          <p:nvPr/>
        </p:nvSpPr>
        <p:spPr>
          <a:xfrm>
            <a:off x="10424160" y="3520440"/>
            <a:ext cx="1097280" cy="457200"/>
          </a:xfrm>
          <a:prstGeom prst="roundRect">
            <a:avLst>
              <a:gd name="adj" fmla="val 14000"/>
            </a:avLst>
          </a:prstGeom>
          <a:solidFill>
            <a:srgbClr val="FBF0E2"/>
          </a:solidFill>
          <a:ln w="12700">
            <a:solidFill>
              <a:srgbClr val="D7DEE8"/>
            </a:solidFill>
            <a:prstDash val="solid"/>
          </a:ln>
        </p:spPr>
        <p:txBody>
          <a:bodyPr/>
          <a:p/>
        </p:txBody>
      </p:sp>
      <p:sp>
        <p:nvSpPr>
          <p:cNvPr id="37" name="Text 35"/>
          <p:cNvSpPr/>
          <p:nvPr/>
        </p:nvSpPr>
        <p:spPr>
          <a:xfrm>
            <a:off x="1042416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2-point</a:t>
            </a:r>
            <a:endParaRPr lang="en-US" sz="1150" dirty="0"/>
          </a:p>
        </p:txBody>
      </p:sp>
      <p:sp>
        <p:nvSpPr>
          <p:cNvPr id="38" name="Text 36"/>
          <p:cNvSpPr/>
          <p:nvPr/>
        </p:nvSpPr>
        <p:spPr>
          <a:xfrm>
            <a:off x="6309360" y="4160520"/>
            <a:ext cx="5212080" cy="73152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8 -&gt; 4 + 4 -&gt; 2+2+2+2 -&gt; eight trivial 1-point DFTs. One large DFT becomes many tiny DFTs plus recombination arithmetic: the butterfly.</a:t>
            </a:r>
            <a:endParaRPr lang="en-US" sz="1243" dirty="0"/>
          </a:p>
        </p:txBody>
      </p:sp>
      <p:sp>
        <p:nvSpPr>
          <p:cNvPr id="39" name="Shape 37"/>
          <p:cNvSpPr/>
          <p:nvPr/>
        </p:nvSpPr>
        <p:spPr>
          <a:xfrm>
            <a:off x="502920" y="5120640"/>
            <a:ext cx="11155680" cy="1143000"/>
          </a:xfrm>
          <a:prstGeom prst="roundRect">
            <a:avLst>
              <a:gd name="adj" fmla="val 4800"/>
            </a:avLst>
          </a:prstGeom>
          <a:solidFill>
            <a:srgbClr val="E4F3F2"/>
          </a:solidFill>
          <a:ln w="12700">
            <a:solidFill>
              <a:srgbClr val="9FD4D1"/>
            </a:solidFill>
            <a:prstDash val="solid"/>
          </a:ln>
        </p:spPr>
        <p:txBody>
          <a:bodyPr/>
          <a:p/>
        </p:txBody>
      </p:sp>
      <p:sp>
        <p:nvSpPr>
          <p:cNvPr id="40" name="Text 38"/>
          <p:cNvSpPr/>
          <p:nvPr/>
        </p:nvSpPr>
        <p:spPr>
          <a:xfrm>
            <a:off x="731520" y="5193792"/>
            <a:ext cx="10698480" cy="1005840"/>
          </a:xfrm>
          <a:prstGeom prst="rect">
            <a:avLst/>
          </a:prstGeom>
          <a:noFill/>
          <a:ln/>
        </p:spPr>
        <p:txBody>
          <a:bodyPr wrap="square" lIns="0" tIns="0" rIns="0" bIns="0" rtlCol="0" anchor="ctr"/>
          <a:lstStyle/>
          <a:p>
            <a:pPr indent="0" marL="0">
              <a:buNone/>
            </a:pPr>
            <a:r>
              <a:rPr lang="en-US" sz="1300" b="1" dirty="0">
                <a:solidFill>
                  <a:srgbClr val="0E8388"/>
                </a:solidFill>
                <a:latin typeface="Calibri" pitchFamily="34" charset="0"/>
                <a:ea typeface="Calibri" pitchFamily="34" charset="-122"/>
                <a:cs typeface="Calibri" pitchFamily="34" charset="-120"/>
              </a:rPr>
              <a:t>Why splitting pays off:  </a:t>
            </a:r>
            <a:pPr indent="0" marL="0">
              <a:buNone/>
            </a:pPr>
            <a:r>
              <a:rPr lang="en-US" sz="1300" dirty="0">
                <a:solidFill>
                  <a:srgbClr val="16202E"/>
                </a:solidFill>
                <a:latin typeface="Calibri" pitchFamily="34" charset="0"/>
                <a:ea typeface="Calibri" pitchFamily="34" charset="-122"/>
                <a:cs typeface="Calibri" pitchFamily="34" charset="-120"/>
              </a:rPr>
              <a:t>two N/2-point DFTs cost 2 x (N/2)² = N²/2 multiplies, half of the direct cost. Repeating the split log₂N times drives the total from N² down to about N log₂N.</a:t>
            </a:r>
            <a:endParaRPr lang="en-US" sz="1400" dirty="0"/>
          </a:p>
        </p:txBody>
      </p:sp>
      <p:sp>
        <p:nvSpPr>
          <p:cNvPr id="41" name="Shape 39"/>
          <p:cNvSpPr/>
          <p:nvPr/>
        </p:nvSpPr>
        <p:spPr>
          <a:xfrm>
            <a:off x="502920" y="6473952"/>
            <a:ext cx="11155680" cy="27432"/>
          </a:xfrm>
          <a:prstGeom prst="rect">
            <a:avLst/>
          </a:prstGeom>
          <a:solidFill>
            <a:srgbClr val="D7DEE8"/>
          </a:solidFill>
          <a:ln/>
        </p:spPr>
        <p:txBody>
          <a:bodyPr/>
          <a:p/>
        </p:txBody>
      </p:sp>
      <p:sp>
        <p:nvSpPr>
          <p:cNvPr id="42" name="Shape 40"/>
          <p:cNvSpPr/>
          <p:nvPr/>
        </p:nvSpPr>
        <p:spPr>
          <a:xfrm>
            <a:off x="502920" y="6473952"/>
            <a:ext cx="1328057" cy="27432"/>
          </a:xfrm>
          <a:prstGeom prst="rect">
            <a:avLst/>
          </a:prstGeom>
          <a:solidFill>
            <a:srgbClr val="0E8388"/>
          </a:solidFill>
          <a:ln/>
        </p:spPr>
        <p:txBody>
          <a:bodyPr/>
          <a:p/>
        </p:txBody>
      </p:sp>
      <p:sp>
        <p:nvSpPr>
          <p:cNvPr id="43" name="Text 41"/>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4" name="Text 42"/>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Mathematics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2A · DIT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Deriving the Radix-2 DIT Equation</a:t>
            </a:r>
            <a:endParaRPr lang="en-US" sz="2600" dirty="0"/>
          </a:p>
        </p:txBody>
      </p:sp>
      <p:sp>
        <p:nvSpPr>
          <p:cNvPr id="4" name="Text 2"/>
          <p:cNvSpPr/>
          <p:nvPr/>
        </p:nvSpPr>
        <p:spPr>
          <a:xfrm>
            <a:off x="502920" y="1188720"/>
            <a:ext cx="34747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1 · SPLIT BY PARITY</a:t>
            </a:r>
            <a:endParaRPr lang="en-US" sz="1200" dirty="0"/>
          </a:p>
        </p:txBody>
      </p:sp>
      <p:sp>
        <p:nvSpPr>
          <p:cNvPr id="5" name="Shape 3"/>
          <p:cNvSpPr/>
          <p:nvPr/>
        </p:nvSpPr>
        <p:spPr>
          <a:xfrm>
            <a:off x="502920" y="1463040"/>
            <a:ext cx="3474720" cy="777240"/>
          </a:xfrm>
          <a:prstGeom prst="roundRect">
            <a:avLst>
              <a:gd name="adj" fmla="val 7059"/>
            </a:avLst>
          </a:prstGeom>
          <a:solidFill>
            <a:srgbClr val="132A4A"/>
          </a:solidFill>
          <a:ln w="12700">
            <a:solidFill>
              <a:srgbClr val="132A4A"/>
            </a:solidFill>
            <a:prstDash val="solid"/>
          </a:ln>
        </p:spPr>
        <p:txBody>
          <a:bodyPr/>
          <a:p/>
        </p:txBody>
      </p:sp>
      <p:sp>
        <p:nvSpPr>
          <p:cNvPr id="6" name="Text 4"/>
          <p:cNvSpPr/>
          <p:nvPr/>
        </p:nvSpPr>
        <p:spPr>
          <a:xfrm>
            <a:off x="502920" y="1463040"/>
            <a:ext cx="3474720" cy="7772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X</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a:t>
            </a:r>
            <a:pPr algn="ctr" indent="0" marL="0">
              <a:buNone/>
            </a:pPr>
            <a:r>
              <a:rPr lang="en-US" sz="2000" b="1" dirty="0">
                <a:solidFill>
                  <a:srgbClr val="FFFFFF"/>
                </a:solidFill>
                <a:latin typeface="Cambria" pitchFamily="34" charset="0"/>
                <a:ea typeface="Cambria" pitchFamily="34" charset="-122"/>
                <a:cs typeface="Cambria" pitchFamily="34" charset="-120"/>
              </a:rPr>
              <a:t>Σ</a:t>
            </a:r>
            <a:pPr algn="ctr" indent="0" marL="0">
              <a:buNone/>
            </a:pPr>
            <a:r>
              <a:rPr lang="en-US" sz="1300" b="1" baseline="-40000" dirty="0">
                <a:solidFill>
                  <a:srgbClr val="FFFFFF"/>
                </a:solidFill>
                <a:latin typeface="Cambria" pitchFamily="34" charset="0"/>
                <a:ea typeface="Cambria" pitchFamily="34" charset="-122"/>
                <a:cs typeface="Cambria" pitchFamily="34" charset="-120"/>
              </a:rPr>
              <a:t>r</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2r</a:t>
            </a:r>
            <a:pPr algn="ctr" indent="0" marL="0">
              <a:buNone/>
            </a:pPr>
            <a:r>
              <a:rPr lang="en-US" sz="1300" b="1" dirty="0">
                <a:solidFill>
                  <a:srgbClr val="FFFFFF"/>
                </a:solidFill>
                <a:latin typeface="Cambria" pitchFamily="34" charset="0"/>
                <a:ea typeface="Cambria" pitchFamily="34" charset="-122"/>
                <a:cs typeface="Cambria" pitchFamily="34" charset="-120"/>
              </a:rPr>
              <a:t>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2rk</a:t>
            </a:r>
            <a:pPr algn="ctr" indent="0" marL="0">
              <a:buNone/>
            </a:pPr>
            <a:r>
              <a:rPr lang="en-US" sz="1300" b="1" dirty="0">
                <a:solidFill>
                  <a:srgbClr val="FFFFFF"/>
                </a:solidFill>
                <a:latin typeface="Cambria" pitchFamily="34" charset="0"/>
                <a:ea typeface="Cambria" pitchFamily="34" charset="-122"/>
                <a:cs typeface="Cambria" pitchFamily="34" charset="-120"/>
              </a:rPr>
              <a:t> + </a:t>
            </a:r>
            <a:pPr algn="ctr" indent="0" marL="0">
              <a:buNone/>
            </a:pPr>
            <a:r>
              <a:rPr lang="en-US" sz="2000" b="1" dirty="0">
                <a:solidFill>
                  <a:srgbClr val="FFFFFF"/>
                </a:solidFill>
                <a:latin typeface="Cambria" pitchFamily="34" charset="0"/>
                <a:ea typeface="Cambria" pitchFamily="34" charset="-122"/>
                <a:cs typeface="Cambria" pitchFamily="34" charset="-120"/>
              </a:rPr>
              <a:t>Σ</a:t>
            </a:r>
            <a:pPr algn="ctr" indent="0" marL="0">
              <a:buNone/>
            </a:pPr>
            <a:r>
              <a:rPr lang="en-US" sz="1300" b="1" baseline="-40000" dirty="0">
                <a:solidFill>
                  <a:srgbClr val="FFFFFF"/>
                </a:solidFill>
                <a:latin typeface="Cambria" pitchFamily="34" charset="0"/>
                <a:ea typeface="Cambria" pitchFamily="34" charset="-122"/>
                <a:cs typeface="Cambria" pitchFamily="34" charset="-120"/>
              </a:rPr>
              <a:t>r</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2r+1</a:t>
            </a:r>
            <a:pPr algn="ctr" indent="0" marL="0">
              <a:buNone/>
            </a:pPr>
            <a:r>
              <a:rPr lang="en-US" sz="1300" b="1" dirty="0">
                <a:solidFill>
                  <a:srgbClr val="FFFFFF"/>
                </a:solidFill>
                <a:latin typeface="Cambria" pitchFamily="34" charset="0"/>
                <a:ea typeface="Cambria" pitchFamily="34" charset="-122"/>
                <a:cs typeface="Cambria" pitchFamily="34" charset="-120"/>
              </a:rPr>
              <a:t>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(2r+1)k</a:t>
            </a:r>
            <a:endParaRPr lang="en-US" sz="1250" dirty="0"/>
          </a:p>
        </p:txBody>
      </p:sp>
      <p:sp>
        <p:nvSpPr>
          <p:cNvPr id="7" name="Text 5"/>
          <p:cNvSpPr/>
          <p:nvPr/>
        </p:nvSpPr>
        <p:spPr>
          <a:xfrm>
            <a:off x="4480560" y="1188720"/>
            <a:ext cx="34747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2 · SIMPLIFY EXPONENTS</a:t>
            </a:r>
            <a:endParaRPr lang="en-US" sz="1200" dirty="0"/>
          </a:p>
        </p:txBody>
      </p:sp>
      <p:sp>
        <p:nvSpPr>
          <p:cNvPr id="8" name="Shape 6"/>
          <p:cNvSpPr/>
          <p:nvPr/>
        </p:nvSpPr>
        <p:spPr>
          <a:xfrm>
            <a:off x="4480560" y="1463040"/>
            <a:ext cx="3474720" cy="777240"/>
          </a:xfrm>
          <a:prstGeom prst="roundRect">
            <a:avLst>
              <a:gd name="adj" fmla="val 7059"/>
            </a:avLst>
          </a:prstGeom>
          <a:solidFill>
            <a:srgbClr val="0E8388"/>
          </a:solidFill>
          <a:ln w="12700">
            <a:solidFill>
              <a:srgbClr val="132A4A"/>
            </a:solidFill>
            <a:prstDash val="solid"/>
          </a:ln>
        </p:spPr>
        <p:txBody>
          <a:bodyPr/>
          <a:p/>
        </p:txBody>
      </p:sp>
      <p:sp>
        <p:nvSpPr>
          <p:cNvPr id="9" name="Text 7"/>
          <p:cNvSpPr/>
          <p:nvPr/>
        </p:nvSpPr>
        <p:spPr>
          <a:xfrm>
            <a:off x="4480560" y="1463040"/>
            <a:ext cx="3474720" cy="7772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2rk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N/2</a:t>
            </a:r>
            <a:pPr algn="ctr" indent="0" marL="0">
              <a:buNone/>
            </a:pPr>
            <a:r>
              <a:rPr lang="en-US" sz="1300" b="1" baseline="30000" dirty="0">
                <a:solidFill>
                  <a:srgbClr val="FFFFFF"/>
                </a:solidFill>
                <a:latin typeface="Cambria" pitchFamily="34" charset="0"/>
                <a:ea typeface="Cambria" pitchFamily="34" charset="-122"/>
                <a:cs typeface="Cambria" pitchFamily="34" charset="-120"/>
              </a:rPr>
              <a:t>rk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(2r+1)k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N/2</a:t>
            </a:r>
            <a:pPr algn="ctr" indent="0" marL="0">
              <a:buNone/>
            </a:pPr>
            <a:r>
              <a:rPr lang="en-US" sz="1300" b="1" baseline="30000" dirty="0">
                <a:solidFill>
                  <a:srgbClr val="FFFFFF"/>
                </a:solidFill>
                <a:latin typeface="Cambria" pitchFamily="34" charset="0"/>
                <a:ea typeface="Cambria" pitchFamily="34" charset="-122"/>
                <a:cs typeface="Cambria" pitchFamily="34" charset="-120"/>
              </a:rPr>
              <a:t>rk</a:t>
            </a:r>
            <a:endParaRPr lang="en-US" sz="1200" dirty="0"/>
          </a:p>
        </p:txBody>
      </p:sp>
      <p:sp>
        <p:nvSpPr>
          <p:cNvPr id="10" name="Text 8"/>
          <p:cNvSpPr/>
          <p:nvPr/>
        </p:nvSpPr>
        <p:spPr>
          <a:xfrm>
            <a:off x="7955280" y="1188720"/>
            <a:ext cx="329184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3 · DEFINE E[k], O[k]</a:t>
            </a:r>
            <a:endParaRPr lang="en-US" sz="1200" dirty="0"/>
          </a:p>
        </p:txBody>
      </p:sp>
      <p:sp>
        <p:nvSpPr>
          <p:cNvPr id="11" name="Shape 9"/>
          <p:cNvSpPr/>
          <p:nvPr/>
        </p:nvSpPr>
        <p:spPr>
          <a:xfrm>
            <a:off x="7955280" y="1463040"/>
            <a:ext cx="3291840" cy="777240"/>
          </a:xfrm>
          <a:prstGeom prst="roundRect">
            <a:avLst>
              <a:gd name="adj" fmla="val 7059"/>
            </a:avLst>
          </a:prstGeom>
          <a:solidFill>
            <a:srgbClr val="D98324"/>
          </a:solidFill>
          <a:ln w="12700">
            <a:solidFill>
              <a:srgbClr val="132A4A"/>
            </a:solidFill>
            <a:prstDash val="solid"/>
          </a:ln>
        </p:spPr>
        <p:txBody>
          <a:bodyPr/>
          <a:p/>
        </p:txBody>
      </p:sp>
      <p:sp>
        <p:nvSpPr>
          <p:cNvPr id="12" name="Text 10"/>
          <p:cNvSpPr/>
          <p:nvPr/>
        </p:nvSpPr>
        <p:spPr>
          <a:xfrm>
            <a:off x="7955280" y="1463040"/>
            <a:ext cx="3291840" cy="7772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600" b="1" dirty="0">
                <a:solidFill>
                  <a:srgbClr val="FFFFFF"/>
                </a:solidFill>
                <a:latin typeface="Cambria" pitchFamily="34" charset="0"/>
                <a:ea typeface="Cambria" pitchFamily="34" charset="-122"/>
                <a:cs typeface="Cambria" pitchFamily="34" charset="-120"/>
              </a:rPr>
              <a:t> = </a:t>
            </a:r>
            <a:pPr algn="ctr" indent="0" marL="0">
              <a:buNone/>
            </a:pPr>
            <a:r>
              <a:rPr lang="en-US" sz="1800" b="1" dirty="0">
                <a:solidFill>
                  <a:srgbClr val="FFFFFF"/>
                </a:solidFill>
                <a:latin typeface="Cambria" pitchFamily="34" charset="0"/>
                <a:ea typeface="Cambria" pitchFamily="34" charset="-122"/>
                <a:cs typeface="Cambria" pitchFamily="34" charset="-120"/>
              </a:rPr>
              <a:t>Σ</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2r</a:t>
            </a:r>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N/2</a:t>
            </a:r>
            <a:pPr algn="ctr" indent="0" marL="0">
              <a:buNone/>
            </a:pPr>
            <a:r>
              <a:rPr lang="en-US" sz="1300" b="1" baseline="30000" dirty="0">
                <a:solidFill>
                  <a:srgbClr val="FFFFFF"/>
                </a:solidFill>
                <a:latin typeface="Cambria" pitchFamily="34" charset="0"/>
                <a:ea typeface="Cambria" pitchFamily="34" charset="-122"/>
                <a:cs typeface="Cambria" pitchFamily="34" charset="-120"/>
              </a:rPr>
              <a:t>rk</a:t>
            </a:r>
            <a:pPr algn="ctr" indent="0" marL="0">
              <a:buNone/>
            </a:pPr>
            <a:r>
              <a:rPr lang="en-US" sz="1600" b="1" dirty="0">
                <a:solidFill>
                  <a:srgbClr val="FFFFFF"/>
                </a:solidFill>
                <a:latin typeface="Cambria" pitchFamily="34" charset="0"/>
                <a:ea typeface="Cambria" pitchFamily="34" charset="-122"/>
                <a:cs typeface="Cambria" pitchFamily="34" charset="-120"/>
              </a:rPr>
              <a:t>     O</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600" b="1" dirty="0">
                <a:solidFill>
                  <a:srgbClr val="FFFFFF"/>
                </a:solidFill>
                <a:latin typeface="Cambria" pitchFamily="34" charset="0"/>
                <a:ea typeface="Cambria" pitchFamily="34" charset="-122"/>
                <a:cs typeface="Cambria" pitchFamily="34" charset="-120"/>
              </a:rPr>
              <a:t> = </a:t>
            </a:r>
            <a:pPr algn="ctr" indent="0" marL="0">
              <a:buNone/>
            </a:pPr>
            <a:r>
              <a:rPr lang="en-US" sz="1800" b="1" dirty="0">
                <a:solidFill>
                  <a:srgbClr val="FFFFFF"/>
                </a:solidFill>
                <a:latin typeface="Cambria" pitchFamily="34" charset="0"/>
                <a:ea typeface="Cambria" pitchFamily="34" charset="-122"/>
                <a:cs typeface="Cambria" pitchFamily="34" charset="-120"/>
              </a:rPr>
              <a:t>Σ</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2r+1</a:t>
            </a:r>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N/2</a:t>
            </a:r>
            <a:pPr algn="ctr" indent="0" marL="0">
              <a:buNone/>
            </a:pPr>
            <a:r>
              <a:rPr lang="en-US" sz="1300" b="1" baseline="30000" dirty="0">
                <a:solidFill>
                  <a:srgbClr val="FFFFFF"/>
                </a:solidFill>
                <a:latin typeface="Cambria" pitchFamily="34" charset="0"/>
                <a:ea typeface="Cambria" pitchFamily="34" charset="-122"/>
                <a:cs typeface="Cambria" pitchFamily="34" charset="-120"/>
              </a:rPr>
              <a:t>rk</a:t>
            </a:r>
            <a:endParaRPr lang="en-US" sz="1150" dirty="0"/>
          </a:p>
        </p:txBody>
      </p:sp>
      <p:sp>
        <p:nvSpPr>
          <p:cNvPr id="13" name="Text 11"/>
          <p:cNvSpPr/>
          <p:nvPr/>
        </p:nvSpPr>
        <p:spPr>
          <a:xfrm>
            <a:off x="502920" y="2514600"/>
            <a:ext cx="7223760" cy="2194560"/>
          </a:xfrm>
          <a:prstGeom prst="rect">
            <a:avLst/>
          </a:prstGeom>
          <a:noFill/>
          <a:ln/>
        </p:spPr>
        <p:txBody>
          <a:bodyPr wrap="square" rtlCol="0" anchor="t"/>
          <a:lstStyle/>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Every index n = 0..N-1 is either even (n=2r) or odd (n=2r+1). Splitting the sum into these two groups changes nothing mathematically, it only regroups the same N terms.</a:t>
            </a:r>
            <a:endParaRPr lang="en-US" sz="1353"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The factor of 2 in the even-term exponent cancels a factor hiding inside W_N, so an N-point twiddle factor collapses into the N/2-point twiddle factor W_N/2. This is the algebraic heart of the method.</a:t>
            </a:r>
            <a:endParaRPr lang="en-US" sz="1353"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The odd-term exponent leaves one extra factor, W_N^k, that does not depend on r. It is pulled outside the odd sum as the twiddle factor.</a:t>
            </a:r>
            <a:endParaRPr lang="en-US" sz="1353" dirty="0"/>
          </a:p>
        </p:txBody>
      </p:sp>
      <p:sp>
        <p:nvSpPr>
          <p:cNvPr id="14" name="Shape 12"/>
          <p:cNvSpPr/>
          <p:nvPr/>
        </p:nvSpPr>
        <p:spPr>
          <a:xfrm>
            <a:off x="502920" y="4892040"/>
            <a:ext cx="7223760" cy="777240"/>
          </a:xfrm>
          <a:prstGeom prst="roundRect">
            <a:avLst>
              <a:gd name="adj" fmla="val 7059"/>
            </a:avLst>
          </a:prstGeom>
          <a:solidFill>
            <a:srgbClr val="132A4A"/>
          </a:solidFill>
          <a:ln w="12700">
            <a:solidFill>
              <a:srgbClr val="132A4A"/>
            </a:solidFill>
            <a:prstDash val="solid"/>
          </a:ln>
        </p:spPr>
        <p:txBody>
          <a:bodyPr/>
          <a:p/>
        </p:txBody>
      </p:sp>
      <p:sp>
        <p:nvSpPr>
          <p:cNvPr id="15" name="Text 13"/>
          <p:cNvSpPr/>
          <p:nvPr/>
        </p:nvSpPr>
        <p:spPr>
          <a:xfrm>
            <a:off x="502920" y="4892040"/>
            <a:ext cx="7223760" cy="7772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X</a:t>
            </a:r>
            <a:pPr algn="ctr" indent="0" marL="0">
              <a:buNone/>
            </a:pPr>
            <a:r>
              <a:rPr lang="en-US" sz="2400" b="1" baseline="-40000" dirty="0">
                <a:solidFill>
                  <a:srgbClr val="FFFFFF"/>
                </a:solidFill>
                <a:latin typeface="Cambria" pitchFamily="34" charset="0"/>
                <a:ea typeface="Cambria" pitchFamily="34" charset="-122"/>
                <a:cs typeface="Cambria" pitchFamily="34" charset="-120"/>
              </a:rPr>
              <a:t>k</a:t>
            </a:r>
            <a:pPr algn="ctr" indent="0" marL="0">
              <a:buNone/>
            </a:pPr>
            <a:r>
              <a:rPr lang="en-US" sz="2400" b="1" dirty="0">
                <a:solidFill>
                  <a:srgbClr val="FFFFFF"/>
                </a:solidFill>
                <a:latin typeface="Cambria" pitchFamily="34" charset="0"/>
                <a:ea typeface="Cambria" pitchFamily="34" charset="-122"/>
                <a:cs typeface="Cambria" pitchFamily="34" charset="-120"/>
              </a:rPr>
              <a:t>  =  E</a:t>
            </a:r>
            <a:pPr algn="ctr" indent="0" marL="0">
              <a:buNone/>
            </a:pPr>
            <a:r>
              <a:rPr lang="en-US" sz="2400" b="1" baseline="-40000" dirty="0">
                <a:solidFill>
                  <a:srgbClr val="FFFFFF"/>
                </a:solidFill>
                <a:latin typeface="Cambria" pitchFamily="34" charset="0"/>
                <a:ea typeface="Cambria" pitchFamily="34" charset="-122"/>
                <a:cs typeface="Cambria" pitchFamily="34" charset="-120"/>
              </a:rPr>
              <a:t>k</a:t>
            </a:r>
            <a:pPr algn="ctr" indent="0" marL="0">
              <a:buNone/>
            </a:pPr>
            <a:r>
              <a:rPr lang="en-US" sz="2400" b="1" dirty="0">
                <a:solidFill>
                  <a:srgbClr val="FFFFFF"/>
                </a:solidFill>
                <a:latin typeface="Cambria" pitchFamily="34" charset="0"/>
                <a:ea typeface="Cambria" pitchFamily="34" charset="-122"/>
                <a:cs typeface="Cambria" pitchFamily="34" charset="-120"/>
              </a:rPr>
              <a:t>  +  W</a:t>
            </a:r>
            <a:pPr algn="ctr" indent="0" marL="0">
              <a:buNone/>
            </a:pPr>
            <a:r>
              <a:rPr lang="en-US" sz="2400" b="1" baseline="-40000" dirty="0">
                <a:solidFill>
                  <a:srgbClr val="FFFFFF"/>
                </a:solidFill>
                <a:latin typeface="Cambria" pitchFamily="34" charset="0"/>
                <a:ea typeface="Cambria" pitchFamily="34" charset="-122"/>
                <a:cs typeface="Cambria" pitchFamily="34" charset="-120"/>
              </a:rPr>
              <a:t>N</a:t>
            </a:r>
            <a:pPr algn="ctr" indent="0" marL="0">
              <a:buNone/>
            </a:pPr>
            <a:r>
              <a:rPr lang="en-US" sz="2400" b="1" baseline="30000" dirty="0">
                <a:solidFill>
                  <a:srgbClr val="FFFFFF"/>
                </a:solidFill>
                <a:latin typeface="Cambria" pitchFamily="34" charset="0"/>
                <a:ea typeface="Cambria" pitchFamily="34" charset="-122"/>
                <a:cs typeface="Cambria" pitchFamily="34" charset="-120"/>
              </a:rPr>
              <a:t>k</a:t>
            </a:r>
            <a:pPr algn="ctr" indent="0" marL="0">
              <a:buNone/>
            </a:pPr>
            <a:r>
              <a:rPr lang="en-US" sz="2400" b="1" dirty="0">
                <a:solidFill>
                  <a:srgbClr val="FFFFFF"/>
                </a:solidFill>
                <a:latin typeface="Cambria" pitchFamily="34" charset="0"/>
                <a:ea typeface="Cambria" pitchFamily="34" charset="-122"/>
                <a:cs typeface="Cambria" pitchFamily="34" charset="-120"/>
              </a:rPr>
              <a:t> O</a:t>
            </a:r>
            <a:pPr algn="ctr" indent="0" marL="0">
              <a:buNone/>
            </a:pPr>
            <a:r>
              <a:rPr lang="en-US" sz="2400" b="1" baseline="-40000" dirty="0">
                <a:solidFill>
                  <a:srgbClr val="FFFFFF"/>
                </a:solidFill>
                <a:latin typeface="Cambria" pitchFamily="34" charset="0"/>
                <a:ea typeface="Cambria" pitchFamily="34" charset="-122"/>
                <a:cs typeface="Cambria" pitchFamily="34" charset="-120"/>
              </a:rPr>
              <a:t>k</a:t>
            </a:r>
            <a:endParaRPr lang="en-US" sz="2400" dirty="0"/>
          </a:p>
        </p:txBody>
      </p:sp>
      <p:sp>
        <p:nvSpPr>
          <p:cNvPr id="16" name="Text 14"/>
          <p:cNvSpPr/>
          <p:nvPr/>
        </p:nvSpPr>
        <p:spPr>
          <a:xfrm>
            <a:off x="8275320" y="4937760"/>
            <a:ext cx="2971800" cy="77724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The central result of the radix-2 DIT derivation, valid for k = 0 ... N/2-1 as written.</a:t>
            </a:r>
            <a:endParaRPr lang="en-US" sz="1265" dirty="0"/>
          </a:p>
        </p:txBody>
      </p:sp>
      <p:sp>
        <p:nvSpPr>
          <p:cNvPr id="17" name="Shape 15"/>
          <p:cNvSpPr/>
          <p:nvPr/>
        </p:nvSpPr>
        <p:spPr>
          <a:xfrm>
            <a:off x="502920" y="6473952"/>
            <a:ext cx="11155680" cy="27432"/>
          </a:xfrm>
          <a:prstGeom prst="rect">
            <a:avLst/>
          </a:prstGeom>
          <a:solidFill>
            <a:srgbClr val="D7DEE8"/>
          </a:solidFill>
          <a:ln/>
        </p:spPr>
        <p:txBody>
          <a:bodyPr/>
          <a:p/>
        </p:txBody>
      </p:sp>
      <p:sp>
        <p:nvSpPr>
          <p:cNvPr id="18" name="Shape 16"/>
          <p:cNvSpPr/>
          <p:nvPr/>
        </p:nvSpPr>
        <p:spPr>
          <a:xfrm>
            <a:off x="502920" y="6473952"/>
            <a:ext cx="1593669" cy="27432"/>
          </a:xfrm>
          <a:prstGeom prst="rect">
            <a:avLst/>
          </a:prstGeom>
          <a:solidFill>
            <a:srgbClr val="0E8388"/>
          </a:solidFill>
          <a:ln/>
        </p:spPr>
        <p:txBody>
          <a:bodyPr/>
          <a:p/>
        </p:txBody>
      </p:sp>
      <p:sp>
        <p:nvSpPr>
          <p:cNvPr id="19" name="Text 17"/>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0" name="Text 18"/>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Mathematics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2A · DIT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Extending to the Full Range With Periodicity</a:t>
            </a:r>
            <a:endParaRPr lang="en-US" sz="2600" dirty="0"/>
          </a:p>
        </p:txBody>
      </p:sp>
      <p:sp>
        <p:nvSpPr>
          <p:cNvPr id="4" name="Text 2"/>
          <p:cNvSpPr/>
          <p:nvPr/>
        </p:nvSpPr>
        <p:spPr>
          <a:xfrm>
            <a:off x="502920" y="1280160"/>
            <a:ext cx="5394960" cy="2377440"/>
          </a:xfrm>
          <a:prstGeom prst="rect">
            <a:avLst/>
          </a:prstGeom>
          <a:noFill/>
          <a:ln/>
        </p:spPr>
        <p:txBody>
          <a:bodyPr wrap="square" rtlCol="0" anchor="t"/>
          <a:lstStyle/>
          <a:p>
            <a:pPr algn="l" marL="228600" indent="-228600">
              <a:lnSpc>
                <a:spcPct val="112000"/>
              </a:lnSpc>
              <a:spcAft>
                <a:spcPts val="1210"/>
              </a:spcAft>
              <a:buSzPct val="100000"/>
              <a:buChar char="●"/>
            </a:pPr>
            <a:r>
              <a:rPr lang="en-US" sz="1300" dirty="0">
                <a:solidFill>
                  <a:srgbClr val="16202E"/>
                </a:solidFill>
                <a:latin typeface="Calibri" pitchFamily="34" charset="0"/>
                <a:ea typeface="Calibri" pitchFamily="34" charset="-122"/>
                <a:cs typeface="Calibri" pitchFamily="34" charset="-120"/>
              </a:rPr>
              <a:t>E[k] and O[k] are each N/2-point DFTs, so both are periodic with period N/2: E[k+N/2] = E[k] and O[k+N/2] = O[k].</a:t>
            </a:r>
            <a:endParaRPr lang="en-US" sz="1485" dirty="0"/>
          </a:p>
          <a:p>
            <a:pPr algn="l" marL="228600" indent="-228600">
              <a:lnSpc>
                <a:spcPct val="112000"/>
              </a:lnSpc>
              <a:spcAft>
                <a:spcPts val="1210"/>
              </a:spcAft>
              <a:buSzPct val="100000"/>
              <a:buChar char="●"/>
            </a:pPr>
            <a:r>
              <a:rPr lang="en-US" sz="1300" dirty="0">
                <a:solidFill>
                  <a:srgbClr val="16202E"/>
                </a:solidFill>
                <a:latin typeface="Calibri" pitchFamily="34" charset="0"/>
                <a:ea typeface="Calibri" pitchFamily="34" charset="-122"/>
                <a:cs typeface="Calibri" pitchFamily="34" charset="-120"/>
              </a:rPr>
              <a:t>This periodicity lets one formula generate the second half of the outputs for free.</a:t>
            </a:r>
            <a:endParaRPr lang="en-US" sz="1485" dirty="0"/>
          </a:p>
          <a:p>
            <a:pPr algn="l" marL="228600" indent="-228600">
              <a:lnSpc>
                <a:spcPct val="112000"/>
              </a:lnSpc>
              <a:spcAft>
                <a:spcPts val="1210"/>
              </a:spcAft>
              <a:buSzPct val="100000"/>
              <a:buChar char="●"/>
            </a:pPr>
            <a:r>
              <a:rPr lang="en-US" sz="1300" dirty="0">
                <a:solidFill>
                  <a:srgbClr val="16202E"/>
                </a:solidFill>
                <a:latin typeface="Calibri" pitchFamily="34" charset="0"/>
                <a:ea typeface="Calibri" pitchFamily="34" charset="-122"/>
                <a:cs typeface="Calibri" pitchFamily="34" charset="-120"/>
              </a:rPr>
              <a:t>Twiddle half-period symmetry: W_N^(k+N/2) = -W_N^k. This flips the sign of the twiddle term only.</a:t>
            </a:r>
            <a:endParaRPr lang="en-US" sz="1485" dirty="0"/>
          </a:p>
        </p:txBody>
      </p:sp>
      <p:sp>
        <p:nvSpPr>
          <p:cNvPr id="5" name="Shape 3"/>
          <p:cNvSpPr/>
          <p:nvPr/>
        </p:nvSpPr>
        <p:spPr>
          <a:xfrm>
            <a:off x="502920" y="3794760"/>
            <a:ext cx="5394960" cy="1005840"/>
          </a:xfrm>
          <a:prstGeom prst="roundRect">
            <a:avLst>
              <a:gd name="adj" fmla="val 5455"/>
            </a:avLst>
          </a:prstGeom>
          <a:solidFill>
            <a:srgbClr val="E4F3F2"/>
          </a:solidFill>
          <a:ln w="12700">
            <a:solidFill>
              <a:srgbClr val="9FD4D1"/>
            </a:solidFill>
            <a:prstDash val="solid"/>
          </a:ln>
        </p:spPr>
        <p:txBody>
          <a:bodyPr/>
          <a:p/>
        </p:txBody>
      </p:sp>
      <p:sp>
        <p:nvSpPr>
          <p:cNvPr id="6" name="Text 4"/>
          <p:cNvSpPr/>
          <p:nvPr/>
        </p:nvSpPr>
        <p:spPr>
          <a:xfrm>
            <a:off x="685800" y="3913632"/>
            <a:ext cx="5029200" cy="7772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The same two numbers, E[k] and W_N^k O[k], produce both X[k] and X[k+N/2]: one add, one subtract, no extra DFT terms.</a:t>
            </a:r>
            <a:endParaRPr lang="en-US" sz="1375" dirty="0"/>
          </a:p>
        </p:txBody>
      </p:sp>
      <p:sp>
        <p:nvSpPr>
          <p:cNvPr id="7" name="Shape 5"/>
          <p:cNvSpPr/>
          <p:nvPr/>
        </p:nvSpPr>
        <p:spPr>
          <a:xfrm>
            <a:off x="6446520" y="1280160"/>
            <a:ext cx="4983480" cy="777240"/>
          </a:xfrm>
          <a:prstGeom prst="roundRect">
            <a:avLst>
              <a:gd name="adj" fmla="val 7059"/>
            </a:avLst>
          </a:prstGeom>
          <a:solidFill>
            <a:srgbClr val="132A4A"/>
          </a:solidFill>
          <a:ln w="12700">
            <a:solidFill>
              <a:srgbClr val="132A4A"/>
            </a:solidFill>
            <a:prstDash val="solid"/>
          </a:ln>
        </p:spPr>
        <p:txBody>
          <a:bodyPr/>
          <a:p/>
        </p:txBody>
      </p:sp>
      <p:sp>
        <p:nvSpPr>
          <p:cNvPr id="8" name="Text 6"/>
          <p:cNvSpPr/>
          <p:nvPr/>
        </p:nvSpPr>
        <p:spPr>
          <a:xfrm>
            <a:off x="6446520" y="1280160"/>
            <a:ext cx="4983480" cy="7772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X</a:t>
            </a:r>
            <a:pPr algn="ctr" indent="0" marL="0">
              <a:buNone/>
            </a:pPr>
            <a:r>
              <a:rPr lang="en-US" sz="1300" b="1" baseline="-40000" dirty="0">
                <a:solidFill>
                  <a:srgbClr val="FFFFFF"/>
                </a:solidFill>
                <a:latin typeface="Cambria" pitchFamily="34" charset="0"/>
                <a:ea typeface="Cambria" pitchFamily="34" charset="-122"/>
                <a:cs typeface="Cambria" pitchFamily="34" charset="-120"/>
              </a:rPr>
              <a:t>k+N/2</a:t>
            </a:r>
            <a:pPr algn="ctr" indent="0" marL="0">
              <a:buNone/>
            </a:pPr>
            <a:r>
              <a:rPr lang="en-US" sz="1300" b="1" dirty="0">
                <a:solidFill>
                  <a:srgbClr val="FFFFFF"/>
                </a:solidFill>
                <a:latin typeface="Cambria" pitchFamily="34" charset="0"/>
                <a:ea typeface="Cambria" pitchFamily="34" charset="-122"/>
                <a:cs typeface="Cambria" pitchFamily="34" charset="-120"/>
              </a:rPr>
              <a:t> = E</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k+N/2</a:t>
            </a:r>
            <a:pPr algn="ctr" indent="0" marL="0">
              <a:buNone/>
            </a:pPr>
            <a:r>
              <a:rPr lang="en-US" sz="1300" b="1" dirty="0">
                <a:solidFill>
                  <a:srgbClr val="FFFFFF"/>
                </a:solidFill>
                <a:latin typeface="Cambria" pitchFamily="34" charset="0"/>
                <a:ea typeface="Cambria" pitchFamily="34" charset="-122"/>
                <a:cs typeface="Cambria" pitchFamily="34" charset="-120"/>
              </a:rPr>
              <a:t> O</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E</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O</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endParaRPr lang="en-US" sz="1350" dirty="0"/>
          </a:p>
        </p:txBody>
      </p:sp>
      <p:sp>
        <p:nvSpPr>
          <p:cNvPr id="9" name="Shape 7"/>
          <p:cNvSpPr/>
          <p:nvPr/>
        </p:nvSpPr>
        <p:spPr>
          <a:xfrm>
            <a:off x="6446520" y="2240280"/>
            <a:ext cx="4983480" cy="640080"/>
          </a:xfrm>
          <a:prstGeom prst="roundRect">
            <a:avLst>
              <a:gd name="adj" fmla="val 8571"/>
            </a:avLst>
          </a:prstGeom>
          <a:solidFill>
            <a:srgbClr val="0E8388"/>
          </a:solidFill>
          <a:ln w="12700">
            <a:solidFill>
              <a:srgbClr val="132A4A"/>
            </a:solidFill>
            <a:prstDash val="solid"/>
          </a:ln>
        </p:spPr>
        <p:txBody>
          <a:bodyPr/>
          <a:p/>
        </p:txBody>
      </p:sp>
      <p:sp>
        <p:nvSpPr>
          <p:cNvPr id="10" name="Text 8"/>
          <p:cNvSpPr/>
          <p:nvPr/>
        </p:nvSpPr>
        <p:spPr>
          <a:xfrm>
            <a:off x="6446520" y="2240280"/>
            <a:ext cx="49834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X</a:t>
            </a:r>
            <a:pPr algn="ctr" indent="0" marL="0">
              <a:buNone/>
            </a:pPr>
            <a:r>
              <a:rPr lang="en-US" sz="1800" b="1" baseline="-40000" dirty="0">
                <a:solidFill>
                  <a:srgbClr val="FFFFFF"/>
                </a:solidFill>
                <a:latin typeface="Cambria" pitchFamily="34" charset="0"/>
                <a:ea typeface="Cambria" pitchFamily="34" charset="-122"/>
                <a:cs typeface="Cambria" pitchFamily="34" charset="-120"/>
              </a:rPr>
              <a:t>k</a:t>
            </a:r>
            <a:pPr algn="ctr" indent="0" marL="0">
              <a:buNone/>
            </a:pPr>
            <a:r>
              <a:rPr lang="en-US" sz="1800" b="1" dirty="0">
                <a:solidFill>
                  <a:srgbClr val="FFFFFF"/>
                </a:solidFill>
                <a:latin typeface="Cambria" pitchFamily="34" charset="0"/>
                <a:ea typeface="Cambria" pitchFamily="34" charset="-122"/>
                <a:cs typeface="Cambria" pitchFamily="34" charset="-120"/>
              </a:rPr>
              <a:t> = E</a:t>
            </a:r>
            <a:pPr algn="ctr" indent="0" marL="0">
              <a:buNone/>
            </a:pPr>
            <a:r>
              <a:rPr lang="en-US" sz="1800" b="1" baseline="-40000" dirty="0">
                <a:solidFill>
                  <a:srgbClr val="FFFFFF"/>
                </a:solidFill>
                <a:latin typeface="Cambria" pitchFamily="34" charset="0"/>
                <a:ea typeface="Cambria" pitchFamily="34" charset="-122"/>
                <a:cs typeface="Cambria" pitchFamily="34" charset="-120"/>
              </a:rPr>
              <a:t>k</a:t>
            </a:r>
            <a:pPr algn="ctr" indent="0" marL="0">
              <a:buNone/>
            </a:pPr>
            <a:r>
              <a:rPr lang="en-US" sz="1800" b="1" dirty="0">
                <a:solidFill>
                  <a:srgbClr val="FFFFFF"/>
                </a:solidFill>
                <a:latin typeface="Cambria" pitchFamily="34" charset="0"/>
                <a:ea typeface="Cambria" pitchFamily="34" charset="-122"/>
                <a:cs typeface="Cambria" pitchFamily="34" charset="-120"/>
              </a:rPr>
              <a:t> + W</a:t>
            </a:r>
            <a:pPr algn="ctr" indent="0" marL="0">
              <a:buNone/>
            </a:pPr>
            <a:r>
              <a:rPr lang="en-US" sz="1800" b="1" baseline="-40000" dirty="0">
                <a:solidFill>
                  <a:srgbClr val="FFFFFF"/>
                </a:solidFill>
                <a:latin typeface="Cambria" pitchFamily="34" charset="0"/>
                <a:ea typeface="Cambria" pitchFamily="34" charset="-122"/>
                <a:cs typeface="Cambria" pitchFamily="34" charset="-120"/>
              </a:rPr>
              <a:t>N</a:t>
            </a:r>
            <a:pPr algn="ctr" indent="0" marL="0">
              <a:buNone/>
            </a:pPr>
            <a:r>
              <a:rPr lang="en-US" sz="1800" b="1" baseline="30000" dirty="0">
                <a:solidFill>
                  <a:srgbClr val="FFFFFF"/>
                </a:solidFill>
                <a:latin typeface="Cambria" pitchFamily="34" charset="0"/>
                <a:ea typeface="Cambria" pitchFamily="34" charset="-122"/>
                <a:cs typeface="Cambria" pitchFamily="34" charset="-120"/>
              </a:rPr>
              <a:t>k</a:t>
            </a:r>
            <a:pPr algn="ctr" indent="0" marL="0">
              <a:buNone/>
            </a:pPr>
            <a:r>
              <a:rPr lang="en-US" sz="1800" b="1" dirty="0">
                <a:solidFill>
                  <a:srgbClr val="FFFFFF"/>
                </a:solidFill>
                <a:latin typeface="Cambria" pitchFamily="34" charset="0"/>
                <a:ea typeface="Cambria" pitchFamily="34" charset="-122"/>
                <a:cs typeface="Cambria" pitchFamily="34" charset="-120"/>
              </a:rPr>
              <a:t> O</a:t>
            </a:r>
            <a:pPr algn="ctr" indent="0" marL="0">
              <a:buNone/>
            </a:pPr>
            <a:r>
              <a:rPr lang="en-US" sz="1800" b="1" baseline="-40000" dirty="0">
                <a:solidFill>
                  <a:srgbClr val="FFFFFF"/>
                </a:solidFill>
                <a:latin typeface="Cambria" pitchFamily="34" charset="0"/>
                <a:ea typeface="Cambria" pitchFamily="34" charset="-122"/>
                <a:cs typeface="Cambria" pitchFamily="34" charset="-120"/>
              </a:rPr>
              <a:t>k</a:t>
            </a:r>
            <a:endParaRPr lang="en-US" sz="1800" dirty="0"/>
          </a:p>
        </p:txBody>
      </p:sp>
      <p:sp>
        <p:nvSpPr>
          <p:cNvPr id="11" name="Shape 9"/>
          <p:cNvSpPr/>
          <p:nvPr/>
        </p:nvSpPr>
        <p:spPr>
          <a:xfrm>
            <a:off x="6446520" y="3017520"/>
            <a:ext cx="4983480" cy="640080"/>
          </a:xfrm>
          <a:prstGeom prst="roundRect">
            <a:avLst>
              <a:gd name="adj" fmla="val 8571"/>
            </a:avLst>
          </a:prstGeom>
          <a:solidFill>
            <a:srgbClr val="D98324"/>
          </a:solidFill>
          <a:ln w="12700">
            <a:solidFill>
              <a:srgbClr val="132A4A"/>
            </a:solidFill>
            <a:prstDash val="solid"/>
          </a:ln>
        </p:spPr>
        <p:txBody>
          <a:bodyPr/>
          <a:p/>
        </p:txBody>
      </p:sp>
      <p:sp>
        <p:nvSpPr>
          <p:cNvPr id="12" name="Text 10"/>
          <p:cNvSpPr/>
          <p:nvPr/>
        </p:nvSpPr>
        <p:spPr>
          <a:xfrm>
            <a:off x="6446520" y="3017520"/>
            <a:ext cx="49834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X</a:t>
            </a:r>
            <a:pPr algn="ctr" indent="0" marL="0">
              <a:buNone/>
            </a:pPr>
            <a:r>
              <a:rPr lang="en-US" sz="1800" b="1" baseline="-40000" dirty="0">
                <a:solidFill>
                  <a:srgbClr val="FFFFFF"/>
                </a:solidFill>
                <a:latin typeface="Cambria" pitchFamily="34" charset="0"/>
                <a:ea typeface="Cambria" pitchFamily="34" charset="-122"/>
                <a:cs typeface="Cambria" pitchFamily="34" charset="-120"/>
              </a:rPr>
              <a:t>k+N/2</a:t>
            </a:r>
            <a:pPr algn="ctr" indent="0" marL="0">
              <a:buNone/>
            </a:pPr>
            <a:r>
              <a:rPr lang="en-US" sz="1800" b="1" dirty="0">
                <a:solidFill>
                  <a:srgbClr val="FFFFFF"/>
                </a:solidFill>
                <a:latin typeface="Cambria" pitchFamily="34" charset="0"/>
                <a:ea typeface="Cambria" pitchFamily="34" charset="-122"/>
                <a:cs typeface="Cambria" pitchFamily="34" charset="-120"/>
              </a:rPr>
              <a:t> = E</a:t>
            </a:r>
            <a:pPr algn="ctr" indent="0" marL="0">
              <a:buNone/>
            </a:pPr>
            <a:r>
              <a:rPr lang="en-US" sz="1800" b="1" baseline="-40000" dirty="0">
                <a:solidFill>
                  <a:srgbClr val="FFFFFF"/>
                </a:solidFill>
                <a:latin typeface="Cambria" pitchFamily="34" charset="0"/>
                <a:ea typeface="Cambria" pitchFamily="34" charset="-122"/>
                <a:cs typeface="Cambria" pitchFamily="34" charset="-120"/>
              </a:rPr>
              <a:t>k</a:t>
            </a:r>
            <a:pPr algn="ctr" indent="0" marL="0">
              <a:buNone/>
            </a:pPr>
            <a:r>
              <a:rPr lang="en-US" sz="1800" b="1" dirty="0">
                <a:solidFill>
                  <a:srgbClr val="FFFFFF"/>
                </a:solidFill>
                <a:latin typeface="Cambria" pitchFamily="34" charset="0"/>
                <a:ea typeface="Cambria" pitchFamily="34" charset="-122"/>
                <a:cs typeface="Cambria" pitchFamily="34" charset="-120"/>
              </a:rPr>
              <a:t> - W</a:t>
            </a:r>
            <a:pPr algn="ctr" indent="0" marL="0">
              <a:buNone/>
            </a:pPr>
            <a:r>
              <a:rPr lang="en-US" sz="1800" b="1" baseline="-40000" dirty="0">
                <a:solidFill>
                  <a:srgbClr val="FFFFFF"/>
                </a:solidFill>
                <a:latin typeface="Cambria" pitchFamily="34" charset="0"/>
                <a:ea typeface="Cambria" pitchFamily="34" charset="-122"/>
                <a:cs typeface="Cambria" pitchFamily="34" charset="-120"/>
              </a:rPr>
              <a:t>N</a:t>
            </a:r>
            <a:pPr algn="ctr" indent="0" marL="0">
              <a:buNone/>
            </a:pPr>
            <a:r>
              <a:rPr lang="en-US" sz="1800" b="1" baseline="30000" dirty="0">
                <a:solidFill>
                  <a:srgbClr val="FFFFFF"/>
                </a:solidFill>
                <a:latin typeface="Cambria" pitchFamily="34" charset="0"/>
                <a:ea typeface="Cambria" pitchFamily="34" charset="-122"/>
                <a:cs typeface="Cambria" pitchFamily="34" charset="-120"/>
              </a:rPr>
              <a:t>k</a:t>
            </a:r>
            <a:pPr algn="ctr" indent="0" marL="0">
              <a:buNone/>
            </a:pPr>
            <a:r>
              <a:rPr lang="en-US" sz="1800" b="1" dirty="0">
                <a:solidFill>
                  <a:srgbClr val="FFFFFF"/>
                </a:solidFill>
                <a:latin typeface="Cambria" pitchFamily="34" charset="0"/>
                <a:ea typeface="Cambria" pitchFamily="34" charset="-122"/>
                <a:cs typeface="Cambria" pitchFamily="34" charset="-120"/>
              </a:rPr>
              <a:t> O</a:t>
            </a:r>
            <a:pPr algn="ctr" indent="0" marL="0">
              <a:buNone/>
            </a:pPr>
            <a:r>
              <a:rPr lang="en-US" sz="1800" b="1" baseline="-40000" dirty="0">
                <a:solidFill>
                  <a:srgbClr val="FFFFFF"/>
                </a:solidFill>
                <a:latin typeface="Cambria" pitchFamily="34" charset="0"/>
                <a:ea typeface="Cambria" pitchFamily="34" charset="-122"/>
                <a:cs typeface="Cambria" pitchFamily="34" charset="-120"/>
              </a:rPr>
              <a:t>k</a:t>
            </a:r>
            <a:endParaRPr lang="en-US" sz="1800" dirty="0"/>
          </a:p>
        </p:txBody>
      </p:sp>
      <p:sp>
        <p:nvSpPr>
          <p:cNvPr id="13" name="Text 11"/>
          <p:cNvSpPr/>
          <p:nvPr/>
        </p:nvSpPr>
        <p:spPr>
          <a:xfrm>
            <a:off x="6446520" y="3840480"/>
            <a:ext cx="4983480" cy="146304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This is the payoff of the whole derivation. E[k] and O[k] each only need to be computed once for k = 0 ... N/2-1, and they are reused to generate the entire N-point output. This reuse is the source of the FFT's speed.</a:t>
            </a:r>
            <a:endParaRPr lang="en-US" sz="1375" dirty="0"/>
          </a:p>
        </p:txBody>
      </p:sp>
      <p:sp>
        <p:nvSpPr>
          <p:cNvPr id="14" name="Shape 12"/>
          <p:cNvSpPr/>
          <p:nvPr/>
        </p:nvSpPr>
        <p:spPr>
          <a:xfrm>
            <a:off x="502920" y="6473952"/>
            <a:ext cx="11155680" cy="27432"/>
          </a:xfrm>
          <a:prstGeom prst="rect">
            <a:avLst/>
          </a:prstGeom>
          <a:solidFill>
            <a:srgbClr val="D7DEE8"/>
          </a:solidFill>
          <a:ln/>
        </p:spPr>
        <p:txBody>
          <a:bodyPr/>
          <a:p/>
        </p:txBody>
      </p:sp>
      <p:sp>
        <p:nvSpPr>
          <p:cNvPr id="15" name="Shape 13"/>
          <p:cNvSpPr/>
          <p:nvPr/>
        </p:nvSpPr>
        <p:spPr>
          <a:xfrm>
            <a:off x="502920" y="6473952"/>
            <a:ext cx="1859280" cy="27432"/>
          </a:xfrm>
          <a:prstGeom prst="rect">
            <a:avLst/>
          </a:prstGeom>
          <a:solidFill>
            <a:srgbClr val="0E8388"/>
          </a:solidFill>
          <a:ln/>
        </p:spPr>
        <p:txBody>
          <a:bodyPr/>
          <a:p/>
        </p:txBody>
      </p:sp>
      <p:sp>
        <p:nvSpPr>
          <p:cNvPr id="16" name="Text 14"/>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7" name="Text 15"/>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Mathematics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2A · DIT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The DIT Butterfly: From Equations to Flow Graph</a:t>
            </a:r>
            <a:endParaRPr lang="en-US" sz="2600" dirty="0"/>
          </a:p>
        </p:txBody>
      </p:sp>
      <p:sp>
        <p:nvSpPr>
          <p:cNvPr id="4" name="Text 2"/>
          <p:cNvSpPr/>
          <p:nvPr/>
        </p:nvSpPr>
        <p:spPr>
          <a:xfrm>
            <a:off x="502920" y="1188720"/>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NAME THE TERMS</a:t>
            </a:r>
            <a:endParaRPr lang="en-US" sz="1200" dirty="0"/>
          </a:p>
        </p:txBody>
      </p:sp>
      <p:sp>
        <p:nvSpPr>
          <p:cNvPr id="5" name="Shape 3"/>
          <p:cNvSpPr/>
          <p:nvPr/>
        </p:nvSpPr>
        <p:spPr>
          <a:xfrm>
            <a:off x="502920" y="1463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6" name="Text 4"/>
          <p:cNvSpPr/>
          <p:nvPr/>
        </p:nvSpPr>
        <p:spPr>
          <a:xfrm>
            <a:off x="502920" y="1463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 = E</a:t>
            </a:r>
            <a:pPr algn="ctr" indent="0" marL="0">
              <a:buNone/>
            </a:pPr>
            <a:r>
              <a:rPr lang="en-US" sz="1700" b="1" baseline="-40000" dirty="0">
                <a:solidFill>
                  <a:srgbClr val="FFFFFF"/>
                </a:solidFill>
                <a:latin typeface="Cambria" pitchFamily="34" charset="0"/>
                <a:ea typeface="Cambria" pitchFamily="34" charset="-122"/>
                <a:cs typeface="Cambria" pitchFamily="34" charset="-120"/>
              </a:rPr>
              <a:t>k</a:t>
            </a:r>
            <a:endParaRPr lang="en-US" sz="1700" dirty="0"/>
          </a:p>
        </p:txBody>
      </p:sp>
      <p:sp>
        <p:nvSpPr>
          <p:cNvPr id="7" name="Shape 5"/>
          <p:cNvSpPr/>
          <p:nvPr/>
        </p:nvSpPr>
        <p:spPr>
          <a:xfrm>
            <a:off x="3246120" y="1463040"/>
            <a:ext cx="2560320" cy="640080"/>
          </a:xfrm>
          <a:prstGeom prst="roundRect">
            <a:avLst>
              <a:gd name="adj" fmla="val 8571"/>
            </a:avLst>
          </a:prstGeom>
          <a:solidFill>
            <a:srgbClr val="0E8388"/>
          </a:solidFill>
          <a:ln w="12700">
            <a:solidFill>
              <a:srgbClr val="132A4A"/>
            </a:solidFill>
            <a:prstDash val="solid"/>
          </a:ln>
        </p:spPr>
        <p:txBody>
          <a:bodyPr/>
          <a:p/>
        </p:txBody>
      </p:sp>
      <p:sp>
        <p:nvSpPr>
          <p:cNvPr id="8" name="Text 6"/>
          <p:cNvSpPr/>
          <p:nvPr/>
        </p:nvSpPr>
        <p:spPr>
          <a:xfrm>
            <a:off x="3246120" y="1463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 = W</a:t>
            </a:r>
            <a:pPr algn="ctr" indent="0" marL="0">
              <a:buNone/>
            </a:pPr>
            <a:r>
              <a:rPr lang="en-US" sz="1700" b="1" baseline="-40000" dirty="0">
                <a:solidFill>
                  <a:srgbClr val="FFFFFF"/>
                </a:solidFill>
                <a:latin typeface="Cambria" pitchFamily="34" charset="0"/>
                <a:ea typeface="Cambria" pitchFamily="34" charset="-122"/>
                <a:cs typeface="Cambria" pitchFamily="34" charset="-120"/>
              </a:rPr>
              <a:t>N</a:t>
            </a:r>
            <a:pPr algn="ctr" indent="0" marL="0">
              <a:buNone/>
            </a:pPr>
            <a:r>
              <a:rPr lang="en-US" sz="1700" b="1" baseline="30000" dirty="0">
                <a:solidFill>
                  <a:srgbClr val="FFFFFF"/>
                </a:solidFill>
                <a:latin typeface="Cambria" pitchFamily="34" charset="0"/>
                <a:ea typeface="Cambria" pitchFamily="34" charset="-122"/>
                <a:cs typeface="Cambria" pitchFamily="34" charset="-120"/>
              </a:rPr>
              <a:t>k</a:t>
            </a:r>
            <a:pPr algn="ctr" indent="0" marL="0">
              <a:buNone/>
            </a:pPr>
            <a:r>
              <a:rPr lang="en-US" sz="1700" b="1" dirty="0">
                <a:solidFill>
                  <a:srgbClr val="FFFFFF"/>
                </a:solidFill>
                <a:latin typeface="Cambria" pitchFamily="34" charset="0"/>
                <a:ea typeface="Cambria" pitchFamily="34" charset="-122"/>
                <a:cs typeface="Cambria" pitchFamily="34" charset="-120"/>
              </a:rPr>
              <a:t> O</a:t>
            </a:r>
            <a:pPr algn="ctr" indent="0" marL="0">
              <a:buNone/>
            </a:pPr>
            <a:r>
              <a:rPr lang="en-US" sz="1700" b="1" baseline="-40000" dirty="0">
                <a:solidFill>
                  <a:srgbClr val="FFFFFF"/>
                </a:solidFill>
                <a:latin typeface="Cambria" pitchFamily="34" charset="0"/>
                <a:ea typeface="Cambria" pitchFamily="34" charset="-122"/>
                <a:cs typeface="Cambria" pitchFamily="34" charset="-120"/>
              </a:rPr>
              <a:t>k</a:t>
            </a:r>
            <a:endParaRPr lang="en-US" sz="1700" dirty="0"/>
          </a:p>
        </p:txBody>
      </p:sp>
      <p:sp>
        <p:nvSpPr>
          <p:cNvPr id="9" name="Text 7"/>
          <p:cNvSpPr/>
          <p:nvPr/>
        </p:nvSpPr>
        <p:spPr>
          <a:xfrm>
            <a:off x="502920" y="2331720"/>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THE BUTTERFLY</a:t>
            </a:r>
            <a:endParaRPr lang="en-US" sz="1200" dirty="0"/>
          </a:p>
        </p:txBody>
      </p:sp>
      <p:sp>
        <p:nvSpPr>
          <p:cNvPr id="10" name="Shape 8"/>
          <p:cNvSpPr/>
          <p:nvPr/>
        </p:nvSpPr>
        <p:spPr>
          <a:xfrm>
            <a:off x="502920" y="2606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11" name="Text 9"/>
          <p:cNvSpPr/>
          <p:nvPr/>
        </p:nvSpPr>
        <p:spPr>
          <a:xfrm>
            <a:off x="502920" y="2606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X</a:t>
            </a:r>
            <a:pPr algn="ctr" indent="0" marL="0">
              <a:buNone/>
            </a:pPr>
            <a:r>
              <a:rPr lang="en-US" sz="1700" b="1" baseline="-40000" dirty="0">
                <a:solidFill>
                  <a:srgbClr val="FFFFFF"/>
                </a:solidFill>
                <a:latin typeface="Cambria" pitchFamily="34" charset="0"/>
                <a:ea typeface="Cambria" pitchFamily="34" charset="-122"/>
                <a:cs typeface="Cambria" pitchFamily="34" charset="-120"/>
              </a:rPr>
              <a:t>top</a:t>
            </a:r>
            <a:pPr algn="ctr" indent="0" marL="0">
              <a:buNone/>
            </a:pPr>
            <a:r>
              <a:rPr lang="en-US" sz="1700" b="1" dirty="0">
                <a:solidFill>
                  <a:srgbClr val="FFFFFF"/>
                </a:solidFill>
                <a:latin typeface="Cambria" pitchFamily="34" charset="0"/>
                <a:ea typeface="Cambria" pitchFamily="34" charset="-122"/>
                <a:cs typeface="Cambria" pitchFamily="34" charset="-120"/>
              </a:rPr>
              <a:t> = A + B</a:t>
            </a:r>
            <a:endParaRPr lang="en-US" sz="1700" dirty="0"/>
          </a:p>
        </p:txBody>
      </p:sp>
      <p:sp>
        <p:nvSpPr>
          <p:cNvPr id="12" name="Shape 10"/>
          <p:cNvSpPr/>
          <p:nvPr/>
        </p:nvSpPr>
        <p:spPr>
          <a:xfrm>
            <a:off x="3246120" y="2606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13" name="Text 11"/>
          <p:cNvSpPr/>
          <p:nvPr/>
        </p:nvSpPr>
        <p:spPr>
          <a:xfrm>
            <a:off x="3246120" y="2606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X</a:t>
            </a:r>
            <a:pPr algn="ctr" indent="0" marL="0">
              <a:buNone/>
            </a:pPr>
            <a:r>
              <a:rPr lang="en-US" sz="1700" b="1" baseline="-40000" dirty="0">
                <a:solidFill>
                  <a:srgbClr val="FFFFFF"/>
                </a:solidFill>
                <a:latin typeface="Cambria" pitchFamily="34" charset="0"/>
                <a:ea typeface="Cambria" pitchFamily="34" charset="-122"/>
                <a:cs typeface="Cambria" pitchFamily="34" charset="-120"/>
              </a:rPr>
              <a:t>bottom</a:t>
            </a:r>
            <a:pPr algn="ctr" indent="0" marL="0">
              <a:buNone/>
            </a:pPr>
            <a:r>
              <a:rPr lang="en-US" sz="1700" b="1" dirty="0">
                <a:solidFill>
                  <a:srgbClr val="FFFFFF"/>
                </a:solidFill>
                <a:latin typeface="Cambria" pitchFamily="34" charset="0"/>
                <a:ea typeface="Cambria" pitchFamily="34" charset="-122"/>
                <a:cs typeface="Cambria" pitchFamily="34" charset="-120"/>
              </a:rPr>
              <a:t> = A - B</a:t>
            </a:r>
            <a:endParaRPr lang="en-US" sz="1700" dirty="0"/>
          </a:p>
        </p:txBody>
      </p:sp>
      <p:sp>
        <p:nvSpPr>
          <p:cNvPr id="14" name="Text 12"/>
          <p:cNvSpPr/>
          <p:nvPr/>
        </p:nvSpPr>
        <p:spPr>
          <a:xfrm>
            <a:off x="502920" y="3520440"/>
            <a:ext cx="5303520" cy="21945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This add/subtract pair, with exactly one complex multiplication (forming B) feeding it, is the butterfly. It is named for the crossing shape of its signal-flow diagram: it IS the algebra above, drawn instead of written. The twiddle multiplication happens once, before the add/subtract, on the odd branch only.</a:t>
            </a:r>
            <a:endParaRPr lang="en-US" sz="1430" dirty="0"/>
          </a:p>
        </p:txBody>
      </p:sp>
      <p:sp>
        <p:nvSpPr>
          <p:cNvPr id="15" name="Shape 13"/>
          <p:cNvSpPr/>
          <p:nvPr/>
        </p:nvSpPr>
        <p:spPr>
          <a:xfrm>
            <a:off x="6400800" y="1188720"/>
            <a:ext cx="5257800" cy="4114800"/>
          </a:xfrm>
          <a:prstGeom prst="roundRect">
            <a:avLst>
              <a:gd name="adj" fmla="val 1333"/>
            </a:avLst>
          </a:prstGeom>
          <a:solidFill>
            <a:srgbClr val="FFFFFF"/>
          </a:solidFill>
          <a:ln w="12700">
            <a:solidFill>
              <a:srgbClr val="D7DEE8"/>
            </a:solidFill>
            <a:prstDash val="solid"/>
          </a:ln>
        </p:spPr>
        <p:txBody>
          <a:bodyPr/>
          <a:p/>
        </p:txBody>
      </p:sp>
      <p:sp>
        <p:nvSpPr>
          <p:cNvPr id="16" name="Text 14"/>
          <p:cNvSpPr/>
          <p:nvPr/>
        </p:nvSpPr>
        <p:spPr>
          <a:xfrm>
            <a:off x="6629400" y="1280160"/>
            <a:ext cx="457200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DIT BUTTERFLY FLOW GRAPH</a:t>
            </a:r>
            <a:endParaRPr lang="en-US" sz="1200" dirty="0"/>
          </a:p>
        </p:txBody>
      </p:sp>
      <p:sp>
        <p:nvSpPr>
          <p:cNvPr id="17" name="Shape 15"/>
          <p:cNvSpPr/>
          <p:nvPr/>
        </p:nvSpPr>
        <p:spPr>
          <a:xfrm>
            <a:off x="7635240" y="2331720"/>
            <a:ext cx="1700784" cy="0"/>
          </a:xfrm>
          <a:prstGeom prst="line">
            <a:avLst/>
          </a:prstGeom>
          <a:noFill/>
          <a:ln w="19050">
            <a:solidFill>
              <a:srgbClr val="9FB0C8"/>
            </a:solidFill>
            <a:prstDash val="solid"/>
          </a:ln>
        </p:spPr>
        <p:txBody>
          <a:bodyPr/>
          <a:p/>
        </p:txBody>
      </p:sp>
      <p:sp>
        <p:nvSpPr>
          <p:cNvPr id="18" name="Shape 16"/>
          <p:cNvSpPr/>
          <p:nvPr/>
        </p:nvSpPr>
        <p:spPr>
          <a:xfrm>
            <a:off x="7635240" y="3886200"/>
            <a:ext cx="143561" cy="0"/>
          </a:xfrm>
          <a:prstGeom prst="line">
            <a:avLst/>
          </a:prstGeom>
          <a:noFill/>
          <a:ln w="19050">
            <a:solidFill>
              <a:srgbClr val="9FB0C8"/>
            </a:solidFill>
            <a:prstDash val="solid"/>
          </a:ln>
        </p:spPr>
        <p:txBody>
          <a:bodyPr/>
          <a:p/>
        </p:txBody>
      </p:sp>
      <p:sp>
        <p:nvSpPr>
          <p:cNvPr id="19" name="Shape 17"/>
          <p:cNvSpPr/>
          <p:nvPr/>
        </p:nvSpPr>
        <p:spPr>
          <a:xfrm>
            <a:off x="8455457" y="3886200"/>
            <a:ext cx="200254" cy="0"/>
          </a:xfrm>
          <a:prstGeom prst="line">
            <a:avLst/>
          </a:prstGeom>
          <a:noFill/>
          <a:ln w="19050">
            <a:solidFill>
              <a:srgbClr val="9FB0C8"/>
            </a:solidFill>
            <a:prstDash val="solid"/>
          </a:ln>
        </p:spPr>
        <p:txBody>
          <a:bodyPr/>
          <a:p/>
        </p:txBody>
      </p:sp>
      <p:sp>
        <p:nvSpPr>
          <p:cNvPr id="20" name="Shape 18"/>
          <p:cNvSpPr/>
          <p:nvPr/>
        </p:nvSpPr>
        <p:spPr>
          <a:xfrm>
            <a:off x="8655710" y="2331720"/>
            <a:ext cx="680314" cy="1554480"/>
          </a:xfrm>
          <a:prstGeom prst="line">
            <a:avLst/>
          </a:prstGeom>
          <a:noFill/>
          <a:ln w="19050">
            <a:solidFill>
              <a:srgbClr val="9FB0C8"/>
            </a:solidFill>
            <a:prstDash val="solid"/>
          </a:ln>
        </p:spPr>
        <p:txBody>
          <a:bodyPr/>
          <a:p/>
        </p:txBody>
      </p:sp>
      <p:sp>
        <p:nvSpPr>
          <p:cNvPr id="21" name="Shape 19"/>
          <p:cNvSpPr/>
          <p:nvPr/>
        </p:nvSpPr>
        <p:spPr>
          <a:xfrm flipV="1">
            <a:off x="8655710" y="2331720"/>
            <a:ext cx="680314" cy="1554480"/>
          </a:xfrm>
          <a:prstGeom prst="line">
            <a:avLst/>
          </a:prstGeom>
          <a:noFill/>
          <a:ln w="19050">
            <a:solidFill>
              <a:srgbClr val="9FB0C8"/>
            </a:solidFill>
            <a:prstDash val="solid"/>
          </a:ln>
        </p:spPr>
        <p:txBody>
          <a:bodyPr/>
          <a:p/>
        </p:txBody>
      </p:sp>
      <p:sp>
        <p:nvSpPr>
          <p:cNvPr id="22" name="Shape 20"/>
          <p:cNvSpPr/>
          <p:nvPr/>
        </p:nvSpPr>
        <p:spPr>
          <a:xfrm>
            <a:off x="8655710" y="3886200"/>
            <a:ext cx="680314" cy="0"/>
          </a:xfrm>
          <a:prstGeom prst="line">
            <a:avLst/>
          </a:prstGeom>
          <a:noFill/>
          <a:ln w="19050">
            <a:solidFill>
              <a:srgbClr val="9FB0C8"/>
            </a:solidFill>
            <a:prstDash val="solid"/>
          </a:ln>
        </p:spPr>
        <p:txBody>
          <a:bodyPr/>
          <a:p/>
        </p:txBody>
      </p:sp>
      <p:sp>
        <p:nvSpPr>
          <p:cNvPr id="23" name="Shape 21"/>
          <p:cNvSpPr/>
          <p:nvPr/>
        </p:nvSpPr>
        <p:spPr>
          <a:xfrm>
            <a:off x="9336024" y="2331720"/>
            <a:ext cx="1133856" cy="0"/>
          </a:xfrm>
          <a:prstGeom prst="line">
            <a:avLst/>
          </a:prstGeom>
          <a:noFill/>
          <a:ln w="19050">
            <a:solidFill>
              <a:srgbClr val="9FB0C8"/>
            </a:solidFill>
            <a:prstDash val="solid"/>
          </a:ln>
        </p:spPr>
        <p:txBody>
          <a:bodyPr/>
          <a:p/>
        </p:txBody>
      </p:sp>
      <p:sp>
        <p:nvSpPr>
          <p:cNvPr id="24" name="Shape 22"/>
          <p:cNvSpPr/>
          <p:nvPr/>
        </p:nvSpPr>
        <p:spPr>
          <a:xfrm>
            <a:off x="9336024" y="3886200"/>
            <a:ext cx="1133856" cy="0"/>
          </a:xfrm>
          <a:prstGeom prst="line">
            <a:avLst/>
          </a:prstGeom>
          <a:noFill/>
          <a:ln w="19050">
            <a:solidFill>
              <a:srgbClr val="9FB0C8"/>
            </a:solidFill>
            <a:prstDash val="solid"/>
          </a:ln>
        </p:spPr>
        <p:txBody>
          <a:bodyPr/>
          <a:p/>
        </p:txBody>
      </p:sp>
      <p:sp>
        <p:nvSpPr>
          <p:cNvPr id="25" name="Shape 23"/>
          <p:cNvSpPr/>
          <p:nvPr/>
        </p:nvSpPr>
        <p:spPr>
          <a:xfrm>
            <a:off x="7584948" y="2281428"/>
            <a:ext cx="100584" cy="100584"/>
          </a:xfrm>
          <a:prstGeom prst="ellipse">
            <a:avLst/>
          </a:prstGeom>
          <a:solidFill>
            <a:srgbClr val="132A4A"/>
          </a:solidFill>
          <a:ln w="6350">
            <a:solidFill>
              <a:srgbClr val="132A4A"/>
            </a:solidFill>
            <a:prstDash val="solid"/>
          </a:ln>
        </p:spPr>
        <p:txBody>
          <a:bodyPr/>
          <a:p/>
        </p:txBody>
      </p:sp>
      <p:sp>
        <p:nvSpPr>
          <p:cNvPr id="26" name="Shape 24"/>
          <p:cNvSpPr/>
          <p:nvPr/>
        </p:nvSpPr>
        <p:spPr>
          <a:xfrm>
            <a:off x="7584948" y="3835908"/>
            <a:ext cx="100584" cy="100584"/>
          </a:xfrm>
          <a:prstGeom prst="ellipse">
            <a:avLst/>
          </a:prstGeom>
          <a:solidFill>
            <a:srgbClr val="132A4A"/>
          </a:solidFill>
          <a:ln w="6350">
            <a:solidFill>
              <a:srgbClr val="132A4A"/>
            </a:solidFill>
            <a:prstDash val="solid"/>
          </a:ln>
        </p:spPr>
        <p:txBody>
          <a:bodyPr/>
          <a:p/>
        </p:txBody>
      </p:sp>
      <p:sp>
        <p:nvSpPr>
          <p:cNvPr id="27" name="Shape 25"/>
          <p:cNvSpPr/>
          <p:nvPr/>
        </p:nvSpPr>
        <p:spPr>
          <a:xfrm>
            <a:off x="10419588" y="2281428"/>
            <a:ext cx="100584" cy="100584"/>
          </a:xfrm>
          <a:prstGeom prst="ellipse">
            <a:avLst/>
          </a:prstGeom>
          <a:solidFill>
            <a:srgbClr val="132A4A"/>
          </a:solidFill>
          <a:ln w="6350">
            <a:solidFill>
              <a:srgbClr val="132A4A"/>
            </a:solidFill>
            <a:prstDash val="solid"/>
          </a:ln>
        </p:spPr>
        <p:txBody>
          <a:bodyPr/>
          <a:p/>
        </p:txBody>
      </p:sp>
      <p:sp>
        <p:nvSpPr>
          <p:cNvPr id="28" name="Shape 26"/>
          <p:cNvSpPr/>
          <p:nvPr/>
        </p:nvSpPr>
        <p:spPr>
          <a:xfrm>
            <a:off x="10419588" y="3835908"/>
            <a:ext cx="100584" cy="100584"/>
          </a:xfrm>
          <a:prstGeom prst="ellipse">
            <a:avLst/>
          </a:prstGeom>
          <a:solidFill>
            <a:srgbClr val="132A4A"/>
          </a:solidFill>
          <a:ln w="6350">
            <a:solidFill>
              <a:srgbClr val="132A4A"/>
            </a:solidFill>
            <a:prstDash val="solid"/>
          </a:ln>
        </p:spPr>
        <p:txBody>
          <a:bodyPr/>
          <a:p/>
        </p:txBody>
      </p:sp>
      <p:sp>
        <p:nvSpPr>
          <p:cNvPr id="29" name="Shape 27"/>
          <p:cNvSpPr/>
          <p:nvPr/>
        </p:nvSpPr>
        <p:spPr>
          <a:xfrm>
            <a:off x="9180576" y="2176272"/>
            <a:ext cx="310896" cy="310896"/>
          </a:xfrm>
          <a:prstGeom prst="ellipse">
            <a:avLst/>
          </a:prstGeom>
          <a:solidFill>
            <a:srgbClr val="132A4A"/>
          </a:solidFill>
          <a:ln w="12700">
            <a:solidFill>
              <a:srgbClr val="132A4A"/>
            </a:solidFill>
            <a:prstDash val="solid"/>
          </a:ln>
        </p:spPr>
        <p:txBody>
          <a:bodyPr/>
          <a:p/>
        </p:txBody>
      </p:sp>
      <p:sp>
        <p:nvSpPr>
          <p:cNvPr id="30" name="Text 28"/>
          <p:cNvSpPr/>
          <p:nvPr/>
        </p:nvSpPr>
        <p:spPr>
          <a:xfrm>
            <a:off x="9180576" y="21762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9180576" y="3730752"/>
            <a:ext cx="310896" cy="310896"/>
          </a:xfrm>
          <a:prstGeom prst="ellipse">
            <a:avLst/>
          </a:prstGeom>
          <a:solidFill>
            <a:srgbClr val="132A4A"/>
          </a:solidFill>
          <a:ln w="12700">
            <a:solidFill>
              <a:srgbClr val="132A4A"/>
            </a:solidFill>
            <a:prstDash val="solid"/>
          </a:ln>
        </p:spPr>
        <p:txBody>
          <a:bodyPr/>
          <a:p/>
        </p:txBody>
      </p:sp>
      <p:sp>
        <p:nvSpPr>
          <p:cNvPr id="32" name="Text 30"/>
          <p:cNvSpPr/>
          <p:nvPr/>
        </p:nvSpPr>
        <p:spPr>
          <a:xfrm>
            <a:off x="9180576" y="3730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7778801" y="3739896"/>
            <a:ext cx="676656" cy="292608"/>
          </a:xfrm>
          <a:prstGeom prst="roundRect">
            <a:avLst>
              <a:gd name="adj" fmla="val 15625"/>
            </a:avLst>
          </a:prstGeom>
          <a:solidFill>
            <a:srgbClr val="FFFFFF"/>
          </a:solidFill>
          <a:ln w="19050">
            <a:solidFill>
              <a:srgbClr val="D98324"/>
            </a:solidFill>
            <a:prstDash val="solid"/>
          </a:ln>
        </p:spPr>
        <p:txBody>
          <a:bodyPr/>
          <a:p/>
        </p:txBody>
      </p:sp>
      <p:sp>
        <p:nvSpPr>
          <p:cNvPr id="34" name="Text 32"/>
          <p:cNvSpPr/>
          <p:nvPr/>
        </p:nvSpPr>
        <p:spPr>
          <a:xfrm>
            <a:off x="7778801" y="373989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W_N^k</a:t>
            </a:r>
            <a:endParaRPr lang="en-US" sz="1100" dirty="0"/>
          </a:p>
        </p:txBody>
      </p:sp>
      <p:sp>
        <p:nvSpPr>
          <p:cNvPr id="35" name="Text 33"/>
          <p:cNvSpPr/>
          <p:nvPr/>
        </p:nvSpPr>
        <p:spPr>
          <a:xfrm>
            <a:off x="6492240" y="218541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E[k]</a:t>
            </a:r>
            <a:endParaRPr lang="en-US" sz="1200" dirty="0"/>
          </a:p>
        </p:txBody>
      </p:sp>
      <p:sp>
        <p:nvSpPr>
          <p:cNvPr id="36" name="Text 34"/>
          <p:cNvSpPr/>
          <p:nvPr/>
        </p:nvSpPr>
        <p:spPr>
          <a:xfrm>
            <a:off x="6492240" y="373989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O[k]</a:t>
            </a:r>
            <a:endParaRPr lang="en-US" sz="1200" dirty="0"/>
          </a:p>
        </p:txBody>
      </p:sp>
      <p:sp>
        <p:nvSpPr>
          <p:cNvPr id="37" name="Text 35"/>
          <p:cNvSpPr/>
          <p:nvPr/>
        </p:nvSpPr>
        <p:spPr>
          <a:xfrm>
            <a:off x="10607040" y="218541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X[k]</a:t>
            </a:r>
            <a:endParaRPr lang="en-US" sz="1200" dirty="0"/>
          </a:p>
        </p:txBody>
      </p:sp>
      <p:sp>
        <p:nvSpPr>
          <p:cNvPr id="38" name="Text 36"/>
          <p:cNvSpPr/>
          <p:nvPr/>
        </p:nvSpPr>
        <p:spPr>
          <a:xfrm>
            <a:off x="10607040" y="373989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X[k+N/2]</a:t>
            </a:r>
            <a:endParaRPr lang="en-US" sz="1200" dirty="0"/>
          </a:p>
        </p:txBody>
      </p:sp>
      <p:sp>
        <p:nvSpPr>
          <p:cNvPr id="39" name="Text 37"/>
          <p:cNvSpPr/>
          <p:nvPr/>
        </p:nvSpPr>
        <p:spPr>
          <a:xfrm>
            <a:off x="6629400" y="4343400"/>
            <a:ext cx="4846320" cy="86868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Lines carry values, navy nodes add (+) or subtract (-), and the orange box is the single twiddle multiply on the odd branch.</a:t>
            </a:r>
            <a:endParaRPr lang="en-US" sz="1155" dirty="0"/>
          </a:p>
        </p:txBody>
      </p:sp>
      <p:sp>
        <p:nvSpPr>
          <p:cNvPr id="40" name="Shape 38"/>
          <p:cNvSpPr/>
          <p:nvPr/>
        </p:nvSpPr>
        <p:spPr>
          <a:xfrm>
            <a:off x="502920" y="5577840"/>
            <a:ext cx="11155680" cy="731520"/>
          </a:xfrm>
          <a:prstGeom prst="roundRect">
            <a:avLst>
              <a:gd name="adj" fmla="val 7500"/>
            </a:avLst>
          </a:prstGeom>
          <a:solidFill>
            <a:srgbClr val="E4F3F2"/>
          </a:solidFill>
          <a:ln w="12700">
            <a:solidFill>
              <a:srgbClr val="9FD4D1"/>
            </a:solidFill>
            <a:prstDash val="solid"/>
          </a:ln>
        </p:spPr>
        <p:txBody>
          <a:bodyPr/>
          <a:p/>
        </p:txBody>
      </p:sp>
      <p:sp>
        <p:nvSpPr>
          <p:cNvPr id="41" name="Text 39"/>
          <p:cNvSpPr/>
          <p:nvPr/>
        </p:nvSpPr>
        <p:spPr>
          <a:xfrm>
            <a:off x="731520" y="5669280"/>
            <a:ext cx="10698480" cy="548640"/>
          </a:xfrm>
          <a:prstGeom prst="rect">
            <a:avLst/>
          </a:prstGeom>
          <a:noFill/>
          <a:ln/>
        </p:spPr>
        <p:txBody>
          <a:bodyPr wrap="square" rtlCol="0" anchor="ctr"/>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Cost of one butterfly: 1 complex multiplication + 1 complex addition + 1 complex subtraction.</a:t>
            </a:r>
            <a:endParaRPr lang="en-US" sz="1485" dirty="0"/>
          </a:p>
        </p:txBody>
      </p:sp>
      <p:sp>
        <p:nvSpPr>
          <p:cNvPr id="42" name="Shape 40"/>
          <p:cNvSpPr/>
          <p:nvPr/>
        </p:nvSpPr>
        <p:spPr>
          <a:xfrm>
            <a:off x="502920" y="6473952"/>
            <a:ext cx="11155680" cy="27432"/>
          </a:xfrm>
          <a:prstGeom prst="rect">
            <a:avLst/>
          </a:prstGeom>
          <a:solidFill>
            <a:srgbClr val="D7DEE8"/>
          </a:solidFill>
          <a:ln/>
        </p:spPr>
        <p:txBody>
          <a:bodyPr/>
          <a:p/>
        </p:txBody>
      </p:sp>
      <p:sp>
        <p:nvSpPr>
          <p:cNvPr id="43" name="Shape 41"/>
          <p:cNvSpPr/>
          <p:nvPr/>
        </p:nvSpPr>
        <p:spPr>
          <a:xfrm>
            <a:off x="502920" y="6473952"/>
            <a:ext cx="2124891" cy="27432"/>
          </a:xfrm>
          <a:prstGeom prst="rect">
            <a:avLst/>
          </a:prstGeom>
          <a:solidFill>
            <a:srgbClr val="0E8388"/>
          </a:solidFill>
          <a:ln/>
        </p:spPr>
        <p:txBody>
          <a:bodyPr/>
          <a:p/>
        </p:txBody>
      </p:sp>
      <p:sp>
        <p:nvSpPr>
          <p:cNvPr id="44" name="Text 42"/>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5" name="Text 43"/>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Mathematics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2A · DIT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Twiddle Factors (Used by DIT and DIF)</a:t>
            </a:r>
            <a:endParaRPr lang="en-US" sz="2600" dirty="0"/>
          </a:p>
        </p:txBody>
      </p:sp>
      <p:sp>
        <p:nvSpPr>
          <p:cNvPr id="4" name="Shape 2"/>
          <p:cNvSpPr/>
          <p:nvPr/>
        </p:nvSpPr>
        <p:spPr>
          <a:xfrm>
            <a:off x="502920" y="1234440"/>
            <a:ext cx="5303520" cy="731520"/>
          </a:xfrm>
          <a:prstGeom prst="roundRect">
            <a:avLst>
              <a:gd name="adj" fmla="val 7500"/>
            </a:avLst>
          </a:prstGeom>
          <a:solidFill>
            <a:srgbClr val="132A4A"/>
          </a:solidFill>
          <a:ln w="12700">
            <a:solidFill>
              <a:srgbClr val="132A4A"/>
            </a:solidFill>
            <a:prstDash val="solid"/>
          </a:ln>
        </p:spPr>
        <p:txBody>
          <a:bodyPr/>
          <a:p/>
        </p:txBody>
      </p:sp>
      <p:sp>
        <p:nvSpPr>
          <p:cNvPr id="5" name="Text 3"/>
          <p:cNvSpPr/>
          <p:nvPr/>
        </p:nvSpPr>
        <p:spPr>
          <a:xfrm>
            <a:off x="502920" y="1234440"/>
            <a:ext cx="5303520" cy="7315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e</a:t>
            </a:r>
            <a:pPr algn="ctr" indent="0" marL="0">
              <a:buNone/>
            </a:pPr>
            <a:r>
              <a:rPr lang="en-US" sz="1300" b="1" baseline="30000" dirty="0">
                <a:solidFill>
                  <a:srgbClr val="FFFFFF"/>
                </a:solidFill>
                <a:latin typeface="Cambria" pitchFamily="34" charset="0"/>
                <a:ea typeface="Cambria" pitchFamily="34" charset="-122"/>
                <a:cs typeface="Cambria" pitchFamily="34" charset="-120"/>
              </a:rPr>
              <a:t>-j2πk/N</a:t>
            </a:r>
            <a:pPr algn="ctr" indent="0" marL="0">
              <a:buNone/>
            </a:pPr>
            <a:r>
              <a:rPr lang="en-US" sz="1300" b="1" dirty="0">
                <a:solidFill>
                  <a:srgbClr val="FFFFFF"/>
                </a:solidFill>
                <a:latin typeface="Cambria" pitchFamily="34" charset="0"/>
                <a:ea typeface="Cambria" pitchFamily="34" charset="-122"/>
                <a:cs typeface="Cambria" pitchFamily="34" charset="-120"/>
              </a:rPr>
              <a:t> = cos(2πk/N) - j sin(2πk/N)</a:t>
            </a:r>
            <a:endParaRPr lang="en-US" sz="1500" dirty="0"/>
          </a:p>
        </p:txBody>
      </p:sp>
      <p:sp>
        <p:nvSpPr>
          <p:cNvPr id="6" name="Text 4"/>
          <p:cNvSpPr/>
          <p:nvPr/>
        </p:nvSpPr>
        <p:spPr>
          <a:xfrm>
            <a:off x="502920" y="2103120"/>
            <a:ext cx="5303520" cy="1737360"/>
          </a:xfrm>
          <a:prstGeom prst="rect">
            <a:avLst/>
          </a:prstGeom>
          <a:noFill/>
          <a:ln/>
        </p:spPr>
        <p:txBody>
          <a:bodyPr wrap="square" rtlCol="0" anchor="t"/>
          <a:lstStyle/>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W_N^k is always a point on the unit circle: magnitude 1, only phase changes.</a:t>
            </a:r>
            <a:endParaRPr lang="en-US" sz="1375"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As k increases by 1, the phase rotates clockwise by an additional 2 pi / N radians.</a:t>
            </a:r>
            <a:endParaRPr lang="en-US" sz="1375"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Multiplying a complex number by W_N^k rotates it, it never changes its magnitude.</a:t>
            </a:r>
            <a:endParaRPr lang="en-US" sz="1375" dirty="0"/>
          </a:p>
        </p:txBody>
      </p:sp>
      <p:sp>
        <p:nvSpPr>
          <p:cNvPr id="7" name="Shape 5"/>
          <p:cNvSpPr/>
          <p:nvPr/>
        </p:nvSpPr>
        <p:spPr>
          <a:xfrm>
            <a:off x="502920" y="3977640"/>
            <a:ext cx="5303520" cy="1051560"/>
          </a:xfrm>
          <a:prstGeom prst="roundRect">
            <a:avLst>
              <a:gd name="adj" fmla="val 5217"/>
            </a:avLst>
          </a:prstGeom>
          <a:solidFill>
            <a:srgbClr val="FBF0E2"/>
          </a:solidFill>
          <a:ln w="12700">
            <a:solidFill>
              <a:srgbClr val="E7CDA0"/>
            </a:solidFill>
            <a:prstDash val="solid"/>
          </a:ln>
        </p:spPr>
        <p:txBody>
          <a:bodyPr/>
          <a:p/>
        </p:txBody>
      </p:sp>
      <p:sp>
        <p:nvSpPr>
          <p:cNvPr id="8" name="Text 6"/>
          <p:cNvSpPr/>
          <p:nvPr/>
        </p:nvSpPr>
        <p:spPr>
          <a:xfrm>
            <a:off x="685800" y="4096512"/>
            <a:ext cx="493776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Geometric picture: the N values W_N^0 ... W_N^(N-1) are the N-th roots of unity, N equally spaced points around the unit circle. For N = 8 they land every 45 degrees.</a:t>
            </a:r>
            <a:endParaRPr lang="en-US" sz="1320" dirty="0"/>
          </a:p>
        </p:txBody>
      </p:sp>
      <p:sp>
        <p:nvSpPr>
          <p:cNvPr id="9" name="Text 7"/>
          <p:cNvSpPr/>
          <p:nvPr/>
        </p:nvSpPr>
        <p:spPr>
          <a:xfrm>
            <a:off x="6446520" y="123444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THREE KEY SYMMETRIES</a:t>
            </a:r>
            <a:endParaRPr lang="en-US" sz="1200" dirty="0"/>
          </a:p>
        </p:txBody>
      </p:sp>
      <p:sp>
        <p:nvSpPr>
          <p:cNvPr id="10" name="Shape 8"/>
          <p:cNvSpPr/>
          <p:nvPr/>
        </p:nvSpPr>
        <p:spPr>
          <a:xfrm>
            <a:off x="6446520" y="1536192"/>
            <a:ext cx="4937760" cy="914400"/>
          </a:xfrm>
          <a:prstGeom prst="roundRect">
            <a:avLst>
              <a:gd name="adj" fmla="val 6000"/>
            </a:avLst>
          </a:prstGeom>
          <a:solidFill>
            <a:srgbClr val="EAF1FB"/>
          </a:solidFill>
          <a:ln w="12700">
            <a:solidFill>
              <a:srgbClr val="D7DEE8"/>
            </a:solidFill>
            <a:prstDash val="solid"/>
          </a:ln>
        </p:spPr>
        <p:txBody>
          <a:bodyPr/>
          <a:p/>
        </p:txBody>
      </p:sp>
      <p:sp>
        <p:nvSpPr>
          <p:cNvPr id="11" name="Text 9"/>
          <p:cNvSpPr/>
          <p:nvPr/>
        </p:nvSpPr>
        <p:spPr>
          <a:xfrm>
            <a:off x="6583680" y="1609344"/>
            <a:ext cx="4663440" cy="274320"/>
          </a:xfrm>
          <a:prstGeom prst="rect">
            <a:avLst/>
          </a:prstGeom>
          <a:noFill/>
          <a:ln/>
        </p:spPr>
        <p:txBody>
          <a:bodyPr wrap="square" rtlCol="0" anchor="ctr"/>
          <a:lstStyle/>
          <a:p>
            <a:pPr indent="0" marL="0">
              <a:buNone/>
            </a:pPr>
            <a:r>
              <a:rPr lang="en-US" sz="1100" b="1" dirty="0">
                <a:solidFill>
                  <a:srgbClr val="0E8388"/>
                </a:solidFill>
              </a:rPr>
              <a:t>Periodicity   </a:t>
            </a:r>
            <a:pPr indent="0" marL="0">
              <a:buNone/>
            </a:pPr>
            <a:r>
              <a:rPr lang="en-US" sz="1100" b="1" dirty="0">
                <a:solidFill>
                  <a:srgbClr val="132A4A"/>
                </a:solidFill>
              </a:rPr>
              <a:t>W_N^(k+N) = W_N^k</a:t>
            </a:r>
            <a:endParaRPr lang="en-US" sz="1200" dirty="0"/>
          </a:p>
        </p:txBody>
      </p:sp>
      <p:sp>
        <p:nvSpPr>
          <p:cNvPr id="12" name="Text 10"/>
          <p:cNvSpPr/>
          <p:nvPr/>
        </p:nvSpPr>
        <p:spPr>
          <a:xfrm>
            <a:off x="6583680" y="1901952"/>
            <a:ext cx="4663440" cy="502920"/>
          </a:xfrm>
          <a:prstGeom prst="rect">
            <a:avLst/>
          </a:prstGeom>
          <a:noFill/>
          <a:ln/>
        </p:spPr>
        <p:txBody>
          <a:bodyPr wrap="square" rtlCol="0" anchor="t"/>
          <a:lstStyle/>
          <a:p>
            <a:pPr algn="l" indent="0" marL="0">
              <a:lnSpc>
                <a:spcPct val="118000"/>
              </a:lnSpc>
              <a:buNone/>
            </a:pPr>
            <a:r>
              <a:rPr lang="en-US" sz="1300" dirty="0">
                <a:solidFill>
                  <a:srgbClr val="5C6B7A"/>
                </a:solidFill>
                <a:latin typeface="Calibri" pitchFamily="34" charset="0"/>
                <a:ea typeface="Calibri" pitchFamily="34" charset="-122"/>
                <a:cs typeface="Calibri" pitchFamily="34" charset="-120"/>
              </a:rPr>
              <a:t>Rotating a full N steps returns to the same point; tables only ever need N distinct entries.</a:t>
            </a:r>
            <a:endParaRPr lang="en-US" sz="1188" dirty="0"/>
          </a:p>
        </p:txBody>
      </p:sp>
      <p:sp>
        <p:nvSpPr>
          <p:cNvPr id="13" name="Shape 11"/>
          <p:cNvSpPr/>
          <p:nvPr/>
        </p:nvSpPr>
        <p:spPr>
          <a:xfrm>
            <a:off x="6446520" y="2587752"/>
            <a:ext cx="4937760" cy="914400"/>
          </a:xfrm>
          <a:prstGeom prst="roundRect">
            <a:avLst>
              <a:gd name="adj" fmla="val 6000"/>
            </a:avLst>
          </a:prstGeom>
          <a:solidFill>
            <a:srgbClr val="EAF1FB"/>
          </a:solidFill>
          <a:ln w="12700">
            <a:solidFill>
              <a:srgbClr val="D7DEE8"/>
            </a:solidFill>
            <a:prstDash val="solid"/>
          </a:ln>
        </p:spPr>
        <p:txBody>
          <a:bodyPr/>
          <a:p/>
        </p:txBody>
      </p:sp>
      <p:sp>
        <p:nvSpPr>
          <p:cNvPr id="14" name="Text 12"/>
          <p:cNvSpPr/>
          <p:nvPr/>
        </p:nvSpPr>
        <p:spPr>
          <a:xfrm>
            <a:off x="6583680" y="2660904"/>
            <a:ext cx="4663440" cy="274320"/>
          </a:xfrm>
          <a:prstGeom prst="rect">
            <a:avLst/>
          </a:prstGeom>
          <a:noFill/>
          <a:ln/>
        </p:spPr>
        <p:txBody>
          <a:bodyPr wrap="square" rtlCol="0" anchor="ctr"/>
          <a:lstStyle/>
          <a:p>
            <a:pPr indent="0" marL="0">
              <a:buNone/>
            </a:pPr>
            <a:r>
              <a:rPr lang="en-US" sz="1100" b="1" dirty="0">
                <a:solidFill>
                  <a:srgbClr val="0E8388"/>
                </a:solidFill>
              </a:rPr>
              <a:t>Half-period   </a:t>
            </a:r>
            <a:pPr indent="0" marL="0">
              <a:buNone/>
            </a:pPr>
            <a:r>
              <a:rPr lang="en-US" sz="1100" b="1" dirty="0">
                <a:solidFill>
                  <a:srgbClr val="132A4A"/>
                </a:solidFill>
              </a:rPr>
              <a:t>W_N^(k+N/2) = -W_N^k</a:t>
            </a:r>
            <a:endParaRPr lang="en-US" sz="1200" dirty="0"/>
          </a:p>
        </p:txBody>
      </p:sp>
      <p:sp>
        <p:nvSpPr>
          <p:cNvPr id="15" name="Text 13"/>
          <p:cNvSpPr/>
          <p:nvPr/>
        </p:nvSpPr>
        <p:spPr>
          <a:xfrm>
            <a:off x="6583680" y="2953512"/>
            <a:ext cx="4663440" cy="502920"/>
          </a:xfrm>
          <a:prstGeom prst="rect">
            <a:avLst/>
          </a:prstGeom>
          <a:noFill/>
          <a:ln/>
        </p:spPr>
        <p:txBody>
          <a:bodyPr wrap="square" rtlCol="0" anchor="t"/>
          <a:lstStyle/>
          <a:p>
            <a:pPr algn="l" indent="0" marL="0">
              <a:lnSpc>
                <a:spcPct val="118000"/>
              </a:lnSpc>
              <a:buNone/>
            </a:pPr>
            <a:r>
              <a:rPr lang="en-US" sz="1300" dirty="0">
                <a:solidFill>
                  <a:srgbClr val="5C6B7A"/>
                </a:solidFill>
                <a:latin typeface="Calibri" pitchFamily="34" charset="0"/>
                <a:ea typeface="Calibri" pitchFamily="34" charset="-122"/>
                <a:cs typeface="Calibri" pitchFamily="34" charset="-120"/>
              </a:rPr>
              <a:t>A rotation of half the circle is exactly a sign flip. This turns X[k+N/2] into A-B.</a:t>
            </a:r>
            <a:endParaRPr lang="en-US" sz="1188" dirty="0"/>
          </a:p>
        </p:txBody>
      </p:sp>
      <p:sp>
        <p:nvSpPr>
          <p:cNvPr id="16" name="Shape 14"/>
          <p:cNvSpPr/>
          <p:nvPr/>
        </p:nvSpPr>
        <p:spPr>
          <a:xfrm>
            <a:off x="6446520" y="3639312"/>
            <a:ext cx="4937760" cy="914400"/>
          </a:xfrm>
          <a:prstGeom prst="roundRect">
            <a:avLst>
              <a:gd name="adj" fmla="val 6000"/>
            </a:avLst>
          </a:prstGeom>
          <a:solidFill>
            <a:srgbClr val="EAF1FB"/>
          </a:solidFill>
          <a:ln w="12700">
            <a:solidFill>
              <a:srgbClr val="D7DEE8"/>
            </a:solidFill>
            <a:prstDash val="solid"/>
          </a:ln>
        </p:spPr>
        <p:txBody>
          <a:bodyPr/>
          <a:p/>
        </p:txBody>
      </p:sp>
      <p:sp>
        <p:nvSpPr>
          <p:cNvPr id="17" name="Text 15"/>
          <p:cNvSpPr/>
          <p:nvPr/>
        </p:nvSpPr>
        <p:spPr>
          <a:xfrm>
            <a:off x="6583680" y="3712464"/>
            <a:ext cx="4663440" cy="274320"/>
          </a:xfrm>
          <a:prstGeom prst="rect">
            <a:avLst/>
          </a:prstGeom>
          <a:noFill/>
          <a:ln/>
        </p:spPr>
        <p:txBody>
          <a:bodyPr wrap="square" rtlCol="0" anchor="ctr"/>
          <a:lstStyle/>
          <a:p>
            <a:pPr indent="0" marL="0">
              <a:buNone/>
            </a:pPr>
            <a:r>
              <a:rPr lang="en-US" sz="1100" b="1" dirty="0">
                <a:solidFill>
                  <a:srgbClr val="0E8388"/>
                </a:solidFill>
              </a:rPr>
              <a:t>Conjugate symmetry   </a:t>
            </a:r>
            <a:pPr indent="0" marL="0">
              <a:buNone/>
            </a:pPr>
            <a:r>
              <a:rPr lang="en-US" sz="1100" b="1" dirty="0">
                <a:solidFill>
                  <a:srgbClr val="132A4A"/>
                </a:solidFill>
              </a:rPr>
              <a:t>W_N^(-k) = (W_N^k)*</a:t>
            </a:r>
            <a:endParaRPr lang="en-US" sz="1200" dirty="0"/>
          </a:p>
        </p:txBody>
      </p:sp>
      <p:sp>
        <p:nvSpPr>
          <p:cNvPr id="18" name="Text 16"/>
          <p:cNvSpPr/>
          <p:nvPr/>
        </p:nvSpPr>
        <p:spPr>
          <a:xfrm>
            <a:off x="6583680" y="4005072"/>
            <a:ext cx="4663440" cy="502920"/>
          </a:xfrm>
          <a:prstGeom prst="rect">
            <a:avLst/>
          </a:prstGeom>
          <a:noFill/>
          <a:ln/>
        </p:spPr>
        <p:txBody>
          <a:bodyPr wrap="square" rtlCol="0" anchor="t"/>
          <a:lstStyle/>
          <a:p>
            <a:pPr algn="l" indent="0" marL="0">
              <a:lnSpc>
                <a:spcPct val="118000"/>
              </a:lnSpc>
              <a:buNone/>
            </a:pPr>
            <a:r>
              <a:rPr lang="en-US" sz="1300" dirty="0">
                <a:solidFill>
                  <a:srgbClr val="5C6B7A"/>
                </a:solidFill>
                <a:latin typeface="Calibri" pitchFamily="34" charset="0"/>
                <a:ea typeface="Calibri" pitchFamily="34" charset="-122"/>
                <a:cs typeface="Calibri" pitchFamily="34" charset="-120"/>
              </a:rPr>
              <a:t>Negative-frequency values are conjugates of positive ones; only half the circle needs storing.</a:t>
            </a:r>
            <a:endParaRPr lang="en-US" sz="1188" dirty="0"/>
          </a:p>
        </p:txBody>
      </p:sp>
      <p:sp>
        <p:nvSpPr>
          <p:cNvPr id="19" name="Shape 17"/>
          <p:cNvSpPr/>
          <p:nvPr/>
        </p:nvSpPr>
        <p:spPr>
          <a:xfrm>
            <a:off x="502920" y="6473952"/>
            <a:ext cx="11155680" cy="27432"/>
          </a:xfrm>
          <a:prstGeom prst="rect">
            <a:avLst/>
          </a:prstGeom>
          <a:solidFill>
            <a:srgbClr val="D7DEE8"/>
          </a:solidFill>
          <a:ln/>
        </p:spPr>
        <p:txBody>
          <a:bodyPr/>
          <a:p/>
        </p:txBody>
      </p:sp>
      <p:sp>
        <p:nvSpPr>
          <p:cNvPr id="20" name="Shape 18"/>
          <p:cNvSpPr/>
          <p:nvPr/>
        </p:nvSpPr>
        <p:spPr>
          <a:xfrm>
            <a:off x="502920" y="6473952"/>
            <a:ext cx="2390503" cy="27432"/>
          </a:xfrm>
          <a:prstGeom prst="rect">
            <a:avLst/>
          </a:prstGeom>
          <a:solidFill>
            <a:srgbClr val="0E8388"/>
          </a:solidFill>
          <a:ln/>
        </p:spPr>
        <p:txBody>
          <a:bodyPr/>
          <a:p/>
        </p:txBody>
      </p:sp>
      <p:sp>
        <p:nvSpPr>
          <p:cNvPr id="21" name="Text 1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2" name="Text 2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Mathematics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2B · DIF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Decimation-in-Frequency (DIF): The Decomposition Idea</a:t>
            </a:r>
            <a:endParaRPr lang="en-US" sz="2600" dirty="0"/>
          </a:p>
        </p:txBody>
      </p:sp>
      <p:sp>
        <p:nvSpPr>
          <p:cNvPr id="4" name="Text 2"/>
          <p:cNvSpPr/>
          <p:nvPr/>
        </p:nvSpPr>
        <p:spPr>
          <a:xfrm>
            <a:off x="502920" y="1234440"/>
            <a:ext cx="5303520" cy="3840480"/>
          </a:xfrm>
          <a:prstGeom prst="rect">
            <a:avLst/>
          </a:prstGeom>
          <a:noFill/>
          <a:ln/>
        </p:spPr>
        <p:txBody>
          <a:bodyPr wrap="square" rtlCol="0" anchor="t"/>
          <a:lstStyle/>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DIT decomposes by grouping input samples: even-indexed and odd-indexed time samples each feed their own N/2-point DFT.</a:t>
            </a:r>
            <a:endParaRPr lang="en-US" sz="1364"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DIF decomposes the other way, by grouping output frequencies: even-indexed outputs X[0],X[2],X[4],... form one N/2-point problem, odd-indexed outputs X[1],X[3],X[5],... form another.</a:t>
            </a:r>
            <a:endParaRPr lang="en-US" sz="1364"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Worked through the algebra (next slide), splitting the output by parity turns out to mean splitting the input sequence into its first half and second half, x[0..N/2-1] and x[N/2..N-1], not by even/odd input index.</a:t>
            </a:r>
            <a:endParaRPr lang="en-US" sz="1364"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Same requirement as DIT: N must be a power of 2, so the split reaches trivial 1-point pieces after log₂N levels.</a:t>
            </a:r>
            <a:endParaRPr lang="en-US" sz="1364" dirty="0"/>
          </a:p>
        </p:txBody>
      </p:sp>
      <p:sp>
        <p:nvSpPr>
          <p:cNvPr id="5" name="Text 3"/>
          <p:cNvSpPr/>
          <p:nvPr/>
        </p:nvSpPr>
        <p:spPr>
          <a:xfrm>
            <a:off x="6309360" y="1234440"/>
            <a:ext cx="4937760" cy="274320"/>
          </a:xfrm>
          <a:prstGeom prst="rect">
            <a:avLst/>
          </a:prstGeom>
          <a:noFill/>
          <a:ln/>
        </p:spPr>
        <p:txBody>
          <a:bodyPr wrap="square" rtlCol="0" anchor="ctr"/>
          <a:lstStyle/>
          <a:p>
            <a:pPr algn="l" indent="0" marL="0">
              <a:buNone/>
            </a:pPr>
            <a:r>
              <a:rPr lang="en-US" sz="1100" b="1" spc="150" kern="0" dirty="0">
                <a:solidFill>
                  <a:srgbClr val="0E8388"/>
                </a:solidFill>
                <a:latin typeface="Calibri" pitchFamily="34" charset="0"/>
                <a:ea typeface="Calibri" pitchFamily="34" charset="-122"/>
                <a:cs typeface="Calibri" pitchFamily="34" charset="-120"/>
              </a:rPr>
              <a:t>OUTPUT DECOMPOSITION TREE (N=8)</a:t>
            </a:r>
            <a:endParaRPr lang="en-US" sz="1150" dirty="0"/>
          </a:p>
        </p:txBody>
      </p:sp>
      <p:sp>
        <p:nvSpPr>
          <p:cNvPr id="6" name="Shape 4"/>
          <p:cNvSpPr/>
          <p:nvPr/>
        </p:nvSpPr>
        <p:spPr>
          <a:xfrm>
            <a:off x="8915400" y="2148840"/>
            <a:ext cx="0" cy="228600"/>
          </a:xfrm>
          <a:prstGeom prst="line">
            <a:avLst/>
          </a:prstGeom>
          <a:noFill/>
          <a:ln w="19050">
            <a:solidFill>
              <a:srgbClr val="9FB0C8"/>
            </a:solidFill>
            <a:prstDash val="solid"/>
          </a:ln>
        </p:spPr>
        <p:txBody>
          <a:bodyPr/>
          <a:p/>
        </p:txBody>
      </p:sp>
      <p:sp>
        <p:nvSpPr>
          <p:cNvPr id="7" name="Shape 5"/>
          <p:cNvSpPr/>
          <p:nvPr/>
        </p:nvSpPr>
        <p:spPr>
          <a:xfrm>
            <a:off x="7589520" y="2377440"/>
            <a:ext cx="1325880" cy="0"/>
          </a:xfrm>
          <a:prstGeom prst="line">
            <a:avLst/>
          </a:prstGeom>
          <a:noFill/>
          <a:ln w="19050">
            <a:solidFill>
              <a:srgbClr val="9FB0C8"/>
            </a:solidFill>
            <a:prstDash val="solid"/>
          </a:ln>
        </p:spPr>
        <p:txBody>
          <a:bodyPr/>
          <a:p/>
        </p:txBody>
      </p:sp>
      <p:sp>
        <p:nvSpPr>
          <p:cNvPr id="8" name="Shape 6"/>
          <p:cNvSpPr/>
          <p:nvPr/>
        </p:nvSpPr>
        <p:spPr>
          <a:xfrm>
            <a:off x="7589520" y="2377440"/>
            <a:ext cx="0" cy="228600"/>
          </a:xfrm>
          <a:prstGeom prst="line">
            <a:avLst/>
          </a:prstGeom>
          <a:noFill/>
          <a:ln w="19050">
            <a:solidFill>
              <a:srgbClr val="9FB0C8"/>
            </a:solidFill>
            <a:prstDash val="solid"/>
          </a:ln>
        </p:spPr>
        <p:txBody>
          <a:bodyPr/>
          <a:p/>
        </p:txBody>
      </p:sp>
      <p:sp>
        <p:nvSpPr>
          <p:cNvPr id="9" name="Shape 7"/>
          <p:cNvSpPr/>
          <p:nvPr/>
        </p:nvSpPr>
        <p:spPr>
          <a:xfrm>
            <a:off x="8915400" y="2148840"/>
            <a:ext cx="0" cy="228600"/>
          </a:xfrm>
          <a:prstGeom prst="line">
            <a:avLst/>
          </a:prstGeom>
          <a:noFill/>
          <a:ln w="19050">
            <a:solidFill>
              <a:srgbClr val="9FB0C8"/>
            </a:solidFill>
            <a:prstDash val="solid"/>
          </a:ln>
        </p:spPr>
        <p:txBody>
          <a:bodyPr/>
          <a:p/>
        </p:txBody>
      </p:sp>
      <p:sp>
        <p:nvSpPr>
          <p:cNvPr id="10" name="Shape 8"/>
          <p:cNvSpPr/>
          <p:nvPr/>
        </p:nvSpPr>
        <p:spPr>
          <a:xfrm>
            <a:off x="8915400" y="2377440"/>
            <a:ext cx="1325880" cy="0"/>
          </a:xfrm>
          <a:prstGeom prst="line">
            <a:avLst/>
          </a:prstGeom>
          <a:noFill/>
          <a:ln w="19050">
            <a:solidFill>
              <a:srgbClr val="9FB0C8"/>
            </a:solidFill>
            <a:prstDash val="solid"/>
          </a:ln>
        </p:spPr>
        <p:txBody>
          <a:bodyPr/>
          <a:p/>
        </p:txBody>
      </p:sp>
      <p:sp>
        <p:nvSpPr>
          <p:cNvPr id="11" name="Shape 9"/>
          <p:cNvSpPr/>
          <p:nvPr/>
        </p:nvSpPr>
        <p:spPr>
          <a:xfrm>
            <a:off x="10241280" y="2377440"/>
            <a:ext cx="0" cy="228600"/>
          </a:xfrm>
          <a:prstGeom prst="line">
            <a:avLst/>
          </a:prstGeom>
          <a:noFill/>
          <a:ln w="19050">
            <a:solidFill>
              <a:srgbClr val="9FB0C8"/>
            </a:solidFill>
            <a:prstDash val="solid"/>
          </a:ln>
        </p:spPr>
        <p:txBody>
          <a:bodyPr/>
          <a:p/>
        </p:txBody>
      </p:sp>
      <p:sp>
        <p:nvSpPr>
          <p:cNvPr id="12" name="Shape 10"/>
          <p:cNvSpPr/>
          <p:nvPr/>
        </p:nvSpPr>
        <p:spPr>
          <a:xfrm>
            <a:off x="7589520" y="3063240"/>
            <a:ext cx="0" cy="228600"/>
          </a:xfrm>
          <a:prstGeom prst="line">
            <a:avLst/>
          </a:prstGeom>
          <a:noFill/>
          <a:ln w="19050">
            <a:solidFill>
              <a:srgbClr val="9FB0C8"/>
            </a:solidFill>
            <a:prstDash val="solid"/>
          </a:ln>
        </p:spPr>
        <p:txBody>
          <a:bodyPr/>
          <a:p/>
        </p:txBody>
      </p:sp>
      <p:sp>
        <p:nvSpPr>
          <p:cNvPr id="13" name="Shape 11"/>
          <p:cNvSpPr/>
          <p:nvPr/>
        </p:nvSpPr>
        <p:spPr>
          <a:xfrm>
            <a:off x="6858000" y="3291840"/>
            <a:ext cx="731520" cy="0"/>
          </a:xfrm>
          <a:prstGeom prst="line">
            <a:avLst/>
          </a:prstGeom>
          <a:noFill/>
          <a:ln w="19050">
            <a:solidFill>
              <a:srgbClr val="9FB0C8"/>
            </a:solidFill>
            <a:prstDash val="solid"/>
          </a:ln>
        </p:spPr>
        <p:txBody>
          <a:bodyPr/>
          <a:p/>
        </p:txBody>
      </p:sp>
      <p:sp>
        <p:nvSpPr>
          <p:cNvPr id="14" name="Shape 12"/>
          <p:cNvSpPr/>
          <p:nvPr/>
        </p:nvSpPr>
        <p:spPr>
          <a:xfrm>
            <a:off x="6858000" y="3291840"/>
            <a:ext cx="0" cy="228600"/>
          </a:xfrm>
          <a:prstGeom prst="line">
            <a:avLst/>
          </a:prstGeom>
          <a:noFill/>
          <a:ln w="19050">
            <a:solidFill>
              <a:srgbClr val="9FB0C8"/>
            </a:solidFill>
            <a:prstDash val="solid"/>
          </a:ln>
        </p:spPr>
        <p:txBody>
          <a:bodyPr/>
          <a:p/>
        </p:txBody>
      </p:sp>
      <p:sp>
        <p:nvSpPr>
          <p:cNvPr id="15" name="Shape 13"/>
          <p:cNvSpPr/>
          <p:nvPr/>
        </p:nvSpPr>
        <p:spPr>
          <a:xfrm>
            <a:off x="7589520" y="3063240"/>
            <a:ext cx="0" cy="228600"/>
          </a:xfrm>
          <a:prstGeom prst="line">
            <a:avLst/>
          </a:prstGeom>
          <a:noFill/>
          <a:ln w="19050">
            <a:solidFill>
              <a:srgbClr val="9FB0C8"/>
            </a:solidFill>
            <a:prstDash val="solid"/>
          </a:ln>
        </p:spPr>
        <p:txBody>
          <a:bodyPr/>
          <a:p/>
        </p:txBody>
      </p:sp>
      <p:sp>
        <p:nvSpPr>
          <p:cNvPr id="16" name="Shape 14"/>
          <p:cNvSpPr/>
          <p:nvPr/>
        </p:nvSpPr>
        <p:spPr>
          <a:xfrm>
            <a:off x="7589520" y="3291840"/>
            <a:ext cx="731520" cy="0"/>
          </a:xfrm>
          <a:prstGeom prst="line">
            <a:avLst/>
          </a:prstGeom>
          <a:noFill/>
          <a:ln w="19050">
            <a:solidFill>
              <a:srgbClr val="9FB0C8"/>
            </a:solidFill>
            <a:prstDash val="solid"/>
          </a:ln>
        </p:spPr>
        <p:txBody>
          <a:bodyPr/>
          <a:p/>
        </p:txBody>
      </p:sp>
      <p:sp>
        <p:nvSpPr>
          <p:cNvPr id="17" name="Shape 15"/>
          <p:cNvSpPr/>
          <p:nvPr/>
        </p:nvSpPr>
        <p:spPr>
          <a:xfrm>
            <a:off x="8321040" y="3291840"/>
            <a:ext cx="0" cy="228600"/>
          </a:xfrm>
          <a:prstGeom prst="line">
            <a:avLst/>
          </a:prstGeom>
          <a:noFill/>
          <a:ln w="19050">
            <a:solidFill>
              <a:srgbClr val="9FB0C8"/>
            </a:solidFill>
            <a:prstDash val="solid"/>
          </a:ln>
        </p:spPr>
        <p:txBody>
          <a:bodyPr/>
          <a:p/>
        </p:txBody>
      </p:sp>
      <p:sp>
        <p:nvSpPr>
          <p:cNvPr id="18" name="Shape 16"/>
          <p:cNvSpPr/>
          <p:nvPr/>
        </p:nvSpPr>
        <p:spPr>
          <a:xfrm>
            <a:off x="10241280" y="3063240"/>
            <a:ext cx="0" cy="228600"/>
          </a:xfrm>
          <a:prstGeom prst="line">
            <a:avLst/>
          </a:prstGeom>
          <a:noFill/>
          <a:ln w="19050">
            <a:solidFill>
              <a:srgbClr val="9FB0C8"/>
            </a:solidFill>
            <a:prstDash val="solid"/>
          </a:ln>
        </p:spPr>
        <p:txBody>
          <a:bodyPr/>
          <a:p/>
        </p:txBody>
      </p:sp>
      <p:sp>
        <p:nvSpPr>
          <p:cNvPr id="19" name="Shape 17"/>
          <p:cNvSpPr/>
          <p:nvPr/>
        </p:nvSpPr>
        <p:spPr>
          <a:xfrm>
            <a:off x="9509760" y="3291840"/>
            <a:ext cx="731520" cy="0"/>
          </a:xfrm>
          <a:prstGeom prst="line">
            <a:avLst/>
          </a:prstGeom>
          <a:noFill/>
          <a:ln w="19050">
            <a:solidFill>
              <a:srgbClr val="9FB0C8"/>
            </a:solidFill>
            <a:prstDash val="solid"/>
          </a:ln>
        </p:spPr>
        <p:txBody>
          <a:bodyPr/>
          <a:p/>
        </p:txBody>
      </p:sp>
      <p:sp>
        <p:nvSpPr>
          <p:cNvPr id="20" name="Shape 18"/>
          <p:cNvSpPr/>
          <p:nvPr/>
        </p:nvSpPr>
        <p:spPr>
          <a:xfrm>
            <a:off x="9509760" y="3291840"/>
            <a:ext cx="0" cy="228600"/>
          </a:xfrm>
          <a:prstGeom prst="line">
            <a:avLst/>
          </a:prstGeom>
          <a:noFill/>
          <a:ln w="19050">
            <a:solidFill>
              <a:srgbClr val="9FB0C8"/>
            </a:solidFill>
            <a:prstDash val="solid"/>
          </a:ln>
        </p:spPr>
        <p:txBody>
          <a:bodyPr/>
          <a:p/>
        </p:txBody>
      </p:sp>
      <p:sp>
        <p:nvSpPr>
          <p:cNvPr id="21" name="Shape 19"/>
          <p:cNvSpPr/>
          <p:nvPr/>
        </p:nvSpPr>
        <p:spPr>
          <a:xfrm>
            <a:off x="10241280" y="3063240"/>
            <a:ext cx="0" cy="228600"/>
          </a:xfrm>
          <a:prstGeom prst="line">
            <a:avLst/>
          </a:prstGeom>
          <a:noFill/>
          <a:ln w="19050">
            <a:solidFill>
              <a:srgbClr val="9FB0C8"/>
            </a:solidFill>
            <a:prstDash val="solid"/>
          </a:ln>
        </p:spPr>
        <p:txBody>
          <a:bodyPr/>
          <a:p/>
        </p:txBody>
      </p:sp>
      <p:sp>
        <p:nvSpPr>
          <p:cNvPr id="22" name="Shape 20"/>
          <p:cNvSpPr/>
          <p:nvPr/>
        </p:nvSpPr>
        <p:spPr>
          <a:xfrm>
            <a:off x="10241280" y="3291840"/>
            <a:ext cx="731520" cy="0"/>
          </a:xfrm>
          <a:prstGeom prst="line">
            <a:avLst/>
          </a:prstGeom>
          <a:noFill/>
          <a:ln w="19050">
            <a:solidFill>
              <a:srgbClr val="9FB0C8"/>
            </a:solidFill>
            <a:prstDash val="solid"/>
          </a:ln>
        </p:spPr>
        <p:txBody>
          <a:bodyPr/>
          <a:p/>
        </p:txBody>
      </p:sp>
      <p:sp>
        <p:nvSpPr>
          <p:cNvPr id="23" name="Shape 21"/>
          <p:cNvSpPr/>
          <p:nvPr/>
        </p:nvSpPr>
        <p:spPr>
          <a:xfrm>
            <a:off x="10972800" y="3291840"/>
            <a:ext cx="0" cy="228600"/>
          </a:xfrm>
          <a:prstGeom prst="line">
            <a:avLst/>
          </a:prstGeom>
          <a:noFill/>
          <a:ln w="19050">
            <a:solidFill>
              <a:srgbClr val="9FB0C8"/>
            </a:solidFill>
            <a:prstDash val="solid"/>
          </a:ln>
        </p:spPr>
        <p:txBody>
          <a:bodyPr/>
          <a:p/>
        </p:txBody>
      </p:sp>
      <p:sp>
        <p:nvSpPr>
          <p:cNvPr id="24" name="Shape 22"/>
          <p:cNvSpPr/>
          <p:nvPr/>
        </p:nvSpPr>
        <p:spPr>
          <a:xfrm>
            <a:off x="7772400" y="1691640"/>
            <a:ext cx="2286000" cy="457200"/>
          </a:xfrm>
          <a:prstGeom prst="roundRect">
            <a:avLst>
              <a:gd name="adj" fmla="val 14000"/>
            </a:avLst>
          </a:prstGeom>
          <a:solidFill>
            <a:srgbClr val="132A4A"/>
          </a:solidFill>
          <a:ln w="12700">
            <a:solidFill>
              <a:srgbClr val="D7DEE8"/>
            </a:solidFill>
            <a:prstDash val="solid"/>
          </a:ln>
        </p:spPr>
        <p:txBody>
          <a:bodyPr/>
          <a:p/>
        </p:txBody>
      </p:sp>
      <p:sp>
        <p:nvSpPr>
          <p:cNvPr id="25" name="Text 23"/>
          <p:cNvSpPr/>
          <p:nvPr/>
        </p:nvSpPr>
        <p:spPr>
          <a:xfrm>
            <a:off x="7772400" y="1691640"/>
            <a:ext cx="22860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X[0..7], 8 outputs</a:t>
            </a:r>
            <a:endParaRPr lang="en-US" sz="1250" dirty="0"/>
          </a:p>
        </p:txBody>
      </p:sp>
      <p:sp>
        <p:nvSpPr>
          <p:cNvPr id="26" name="Shape 24"/>
          <p:cNvSpPr/>
          <p:nvPr/>
        </p:nvSpPr>
        <p:spPr>
          <a:xfrm>
            <a:off x="6537960" y="2606040"/>
            <a:ext cx="2103120" cy="457200"/>
          </a:xfrm>
          <a:prstGeom prst="roundRect">
            <a:avLst>
              <a:gd name="adj" fmla="val 14000"/>
            </a:avLst>
          </a:prstGeom>
          <a:solidFill>
            <a:srgbClr val="9FD4D1"/>
          </a:solidFill>
          <a:ln w="12700">
            <a:solidFill>
              <a:srgbClr val="D7DEE8"/>
            </a:solidFill>
            <a:prstDash val="solid"/>
          </a:ln>
        </p:spPr>
        <p:txBody>
          <a:bodyPr/>
          <a:p/>
        </p:txBody>
      </p:sp>
      <p:sp>
        <p:nvSpPr>
          <p:cNvPr id="27" name="Text 25"/>
          <p:cNvSpPr/>
          <p:nvPr/>
        </p:nvSpPr>
        <p:spPr>
          <a:xfrm>
            <a:off x="6537960" y="2606040"/>
            <a:ext cx="2103120" cy="457200"/>
          </a:xfrm>
          <a:prstGeom prst="rect">
            <a:avLst/>
          </a:prstGeom>
          <a:noFill/>
          <a:ln/>
        </p:spPr>
        <p:txBody>
          <a:bodyPr wrap="square" lIns="0" tIns="0" rIns="0" bIns="0" rtlCol="0" anchor="ctr"/>
          <a:lstStyle/>
          <a:p>
            <a:pPr algn="ctr" indent="0" marL="0">
              <a:buNone/>
            </a:pPr>
            <a:r>
              <a:rPr lang="en-US" sz="1300" b="1" dirty="0">
                <a:solidFill>
                  <a:srgbClr val="132A4A"/>
                </a:solidFill>
                <a:latin typeface="Calibri" pitchFamily="34" charset="0"/>
                <a:ea typeface="Calibri" pitchFamily="34" charset="-122"/>
                <a:cs typeface="Calibri" pitchFamily="34" charset="-120"/>
              </a:rPr>
              <a:t>Even: X[0,2,4,6]</a:t>
            </a:r>
            <a:endParaRPr lang="en-US" sz="1150" dirty="0"/>
          </a:p>
        </p:txBody>
      </p:sp>
      <p:sp>
        <p:nvSpPr>
          <p:cNvPr id="28" name="Shape 26"/>
          <p:cNvSpPr/>
          <p:nvPr/>
        </p:nvSpPr>
        <p:spPr>
          <a:xfrm>
            <a:off x="9189720" y="2606040"/>
            <a:ext cx="2103120" cy="457200"/>
          </a:xfrm>
          <a:prstGeom prst="roundRect">
            <a:avLst>
              <a:gd name="adj" fmla="val 14000"/>
            </a:avLst>
          </a:prstGeom>
          <a:solidFill>
            <a:srgbClr val="E7CDA0"/>
          </a:solidFill>
          <a:ln w="12700">
            <a:solidFill>
              <a:srgbClr val="D7DEE8"/>
            </a:solidFill>
            <a:prstDash val="solid"/>
          </a:ln>
        </p:spPr>
        <p:txBody>
          <a:bodyPr/>
          <a:p/>
        </p:txBody>
      </p:sp>
      <p:sp>
        <p:nvSpPr>
          <p:cNvPr id="29" name="Text 27"/>
          <p:cNvSpPr/>
          <p:nvPr/>
        </p:nvSpPr>
        <p:spPr>
          <a:xfrm>
            <a:off x="9189720" y="2606040"/>
            <a:ext cx="2103120" cy="457200"/>
          </a:xfrm>
          <a:prstGeom prst="rect">
            <a:avLst/>
          </a:prstGeom>
          <a:noFill/>
          <a:ln/>
        </p:spPr>
        <p:txBody>
          <a:bodyPr wrap="square" lIns="0" tIns="0" rIns="0" bIns="0" rtlCol="0" anchor="ctr"/>
          <a:lstStyle/>
          <a:p>
            <a:pPr algn="ctr" indent="0" marL="0">
              <a:buNone/>
            </a:pPr>
            <a:r>
              <a:rPr lang="en-US" sz="1300" b="1" dirty="0">
                <a:solidFill>
                  <a:srgbClr val="132A4A"/>
                </a:solidFill>
                <a:latin typeface="Calibri" pitchFamily="34" charset="0"/>
                <a:ea typeface="Calibri" pitchFamily="34" charset="-122"/>
                <a:cs typeface="Calibri" pitchFamily="34" charset="-120"/>
              </a:rPr>
              <a:t>Odd: X[1,3,5,7]</a:t>
            </a:r>
            <a:endParaRPr lang="en-US" sz="1150" dirty="0"/>
          </a:p>
        </p:txBody>
      </p:sp>
      <p:sp>
        <p:nvSpPr>
          <p:cNvPr id="30" name="Shape 28"/>
          <p:cNvSpPr/>
          <p:nvPr/>
        </p:nvSpPr>
        <p:spPr>
          <a:xfrm>
            <a:off x="6309360" y="3520440"/>
            <a:ext cx="1097280" cy="457200"/>
          </a:xfrm>
          <a:prstGeom prst="roundRect">
            <a:avLst>
              <a:gd name="adj" fmla="val 14000"/>
            </a:avLst>
          </a:prstGeom>
          <a:solidFill>
            <a:srgbClr val="E4F3F2"/>
          </a:solidFill>
          <a:ln w="12700">
            <a:solidFill>
              <a:srgbClr val="D7DEE8"/>
            </a:solidFill>
            <a:prstDash val="solid"/>
          </a:ln>
        </p:spPr>
        <p:txBody>
          <a:bodyPr/>
          <a:p/>
        </p:txBody>
      </p:sp>
      <p:sp>
        <p:nvSpPr>
          <p:cNvPr id="31" name="Text 29"/>
          <p:cNvSpPr/>
          <p:nvPr/>
        </p:nvSpPr>
        <p:spPr>
          <a:xfrm>
            <a:off x="630936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X0, X4</a:t>
            </a:r>
            <a:endParaRPr lang="en-US" sz="1150" dirty="0"/>
          </a:p>
        </p:txBody>
      </p:sp>
      <p:sp>
        <p:nvSpPr>
          <p:cNvPr id="32" name="Shape 30"/>
          <p:cNvSpPr/>
          <p:nvPr/>
        </p:nvSpPr>
        <p:spPr>
          <a:xfrm>
            <a:off x="7772400" y="3520440"/>
            <a:ext cx="1097280" cy="457200"/>
          </a:xfrm>
          <a:prstGeom prst="roundRect">
            <a:avLst>
              <a:gd name="adj" fmla="val 14000"/>
            </a:avLst>
          </a:prstGeom>
          <a:solidFill>
            <a:srgbClr val="E4F3F2"/>
          </a:solidFill>
          <a:ln w="12700">
            <a:solidFill>
              <a:srgbClr val="D7DEE8"/>
            </a:solidFill>
            <a:prstDash val="solid"/>
          </a:ln>
        </p:spPr>
        <p:txBody>
          <a:bodyPr/>
          <a:p/>
        </p:txBody>
      </p:sp>
      <p:sp>
        <p:nvSpPr>
          <p:cNvPr id="33" name="Text 31"/>
          <p:cNvSpPr/>
          <p:nvPr/>
        </p:nvSpPr>
        <p:spPr>
          <a:xfrm>
            <a:off x="777240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X2, X6</a:t>
            </a:r>
            <a:endParaRPr lang="en-US" sz="1150" dirty="0"/>
          </a:p>
        </p:txBody>
      </p:sp>
      <p:sp>
        <p:nvSpPr>
          <p:cNvPr id="34" name="Shape 32"/>
          <p:cNvSpPr/>
          <p:nvPr/>
        </p:nvSpPr>
        <p:spPr>
          <a:xfrm>
            <a:off x="8961120" y="3520440"/>
            <a:ext cx="1097280" cy="457200"/>
          </a:xfrm>
          <a:prstGeom prst="roundRect">
            <a:avLst>
              <a:gd name="adj" fmla="val 14000"/>
            </a:avLst>
          </a:prstGeom>
          <a:solidFill>
            <a:srgbClr val="FBF0E2"/>
          </a:solidFill>
          <a:ln w="12700">
            <a:solidFill>
              <a:srgbClr val="D7DEE8"/>
            </a:solidFill>
            <a:prstDash val="solid"/>
          </a:ln>
        </p:spPr>
        <p:txBody>
          <a:bodyPr/>
          <a:p/>
        </p:txBody>
      </p:sp>
      <p:sp>
        <p:nvSpPr>
          <p:cNvPr id="35" name="Text 33"/>
          <p:cNvSpPr/>
          <p:nvPr/>
        </p:nvSpPr>
        <p:spPr>
          <a:xfrm>
            <a:off x="896112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X1, X5</a:t>
            </a:r>
            <a:endParaRPr lang="en-US" sz="1150" dirty="0"/>
          </a:p>
        </p:txBody>
      </p:sp>
      <p:sp>
        <p:nvSpPr>
          <p:cNvPr id="36" name="Shape 34"/>
          <p:cNvSpPr/>
          <p:nvPr/>
        </p:nvSpPr>
        <p:spPr>
          <a:xfrm>
            <a:off x="10424160" y="3520440"/>
            <a:ext cx="1097280" cy="457200"/>
          </a:xfrm>
          <a:prstGeom prst="roundRect">
            <a:avLst>
              <a:gd name="adj" fmla="val 14000"/>
            </a:avLst>
          </a:prstGeom>
          <a:solidFill>
            <a:srgbClr val="FBF0E2"/>
          </a:solidFill>
          <a:ln w="12700">
            <a:solidFill>
              <a:srgbClr val="D7DEE8"/>
            </a:solidFill>
            <a:prstDash val="solid"/>
          </a:ln>
        </p:spPr>
        <p:txBody>
          <a:bodyPr/>
          <a:p/>
        </p:txBody>
      </p:sp>
      <p:sp>
        <p:nvSpPr>
          <p:cNvPr id="37" name="Text 35"/>
          <p:cNvSpPr/>
          <p:nvPr/>
        </p:nvSpPr>
        <p:spPr>
          <a:xfrm>
            <a:off x="10424160" y="3520440"/>
            <a:ext cx="1097280"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X3, X7</a:t>
            </a:r>
            <a:endParaRPr lang="en-US" sz="1150" dirty="0"/>
          </a:p>
        </p:txBody>
      </p:sp>
      <p:sp>
        <p:nvSpPr>
          <p:cNvPr id="38" name="Text 36"/>
          <p:cNvSpPr/>
          <p:nvPr/>
        </p:nvSpPr>
        <p:spPr>
          <a:xfrm>
            <a:off x="6309360" y="4160520"/>
            <a:ext cx="5212080" cy="91440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Read top-down: the 8 outputs split into an even and an odd group of 4, each of those splits again, down to single outputs. The mirror image of the DIT tree on slide 5, drawn for outputs instead of inputs.</a:t>
            </a:r>
            <a:endParaRPr lang="en-US" sz="1243" dirty="0"/>
          </a:p>
        </p:txBody>
      </p:sp>
      <p:sp>
        <p:nvSpPr>
          <p:cNvPr id="39" name="Shape 37"/>
          <p:cNvSpPr/>
          <p:nvPr/>
        </p:nvSpPr>
        <p:spPr>
          <a:xfrm>
            <a:off x="502920" y="5257800"/>
            <a:ext cx="11155680" cy="1005840"/>
          </a:xfrm>
          <a:prstGeom prst="roundRect">
            <a:avLst>
              <a:gd name="adj" fmla="val 5455"/>
            </a:avLst>
          </a:prstGeom>
          <a:solidFill>
            <a:srgbClr val="FBF0E2"/>
          </a:solidFill>
          <a:ln w="12700">
            <a:solidFill>
              <a:srgbClr val="E7CDA0"/>
            </a:solidFill>
            <a:prstDash val="solid"/>
          </a:ln>
        </p:spPr>
        <p:txBody>
          <a:bodyPr/>
          <a:p/>
        </p:txBody>
      </p:sp>
      <p:sp>
        <p:nvSpPr>
          <p:cNvPr id="40" name="Text 38"/>
          <p:cNvSpPr/>
          <p:nvPr/>
        </p:nvSpPr>
        <p:spPr>
          <a:xfrm>
            <a:off x="731520" y="5303520"/>
            <a:ext cx="10698480" cy="914400"/>
          </a:xfrm>
          <a:prstGeom prst="rect">
            <a:avLst/>
          </a:prstGeom>
          <a:noFill/>
          <a:ln/>
        </p:spPr>
        <p:txBody>
          <a:bodyPr wrap="square" lIns="0" tIns="0" rIns="0" bIns="0" rtlCol="0" anchor="ctr"/>
          <a:lstStyle/>
          <a:p>
            <a:pPr indent="0" marL="0">
              <a:buNone/>
            </a:pPr>
            <a:r>
              <a:rPr lang="en-US" sz="1300" b="1" dirty="0">
                <a:solidFill>
                  <a:srgbClr val="D98324"/>
                </a:solidFill>
                <a:latin typeface="Calibri" pitchFamily="34" charset="0"/>
                <a:ea typeface="Calibri" pitchFamily="34" charset="-122"/>
                <a:cs typeface="Calibri" pitchFamily="34" charset="-120"/>
              </a:rPr>
              <a:t>Side by side:  </a:t>
            </a:r>
            <a:pPr indent="0" marL="0">
              <a:buNone/>
            </a:pPr>
            <a:r>
              <a:rPr lang="en-US" sz="1300" dirty="0">
                <a:solidFill>
                  <a:srgbClr val="16202E"/>
                </a:solidFill>
                <a:latin typeface="Calibri" pitchFamily="34" charset="0"/>
                <a:ea typeface="Calibri" pitchFamily="34" charset="-122"/>
                <a:cs typeface="Calibri" pitchFamily="34" charset="-120"/>
              </a:rPr>
              <a:t>DIT groups the samples going in (bit-reversed input, natural output). DIF groups the frequencies coming out (natural input, bit-reversed output).</a:t>
            </a:r>
            <a:endParaRPr lang="en-US" sz="1400" dirty="0"/>
          </a:p>
        </p:txBody>
      </p:sp>
      <p:sp>
        <p:nvSpPr>
          <p:cNvPr id="41" name="Shape 39"/>
          <p:cNvSpPr/>
          <p:nvPr/>
        </p:nvSpPr>
        <p:spPr>
          <a:xfrm>
            <a:off x="502920" y="6473952"/>
            <a:ext cx="11155680" cy="27432"/>
          </a:xfrm>
          <a:prstGeom prst="rect">
            <a:avLst/>
          </a:prstGeom>
          <a:solidFill>
            <a:srgbClr val="D7DEE8"/>
          </a:solidFill>
          <a:ln/>
        </p:spPr>
        <p:txBody>
          <a:bodyPr/>
          <a:p/>
        </p:txBody>
      </p:sp>
      <p:sp>
        <p:nvSpPr>
          <p:cNvPr id="42" name="Shape 40"/>
          <p:cNvSpPr/>
          <p:nvPr/>
        </p:nvSpPr>
        <p:spPr>
          <a:xfrm>
            <a:off x="502920" y="6473952"/>
            <a:ext cx="2656114" cy="27432"/>
          </a:xfrm>
          <a:prstGeom prst="rect">
            <a:avLst/>
          </a:prstGeom>
          <a:solidFill>
            <a:srgbClr val="0E8388"/>
          </a:solidFill>
          <a:ln/>
        </p:spPr>
        <p:txBody>
          <a:bodyPr/>
          <a:p/>
        </p:txBody>
      </p:sp>
      <p:sp>
        <p:nvSpPr>
          <p:cNvPr id="43" name="Text 41"/>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4" name="Text 42"/>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DIF Mathematics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2B · DIF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Deriving the Radix-2 DIF Equation</a:t>
            </a:r>
            <a:endParaRPr lang="en-US" sz="2600" dirty="0"/>
          </a:p>
        </p:txBody>
      </p:sp>
      <p:sp>
        <p:nvSpPr>
          <p:cNvPr id="4" name="Text 2"/>
          <p:cNvSpPr/>
          <p:nvPr/>
        </p:nvSpPr>
        <p:spPr>
          <a:xfrm>
            <a:off x="502920" y="1188720"/>
            <a:ext cx="34747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1 · SPLIT INTO FIRST/SECOND HALF</a:t>
            </a:r>
            <a:endParaRPr lang="en-US" sz="1200" dirty="0"/>
          </a:p>
        </p:txBody>
      </p:sp>
      <p:sp>
        <p:nvSpPr>
          <p:cNvPr id="5" name="Shape 3"/>
          <p:cNvSpPr/>
          <p:nvPr/>
        </p:nvSpPr>
        <p:spPr>
          <a:xfrm>
            <a:off x="502920" y="1463040"/>
            <a:ext cx="3474720" cy="868680"/>
          </a:xfrm>
          <a:prstGeom prst="roundRect">
            <a:avLst>
              <a:gd name="adj" fmla="val 6316"/>
            </a:avLst>
          </a:prstGeom>
          <a:solidFill>
            <a:srgbClr val="132A4A"/>
          </a:solidFill>
          <a:ln w="12700">
            <a:solidFill>
              <a:srgbClr val="132A4A"/>
            </a:solidFill>
            <a:prstDash val="solid"/>
          </a:ln>
        </p:spPr>
        <p:txBody>
          <a:bodyPr/>
          <a:p/>
        </p:txBody>
      </p:sp>
      <p:sp>
        <p:nvSpPr>
          <p:cNvPr id="6" name="Text 4"/>
          <p:cNvSpPr/>
          <p:nvPr/>
        </p:nvSpPr>
        <p:spPr>
          <a:xfrm>
            <a:off x="502920" y="1463040"/>
            <a:ext cx="3474720" cy="8686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X</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a:t>
            </a:r>
            <a:pPr algn="ctr" indent="0" marL="0">
              <a:buNone/>
            </a:pPr>
            <a:r>
              <a:rPr lang="en-US" sz="2000" b="1" dirty="0">
                <a:solidFill>
                  <a:srgbClr val="FFFFFF"/>
                </a:solidFill>
                <a:latin typeface="Cambria" pitchFamily="34" charset="0"/>
                <a:ea typeface="Cambria" pitchFamily="34" charset="-122"/>
                <a:cs typeface="Cambria" pitchFamily="34" charset="-120"/>
              </a:rPr>
              <a:t>Σ</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dirty="0">
                <a:solidFill>
                  <a:srgbClr val="FFFFFF"/>
                </a:solidFill>
                <a:latin typeface="Cambria" pitchFamily="34" charset="0"/>
                <a:ea typeface="Cambria" pitchFamily="34" charset="-122"/>
                <a:cs typeface="Cambria" pitchFamily="34" charset="-120"/>
              </a:rPr>
              <a:t>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nk</a:t>
            </a:r>
            <a:pPr algn="ctr" indent="0" marL="0">
              <a:buNone/>
            </a:pPr>
            <a:r>
              <a:rPr lang="en-US" sz="1300" b="1" dirty="0">
                <a:solidFill>
                  <a:srgbClr val="FFFFFF"/>
                </a:solidFill>
                <a:latin typeface="Cambria" pitchFamily="34" charset="0"/>
                <a:ea typeface="Cambria" pitchFamily="34" charset="-122"/>
                <a:cs typeface="Cambria" pitchFamily="34" charset="-120"/>
              </a:rPr>
              <a:t> + </a:t>
            </a:r>
            <a:pPr algn="ctr" indent="0" marL="0">
              <a:buNone/>
            </a:pPr>
            <a:r>
              <a:rPr lang="en-US" sz="2000" b="1" dirty="0">
                <a:solidFill>
                  <a:srgbClr val="FFFFFF"/>
                </a:solidFill>
                <a:latin typeface="Cambria" pitchFamily="34" charset="0"/>
                <a:ea typeface="Cambria" pitchFamily="34" charset="-122"/>
                <a:cs typeface="Cambria" pitchFamily="34" charset="-120"/>
              </a:rPr>
              <a:t>Σ</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dirty="0">
                <a:solidFill>
                  <a:srgbClr val="FFFFFF"/>
                </a:solidFill>
                <a:latin typeface="Cambria" pitchFamily="34" charset="0"/>
                <a:ea typeface="Cambria" pitchFamily="34" charset="-122"/>
                <a:cs typeface="Cambria" pitchFamily="34" charset="-120"/>
              </a:rPr>
              <a:t> x</a:t>
            </a:r>
            <a:pPr algn="ctr" indent="0" marL="0">
              <a:buNone/>
            </a:pPr>
            <a:r>
              <a:rPr lang="en-US" sz="1300" b="1" baseline="-40000" dirty="0">
                <a:solidFill>
                  <a:srgbClr val="FFFFFF"/>
                </a:solidFill>
                <a:latin typeface="Cambria" pitchFamily="34" charset="0"/>
                <a:ea typeface="Cambria" pitchFamily="34" charset="-122"/>
                <a:cs typeface="Cambria" pitchFamily="34" charset="-120"/>
              </a:rPr>
              <a:t>n+N/2</a:t>
            </a:r>
            <a:pPr algn="ctr" indent="0" marL="0">
              <a:buNone/>
            </a:pPr>
            <a:r>
              <a:rPr lang="en-US" sz="1300" b="1" dirty="0">
                <a:solidFill>
                  <a:srgbClr val="FFFFFF"/>
                </a:solidFill>
                <a:latin typeface="Cambria" pitchFamily="34" charset="0"/>
                <a:ea typeface="Cambria" pitchFamily="34" charset="-122"/>
                <a:cs typeface="Cambria" pitchFamily="34" charset="-120"/>
              </a:rPr>
              <a:t>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(n+N/2)k</a:t>
            </a:r>
            <a:endParaRPr lang="en-US" sz="1150" dirty="0"/>
          </a:p>
        </p:txBody>
      </p:sp>
      <p:sp>
        <p:nvSpPr>
          <p:cNvPr id="7" name="Text 5"/>
          <p:cNvSpPr/>
          <p:nvPr/>
        </p:nvSpPr>
        <p:spPr>
          <a:xfrm>
            <a:off x="4480560" y="1188720"/>
            <a:ext cx="34747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2 · SIMPLIFY 2ND-HALF TWIDDLE</a:t>
            </a:r>
            <a:endParaRPr lang="en-US" sz="1200" dirty="0"/>
          </a:p>
        </p:txBody>
      </p:sp>
      <p:sp>
        <p:nvSpPr>
          <p:cNvPr id="8" name="Shape 6"/>
          <p:cNvSpPr/>
          <p:nvPr/>
        </p:nvSpPr>
        <p:spPr>
          <a:xfrm>
            <a:off x="4480560" y="1463040"/>
            <a:ext cx="3474720" cy="868680"/>
          </a:xfrm>
          <a:prstGeom prst="roundRect">
            <a:avLst>
              <a:gd name="adj" fmla="val 6316"/>
            </a:avLst>
          </a:prstGeom>
          <a:solidFill>
            <a:srgbClr val="0E8388"/>
          </a:solidFill>
          <a:ln w="12700">
            <a:solidFill>
              <a:srgbClr val="132A4A"/>
            </a:solidFill>
            <a:prstDash val="solid"/>
          </a:ln>
        </p:spPr>
        <p:txBody>
          <a:bodyPr/>
          <a:p/>
        </p:txBody>
      </p:sp>
      <p:sp>
        <p:nvSpPr>
          <p:cNvPr id="9" name="Text 7"/>
          <p:cNvSpPr/>
          <p:nvPr/>
        </p:nvSpPr>
        <p:spPr>
          <a:xfrm>
            <a:off x="4480560" y="1463040"/>
            <a:ext cx="3474720" cy="8686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(n+N/2)k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nk</a:t>
            </a:r>
            <a:pPr algn="ctr" indent="0" marL="0">
              <a:buNone/>
            </a:pPr>
            <a:r>
              <a:rPr lang="en-US" sz="1300" b="1" dirty="0">
                <a:solidFill>
                  <a:srgbClr val="FFFFFF"/>
                </a:solidFill>
                <a:latin typeface="Cambria" pitchFamily="34" charset="0"/>
                <a:ea typeface="Cambria" pitchFamily="34" charset="-122"/>
                <a:cs typeface="Cambria" pitchFamily="34" charset="-120"/>
              </a:rPr>
              <a:t>(-1)</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100" b="1" dirty="0">
                <a:solidFill>
                  <a:srgbClr val="FFFFFF"/>
                </a:solidFill>
                <a:latin typeface="Cambria" pitchFamily="34" charset="0"/>
                <a:ea typeface="Cambria" pitchFamily="34" charset="-122"/>
                <a:cs typeface="Cambria" pitchFamily="34" charset="-120"/>
              </a:rPr>
              <a:t>   since W</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100" b="1" baseline="30000" dirty="0">
                <a:solidFill>
                  <a:srgbClr val="FFFFFF"/>
                </a:solidFill>
                <a:latin typeface="Cambria" pitchFamily="34" charset="0"/>
                <a:ea typeface="Cambria" pitchFamily="34" charset="-122"/>
                <a:cs typeface="Cambria" pitchFamily="34" charset="-120"/>
              </a:rPr>
              <a:t>N/2</a:t>
            </a:r>
            <a:pPr algn="ctr" indent="0" marL="0">
              <a:buNone/>
            </a:pPr>
            <a:r>
              <a:rPr lang="en-US" sz="1100" b="1" dirty="0">
                <a:solidFill>
                  <a:srgbClr val="FFFFFF"/>
                </a:solidFill>
                <a:latin typeface="Cambria" pitchFamily="34" charset="0"/>
                <a:ea typeface="Cambria" pitchFamily="34" charset="-122"/>
                <a:cs typeface="Cambria" pitchFamily="34" charset="-120"/>
              </a:rPr>
              <a:t>= -1</a:t>
            </a:r>
            <a:endParaRPr lang="en-US" sz="1300" dirty="0"/>
          </a:p>
        </p:txBody>
      </p:sp>
      <p:sp>
        <p:nvSpPr>
          <p:cNvPr id="10" name="Text 8"/>
          <p:cNvSpPr/>
          <p:nvPr/>
        </p:nvSpPr>
        <p:spPr>
          <a:xfrm>
            <a:off x="7955280" y="1188720"/>
            <a:ext cx="329184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STEP 3 · SPLIT k BY PARITY</a:t>
            </a:r>
            <a:endParaRPr lang="en-US" sz="1200" dirty="0"/>
          </a:p>
        </p:txBody>
      </p:sp>
      <p:sp>
        <p:nvSpPr>
          <p:cNvPr id="11" name="Shape 9"/>
          <p:cNvSpPr/>
          <p:nvPr/>
        </p:nvSpPr>
        <p:spPr>
          <a:xfrm>
            <a:off x="7955280" y="1463040"/>
            <a:ext cx="3291840" cy="868680"/>
          </a:xfrm>
          <a:prstGeom prst="roundRect">
            <a:avLst>
              <a:gd name="adj" fmla="val 6316"/>
            </a:avLst>
          </a:prstGeom>
          <a:solidFill>
            <a:srgbClr val="D98324"/>
          </a:solidFill>
          <a:ln w="12700">
            <a:solidFill>
              <a:srgbClr val="132A4A"/>
            </a:solidFill>
            <a:prstDash val="solid"/>
          </a:ln>
        </p:spPr>
        <p:txBody>
          <a:bodyPr/>
          <a:p/>
        </p:txBody>
      </p:sp>
      <p:sp>
        <p:nvSpPr>
          <p:cNvPr id="12" name="Text 10"/>
          <p:cNvSpPr/>
          <p:nvPr/>
        </p:nvSpPr>
        <p:spPr>
          <a:xfrm>
            <a:off x="7955280" y="1463040"/>
            <a:ext cx="3291840" cy="868680"/>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100" b="1" dirty="0">
                <a:solidFill>
                  <a:srgbClr val="FFFFFF"/>
                </a:solidFill>
                <a:latin typeface="Cambria" pitchFamily="34" charset="0"/>
                <a:ea typeface="Cambria" pitchFamily="34" charset="-122"/>
                <a:cs typeface="Cambria" pitchFamily="34" charset="-120"/>
              </a:rPr>
              <a:t> = x</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100" b="1" dirty="0">
                <a:solidFill>
                  <a:srgbClr val="FFFFFF"/>
                </a:solidFill>
                <a:latin typeface="Cambria" pitchFamily="34" charset="0"/>
                <a:ea typeface="Cambria" pitchFamily="34" charset="-122"/>
                <a:cs typeface="Cambria" pitchFamily="34" charset="-120"/>
              </a:rPr>
              <a:t>+x</a:t>
            </a:r>
            <a:pPr algn="ctr" indent="0" marL="0">
              <a:buNone/>
            </a:pPr>
            <a:r>
              <a:rPr lang="en-US" sz="1100" b="1" baseline="-40000" dirty="0">
                <a:solidFill>
                  <a:srgbClr val="FFFFFF"/>
                </a:solidFill>
                <a:latin typeface="Cambria" pitchFamily="34" charset="0"/>
                <a:ea typeface="Cambria" pitchFamily="34" charset="-122"/>
                <a:cs typeface="Cambria" pitchFamily="34" charset="-120"/>
              </a:rPr>
              <a:t>n+N/2</a:t>
            </a:r>
            <a:pPr algn="ctr" indent="0" marL="0">
              <a:buNone/>
            </a:pPr>
            <a:r>
              <a:rPr lang="en-US" sz="1600" b="1" dirty="0">
                <a:solidFill>
                  <a:srgbClr val="FFFFFF"/>
                </a:solidFill>
                <a:latin typeface="Cambria" pitchFamily="34" charset="0"/>
                <a:ea typeface="Cambria" pitchFamily="34" charset="-122"/>
                <a:cs typeface="Cambria" pitchFamily="34" charset="-120"/>
              </a:rPr>
              <a:t>     b</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600" b="1" dirty="0">
                <a:solidFill>
                  <a:srgbClr val="FFFFFF"/>
                </a:solidFill>
                <a:latin typeface="Cambria" pitchFamily="34" charset="0"/>
                <a:ea typeface="Cambria" pitchFamily="34" charset="-122"/>
                <a:cs typeface="Cambria" pitchFamily="34" charset="-120"/>
              </a:rPr>
              <a:t> = (x</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100" b="1" dirty="0">
                <a:solidFill>
                  <a:srgbClr val="FFFFFF"/>
                </a:solidFill>
                <a:latin typeface="Cambria" pitchFamily="34" charset="0"/>
                <a:ea typeface="Cambria" pitchFamily="34" charset="-122"/>
                <a:cs typeface="Cambria" pitchFamily="34" charset="-120"/>
              </a:rPr>
              <a:t>-x</a:t>
            </a:r>
            <a:pPr algn="ctr" indent="0" marL="0">
              <a:buNone/>
            </a:pPr>
            <a:r>
              <a:rPr lang="en-US" sz="1100" b="1" baseline="-40000" dirty="0">
                <a:solidFill>
                  <a:srgbClr val="FFFFFF"/>
                </a:solidFill>
                <a:latin typeface="Cambria" pitchFamily="34" charset="0"/>
                <a:ea typeface="Cambria" pitchFamily="34" charset="-122"/>
                <a:cs typeface="Cambria" pitchFamily="34" charset="-120"/>
              </a:rPr>
              <a:t>n+N/2</a:t>
            </a:r>
            <a:pPr algn="ctr" indent="0" marL="0">
              <a:buNone/>
            </a:pPr>
            <a:r>
              <a:rPr lang="en-US" sz="1100" b="1" dirty="0">
                <a:solidFill>
                  <a:srgbClr val="FFFFFF"/>
                </a:solidFill>
                <a:latin typeface="Cambria" pitchFamily="34" charset="0"/>
                <a:ea typeface="Cambria" pitchFamily="34" charset="-122"/>
                <a:cs typeface="Cambria" pitchFamily="34" charset="-120"/>
              </a:rPr>
              <a:t>)W</a:t>
            </a:r>
            <a:pPr algn="ctr" indent="0" marL="0">
              <a:buNone/>
            </a:pPr>
            <a:r>
              <a:rPr lang="en-US" sz="1100" b="1" baseline="-40000" dirty="0">
                <a:solidFill>
                  <a:srgbClr val="FFFFFF"/>
                </a:solidFill>
                <a:latin typeface="Cambria" pitchFamily="34" charset="0"/>
                <a:ea typeface="Cambria" pitchFamily="34" charset="-122"/>
                <a:cs typeface="Cambria" pitchFamily="34" charset="-120"/>
              </a:rPr>
              <a:t>N</a:t>
            </a:r>
            <a:pPr algn="ctr" indent="0" marL="0">
              <a:buNone/>
            </a:pPr>
            <a:r>
              <a:rPr lang="en-US" sz="1100" b="1" baseline="30000" dirty="0">
                <a:solidFill>
                  <a:srgbClr val="FFFFFF"/>
                </a:solidFill>
                <a:latin typeface="Cambria" pitchFamily="34" charset="0"/>
                <a:ea typeface="Cambria" pitchFamily="34" charset="-122"/>
                <a:cs typeface="Cambria" pitchFamily="34" charset="-120"/>
              </a:rPr>
              <a:t>n</a:t>
            </a:r>
            <a:endParaRPr lang="en-US" sz="1100" dirty="0"/>
          </a:p>
        </p:txBody>
      </p:sp>
      <p:sp>
        <p:nvSpPr>
          <p:cNvPr id="13" name="Text 11"/>
          <p:cNvSpPr/>
          <p:nvPr/>
        </p:nvSpPr>
        <p:spPr>
          <a:xfrm>
            <a:off x="502920" y="2606040"/>
            <a:ext cx="7223760" cy="2103120"/>
          </a:xfrm>
          <a:prstGeom prst="rect">
            <a:avLst/>
          </a:prstGeom>
          <a:noFill/>
          <a:ln/>
        </p:spPr>
        <p:txBody>
          <a:bodyPr wrap="square" rtlCol="0" anchor="t"/>
          <a:lstStyle/>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The second half of the sum, n=N/2..N-1, is rewritten as n+N/2 with n=0..N/2-1, so both sums run over the same range and can be combined term by term.</a:t>
            </a:r>
            <a:endParaRPr lang="en-US" sz="1342"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W_N^(N/2) = e^(-jπ) = -1, so the second-half twiddle collapses to the first-half twiddle times (-1)^k. This sign only depends on whether k is even or odd.</a:t>
            </a:r>
            <a:endParaRPr lang="en-US" sz="1342"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For even k=2r the two halves add (a[n]); for odd k=2r+1 they subtract and pick up one leftover twiddle factor W_N^n (b[n]). Both a[n] and b[n] then feed an ordinary N/2-point DFT.</a:t>
            </a:r>
            <a:endParaRPr lang="en-US" sz="1342" dirty="0"/>
          </a:p>
        </p:txBody>
      </p:sp>
      <p:sp>
        <p:nvSpPr>
          <p:cNvPr id="14" name="Shape 12"/>
          <p:cNvSpPr/>
          <p:nvPr/>
        </p:nvSpPr>
        <p:spPr>
          <a:xfrm>
            <a:off x="502920" y="4846320"/>
            <a:ext cx="7223760" cy="777240"/>
          </a:xfrm>
          <a:prstGeom prst="roundRect">
            <a:avLst>
              <a:gd name="adj" fmla="val 7059"/>
            </a:avLst>
          </a:prstGeom>
          <a:solidFill>
            <a:srgbClr val="132A4A"/>
          </a:solidFill>
          <a:ln w="12700">
            <a:solidFill>
              <a:srgbClr val="132A4A"/>
            </a:solidFill>
            <a:prstDash val="solid"/>
          </a:ln>
        </p:spPr>
        <p:txBody>
          <a:bodyPr/>
          <a:p/>
        </p:txBody>
      </p:sp>
      <p:sp>
        <p:nvSpPr>
          <p:cNvPr id="15" name="Text 13"/>
          <p:cNvSpPr/>
          <p:nvPr/>
        </p:nvSpPr>
        <p:spPr>
          <a:xfrm>
            <a:off x="502920" y="4846320"/>
            <a:ext cx="7223760" cy="7772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X</a:t>
            </a:r>
            <a:pPr algn="ctr" indent="0" marL="0">
              <a:buNone/>
            </a:pPr>
            <a:r>
              <a:rPr lang="en-US" sz="2200" b="1" baseline="-40000" dirty="0">
                <a:solidFill>
                  <a:srgbClr val="FFFFFF"/>
                </a:solidFill>
                <a:latin typeface="Cambria" pitchFamily="34" charset="0"/>
                <a:ea typeface="Cambria" pitchFamily="34" charset="-122"/>
                <a:cs typeface="Cambria" pitchFamily="34" charset="-120"/>
              </a:rPr>
              <a:t>2r</a:t>
            </a:r>
            <a:pPr algn="ctr" indent="0" marL="0">
              <a:buNone/>
            </a:pPr>
            <a:r>
              <a:rPr lang="en-US" sz="2200" b="1" dirty="0">
                <a:solidFill>
                  <a:srgbClr val="FFFFFF"/>
                </a:solidFill>
                <a:latin typeface="Cambria" pitchFamily="34" charset="0"/>
                <a:ea typeface="Cambria" pitchFamily="34" charset="-122"/>
                <a:cs typeface="Cambria" pitchFamily="34" charset="-120"/>
              </a:rPr>
              <a:t> = A</a:t>
            </a:r>
            <a:pPr algn="ctr" indent="0" marL="0">
              <a:buNone/>
            </a:pPr>
            <a:r>
              <a:rPr lang="en-US" sz="2200" b="1" baseline="-40000" dirty="0">
                <a:solidFill>
                  <a:srgbClr val="FFFFFF"/>
                </a:solidFill>
                <a:latin typeface="Cambria" pitchFamily="34" charset="0"/>
                <a:ea typeface="Cambria" pitchFamily="34" charset="-122"/>
                <a:cs typeface="Cambria" pitchFamily="34" charset="-120"/>
              </a:rPr>
              <a:t>r</a:t>
            </a:r>
            <a:pPr algn="ctr" indent="0" marL="0">
              <a:buNone/>
            </a:pPr>
            <a:r>
              <a:rPr lang="en-US" sz="1600" b="1" dirty="0">
                <a:solidFill>
                  <a:srgbClr val="FFFFFF"/>
                </a:solidFill>
                <a:latin typeface="Cambria" pitchFamily="34" charset="0"/>
                <a:ea typeface="Cambria" pitchFamily="34" charset="-122"/>
                <a:cs typeface="Cambria" pitchFamily="34" charset="-120"/>
              </a:rPr>
              <a:t>     X</a:t>
            </a:r>
            <a:pPr algn="ctr" indent="0" marL="0">
              <a:buNone/>
            </a:pPr>
            <a:r>
              <a:rPr lang="en-US" sz="2200" b="1" baseline="-40000" dirty="0">
                <a:solidFill>
                  <a:srgbClr val="FFFFFF"/>
                </a:solidFill>
                <a:latin typeface="Cambria" pitchFamily="34" charset="0"/>
                <a:ea typeface="Cambria" pitchFamily="34" charset="-122"/>
                <a:cs typeface="Cambria" pitchFamily="34" charset="-120"/>
              </a:rPr>
              <a:t>2r+1</a:t>
            </a:r>
            <a:pPr algn="ctr" indent="0" marL="0">
              <a:buNone/>
            </a:pPr>
            <a:r>
              <a:rPr lang="en-US" sz="2200" b="1" dirty="0">
                <a:solidFill>
                  <a:srgbClr val="FFFFFF"/>
                </a:solidFill>
                <a:latin typeface="Cambria" pitchFamily="34" charset="0"/>
                <a:ea typeface="Cambria" pitchFamily="34" charset="-122"/>
                <a:cs typeface="Cambria" pitchFamily="34" charset="-120"/>
              </a:rPr>
              <a:t> = B</a:t>
            </a:r>
            <a:pPr algn="ctr" indent="0" marL="0">
              <a:buNone/>
            </a:pPr>
            <a:r>
              <a:rPr lang="en-US" sz="2200" b="1" baseline="-40000" dirty="0">
                <a:solidFill>
                  <a:srgbClr val="FFFFFF"/>
                </a:solidFill>
                <a:latin typeface="Cambria" pitchFamily="34" charset="0"/>
                <a:ea typeface="Cambria" pitchFamily="34" charset="-122"/>
                <a:cs typeface="Cambria" pitchFamily="34" charset="-120"/>
              </a:rPr>
              <a:t>r</a:t>
            </a:r>
            <a:endParaRPr lang="en-US" sz="2200" dirty="0"/>
          </a:p>
        </p:txBody>
      </p:sp>
      <p:sp>
        <p:nvSpPr>
          <p:cNvPr id="16" name="Text 14"/>
          <p:cNvSpPr/>
          <p:nvPr/>
        </p:nvSpPr>
        <p:spPr>
          <a:xfrm>
            <a:off x="8275320" y="4892040"/>
            <a:ext cx="2971800" cy="77724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A[r], B[r] are the N/2-point DFTs of a[n] and b[n]: the DIF payoff, symmetric to X_k=E_k+W_N^k O_k for DIT.</a:t>
            </a:r>
            <a:endParaRPr lang="en-US" sz="1210" dirty="0"/>
          </a:p>
        </p:txBody>
      </p:sp>
      <p:sp>
        <p:nvSpPr>
          <p:cNvPr id="17" name="Shape 15"/>
          <p:cNvSpPr/>
          <p:nvPr/>
        </p:nvSpPr>
        <p:spPr>
          <a:xfrm>
            <a:off x="502920" y="6473952"/>
            <a:ext cx="11155680" cy="27432"/>
          </a:xfrm>
          <a:prstGeom prst="rect">
            <a:avLst/>
          </a:prstGeom>
          <a:solidFill>
            <a:srgbClr val="D7DEE8"/>
          </a:solidFill>
          <a:ln/>
        </p:spPr>
        <p:txBody>
          <a:bodyPr/>
          <a:p/>
        </p:txBody>
      </p:sp>
      <p:sp>
        <p:nvSpPr>
          <p:cNvPr id="18" name="Shape 16"/>
          <p:cNvSpPr/>
          <p:nvPr/>
        </p:nvSpPr>
        <p:spPr>
          <a:xfrm>
            <a:off x="502920" y="6473952"/>
            <a:ext cx="2921726" cy="27432"/>
          </a:xfrm>
          <a:prstGeom prst="rect">
            <a:avLst/>
          </a:prstGeom>
          <a:solidFill>
            <a:srgbClr val="0E8388"/>
          </a:solidFill>
          <a:ln/>
        </p:spPr>
        <p:txBody>
          <a:bodyPr/>
          <a:p/>
        </p:txBody>
      </p:sp>
      <p:sp>
        <p:nvSpPr>
          <p:cNvPr id="19" name="Text 17"/>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0" name="Text 18"/>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DIF Mathematics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2B · DIF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DIF: From A[r], B[r] to the Full Output</a:t>
            </a:r>
            <a:endParaRPr lang="en-US" sz="2600" dirty="0"/>
          </a:p>
        </p:txBody>
      </p:sp>
      <p:sp>
        <p:nvSpPr>
          <p:cNvPr id="4" name="Text 2"/>
          <p:cNvSpPr/>
          <p:nvPr/>
        </p:nvSpPr>
        <p:spPr>
          <a:xfrm>
            <a:off x="502920" y="1280160"/>
            <a:ext cx="5394960" cy="2651760"/>
          </a:xfrm>
          <a:prstGeom prst="rect">
            <a:avLst/>
          </a:prstGeom>
          <a:noFill/>
          <a:ln/>
        </p:spPr>
        <p:txBody>
          <a:bodyPr wrap="square" rtlCol="0" anchor="t"/>
          <a:lstStyle/>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Unlike DIT, DIF's two N/2-point DFTs already land on disjoint output slots: A[r] gives exactly the even samples X[2r], B[r] gives exactly the odd samples X[2r+1]. No periodicity trick is needed to fill out the array, just interleaving.</a:t>
            </a:r>
            <a:endParaRPr lang="en-US" sz="1386" dirty="0"/>
          </a:p>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Assembling the N-point result: place A[0..N/2-1] into the even output slots and B[0..N/2-1] into the odd slots.</a:t>
            </a:r>
            <a:endParaRPr lang="en-US" sz="1386" dirty="0"/>
          </a:p>
          <a:p>
            <a:pPr algn="l" marL="228600" indent="-228600">
              <a:lnSpc>
                <a:spcPct val="1120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A[r] and B[r] are themselves N/2-point DFTs, so the same even/odd output split applies recursively inside each of them, again and again, for log₂N levels total.</a:t>
            </a:r>
            <a:endParaRPr lang="en-US" sz="1386" dirty="0"/>
          </a:p>
        </p:txBody>
      </p:sp>
      <p:sp>
        <p:nvSpPr>
          <p:cNvPr id="5" name="Shape 3"/>
          <p:cNvSpPr/>
          <p:nvPr/>
        </p:nvSpPr>
        <p:spPr>
          <a:xfrm>
            <a:off x="6446520" y="1280160"/>
            <a:ext cx="4983480" cy="640080"/>
          </a:xfrm>
          <a:prstGeom prst="roundRect">
            <a:avLst>
              <a:gd name="adj" fmla="val 8571"/>
            </a:avLst>
          </a:prstGeom>
          <a:solidFill>
            <a:srgbClr val="0E8388"/>
          </a:solidFill>
          <a:ln w="12700">
            <a:solidFill>
              <a:srgbClr val="132A4A"/>
            </a:solidFill>
            <a:prstDash val="solid"/>
          </a:ln>
        </p:spPr>
        <p:txBody>
          <a:bodyPr/>
          <a:p/>
        </p:txBody>
      </p:sp>
      <p:sp>
        <p:nvSpPr>
          <p:cNvPr id="6" name="Text 4"/>
          <p:cNvSpPr/>
          <p:nvPr/>
        </p:nvSpPr>
        <p:spPr>
          <a:xfrm>
            <a:off x="6446520" y="1280160"/>
            <a:ext cx="49834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X</a:t>
            </a:r>
            <a:pPr algn="ctr" indent="0" marL="0">
              <a:buNone/>
            </a:pPr>
            <a:r>
              <a:rPr lang="en-US" sz="1800" b="1" baseline="-40000" dirty="0">
                <a:solidFill>
                  <a:srgbClr val="FFFFFF"/>
                </a:solidFill>
                <a:latin typeface="Cambria" pitchFamily="34" charset="0"/>
                <a:ea typeface="Cambria" pitchFamily="34" charset="-122"/>
                <a:cs typeface="Cambria" pitchFamily="34" charset="-120"/>
              </a:rPr>
              <a:t>2r</a:t>
            </a:r>
            <a:pPr algn="ctr" indent="0" marL="0">
              <a:buNone/>
            </a:pPr>
            <a:r>
              <a:rPr lang="en-US" sz="1800" b="1" dirty="0">
                <a:solidFill>
                  <a:srgbClr val="FFFFFF"/>
                </a:solidFill>
                <a:latin typeface="Cambria" pitchFamily="34" charset="0"/>
                <a:ea typeface="Cambria" pitchFamily="34" charset="-122"/>
                <a:cs typeface="Cambria" pitchFamily="34" charset="-120"/>
              </a:rPr>
              <a:t> = A</a:t>
            </a:r>
            <a:pPr algn="ctr" indent="0" marL="0">
              <a:buNone/>
            </a:pPr>
            <a:r>
              <a:rPr lang="en-US" sz="1800" b="1" baseline="-40000" dirty="0">
                <a:solidFill>
                  <a:srgbClr val="FFFFFF"/>
                </a:solidFill>
                <a:latin typeface="Cambria" pitchFamily="34" charset="0"/>
                <a:ea typeface="Cambria" pitchFamily="34" charset="-122"/>
                <a:cs typeface="Cambria" pitchFamily="34" charset="-120"/>
              </a:rPr>
              <a:t>r</a:t>
            </a:r>
            <a:endParaRPr lang="en-US" sz="1800" dirty="0"/>
          </a:p>
        </p:txBody>
      </p:sp>
      <p:sp>
        <p:nvSpPr>
          <p:cNvPr id="7" name="Shape 5"/>
          <p:cNvSpPr/>
          <p:nvPr/>
        </p:nvSpPr>
        <p:spPr>
          <a:xfrm>
            <a:off x="6446520" y="2057400"/>
            <a:ext cx="4983480" cy="640080"/>
          </a:xfrm>
          <a:prstGeom prst="roundRect">
            <a:avLst>
              <a:gd name="adj" fmla="val 8571"/>
            </a:avLst>
          </a:prstGeom>
          <a:solidFill>
            <a:srgbClr val="D98324"/>
          </a:solidFill>
          <a:ln w="12700">
            <a:solidFill>
              <a:srgbClr val="132A4A"/>
            </a:solidFill>
            <a:prstDash val="solid"/>
          </a:ln>
        </p:spPr>
        <p:txBody>
          <a:bodyPr/>
          <a:p/>
        </p:txBody>
      </p:sp>
      <p:sp>
        <p:nvSpPr>
          <p:cNvPr id="8" name="Text 6"/>
          <p:cNvSpPr/>
          <p:nvPr/>
        </p:nvSpPr>
        <p:spPr>
          <a:xfrm>
            <a:off x="6446520" y="2057400"/>
            <a:ext cx="49834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X</a:t>
            </a:r>
            <a:pPr algn="ctr" indent="0" marL="0">
              <a:buNone/>
            </a:pPr>
            <a:r>
              <a:rPr lang="en-US" sz="1800" b="1" baseline="-40000" dirty="0">
                <a:solidFill>
                  <a:srgbClr val="FFFFFF"/>
                </a:solidFill>
                <a:latin typeface="Cambria" pitchFamily="34" charset="0"/>
                <a:ea typeface="Cambria" pitchFamily="34" charset="-122"/>
                <a:cs typeface="Cambria" pitchFamily="34" charset="-120"/>
              </a:rPr>
              <a:t>2r+1</a:t>
            </a:r>
            <a:pPr algn="ctr" indent="0" marL="0">
              <a:buNone/>
            </a:pPr>
            <a:r>
              <a:rPr lang="en-US" sz="1800" b="1" dirty="0">
                <a:solidFill>
                  <a:srgbClr val="FFFFFF"/>
                </a:solidFill>
                <a:latin typeface="Cambria" pitchFamily="34" charset="0"/>
                <a:ea typeface="Cambria" pitchFamily="34" charset="-122"/>
                <a:cs typeface="Cambria" pitchFamily="34" charset="-120"/>
              </a:rPr>
              <a:t> = B</a:t>
            </a:r>
            <a:pPr algn="ctr" indent="0" marL="0">
              <a:buNone/>
            </a:pPr>
            <a:r>
              <a:rPr lang="en-US" sz="1800" b="1" baseline="-40000" dirty="0">
                <a:solidFill>
                  <a:srgbClr val="FFFFFF"/>
                </a:solidFill>
                <a:latin typeface="Cambria" pitchFamily="34" charset="0"/>
                <a:ea typeface="Cambria" pitchFamily="34" charset="-122"/>
                <a:cs typeface="Cambria" pitchFamily="34" charset="-120"/>
              </a:rPr>
              <a:t>r</a:t>
            </a:r>
            <a:endParaRPr lang="en-US" sz="1800" dirty="0"/>
          </a:p>
        </p:txBody>
      </p:sp>
      <p:sp>
        <p:nvSpPr>
          <p:cNvPr id="9" name="Text 7"/>
          <p:cNvSpPr/>
          <p:nvPr/>
        </p:nvSpPr>
        <p:spPr>
          <a:xfrm>
            <a:off x="6446520" y="2880360"/>
            <a:ext cx="4983480" cy="35661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Every level of this recursion interleaves outputs by parity: even positions first, odd positions second, then the same split happens again inside each half.</a:t>
            </a:r>
            <a:endParaRPr lang="en-US" sz="1364" dirty="0"/>
          </a:p>
          <a:p>
            <a:pPr algn="l" indent="0" marL="0">
              <a:lnSpc>
                <a:spcPct val="118000"/>
              </a:lnSpc>
              <a:buNone/>
            </a:pPr>
            <a:endParaRPr lang="en-US" sz="1364"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After log₂N such interleavings, each output's address has effectively had its bits reversed relative to natural order. This is exactly why a DIF flow graph built directly from this derivation delivers X[k] in bit-reversed order and needs one bit-reversal permutation as a final unscrambling step, the mirror image of DIT needing that same permutation up front, on the input.</a:t>
            </a:r>
            <a:endParaRPr lang="en-US" sz="1364" dirty="0"/>
          </a:p>
          <a:p>
            <a:pPr algn="l" indent="0" marL="0">
              <a:lnSpc>
                <a:spcPct val="118000"/>
              </a:lnSpc>
              <a:buNone/>
            </a:pPr>
            <a:endParaRPr lang="en-US" sz="1364"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This is the DIF counterpart to the periodicity trick on slide 7: instead of stretching one half-size result over the full output range, DIF's two half-size results simply occupy separate, interleaved slots.</a:t>
            </a:r>
            <a:endParaRPr lang="en-US" sz="1364" dirty="0"/>
          </a:p>
        </p:txBody>
      </p:sp>
      <p:sp>
        <p:nvSpPr>
          <p:cNvPr id="10" name="Shape 8"/>
          <p:cNvSpPr/>
          <p:nvPr/>
        </p:nvSpPr>
        <p:spPr>
          <a:xfrm>
            <a:off x="502920" y="6473952"/>
            <a:ext cx="11155680" cy="27432"/>
          </a:xfrm>
          <a:prstGeom prst="rect">
            <a:avLst/>
          </a:prstGeom>
          <a:solidFill>
            <a:srgbClr val="D7DEE8"/>
          </a:solidFill>
          <a:ln/>
        </p:spPr>
        <p:txBody>
          <a:bodyPr/>
          <a:p/>
        </p:txBody>
      </p:sp>
      <p:sp>
        <p:nvSpPr>
          <p:cNvPr id="11" name="Shape 9"/>
          <p:cNvSpPr/>
          <p:nvPr/>
        </p:nvSpPr>
        <p:spPr>
          <a:xfrm>
            <a:off x="502920" y="6473952"/>
            <a:ext cx="3187337" cy="27432"/>
          </a:xfrm>
          <a:prstGeom prst="rect">
            <a:avLst/>
          </a:prstGeom>
          <a:solidFill>
            <a:srgbClr val="0E8388"/>
          </a:solidFill>
          <a:ln/>
        </p:spPr>
        <p:txBody>
          <a:bodyPr/>
          <a:p/>
        </p:txBody>
      </p:sp>
      <p:sp>
        <p:nvSpPr>
          <p:cNvPr id="12" name="Text 1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3" name="Text 1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DIF Mathematics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2B · DIF MATHEMATICS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The DIF Butterfly: From Equations to Flow Graph</a:t>
            </a:r>
            <a:endParaRPr lang="en-US" sz="2600" dirty="0"/>
          </a:p>
        </p:txBody>
      </p:sp>
      <p:sp>
        <p:nvSpPr>
          <p:cNvPr id="4" name="Text 2"/>
          <p:cNvSpPr/>
          <p:nvPr/>
        </p:nvSpPr>
        <p:spPr>
          <a:xfrm>
            <a:off x="502920" y="1188720"/>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NAME THE TERMS</a:t>
            </a:r>
            <a:endParaRPr lang="en-US" sz="1200" dirty="0"/>
          </a:p>
        </p:txBody>
      </p:sp>
      <p:sp>
        <p:nvSpPr>
          <p:cNvPr id="5" name="Shape 3"/>
          <p:cNvSpPr/>
          <p:nvPr/>
        </p:nvSpPr>
        <p:spPr>
          <a:xfrm>
            <a:off x="502920" y="1463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6" name="Text 4"/>
          <p:cNvSpPr/>
          <p:nvPr/>
        </p:nvSpPr>
        <p:spPr>
          <a:xfrm>
            <a:off x="502920" y="1463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 = x</a:t>
            </a:r>
            <a:pPr algn="ctr" indent="0" marL="0">
              <a:buNone/>
            </a:pPr>
            <a:r>
              <a:rPr lang="en-US" sz="1700" b="1" baseline="-40000" dirty="0">
                <a:solidFill>
                  <a:srgbClr val="FFFFFF"/>
                </a:solidFill>
                <a:latin typeface="Cambria" pitchFamily="34" charset="0"/>
                <a:ea typeface="Cambria" pitchFamily="34" charset="-122"/>
                <a:cs typeface="Cambria" pitchFamily="34" charset="-120"/>
              </a:rPr>
              <a:t>n</a:t>
            </a:r>
            <a:endParaRPr lang="en-US" sz="1700" dirty="0"/>
          </a:p>
        </p:txBody>
      </p:sp>
      <p:sp>
        <p:nvSpPr>
          <p:cNvPr id="7" name="Shape 5"/>
          <p:cNvSpPr/>
          <p:nvPr/>
        </p:nvSpPr>
        <p:spPr>
          <a:xfrm>
            <a:off x="3246120" y="1463040"/>
            <a:ext cx="2560320" cy="640080"/>
          </a:xfrm>
          <a:prstGeom prst="roundRect">
            <a:avLst>
              <a:gd name="adj" fmla="val 8571"/>
            </a:avLst>
          </a:prstGeom>
          <a:solidFill>
            <a:srgbClr val="0E8388"/>
          </a:solidFill>
          <a:ln w="12700">
            <a:solidFill>
              <a:srgbClr val="132A4A"/>
            </a:solidFill>
            <a:prstDash val="solid"/>
          </a:ln>
        </p:spPr>
        <p:txBody>
          <a:bodyPr/>
          <a:p/>
        </p:txBody>
      </p:sp>
      <p:sp>
        <p:nvSpPr>
          <p:cNvPr id="8" name="Text 6"/>
          <p:cNvSpPr/>
          <p:nvPr/>
        </p:nvSpPr>
        <p:spPr>
          <a:xfrm>
            <a:off x="3246120" y="1463040"/>
            <a:ext cx="2560320" cy="6400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 = x</a:t>
            </a:r>
            <a:pPr algn="ctr" indent="0" marL="0">
              <a:buNone/>
            </a:pPr>
            <a:r>
              <a:rPr lang="en-US" sz="1600" b="1" baseline="-40000" dirty="0">
                <a:solidFill>
                  <a:srgbClr val="FFFFFF"/>
                </a:solidFill>
                <a:latin typeface="Cambria" pitchFamily="34" charset="0"/>
                <a:ea typeface="Cambria" pitchFamily="34" charset="-122"/>
                <a:cs typeface="Cambria" pitchFamily="34" charset="-120"/>
              </a:rPr>
              <a:t>n+N/2</a:t>
            </a:r>
            <a:endParaRPr lang="en-US" sz="1600" dirty="0"/>
          </a:p>
        </p:txBody>
      </p:sp>
      <p:sp>
        <p:nvSpPr>
          <p:cNvPr id="9" name="Text 7"/>
          <p:cNvSpPr/>
          <p:nvPr/>
        </p:nvSpPr>
        <p:spPr>
          <a:xfrm>
            <a:off x="502920" y="2331720"/>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THE BUTTERFLY</a:t>
            </a:r>
            <a:endParaRPr lang="en-US" sz="1200" dirty="0"/>
          </a:p>
        </p:txBody>
      </p:sp>
      <p:sp>
        <p:nvSpPr>
          <p:cNvPr id="10" name="Shape 8"/>
          <p:cNvSpPr/>
          <p:nvPr/>
        </p:nvSpPr>
        <p:spPr>
          <a:xfrm>
            <a:off x="502920" y="2606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11" name="Text 9"/>
          <p:cNvSpPr/>
          <p:nvPr/>
        </p:nvSpPr>
        <p:spPr>
          <a:xfrm>
            <a:off x="502920" y="2606040"/>
            <a:ext cx="2560320" cy="64008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pPr algn="ctr" indent="0" marL="0">
              <a:buNone/>
            </a:pPr>
            <a:r>
              <a:rPr lang="en-US" sz="1700" b="1" baseline="-40000" dirty="0">
                <a:solidFill>
                  <a:srgbClr val="FFFFFF"/>
                </a:solidFill>
                <a:latin typeface="Cambria" pitchFamily="34" charset="0"/>
                <a:ea typeface="Cambria" pitchFamily="34" charset="-122"/>
                <a:cs typeface="Cambria" pitchFamily="34" charset="-120"/>
              </a:rPr>
              <a:t>n</a:t>
            </a:r>
            <a:pPr algn="ctr" indent="0" marL="0">
              <a:buNone/>
            </a:pPr>
            <a:r>
              <a:rPr lang="en-US" sz="1700" b="1" dirty="0">
                <a:solidFill>
                  <a:srgbClr val="FFFFFF"/>
                </a:solidFill>
                <a:latin typeface="Cambria" pitchFamily="34" charset="0"/>
                <a:ea typeface="Cambria" pitchFamily="34" charset="-122"/>
                <a:cs typeface="Cambria" pitchFamily="34" charset="-120"/>
              </a:rPr>
              <a:t> = A + B</a:t>
            </a:r>
            <a:endParaRPr lang="en-US" sz="1700" dirty="0"/>
          </a:p>
        </p:txBody>
      </p:sp>
      <p:sp>
        <p:nvSpPr>
          <p:cNvPr id="12" name="Shape 10"/>
          <p:cNvSpPr/>
          <p:nvPr/>
        </p:nvSpPr>
        <p:spPr>
          <a:xfrm>
            <a:off x="3246120" y="2606040"/>
            <a:ext cx="2560320" cy="640080"/>
          </a:xfrm>
          <a:prstGeom prst="roundRect">
            <a:avLst>
              <a:gd name="adj" fmla="val 8571"/>
            </a:avLst>
          </a:prstGeom>
          <a:solidFill>
            <a:srgbClr val="132A4A"/>
          </a:solidFill>
          <a:ln w="12700">
            <a:solidFill>
              <a:srgbClr val="132A4A"/>
            </a:solidFill>
            <a:prstDash val="solid"/>
          </a:ln>
        </p:spPr>
        <p:txBody>
          <a:bodyPr/>
          <a:p/>
        </p:txBody>
      </p:sp>
      <p:sp>
        <p:nvSpPr>
          <p:cNvPr id="13" name="Text 11"/>
          <p:cNvSpPr/>
          <p:nvPr/>
        </p:nvSpPr>
        <p:spPr>
          <a:xfrm>
            <a:off x="3246120" y="2606040"/>
            <a:ext cx="256032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dirty="0">
                <a:solidFill>
                  <a:srgbClr val="FFFFFF"/>
                </a:solidFill>
                <a:latin typeface="Cambria" pitchFamily="34" charset="0"/>
                <a:ea typeface="Cambria" pitchFamily="34" charset="-122"/>
                <a:cs typeface="Cambria" pitchFamily="34" charset="-120"/>
              </a:rPr>
              <a:t> = (A-B)·W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n</a:t>
            </a:r>
            <a:endParaRPr lang="en-US" sz="1500" dirty="0"/>
          </a:p>
        </p:txBody>
      </p:sp>
      <p:sp>
        <p:nvSpPr>
          <p:cNvPr id="14" name="Text 12"/>
          <p:cNvSpPr/>
          <p:nvPr/>
        </p:nvSpPr>
        <p:spPr>
          <a:xfrm>
            <a:off x="502920" y="3520440"/>
            <a:ext cx="5303520" cy="21945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Same crossing, add/subtract shape as the DIT butterfly, but mirrored: the twiddle multiply happens once, after the subtraction, on the difference only. a[n] feeds the even-output DFT untouched; b[n] carries the twiddle into the odd-output DFT.</a:t>
            </a:r>
            <a:endParaRPr lang="en-US" sz="1430" dirty="0"/>
          </a:p>
        </p:txBody>
      </p:sp>
      <p:sp>
        <p:nvSpPr>
          <p:cNvPr id="15" name="Shape 13"/>
          <p:cNvSpPr/>
          <p:nvPr/>
        </p:nvSpPr>
        <p:spPr>
          <a:xfrm>
            <a:off x="6400800" y="1188720"/>
            <a:ext cx="5257800" cy="4114800"/>
          </a:xfrm>
          <a:prstGeom prst="roundRect">
            <a:avLst>
              <a:gd name="adj" fmla="val 1333"/>
            </a:avLst>
          </a:prstGeom>
          <a:solidFill>
            <a:srgbClr val="FFFFFF"/>
          </a:solidFill>
          <a:ln w="12700">
            <a:solidFill>
              <a:srgbClr val="D7DEE8"/>
            </a:solidFill>
            <a:prstDash val="solid"/>
          </a:ln>
        </p:spPr>
        <p:txBody>
          <a:bodyPr/>
          <a:p/>
        </p:txBody>
      </p:sp>
      <p:sp>
        <p:nvSpPr>
          <p:cNvPr id="16" name="Text 14"/>
          <p:cNvSpPr/>
          <p:nvPr/>
        </p:nvSpPr>
        <p:spPr>
          <a:xfrm>
            <a:off x="6629400" y="1280160"/>
            <a:ext cx="457200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DIF BUTTERFLY FLOW GRAPH</a:t>
            </a:r>
            <a:endParaRPr lang="en-US" sz="1200" dirty="0"/>
          </a:p>
        </p:txBody>
      </p:sp>
      <p:sp>
        <p:nvSpPr>
          <p:cNvPr id="17" name="Shape 15"/>
          <p:cNvSpPr/>
          <p:nvPr/>
        </p:nvSpPr>
        <p:spPr>
          <a:xfrm>
            <a:off x="7635240" y="2331720"/>
            <a:ext cx="1700784" cy="0"/>
          </a:xfrm>
          <a:prstGeom prst="line">
            <a:avLst/>
          </a:prstGeom>
          <a:noFill/>
          <a:ln w="19050">
            <a:solidFill>
              <a:srgbClr val="9FB0C8"/>
            </a:solidFill>
            <a:prstDash val="solid"/>
          </a:ln>
        </p:spPr>
        <p:txBody>
          <a:bodyPr/>
          <a:p/>
        </p:txBody>
      </p:sp>
      <p:sp>
        <p:nvSpPr>
          <p:cNvPr id="18" name="Shape 16"/>
          <p:cNvSpPr/>
          <p:nvPr/>
        </p:nvSpPr>
        <p:spPr>
          <a:xfrm>
            <a:off x="7635240" y="3886200"/>
            <a:ext cx="1020470" cy="0"/>
          </a:xfrm>
          <a:prstGeom prst="line">
            <a:avLst/>
          </a:prstGeom>
          <a:noFill/>
          <a:ln w="19050">
            <a:solidFill>
              <a:srgbClr val="9FB0C8"/>
            </a:solidFill>
            <a:prstDash val="solid"/>
          </a:ln>
        </p:spPr>
        <p:txBody>
          <a:bodyPr/>
          <a:p/>
        </p:txBody>
      </p:sp>
      <p:sp>
        <p:nvSpPr>
          <p:cNvPr id="19" name="Shape 17"/>
          <p:cNvSpPr/>
          <p:nvPr/>
        </p:nvSpPr>
        <p:spPr>
          <a:xfrm>
            <a:off x="8655710" y="2331720"/>
            <a:ext cx="680314" cy="1554480"/>
          </a:xfrm>
          <a:prstGeom prst="line">
            <a:avLst/>
          </a:prstGeom>
          <a:noFill/>
          <a:ln w="19050">
            <a:solidFill>
              <a:srgbClr val="9FB0C8"/>
            </a:solidFill>
            <a:prstDash val="solid"/>
          </a:ln>
        </p:spPr>
        <p:txBody>
          <a:bodyPr/>
          <a:p/>
        </p:txBody>
      </p:sp>
      <p:sp>
        <p:nvSpPr>
          <p:cNvPr id="20" name="Shape 18"/>
          <p:cNvSpPr/>
          <p:nvPr/>
        </p:nvSpPr>
        <p:spPr>
          <a:xfrm flipV="1">
            <a:off x="8655710" y="2331720"/>
            <a:ext cx="680314" cy="1554480"/>
          </a:xfrm>
          <a:prstGeom prst="line">
            <a:avLst/>
          </a:prstGeom>
          <a:noFill/>
          <a:ln w="19050">
            <a:solidFill>
              <a:srgbClr val="9FB0C8"/>
            </a:solidFill>
            <a:prstDash val="solid"/>
          </a:ln>
        </p:spPr>
        <p:txBody>
          <a:bodyPr/>
          <a:p/>
        </p:txBody>
      </p:sp>
      <p:sp>
        <p:nvSpPr>
          <p:cNvPr id="21" name="Shape 19"/>
          <p:cNvSpPr/>
          <p:nvPr/>
        </p:nvSpPr>
        <p:spPr>
          <a:xfrm>
            <a:off x="8655710" y="3886200"/>
            <a:ext cx="680314" cy="0"/>
          </a:xfrm>
          <a:prstGeom prst="line">
            <a:avLst/>
          </a:prstGeom>
          <a:noFill/>
          <a:ln w="19050">
            <a:solidFill>
              <a:srgbClr val="9FB0C8"/>
            </a:solidFill>
            <a:prstDash val="solid"/>
          </a:ln>
        </p:spPr>
        <p:txBody>
          <a:bodyPr/>
          <a:p/>
        </p:txBody>
      </p:sp>
      <p:sp>
        <p:nvSpPr>
          <p:cNvPr id="22" name="Shape 20"/>
          <p:cNvSpPr/>
          <p:nvPr/>
        </p:nvSpPr>
        <p:spPr>
          <a:xfrm>
            <a:off x="9336024" y="2331720"/>
            <a:ext cx="1133856" cy="0"/>
          </a:xfrm>
          <a:prstGeom prst="line">
            <a:avLst/>
          </a:prstGeom>
          <a:noFill/>
          <a:ln w="19050">
            <a:solidFill>
              <a:srgbClr val="9FB0C8"/>
            </a:solidFill>
            <a:prstDash val="solid"/>
          </a:ln>
        </p:spPr>
        <p:txBody>
          <a:bodyPr/>
          <a:p/>
        </p:txBody>
      </p:sp>
      <p:sp>
        <p:nvSpPr>
          <p:cNvPr id="23" name="Shape 21"/>
          <p:cNvSpPr/>
          <p:nvPr/>
        </p:nvSpPr>
        <p:spPr>
          <a:xfrm>
            <a:off x="9336024" y="3886200"/>
            <a:ext cx="228600" cy="0"/>
          </a:xfrm>
          <a:prstGeom prst="line">
            <a:avLst/>
          </a:prstGeom>
          <a:noFill/>
          <a:ln w="19050">
            <a:solidFill>
              <a:srgbClr val="9FB0C8"/>
            </a:solidFill>
            <a:prstDash val="solid"/>
          </a:ln>
        </p:spPr>
        <p:txBody>
          <a:bodyPr/>
          <a:p/>
        </p:txBody>
      </p:sp>
      <p:sp>
        <p:nvSpPr>
          <p:cNvPr id="24" name="Shape 22"/>
          <p:cNvSpPr/>
          <p:nvPr/>
        </p:nvSpPr>
        <p:spPr>
          <a:xfrm>
            <a:off x="10241280" y="3886200"/>
            <a:ext cx="228600" cy="0"/>
          </a:xfrm>
          <a:prstGeom prst="line">
            <a:avLst/>
          </a:prstGeom>
          <a:noFill/>
          <a:ln w="19050">
            <a:solidFill>
              <a:srgbClr val="9FB0C8"/>
            </a:solidFill>
            <a:prstDash val="solid"/>
          </a:ln>
        </p:spPr>
        <p:txBody>
          <a:bodyPr/>
          <a:p/>
        </p:txBody>
      </p:sp>
      <p:sp>
        <p:nvSpPr>
          <p:cNvPr id="25" name="Shape 23"/>
          <p:cNvSpPr/>
          <p:nvPr/>
        </p:nvSpPr>
        <p:spPr>
          <a:xfrm>
            <a:off x="7584948" y="2281428"/>
            <a:ext cx="100584" cy="100584"/>
          </a:xfrm>
          <a:prstGeom prst="ellipse">
            <a:avLst/>
          </a:prstGeom>
          <a:solidFill>
            <a:srgbClr val="132A4A"/>
          </a:solidFill>
          <a:ln w="6350">
            <a:solidFill>
              <a:srgbClr val="132A4A"/>
            </a:solidFill>
            <a:prstDash val="solid"/>
          </a:ln>
        </p:spPr>
        <p:txBody>
          <a:bodyPr/>
          <a:p/>
        </p:txBody>
      </p:sp>
      <p:sp>
        <p:nvSpPr>
          <p:cNvPr id="26" name="Shape 24"/>
          <p:cNvSpPr/>
          <p:nvPr/>
        </p:nvSpPr>
        <p:spPr>
          <a:xfrm>
            <a:off x="7584948" y="3835908"/>
            <a:ext cx="100584" cy="100584"/>
          </a:xfrm>
          <a:prstGeom prst="ellipse">
            <a:avLst/>
          </a:prstGeom>
          <a:solidFill>
            <a:srgbClr val="132A4A"/>
          </a:solidFill>
          <a:ln w="6350">
            <a:solidFill>
              <a:srgbClr val="132A4A"/>
            </a:solidFill>
            <a:prstDash val="solid"/>
          </a:ln>
        </p:spPr>
        <p:txBody>
          <a:bodyPr/>
          <a:p/>
        </p:txBody>
      </p:sp>
      <p:sp>
        <p:nvSpPr>
          <p:cNvPr id="27" name="Shape 25"/>
          <p:cNvSpPr/>
          <p:nvPr/>
        </p:nvSpPr>
        <p:spPr>
          <a:xfrm>
            <a:off x="10419588" y="2281428"/>
            <a:ext cx="100584" cy="100584"/>
          </a:xfrm>
          <a:prstGeom prst="ellipse">
            <a:avLst/>
          </a:prstGeom>
          <a:solidFill>
            <a:srgbClr val="132A4A"/>
          </a:solidFill>
          <a:ln w="6350">
            <a:solidFill>
              <a:srgbClr val="132A4A"/>
            </a:solidFill>
            <a:prstDash val="solid"/>
          </a:ln>
        </p:spPr>
        <p:txBody>
          <a:bodyPr/>
          <a:p/>
        </p:txBody>
      </p:sp>
      <p:sp>
        <p:nvSpPr>
          <p:cNvPr id="28" name="Shape 26"/>
          <p:cNvSpPr/>
          <p:nvPr/>
        </p:nvSpPr>
        <p:spPr>
          <a:xfrm>
            <a:off x="10419588" y="3835908"/>
            <a:ext cx="100584" cy="100584"/>
          </a:xfrm>
          <a:prstGeom prst="ellipse">
            <a:avLst/>
          </a:prstGeom>
          <a:solidFill>
            <a:srgbClr val="132A4A"/>
          </a:solidFill>
          <a:ln w="6350">
            <a:solidFill>
              <a:srgbClr val="132A4A"/>
            </a:solidFill>
            <a:prstDash val="solid"/>
          </a:ln>
        </p:spPr>
        <p:txBody>
          <a:bodyPr/>
          <a:p/>
        </p:txBody>
      </p:sp>
      <p:sp>
        <p:nvSpPr>
          <p:cNvPr id="29" name="Shape 27"/>
          <p:cNvSpPr/>
          <p:nvPr/>
        </p:nvSpPr>
        <p:spPr>
          <a:xfrm>
            <a:off x="9180576" y="2176272"/>
            <a:ext cx="310896" cy="310896"/>
          </a:xfrm>
          <a:prstGeom prst="ellipse">
            <a:avLst/>
          </a:prstGeom>
          <a:solidFill>
            <a:srgbClr val="132A4A"/>
          </a:solidFill>
          <a:ln w="12700">
            <a:solidFill>
              <a:srgbClr val="132A4A"/>
            </a:solidFill>
            <a:prstDash val="solid"/>
          </a:ln>
        </p:spPr>
        <p:txBody>
          <a:bodyPr/>
          <a:p/>
        </p:txBody>
      </p:sp>
      <p:sp>
        <p:nvSpPr>
          <p:cNvPr id="30" name="Text 28"/>
          <p:cNvSpPr/>
          <p:nvPr/>
        </p:nvSpPr>
        <p:spPr>
          <a:xfrm>
            <a:off x="9180576" y="21762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9180576" y="3730752"/>
            <a:ext cx="310896" cy="310896"/>
          </a:xfrm>
          <a:prstGeom prst="ellipse">
            <a:avLst/>
          </a:prstGeom>
          <a:solidFill>
            <a:srgbClr val="132A4A"/>
          </a:solidFill>
          <a:ln w="12700">
            <a:solidFill>
              <a:srgbClr val="132A4A"/>
            </a:solidFill>
            <a:prstDash val="solid"/>
          </a:ln>
        </p:spPr>
        <p:txBody>
          <a:bodyPr/>
          <a:p/>
        </p:txBody>
      </p:sp>
      <p:sp>
        <p:nvSpPr>
          <p:cNvPr id="32" name="Text 30"/>
          <p:cNvSpPr/>
          <p:nvPr/>
        </p:nvSpPr>
        <p:spPr>
          <a:xfrm>
            <a:off x="9180576" y="3730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9564624" y="3739896"/>
            <a:ext cx="676656" cy="292608"/>
          </a:xfrm>
          <a:prstGeom prst="roundRect">
            <a:avLst>
              <a:gd name="adj" fmla="val 15625"/>
            </a:avLst>
          </a:prstGeom>
          <a:solidFill>
            <a:srgbClr val="FFFFFF"/>
          </a:solidFill>
          <a:ln w="19050">
            <a:solidFill>
              <a:srgbClr val="D98324"/>
            </a:solidFill>
            <a:prstDash val="solid"/>
          </a:ln>
        </p:spPr>
        <p:txBody>
          <a:bodyPr/>
          <a:p/>
        </p:txBody>
      </p:sp>
      <p:sp>
        <p:nvSpPr>
          <p:cNvPr id="34" name="Text 32"/>
          <p:cNvSpPr/>
          <p:nvPr/>
        </p:nvSpPr>
        <p:spPr>
          <a:xfrm>
            <a:off x="9564624" y="373989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W_N^n</a:t>
            </a:r>
            <a:endParaRPr lang="en-US" sz="1100" dirty="0"/>
          </a:p>
        </p:txBody>
      </p:sp>
      <p:sp>
        <p:nvSpPr>
          <p:cNvPr id="35" name="Text 33"/>
          <p:cNvSpPr/>
          <p:nvPr/>
        </p:nvSpPr>
        <p:spPr>
          <a:xfrm>
            <a:off x="6492240" y="218541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x[n]</a:t>
            </a:r>
            <a:endParaRPr lang="en-US" sz="1200" dirty="0"/>
          </a:p>
        </p:txBody>
      </p:sp>
      <p:sp>
        <p:nvSpPr>
          <p:cNvPr id="36" name="Text 34"/>
          <p:cNvSpPr/>
          <p:nvPr/>
        </p:nvSpPr>
        <p:spPr>
          <a:xfrm>
            <a:off x="6492240" y="373989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x[n+N/2]</a:t>
            </a:r>
            <a:endParaRPr lang="en-US" sz="1200" dirty="0"/>
          </a:p>
        </p:txBody>
      </p:sp>
      <p:sp>
        <p:nvSpPr>
          <p:cNvPr id="37" name="Text 35"/>
          <p:cNvSpPr/>
          <p:nvPr/>
        </p:nvSpPr>
        <p:spPr>
          <a:xfrm>
            <a:off x="10607040" y="218541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a[n]</a:t>
            </a:r>
            <a:endParaRPr lang="en-US" sz="1200" dirty="0"/>
          </a:p>
        </p:txBody>
      </p:sp>
      <p:sp>
        <p:nvSpPr>
          <p:cNvPr id="38" name="Text 36"/>
          <p:cNvSpPr/>
          <p:nvPr/>
        </p:nvSpPr>
        <p:spPr>
          <a:xfrm>
            <a:off x="10607040" y="373989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b[n]</a:t>
            </a:r>
            <a:endParaRPr lang="en-US" sz="1200" dirty="0"/>
          </a:p>
        </p:txBody>
      </p:sp>
      <p:sp>
        <p:nvSpPr>
          <p:cNvPr id="39" name="Text 37"/>
          <p:cNvSpPr/>
          <p:nvPr/>
        </p:nvSpPr>
        <p:spPr>
          <a:xfrm>
            <a:off x="6629400" y="4343400"/>
            <a:ext cx="4846320" cy="86868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a[n] feeds the even-output half-size DFT. The orange box multiplies only the difference, after the subtraction, before b[n] feeds the odd-output half-size DFT.</a:t>
            </a:r>
            <a:endParaRPr lang="en-US" sz="1155" dirty="0"/>
          </a:p>
        </p:txBody>
      </p:sp>
      <p:sp>
        <p:nvSpPr>
          <p:cNvPr id="40" name="Shape 38"/>
          <p:cNvSpPr/>
          <p:nvPr/>
        </p:nvSpPr>
        <p:spPr>
          <a:xfrm>
            <a:off x="502920" y="5577840"/>
            <a:ext cx="11155680" cy="731520"/>
          </a:xfrm>
          <a:prstGeom prst="roundRect">
            <a:avLst>
              <a:gd name="adj" fmla="val 7500"/>
            </a:avLst>
          </a:prstGeom>
          <a:solidFill>
            <a:srgbClr val="E4F3F2"/>
          </a:solidFill>
          <a:ln w="12700">
            <a:solidFill>
              <a:srgbClr val="9FD4D1"/>
            </a:solidFill>
            <a:prstDash val="solid"/>
          </a:ln>
        </p:spPr>
        <p:txBody>
          <a:bodyPr/>
          <a:p/>
        </p:txBody>
      </p:sp>
      <p:sp>
        <p:nvSpPr>
          <p:cNvPr id="41" name="Text 39"/>
          <p:cNvSpPr/>
          <p:nvPr/>
        </p:nvSpPr>
        <p:spPr>
          <a:xfrm>
            <a:off x="731520" y="5669280"/>
            <a:ext cx="10698480" cy="548640"/>
          </a:xfrm>
          <a:prstGeom prst="rect">
            <a:avLst/>
          </a:prstGeom>
          <a:noFill/>
          <a:ln/>
        </p:spPr>
        <p:txBody>
          <a:bodyPr wrap="square" rtlCol="0" anchor="ctr"/>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Cost is identical to DIT: 1 complex multiplication + 1 complex addition + 1 complex subtraction per butterfly.</a:t>
            </a:r>
            <a:endParaRPr lang="en-US" sz="1485" dirty="0"/>
          </a:p>
        </p:txBody>
      </p:sp>
      <p:sp>
        <p:nvSpPr>
          <p:cNvPr id="42" name="Shape 40"/>
          <p:cNvSpPr/>
          <p:nvPr/>
        </p:nvSpPr>
        <p:spPr>
          <a:xfrm>
            <a:off x="502920" y="6473952"/>
            <a:ext cx="11155680" cy="27432"/>
          </a:xfrm>
          <a:prstGeom prst="rect">
            <a:avLst/>
          </a:prstGeom>
          <a:solidFill>
            <a:srgbClr val="D7DEE8"/>
          </a:solidFill>
          <a:ln/>
        </p:spPr>
        <p:txBody>
          <a:bodyPr/>
          <a:p/>
        </p:txBody>
      </p:sp>
      <p:sp>
        <p:nvSpPr>
          <p:cNvPr id="43" name="Shape 41"/>
          <p:cNvSpPr/>
          <p:nvPr/>
        </p:nvSpPr>
        <p:spPr>
          <a:xfrm>
            <a:off x="502920" y="6473952"/>
            <a:ext cx="3452949" cy="27432"/>
          </a:xfrm>
          <a:prstGeom prst="rect">
            <a:avLst/>
          </a:prstGeom>
          <a:solidFill>
            <a:srgbClr val="0E8388"/>
          </a:solidFill>
          <a:ln/>
        </p:spPr>
        <p:txBody>
          <a:bodyPr/>
          <a:p/>
        </p:txBody>
      </p:sp>
      <p:sp>
        <p:nvSpPr>
          <p:cNvPr id="44" name="Text 42"/>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5" name="Text 43"/>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DIF Mathematics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2C · DIT VS DIF</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vs DIF Butterfly: Side by Side</a:t>
            </a:r>
            <a:endParaRPr lang="en-US" sz="2600" dirty="0"/>
          </a:p>
        </p:txBody>
      </p:sp>
      <p:sp>
        <p:nvSpPr>
          <p:cNvPr id="4" name="Shape 2"/>
          <p:cNvSpPr/>
          <p:nvPr/>
        </p:nvSpPr>
        <p:spPr>
          <a:xfrm>
            <a:off x="502920" y="1188720"/>
            <a:ext cx="5760720" cy="2514600"/>
          </a:xfrm>
          <a:prstGeom prst="roundRect">
            <a:avLst>
              <a:gd name="adj" fmla="val 2182"/>
            </a:avLst>
          </a:prstGeom>
          <a:solidFill>
            <a:srgbClr val="FFFFFF"/>
          </a:solidFill>
          <a:ln w="12700">
            <a:solidFill>
              <a:srgbClr val="D7DEE8"/>
            </a:solidFill>
            <a:prstDash val="solid"/>
          </a:ln>
        </p:spPr>
        <p:txBody>
          <a:bodyPr/>
          <a:p/>
        </p:txBody>
      </p:sp>
      <p:sp>
        <p:nvSpPr>
          <p:cNvPr id="5" name="Text 3"/>
          <p:cNvSpPr/>
          <p:nvPr/>
        </p:nvSpPr>
        <p:spPr>
          <a:xfrm>
            <a:off x="685800" y="1261872"/>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DIT : TWIDDLE BEFORE ADD/SUBTRACT</a:t>
            </a:r>
            <a:endParaRPr lang="en-US" sz="1200" dirty="0"/>
          </a:p>
        </p:txBody>
      </p:sp>
      <p:sp>
        <p:nvSpPr>
          <p:cNvPr id="6" name="Shape 4"/>
          <p:cNvSpPr/>
          <p:nvPr/>
        </p:nvSpPr>
        <p:spPr>
          <a:xfrm>
            <a:off x="1965960" y="2057400"/>
            <a:ext cx="1810512" cy="0"/>
          </a:xfrm>
          <a:prstGeom prst="line">
            <a:avLst/>
          </a:prstGeom>
          <a:noFill/>
          <a:ln w="19050">
            <a:solidFill>
              <a:srgbClr val="9FB0C8"/>
            </a:solidFill>
            <a:prstDash val="solid"/>
          </a:ln>
        </p:spPr>
        <p:txBody>
          <a:bodyPr/>
          <a:p/>
        </p:txBody>
      </p:sp>
      <p:sp>
        <p:nvSpPr>
          <p:cNvPr id="7" name="Shape 5"/>
          <p:cNvSpPr/>
          <p:nvPr/>
        </p:nvSpPr>
        <p:spPr>
          <a:xfrm>
            <a:off x="1965960" y="3017520"/>
            <a:ext cx="174650" cy="0"/>
          </a:xfrm>
          <a:prstGeom prst="line">
            <a:avLst/>
          </a:prstGeom>
          <a:noFill/>
          <a:ln w="19050">
            <a:solidFill>
              <a:srgbClr val="9FB0C8"/>
            </a:solidFill>
            <a:prstDash val="solid"/>
          </a:ln>
        </p:spPr>
        <p:txBody>
          <a:bodyPr/>
          <a:p/>
        </p:txBody>
      </p:sp>
      <p:sp>
        <p:nvSpPr>
          <p:cNvPr id="8" name="Shape 6"/>
          <p:cNvSpPr/>
          <p:nvPr/>
        </p:nvSpPr>
        <p:spPr>
          <a:xfrm>
            <a:off x="2817266" y="3017520"/>
            <a:ext cx="235001" cy="0"/>
          </a:xfrm>
          <a:prstGeom prst="line">
            <a:avLst/>
          </a:prstGeom>
          <a:noFill/>
          <a:ln w="19050">
            <a:solidFill>
              <a:srgbClr val="9FB0C8"/>
            </a:solidFill>
            <a:prstDash val="solid"/>
          </a:ln>
        </p:spPr>
        <p:txBody>
          <a:bodyPr/>
          <a:p/>
        </p:txBody>
      </p:sp>
      <p:sp>
        <p:nvSpPr>
          <p:cNvPr id="9" name="Shape 7"/>
          <p:cNvSpPr/>
          <p:nvPr/>
        </p:nvSpPr>
        <p:spPr>
          <a:xfrm>
            <a:off x="3052267" y="2057400"/>
            <a:ext cx="724205" cy="960120"/>
          </a:xfrm>
          <a:prstGeom prst="line">
            <a:avLst/>
          </a:prstGeom>
          <a:noFill/>
          <a:ln w="19050">
            <a:solidFill>
              <a:srgbClr val="9FB0C8"/>
            </a:solidFill>
            <a:prstDash val="solid"/>
          </a:ln>
        </p:spPr>
        <p:txBody>
          <a:bodyPr/>
          <a:p/>
        </p:txBody>
      </p:sp>
      <p:sp>
        <p:nvSpPr>
          <p:cNvPr id="10" name="Shape 8"/>
          <p:cNvSpPr/>
          <p:nvPr/>
        </p:nvSpPr>
        <p:spPr>
          <a:xfrm flipV="1">
            <a:off x="3052267" y="2057400"/>
            <a:ext cx="724205" cy="960120"/>
          </a:xfrm>
          <a:prstGeom prst="line">
            <a:avLst/>
          </a:prstGeom>
          <a:noFill/>
          <a:ln w="19050">
            <a:solidFill>
              <a:srgbClr val="9FB0C8"/>
            </a:solidFill>
            <a:prstDash val="solid"/>
          </a:ln>
        </p:spPr>
        <p:txBody>
          <a:bodyPr/>
          <a:p/>
        </p:txBody>
      </p:sp>
      <p:sp>
        <p:nvSpPr>
          <p:cNvPr id="11" name="Shape 9"/>
          <p:cNvSpPr/>
          <p:nvPr/>
        </p:nvSpPr>
        <p:spPr>
          <a:xfrm>
            <a:off x="3052267" y="3017520"/>
            <a:ext cx="724205" cy="0"/>
          </a:xfrm>
          <a:prstGeom prst="line">
            <a:avLst/>
          </a:prstGeom>
          <a:noFill/>
          <a:ln w="19050">
            <a:solidFill>
              <a:srgbClr val="9FB0C8"/>
            </a:solidFill>
            <a:prstDash val="solid"/>
          </a:ln>
        </p:spPr>
        <p:txBody>
          <a:bodyPr/>
          <a:p/>
        </p:txBody>
      </p:sp>
      <p:sp>
        <p:nvSpPr>
          <p:cNvPr id="12" name="Shape 10"/>
          <p:cNvSpPr/>
          <p:nvPr/>
        </p:nvSpPr>
        <p:spPr>
          <a:xfrm>
            <a:off x="3776472" y="2057400"/>
            <a:ext cx="1207008" cy="0"/>
          </a:xfrm>
          <a:prstGeom prst="line">
            <a:avLst/>
          </a:prstGeom>
          <a:noFill/>
          <a:ln w="19050">
            <a:solidFill>
              <a:srgbClr val="9FB0C8"/>
            </a:solidFill>
            <a:prstDash val="solid"/>
          </a:ln>
        </p:spPr>
        <p:txBody>
          <a:bodyPr/>
          <a:p/>
        </p:txBody>
      </p:sp>
      <p:sp>
        <p:nvSpPr>
          <p:cNvPr id="13" name="Shape 11"/>
          <p:cNvSpPr/>
          <p:nvPr/>
        </p:nvSpPr>
        <p:spPr>
          <a:xfrm>
            <a:off x="3776472" y="3017520"/>
            <a:ext cx="1207008" cy="0"/>
          </a:xfrm>
          <a:prstGeom prst="line">
            <a:avLst/>
          </a:prstGeom>
          <a:noFill/>
          <a:ln w="19050">
            <a:solidFill>
              <a:srgbClr val="9FB0C8"/>
            </a:solidFill>
            <a:prstDash val="solid"/>
          </a:ln>
        </p:spPr>
        <p:txBody>
          <a:bodyPr/>
          <a:p/>
        </p:txBody>
      </p:sp>
      <p:sp>
        <p:nvSpPr>
          <p:cNvPr id="14" name="Shape 12"/>
          <p:cNvSpPr/>
          <p:nvPr/>
        </p:nvSpPr>
        <p:spPr>
          <a:xfrm>
            <a:off x="1915668" y="2007108"/>
            <a:ext cx="100584" cy="100584"/>
          </a:xfrm>
          <a:prstGeom prst="ellipse">
            <a:avLst/>
          </a:prstGeom>
          <a:solidFill>
            <a:srgbClr val="132A4A"/>
          </a:solidFill>
          <a:ln w="6350">
            <a:solidFill>
              <a:srgbClr val="132A4A"/>
            </a:solidFill>
            <a:prstDash val="solid"/>
          </a:ln>
        </p:spPr>
        <p:txBody>
          <a:bodyPr/>
          <a:p/>
        </p:txBody>
      </p:sp>
      <p:sp>
        <p:nvSpPr>
          <p:cNvPr id="15" name="Shape 13"/>
          <p:cNvSpPr/>
          <p:nvPr/>
        </p:nvSpPr>
        <p:spPr>
          <a:xfrm>
            <a:off x="1915668" y="2967228"/>
            <a:ext cx="100584" cy="100584"/>
          </a:xfrm>
          <a:prstGeom prst="ellipse">
            <a:avLst/>
          </a:prstGeom>
          <a:solidFill>
            <a:srgbClr val="132A4A"/>
          </a:solidFill>
          <a:ln w="6350">
            <a:solidFill>
              <a:srgbClr val="132A4A"/>
            </a:solidFill>
            <a:prstDash val="solid"/>
          </a:ln>
        </p:spPr>
        <p:txBody>
          <a:bodyPr/>
          <a:p/>
        </p:txBody>
      </p:sp>
      <p:sp>
        <p:nvSpPr>
          <p:cNvPr id="16" name="Shape 14"/>
          <p:cNvSpPr/>
          <p:nvPr/>
        </p:nvSpPr>
        <p:spPr>
          <a:xfrm>
            <a:off x="4933188" y="2007108"/>
            <a:ext cx="100584" cy="100584"/>
          </a:xfrm>
          <a:prstGeom prst="ellipse">
            <a:avLst/>
          </a:prstGeom>
          <a:solidFill>
            <a:srgbClr val="132A4A"/>
          </a:solidFill>
          <a:ln w="6350">
            <a:solidFill>
              <a:srgbClr val="132A4A"/>
            </a:solidFill>
            <a:prstDash val="solid"/>
          </a:ln>
        </p:spPr>
        <p:txBody>
          <a:bodyPr/>
          <a:p/>
        </p:txBody>
      </p:sp>
      <p:sp>
        <p:nvSpPr>
          <p:cNvPr id="17" name="Shape 15"/>
          <p:cNvSpPr/>
          <p:nvPr/>
        </p:nvSpPr>
        <p:spPr>
          <a:xfrm>
            <a:off x="4933188" y="2967228"/>
            <a:ext cx="100584" cy="100584"/>
          </a:xfrm>
          <a:prstGeom prst="ellipse">
            <a:avLst/>
          </a:prstGeom>
          <a:solidFill>
            <a:srgbClr val="132A4A"/>
          </a:solidFill>
          <a:ln w="6350">
            <a:solidFill>
              <a:srgbClr val="132A4A"/>
            </a:solidFill>
            <a:prstDash val="solid"/>
          </a:ln>
        </p:spPr>
        <p:txBody>
          <a:bodyPr/>
          <a:p/>
        </p:txBody>
      </p:sp>
      <p:sp>
        <p:nvSpPr>
          <p:cNvPr id="18" name="Shape 16"/>
          <p:cNvSpPr/>
          <p:nvPr/>
        </p:nvSpPr>
        <p:spPr>
          <a:xfrm>
            <a:off x="3621024" y="1901952"/>
            <a:ext cx="310896" cy="310896"/>
          </a:xfrm>
          <a:prstGeom prst="ellipse">
            <a:avLst/>
          </a:prstGeom>
          <a:solidFill>
            <a:srgbClr val="132A4A"/>
          </a:solidFill>
          <a:ln w="12700">
            <a:solidFill>
              <a:srgbClr val="132A4A"/>
            </a:solidFill>
            <a:prstDash val="solid"/>
          </a:ln>
        </p:spPr>
        <p:txBody>
          <a:bodyPr/>
          <a:p/>
        </p:txBody>
      </p:sp>
      <p:sp>
        <p:nvSpPr>
          <p:cNvPr id="19" name="Text 17"/>
          <p:cNvSpPr/>
          <p:nvPr/>
        </p:nvSpPr>
        <p:spPr>
          <a:xfrm>
            <a:off x="3621024" y="19019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3621024" y="2862072"/>
            <a:ext cx="310896" cy="310896"/>
          </a:xfrm>
          <a:prstGeom prst="ellipse">
            <a:avLst/>
          </a:prstGeom>
          <a:solidFill>
            <a:srgbClr val="132A4A"/>
          </a:solidFill>
          <a:ln w="12700">
            <a:solidFill>
              <a:srgbClr val="132A4A"/>
            </a:solidFill>
            <a:prstDash val="solid"/>
          </a:ln>
        </p:spPr>
        <p:txBody>
          <a:bodyPr/>
          <a:p/>
        </p:txBody>
      </p:sp>
      <p:sp>
        <p:nvSpPr>
          <p:cNvPr id="21" name="Text 19"/>
          <p:cNvSpPr/>
          <p:nvPr/>
        </p:nvSpPr>
        <p:spPr>
          <a:xfrm>
            <a:off x="3621024" y="2862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2140610" y="2871216"/>
            <a:ext cx="676656" cy="292608"/>
          </a:xfrm>
          <a:prstGeom prst="roundRect">
            <a:avLst>
              <a:gd name="adj" fmla="val 15625"/>
            </a:avLst>
          </a:prstGeom>
          <a:solidFill>
            <a:srgbClr val="FFFFFF"/>
          </a:solidFill>
          <a:ln w="19050">
            <a:solidFill>
              <a:srgbClr val="D98324"/>
            </a:solidFill>
            <a:prstDash val="solid"/>
          </a:ln>
        </p:spPr>
        <p:txBody>
          <a:bodyPr/>
          <a:p/>
        </p:txBody>
      </p:sp>
      <p:sp>
        <p:nvSpPr>
          <p:cNvPr id="23" name="Text 21"/>
          <p:cNvSpPr/>
          <p:nvPr/>
        </p:nvSpPr>
        <p:spPr>
          <a:xfrm>
            <a:off x="2140610" y="287121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Tw</a:t>
            </a:r>
            <a:endParaRPr lang="en-US" sz="1100" dirty="0"/>
          </a:p>
        </p:txBody>
      </p:sp>
      <p:sp>
        <p:nvSpPr>
          <p:cNvPr id="24" name="Text 22"/>
          <p:cNvSpPr/>
          <p:nvPr/>
        </p:nvSpPr>
        <p:spPr>
          <a:xfrm>
            <a:off x="822960" y="191109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A</a:t>
            </a:r>
            <a:endParaRPr lang="en-US" sz="1200" dirty="0"/>
          </a:p>
        </p:txBody>
      </p:sp>
      <p:sp>
        <p:nvSpPr>
          <p:cNvPr id="25" name="Text 23"/>
          <p:cNvSpPr/>
          <p:nvPr/>
        </p:nvSpPr>
        <p:spPr>
          <a:xfrm>
            <a:off x="822960" y="287121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B</a:t>
            </a:r>
            <a:endParaRPr lang="en-US" sz="1200" dirty="0"/>
          </a:p>
        </p:txBody>
      </p:sp>
      <p:sp>
        <p:nvSpPr>
          <p:cNvPr id="26" name="Text 24"/>
          <p:cNvSpPr/>
          <p:nvPr/>
        </p:nvSpPr>
        <p:spPr>
          <a:xfrm>
            <a:off x="5120640" y="191109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A+B</a:t>
            </a:r>
            <a:endParaRPr lang="en-US" sz="1200" dirty="0"/>
          </a:p>
        </p:txBody>
      </p:sp>
      <p:sp>
        <p:nvSpPr>
          <p:cNvPr id="27" name="Text 25"/>
          <p:cNvSpPr/>
          <p:nvPr/>
        </p:nvSpPr>
        <p:spPr>
          <a:xfrm>
            <a:off x="5120640" y="287121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A-B</a:t>
            </a:r>
            <a:endParaRPr lang="en-US" sz="1200" dirty="0"/>
          </a:p>
        </p:txBody>
      </p:sp>
      <p:sp>
        <p:nvSpPr>
          <p:cNvPr id="28" name="Text 26"/>
          <p:cNvSpPr/>
          <p:nvPr/>
        </p:nvSpPr>
        <p:spPr>
          <a:xfrm>
            <a:off x="685800" y="3310128"/>
            <a:ext cx="5394960" cy="411480"/>
          </a:xfrm>
          <a:prstGeom prst="rect">
            <a:avLst/>
          </a:prstGeom>
          <a:noFill/>
          <a:ln/>
        </p:spPr>
        <p:txBody>
          <a:bodyPr wrap="square" rtlCol="0" anchor="t"/>
          <a:lstStyle/>
          <a:p>
            <a:pPr algn="l" indent="0" marL="0">
              <a:lnSpc>
                <a:spcPct val="118000"/>
              </a:lnSpc>
              <a:buNone/>
            </a:pPr>
            <a:r>
              <a:rPr lang="en-US" sz="1100" i="1" dirty="0">
                <a:solidFill>
                  <a:srgbClr val="5C6B7A"/>
                </a:solidFill>
                <a:latin typeface="Calibri" pitchFamily="34" charset="0"/>
                <a:ea typeface="Calibri" pitchFamily="34" charset="-122"/>
                <a:cs typeface="Calibri" pitchFamily="34" charset="-120"/>
              </a:rPr>
              <a:t>B is multiplied first, then one add and one subtract.</a:t>
            </a:r>
            <a:endParaRPr lang="en-US" sz="1210" dirty="0"/>
          </a:p>
        </p:txBody>
      </p:sp>
      <p:sp>
        <p:nvSpPr>
          <p:cNvPr id="29" name="Shape 27"/>
          <p:cNvSpPr/>
          <p:nvPr/>
        </p:nvSpPr>
        <p:spPr>
          <a:xfrm>
            <a:off x="502920" y="3840480"/>
            <a:ext cx="5760720" cy="2514600"/>
          </a:xfrm>
          <a:prstGeom prst="roundRect">
            <a:avLst>
              <a:gd name="adj" fmla="val 2182"/>
            </a:avLst>
          </a:prstGeom>
          <a:solidFill>
            <a:srgbClr val="FFFFFF"/>
          </a:solidFill>
          <a:ln w="12700">
            <a:solidFill>
              <a:srgbClr val="D7DEE8"/>
            </a:solidFill>
            <a:prstDash val="solid"/>
          </a:ln>
        </p:spPr>
        <p:txBody>
          <a:bodyPr/>
          <a:p/>
        </p:txBody>
      </p:sp>
      <p:sp>
        <p:nvSpPr>
          <p:cNvPr id="30" name="Text 28"/>
          <p:cNvSpPr/>
          <p:nvPr/>
        </p:nvSpPr>
        <p:spPr>
          <a:xfrm>
            <a:off x="685800" y="3913632"/>
            <a:ext cx="530352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DIF : TWIDDLE AFTER ADD/SUBTRACT</a:t>
            </a:r>
            <a:endParaRPr lang="en-US" sz="1200" dirty="0"/>
          </a:p>
        </p:txBody>
      </p:sp>
      <p:sp>
        <p:nvSpPr>
          <p:cNvPr id="31" name="Shape 29"/>
          <p:cNvSpPr/>
          <p:nvPr/>
        </p:nvSpPr>
        <p:spPr>
          <a:xfrm>
            <a:off x="1965960" y="4709160"/>
            <a:ext cx="1810512" cy="0"/>
          </a:xfrm>
          <a:prstGeom prst="line">
            <a:avLst/>
          </a:prstGeom>
          <a:noFill/>
          <a:ln w="19050">
            <a:solidFill>
              <a:srgbClr val="9FB0C8"/>
            </a:solidFill>
            <a:prstDash val="solid"/>
          </a:ln>
        </p:spPr>
        <p:txBody>
          <a:bodyPr/>
          <a:p/>
        </p:txBody>
      </p:sp>
      <p:sp>
        <p:nvSpPr>
          <p:cNvPr id="32" name="Shape 30"/>
          <p:cNvSpPr/>
          <p:nvPr/>
        </p:nvSpPr>
        <p:spPr>
          <a:xfrm>
            <a:off x="1965960" y="5669280"/>
            <a:ext cx="1086307" cy="0"/>
          </a:xfrm>
          <a:prstGeom prst="line">
            <a:avLst/>
          </a:prstGeom>
          <a:noFill/>
          <a:ln w="19050">
            <a:solidFill>
              <a:srgbClr val="9FB0C8"/>
            </a:solidFill>
            <a:prstDash val="solid"/>
          </a:ln>
        </p:spPr>
        <p:txBody>
          <a:bodyPr/>
          <a:p/>
        </p:txBody>
      </p:sp>
      <p:sp>
        <p:nvSpPr>
          <p:cNvPr id="33" name="Shape 31"/>
          <p:cNvSpPr/>
          <p:nvPr/>
        </p:nvSpPr>
        <p:spPr>
          <a:xfrm>
            <a:off x="3052267" y="4709160"/>
            <a:ext cx="724205" cy="960120"/>
          </a:xfrm>
          <a:prstGeom prst="line">
            <a:avLst/>
          </a:prstGeom>
          <a:noFill/>
          <a:ln w="19050">
            <a:solidFill>
              <a:srgbClr val="9FB0C8"/>
            </a:solidFill>
            <a:prstDash val="solid"/>
          </a:ln>
        </p:spPr>
        <p:txBody>
          <a:bodyPr/>
          <a:p/>
        </p:txBody>
      </p:sp>
      <p:sp>
        <p:nvSpPr>
          <p:cNvPr id="34" name="Shape 32"/>
          <p:cNvSpPr/>
          <p:nvPr/>
        </p:nvSpPr>
        <p:spPr>
          <a:xfrm flipV="1">
            <a:off x="3052267" y="4709160"/>
            <a:ext cx="724205" cy="960120"/>
          </a:xfrm>
          <a:prstGeom prst="line">
            <a:avLst/>
          </a:prstGeom>
          <a:noFill/>
          <a:ln w="19050">
            <a:solidFill>
              <a:srgbClr val="9FB0C8"/>
            </a:solidFill>
            <a:prstDash val="solid"/>
          </a:ln>
        </p:spPr>
        <p:txBody>
          <a:bodyPr/>
          <a:p/>
        </p:txBody>
      </p:sp>
      <p:sp>
        <p:nvSpPr>
          <p:cNvPr id="35" name="Shape 33"/>
          <p:cNvSpPr/>
          <p:nvPr/>
        </p:nvSpPr>
        <p:spPr>
          <a:xfrm>
            <a:off x="3052267" y="5669280"/>
            <a:ext cx="724205" cy="0"/>
          </a:xfrm>
          <a:prstGeom prst="line">
            <a:avLst/>
          </a:prstGeom>
          <a:noFill/>
          <a:ln w="19050">
            <a:solidFill>
              <a:srgbClr val="9FB0C8"/>
            </a:solidFill>
            <a:prstDash val="solid"/>
          </a:ln>
        </p:spPr>
        <p:txBody>
          <a:bodyPr/>
          <a:p/>
        </p:txBody>
      </p:sp>
      <p:sp>
        <p:nvSpPr>
          <p:cNvPr id="36" name="Shape 34"/>
          <p:cNvSpPr/>
          <p:nvPr/>
        </p:nvSpPr>
        <p:spPr>
          <a:xfrm>
            <a:off x="3776472" y="4709160"/>
            <a:ext cx="1207008" cy="0"/>
          </a:xfrm>
          <a:prstGeom prst="line">
            <a:avLst/>
          </a:prstGeom>
          <a:noFill/>
          <a:ln w="19050">
            <a:solidFill>
              <a:srgbClr val="9FB0C8"/>
            </a:solidFill>
            <a:prstDash val="solid"/>
          </a:ln>
        </p:spPr>
        <p:txBody>
          <a:bodyPr/>
          <a:p/>
        </p:txBody>
      </p:sp>
      <p:sp>
        <p:nvSpPr>
          <p:cNvPr id="37" name="Shape 35"/>
          <p:cNvSpPr/>
          <p:nvPr/>
        </p:nvSpPr>
        <p:spPr>
          <a:xfrm>
            <a:off x="3776472" y="5669280"/>
            <a:ext cx="265176" cy="0"/>
          </a:xfrm>
          <a:prstGeom prst="line">
            <a:avLst/>
          </a:prstGeom>
          <a:noFill/>
          <a:ln w="19050">
            <a:solidFill>
              <a:srgbClr val="9FB0C8"/>
            </a:solidFill>
            <a:prstDash val="solid"/>
          </a:ln>
        </p:spPr>
        <p:txBody>
          <a:bodyPr/>
          <a:p/>
        </p:txBody>
      </p:sp>
      <p:sp>
        <p:nvSpPr>
          <p:cNvPr id="38" name="Shape 36"/>
          <p:cNvSpPr/>
          <p:nvPr/>
        </p:nvSpPr>
        <p:spPr>
          <a:xfrm>
            <a:off x="4718304" y="5669280"/>
            <a:ext cx="265176" cy="0"/>
          </a:xfrm>
          <a:prstGeom prst="line">
            <a:avLst/>
          </a:prstGeom>
          <a:noFill/>
          <a:ln w="19050">
            <a:solidFill>
              <a:srgbClr val="9FB0C8"/>
            </a:solidFill>
            <a:prstDash val="solid"/>
          </a:ln>
        </p:spPr>
        <p:txBody>
          <a:bodyPr/>
          <a:p/>
        </p:txBody>
      </p:sp>
      <p:sp>
        <p:nvSpPr>
          <p:cNvPr id="39" name="Shape 37"/>
          <p:cNvSpPr/>
          <p:nvPr/>
        </p:nvSpPr>
        <p:spPr>
          <a:xfrm>
            <a:off x="1915668" y="4658868"/>
            <a:ext cx="100584" cy="100584"/>
          </a:xfrm>
          <a:prstGeom prst="ellipse">
            <a:avLst/>
          </a:prstGeom>
          <a:solidFill>
            <a:srgbClr val="132A4A"/>
          </a:solidFill>
          <a:ln w="6350">
            <a:solidFill>
              <a:srgbClr val="132A4A"/>
            </a:solidFill>
            <a:prstDash val="solid"/>
          </a:ln>
        </p:spPr>
        <p:txBody>
          <a:bodyPr/>
          <a:p/>
        </p:txBody>
      </p:sp>
      <p:sp>
        <p:nvSpPr>
          <p:cNvPr id="40" name="Shape 38"/>
          <p:cNvSpPr/>
          <p:nvPr/>
        </p:nvSpPr>
        <p:spPr>
          <a:xfrm>
            <a:off x="1915668" y="5618988"/>
            <a:ext cx="100584" cy="100584"/>
          </a:xfrm>
          <a:prstGeom prst="ellipse">
            <a:avLst/>
          </a:prstGeom>
          <a:solidFill>
            <a:srgbClr val="132A4A"/>
          </a:solidFill>
          <a:ln w="6350">
            <a:solidFill>
              <a:srgbClr val="132A4A"/>
            </a:solidFill>
            <a:prstDash val="solid"/>
          </a:ln>
        </p:spPr>
        <p:txBody>
          <a:bodyPr/>
          <a:p/>
        </p:txBody>
      </p:sp>
      <p:sp>
        <p:nvSpPr>
          <p:cNvPr id="41" name="Shape 39"/>
          <p:cNvSpPr/>
          <p:nvPr/>
        </p:nvSpPr>
        <p:spPr>
          <a:xfrm>
            <a:off x="4933188" y="4658868"/>
            <a:ext cx="100584" cy="100584"/>
          </a:xfrm>
          <a:prstGeom prst="ellipse">
            <a:avLst/>
          </a:prstGeom>
          <a:solidFill>
            <a:srgbClr val="132A4A"/>
          </a:solidFill>
          <a:ln w="6350">
            <a:solidFill>
              <a:srgbClr val="132A4A"/>
            </a:solidFill>
            <a:prstDash val="solid"/>
          </a:ln>
        </p:spPr>
        <p:txBody>
          <a:bodyPr/>
          <a:p/>
        </p:txBody>
      </p:sp>
      <p:sp>
        <p:nvSpPr>
          <p:cNvPr id="42" name="Shape 40"/>
          <p:cNvSpPr/>
          <p:nvPr/>
        </p:nvSpPr>
        <p:spPr>
          <a:xfrm>
            <a:off x="4933188" y="5618988"/>
            <a:ext cx="100584" cy="100584"/>
          </a:xfrm>
          <a:prstGeom prst="ellipse">
            <a:avLst/>
          </a:prstGeom>
          <a:solidFill>
            <a:srgbClr val="132A4A"/>
          </a:solidFill>
          <a:ln w="6350">
            <a:solidFill>
              <a:srgbClr val="132A4A"/>
            </a:solidFill>
            <a:prstDash val="solid"/>
          </a:ln>
        </p:spPr>
        <p:txBody>
          <a:bodyPr/>
          <a:p/>
        </p:txBody>
      </p:sp>
      <p:sp>
        <p:nvSpPr>
          <p:cNvPr id="43" name="Shape 41"/>
          <p:cNvSpPr/>
          <p:nvPr/>
        </p:nvSpPr>
        <p:spPr>
          <a:xfrm>
            <a:off x="3621024" y="4553712"/>
            <a:ext cx="310896" cy="310896"/>
          </a:xfrm>
          <a:prstGeom prst="ellipse">
            <a:avLst/>
          </a:prstGeom>
          <a:solidFill>
            <a:srgbClr val="132A4A"/>
          </a:solidFill>
          <a:ln w="12700">
            <a:solidFill>
              <a:srgbClr val="132A4A"/>
            </a:solidFill>
            <a:prstDash val="solid"/>
          </a:ln>
        </p:spPr>
        <p:txBody>
          <a:bodyPr/>
          <a:p/>
        </p:txBody>
      </p:sp>
      <p:sp>
        <p:nvSpPr>
          <p:cNvPr id="44" name="Text 42"/>
          <p:cNvSpPr/>
          <p:nvPr/>
        </p:nvSpPr>
        <p:spPr>
          <a:xfrm>
            <a:off x="3621024" y="45537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45" name="Shape 43"/>
          <p:cNvSpPr/>
          <p:nvPr/>
        </p:nvSpPr>
        <p:spPr>
          <a:xfrm>
            <a:off x="3621024" y="5513832"/>
            <a:ext cx="310896" cy="310896"/>
          </a:xfrm>
          <a:prstGeom prst="ellipse">
            <a:avLst/>
          </a:prstGeom>
          <a:solidFill>
            <a:srgbClr val="132A4A"/>
          </a:solidFill>
          <a:ln w="12700">
            <a:solidFill>
              <a:srgbClr val="132A4A"/>
            </a:solidFill>
            <a:prstDash val="solid"/>
          </a:ln>
        </p:spPr>
        <p:txBody>
          <a:bodyPr/>
          <a:p/>
        </p:txBody>
      </p:sp>
      <p:sp>
        <p:nvSpPr>
          <p:cNvPr id="46" name="Text 44"/>
          <p:cNvSpPr/>
          <p:nvPr/>
        </p:nvSpPr>
        <p:spPr>
          <a:xfrm>
            <a:off x="3621024" y="55138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4041648" y="5522976"/>
            <a:ext cx="676656" cy="292608"/>
          </a:xfrm>
          <a:prstGeom prst="roundRect">
            <a:avLst>
              <a:gd name="adj" fmla="val 15625"/>
            </a:avLst>
          </a:prstGeom>
          <a:solidFill>
            <a:srgbClr val="FFFFFF"/>
          </a:solidFill>
          <a:ln w="19050">
            <a:solidFill>
              <a:srgbClr val="D98324"/>
            </a:solidFill>
            <a:prstDash val="solid"/>
          </a:ln>
        </p:spPr>
        <p:txBody>
          <a:bodyPr/>
          <a:p/>
        </p:txBody>
      </p:sp>
      <p:sp>
        <p:nvSpPr>
          <p:cNvPr id="48" name="Text 46"/>
          <p:cNvSpPr/>
          <p:nvPr/>
        </p:nvSpPr>
        <p:spPr>
          <a:xfrm>
            <a:off x="4041648" y="552297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Tw</a:t>
            </a:r>
            <a:endParaRPr lang="en-US" sz="1100" dirty="0"/>
          </a:p>
        </p:txBody>
      </p:sp>
      <p:sp>
        <p:nvSpPr>
          <p:cNvPr id="49" name="Text 47"/>
          <p:cNvSpPr/>
          <p:nvPr/>
        </p:nvSpPr>
        <p:spPr>
          <a:xfrm>
            <a:off x="822960" y="456285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A</a:t>
            </a:r>
            <a:endParaRPr lang="en-US" sz="1200" dirty="0"/>
          </a:p>
        </p:txBody>
      </p:sp>
      <p:sp>
        <p:nvSpPr>
          <p:cNvPr id="50" name="Text 48"/>
          <p:cNvSpPr/>
          <p:nvPr/>
        </p:nvSpPr>
        <p:spPr>
          <a:xfrm>
            <a:off x="822960" y="5522976"/>
            <a:ext cx="1005840" cy="292608"/>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B</a:t>
            </a:r>
            <a:endParaRPr lang="en-US" sz="1200" dirty="0"/>
          </a:p>
        </p:txBody>
      </p:sp>
      <p:sp>
        <p:nvSpPr>
          <p:cNvPr id="51" name="Text 49"/>
          <p:cNvSpPr/>
          <p:nvPr/>
        </p:nvSpPr>
        <p:spPr>
          <a:xfrm>
            <a:off x="5120640" y="456285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A+B</a:t>
            </a:r>
            <a:endParaRPr lang="en-US" sz="1200" dirty="0"/>
          </a:p>
        </p:txBody>
      </p:sp>
      <p:sp>
        <p:nvSpPr>
          <p:cNvPr id="52" name="Text 50"/>
          <p:cNvSpPr/>
          <p:nvPr/>
        </p:nvSpPr>
        <p:spPr>
          <a:xfrm>
            <a:off x="5120640" y="5522976"/>
            <a:ext cx="1463040" cy="292608"/>
          </a:xfrm>
          <a:prstGeom prst="rect">
            <a:avLst/>
          </a:prstGeom>
          <a:noFill/>
          <a:ln/>
        </p:spPr>
        <p:txBody>
          <a:bodyPr wrap="square" lIns="0" tIns="0" rIns="0" bIns="0" rtlCol="0" anchor="ctr"/>
          <a:lstStyle/>
          <a:p>
            <a:pPr algn="l" indent="0" marL="0">
              <a:buNone/>
            </a:pPr>
            <a:r>
              <a:rPr lang="en-US" sz="1100" b="1" dirty="0">
                <a:solidFill>
                  <a:srgbClr val="132A4A"/>
                </a:solidFill>
                <a:latin typeface="Consolas" pitchFamily="34" charset="0"/>
                <a:ea typeface="Consolas" pitchFamily="34" charset="-122"/>
                <a:cs typeface="Consolas" pitchFamily="34" charset="-120"/>
              </a:rPr>
              <a:t>(A-B)Tw</a:t>
            </a:r>
            <a:endParaRPr lang="en-US" sz="1200" dirty="0"/>
          </a:p>
        </p:txBody>
      </p:sp>
      <p:sp>
        <p:nvSpPr>
          <p:cNvPr id="53" name="Text 51"/>
          <p:cNvSpPr/>
          <p:nvPr/>
        </p:nvSpPr>
        <p:spPr>
          <a:xfrm>
            <a:off x="685800" y="5961888"/>
            <a:ext cx="5394960" cy="411480"/>
          </a:xfrm>
          <a:prstGeom prst="rect">
            <a:avLst/>
          </a:prstGeom>
          <a:noFill/>
          <a:ln/>
        </p:spPr>
        <p:txBody>
          <a:bodyPr wrap="square" rtlCol="0" anchor="t"/>
          <a:lstStyle/>
          <a:p>
            <a:pPr algn="l" indent="0" marL="0">
              <a:lnSpc>
                <a:spcPct val="118000"/>
              </a:lnSpc>
              <a:buNone/>
            </a:pPr>
            <a:r>
              <a:rPr lang="en-US" sz="1100" i="1" dirty="0">
                <a:solidFill>
                  <a:srgbClr val="5C6B7A"/>
                </a:solidFill>
                <a:latin typeface="Calibri" pitchFamily="34" charset="0"/>
                <a:ea typeface="Calibri" pitchFamily="34" charset="-122"/>
                <a:cs typeface="Calibri" pitchFamily="34" charset="-120"/>
              </a:rPr>
              <a:t>Add and subtract first, then multiply only the difference.</a:t>
            </a:r>
            <a:endParaRPr lang="en-US" sz="121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37960" y="1188720"/>
          <a:ext cx="5120640" cy="1755648"/>
        </p:xfrm>
        <a:graphic>
          <a:graphicData uri="http://schemas.openxmlformats.org/drawingml/2006/table">
            <a:tbl>
              <a:tblPr/>
              <a:tblGrid>
                <a:gridCol w="1463040"/>
                <a:gridCol w="1828800"/>
                <a:gridCol w="1828800"/>
              </a:tblGrid>
              <a:tr h="292608">
                <a:tc>
                  <a:txBody>
                    <a:bodyPr/>
                    <a:lstStyle/>
                    <a:p>
                      <a:pPr algn="ctr" indent="0" marL="0">
                        <a:buNone/>
                      </a:pP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DIT</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DIF</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Split by</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input index parity</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output index parity</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Input order</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bit-reversed</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natural</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Output order</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natural</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bit-reversed</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Twiddle multiply</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before add/sub</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after add/sub</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Butterflies</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(N/2)log₂N</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(N/2)log₂N</a:t>
                      </a:r>
                      <a:endParaRPr lang="en-US" sz="123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5" name="Shape 52"/>
          <p:cNvSpPr/>
          <p:nvPr/>
        </p:nvSpPr>
        <p:spPr>
          <a:xfrm>
            <a:off x="6537960" y="4069080"/>
            <a:ext cx="5120640" cy="2286000"/>
          </a:xfrm>
          <a:prstGeom prst="roundRect">
            <a:avLst>
              <a:gd name="adj" fmla="val 2400"/>
            </a:avLst>
          </a:prstGeom>
          <a:solidFill>
            <a:srgbClr val="EAF1FB"/>
          </a:solidFill>
          <a:ln w="12700">
            <a:solidFill>
              <a:srgbClr val="D7DEE8"/>
            </a:solidFill>
            <a:prstDash val="solid"/>
          </a:ln>
        </p:spPr>
        <p:txBody>
          <a:bodyPr/>
          <a:p/>
        </p:txBody>
      </p:sp>
      <p:sp>
        <p:nvSpPr>
          <p:cNvPr id="56" name="Text 53"/>
          <p:cNvSpPr/>
          <p:nvPr/>
        </p:nvSpPr>
        <p:spPr>
          <a:xfrm>
            <a:off x="6720840" y="4160520"/>
            <a:ext cx="4754880" cy="21488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The two diagrams are mirror images: same crossing wires, same one multiply, one add and one subtract, with the multiplier on opposite sides of the +/- nodes.</a:t>
            </a:r>
            <a:endParaRPr lang="en-US" sz="1320" dirty="0"/>
          </a:p>
          <a:p>
            <a:pPr algn="l" indent="0" marL="0">
              <a:lnSpc>
                <a:spcPct val="118000"/>
              </a:lnSpc>
              <a:buNone/>
            </a:pPr>
            <a:endParaRPr lang="en-US" sz="1320"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The hardware blocks from Section 4 are identical for both, so one butterfly unit can serve either algorithm by moving where the multiplier sits. Section 3 solves the same numerical example with DIT, then with DIF.</a:t>
            </a:r>
            <a:endParaRPr lang="en-US" sz="1320" dirty="0"/>
          </a:p>
        </p:txBody>
      </p:sp>
      <p:sp>
        <p:nvSpPr>
          <p:cNvPr id="57" name="Shape 54"/>
          <p:cNvSpPr/>
          <p:nvPr/>
        </p:nvSpPr>
        <p:spPr>
          <a:xfrm>
            <a:off x="502920" y="6473952"/>
            <a:ext cx="11155680" cy="27432"/>
          </a:xfrm>
          <a:prstGeom prst="rect">
            <a:avLst/>
          </a:prstGeom>
          <a:solidFill>
            <a:srgbClr val="D7DEE8"/>
          </a:solidFill>
          <a:ln/>
        </p:spPr>
        <p:txBody>
          <a:bodyPr/>
          <a:p/>
        </p:txBody>
      </p:sp>
      <p:sp>
        <p:nvSpPr>
          <p:cNvPr id="58" name="Shape 55"/>
          <p:cNvSpPr/>
          <p:nvPr/>
        </p:nvSpPr>
        <p:spPr>
          <a:xfrm>
            <a:off x="502920" y="6473952"/>
            <a:ext cx="3718560" cy="27432"/>
          </a:xfrm>
          <a:prstGeom prst="rect">
            <a:avLst/>
          </a:prstGeom>
          <a:solidFill>
            <a:srgbClr val="0E8388"/>
          </a:solidFill>
          <a:ln/>
        </p:spPr>
        <p:txBody>
          <a:bodyPr/>
          <a:p/>
        </p:txBody>
      </p:sp>
      <p:sp>
        <p:nvSpPr>
          <p:cNvPr id="59" name="Text 56"/>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60" name="Text 57"/>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DIT vs DIF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Decomposing N=8 Down to 2-Point Groups</a:t>
            </a:r>
            <a:endParaRPr lang="en-US" sz="2600" dirty="0"/>
          </a:p>
        </p:txBody>
      </p:sp>
      <p:sp>
        <p:nvSpPr>
          <p:cNvPr id="4" name="Text 2"/>
          <p:cNvSpPr/>
          <p:nvPr/>
        </p:nvSpPr>
        <p:spPr>
          <a:xfrm>
            <a:off x="502920" y="1188720"/>
            <a:ext cx="11155680" cy="45720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Read this tree from the bottom up. Computation starts at the leaves and combines upward: 1-point results into 2-point, 2-point into 4-point, and finally the two 4-point results into the full 8-point DFT.</a:t>
            </a:r>
            <a:endParaRPr lang="en-US" sz="1375" dirty="0"/>
          </a:p>
        </p:txBody>
      </p:sp>
      <p:sp>
        <p:nvSpPr>
          <p:cNvPr id="5" name="Shape 3"/>
          <p:cNvSpPr/>
          <p:nvPr/>
        </p:nvSpPr>
        <p:spPr>
          <a:xfrm>
            <a:off x="4709160" y="1920240"/>
            <a:ext cx="2743200" cy="457200"/>
          </a:xfrm>
          <a:prstGeom prst="roundRect">
            <a:avLst>
              <a:gd name="adj" fmla="val 12000"/>
            </a:avLst>
          </a:prstGeom>
          <a:solidFill>
            <a:srgbClr val="132A4A"/>
          </a:solidFill>
          <a:ln w="12700">
            <a:solidFill>
              <a:srgbClr val="D7DEE8"/>
            </a:solidFill>
            <a:prstDash val="solid"/>
          </a:ln>
        </p:spPr>
        <p:txBody>
          <a:bodyPr/>
          <a:p/>
        </p:txBody>
      </p:sp>
      <p:sp>
        <p:nvSpPr>
          <p:cNvPr id="6" name="Text 4"/>
          <p:cNvSpPr/>
          <p:nvPr/>
        </p:nvSpPr>
        <p:spPr>
          <a:xfrm>
            <a:off x="4709160" y="1920240"/>
            <a:ext cx="2743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x[0..7]  (8-point)</a:t>
            </a:r>
            <a:endParaRPr lang="en-US" sz="1200" dirty="0"/>
          </a:p>
        </p:txBody>
      </p:sp>
      <p:sp>
        <p:nvSpPr>
          <p:cNvPr id="7" name="Shape 5"/>
          <p:cNvSpPr/>
          <p:nvPr/>
        </p:nvSpPr>
        <p:spPr>
          <a:xfrm>
            <a:off x="2148840" y="2606040"/>
            <a:ext cx="3108960" cy="457200"/>
          </a:xfrm>
          <a:prstGeom prst="roundRect">
            <a:avLst>
              <a:gd name="adj" fmla="val 12000"/>
            </a:avLst>
          </a:prstGeom>
          <a:solidFill>
            <a:srgbClr val="E4F3F2"/>
          </a:solidFill>
          <a:ln w="12700">
            <a:solidFill>
              <a:srgbClr val="D7DEE8"/>
            </a:solidFill>
            <a:prstDash val="solid"/>
          </a:ln>
        </p:spPr>
        <p:txBody>
          <a:bodyPr/>
          <a:p/>
        </p:txBody>
      </p:sp>
      <p:sp>
        <p:nvSpPr>
          <p:cNvPr id="8" name="Text 6"/>
          <p:cNvSpPr/>
          <p:nvPr/>
        </p:nvSpPr>
        <p:spPr>
          <a:xfrm>
            <a:off x="2148840" y="2606040"/>
            <a:ext cx="310896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x[0],x[2],x[4],x[6]  (4-pt, E)</a:t>
            </a:r>
            <a:endParaRPr lang="en-US" sz="1100" dirty="0"/>
          </a:p>
        </p:txBody>
      </p:sp>
      <p:sp>
        <p:nvSpPr>
          <p:cNvPr id="9" name="Shape 7"/>
          <p:cNvSpPr/>
          <p:nvPr/>
        </p:nvSpPr>
        <p:spPr>
          <a:xfrm>
            <a:off x="6903720" y="2606040"/>
            <a:ext cx="3108960" cy="457200"/>
          </a:xfrm>
          <a:prstGeom prst="roundRect">
            <a:avLst>
              <a:gd name="adj" fmla="val 12000"/>
            </a:avLst>
          </a:prstGeom>
          <a:solidFill>
            <a:srgbClr val="FBF0E2"/>
          </a:solidFill>
          <a:ln w="12700">
            <a:solidFill>
              <a:srgbClr val="D7DEE8"/>
            </a:solidFill>
            <a:prstDash val="solid"/>
          </a:ln>
        </p:spPr>
        <p:txBody>
          <a:bodyPr/>
          <a:p/>
        </p:txBody>
      </p:sp>
      <p:sp>
        <p:nvSpPr>
          <p:cNvPr id="10" name="Text 8"/>
          <p:cNvSpPr/>
          <p:nvPr/>
        </p:nvSpPr>
        <p:spPr>
          <a:xfrm>
            <a:off x="6903720" y="2606040"/>
            <a:ext cx="310896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x[1],x[3],x[5],x[7]  (4-pt, O)</a:t>
            </a:r>
            <a:endParaRPr lang="en-US" sz="1100" dirty="0"/>
          </a:p>
        </p:txBody>
      </p:sp>
      <p:sp>
        <p:nvSpPr>
          <p:cNvPr id="11" name="Shape 9"/>
          <p:cNvSpPr/>
          <p:nvPr/>
        </p:nvSpPr>
        <p:spPr>
          <a:xfrm>
            <a:off x="2011680" y="3291840"/>
            <a:ext cx="1554480" cy="457200"/>
          </a:xfrm>
          <a:prstGeom prst="roundRect">
            <a:avLst>
              <a:gd name="adj" fmla="val 12000"/>
            </a:avLst>
          </a:prstGeom>
          <a:solidFill>
            <a:srgbClr val="9FD4D1"/>
          </a:solidFill>
          <a:ln w="12700">
            <a:solidFill>
              <a:srgbClr val="D7DEE8"/>
            </a:solidFill>
            <a:prstDash val="solid"/>
          </a:ln>
        </p:spPr>
        <p:txBody>
          <a:bodyPr/>
          <a:p/>
        </p:txBody>
      </p:sp>
      <p:sp>
        <p:nvSpPr>
          <p:cNvPr id="12" name="Text 10"/>
          <p:cNvSpPr/>
          <p:nvPr/>
        </p:nvSpPr>
        <p:spPr>
          <a:xfrm>
            <a:off x="2011680" y="3291840"/>
            <a:ext cx="155448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x[0],x[4]  (2-pt)</a:t>
            </a:r>
            <a:endParaRPr lang="en-US" sz="1000" dirty="0"/>
          </a:p>
        </p:txBody>
      </p:sp>
      <p:sp>
        <p:nvSpPr>
          <p:cNvPr id="13" name="Shape 11"/>
          <p:cNvSpPr/>
          <p:nvPr/>
        </p:nvSpPr>
        <p:spPr>
          <a:xfrm>
            <a:off x="3840480" y="3291840"/>
            <a:ext cx="1554480" cy="457200"/>
          </a:xfrm>
          <a:prstGeom prst="roundRect">
            <a:avLst>
              <a:gd name="adj" fmla="val 12000"/>
            </a:avLst>
          </a:prstGeom>
          <a:solidFill>
            <a:srgbClr val="9FD4D1"/>
          </a:solidFill>
          <a:ln w="12700">
            <a:solidFill>
              <a:srgbClr val="D7DEE8"/>
            </a:solidFill>
            <a:prstDash val="solid"/>
          </a:ln>
        </p:spPr>
        <p:txBody>
          <a:bodyPr/>
          <a:p/>
        </p:txBody>
      </p:sp>
      <p:sp>
        <p:nvSpPr>
          <p:cNvPr id="14" name="Text 12"/>
          <p:cNvSpPr/>
          <p:nvPr/>
        </p:nvSpPr>
        <p:spPr>
          <a:xfrm>
            <a:off x="3840480" y="3291840"/>
            <a:ext cx="155448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x[2],x[6]  (2-pt)</a:t>
            </a:r>
            <a:endParaRPr lang="en-US" sz="1000" dirty="0"/>
          </a:p>
        </p:txBody>
      </p:sp>
      <p:sp>
        <p:nvSpPr>
          <p:cNvPr id="15" name="Shape 13"/>
          <p:cNvSpPr/>
          <p:nvPr/>
        </p:nvSpPr>
        <p:spPr>
          <a:xfrm>
            <a:off x="6766560" y="3291840"/>
            <a:ext cx="1554480" cy="457200"/>
          </a:xfrm>
          <a:prstGeom prst="roundRect">
            <a:avLst>
              <a:gd name="adj" fmla="val 12000"/>
            </a:avLst>
          </a:prstGeom>
          <a:solidFill>
            <a:srgbClr val="E7CDA0"/>
          </a:solidFill>
          <a:ln w="12700">
            <a:solidFill>
              <a:srgbClr val="D7DEE8"/>
            </a:solidFill>
            <a:prstDash val="solid"/>
          </a:ln>
        </p:spPr>
        <p:txBody>
          <a:bodyPr/>
          <a:p/>
        </p:txBody>
      </p:sp>
      <p:sp>
        <p:nvSpPr>
          <p:cNvPr id="16" name="Text 14"/>
          <p:cNvSpPr/>
          <p:nvPr/>
        </p:nvSpPr>
        <p:spPr>
          <a:xfrm>
            <a:off x="6766560" y="3291840"/>
            <a:ext cx="155448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x[1],x[5]  (2-pt)</a:t>
            </a:r>
            <a:endParaRPr lang="en-US" sz="1000" dirty="0"/>
          </a:p>
        </p:txBody>
      </p:sp>
      <p:sp>
        <p:nvSpPr>
          <p:cNvPr id="17" name="Shape 15"/>
          <p:cNvSpPr/>
          <p:nvPr/>
        </p:nvSpPr>
        <p:spPr>
          <a:xfrm>
            <a:off x="8595360" y="3291840"/>
            <a:ext cx="1554480" cy="457200"/>
          </a:xfrm>
          <a:prstGeom prst="roundRect">
            <a:avLst>
              <a:gd name="adj" fmla="val 12000"/>
            </a:avLst>
          </a:prstGeom>
          <a:solidFill>
            <a:srgbClr val="E7CDA0"/>
          </a:solidFill>
          <a:ln w="12700">
            <a:solidFill>
              <a:srgbClr val="D7DEE8"/>
            </a:solidFill>
            <a:prstDash val="solid"/>
          </a:ln>
        </p:spPr>
        <p:txBody>
          <a:bodyPr/>
          <a:p/>
        </p:txBody>
      </p:sp>
      <p:sp>
        <p:nvSpPr>
          <p:cNvPr id="18" name="Text 16"/>
          <p:cNvSpPr/>
          <p:nvPr/>
        </p:nvSpPr>
        <p:spPr>
          <a:xfrm>
            <a:off x="8595360" y="3291840"/>
            <a:ext cx="1554480" cy="45720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x[3],x[7]  (2-pt)</a:t>
            </a:r>
            <a:endParaRPr lang="en-US" sz="1000" dirty="0"/>
          </a:p>
        </p:txBody>
      </p:sp>
      <p:sp>
        <p:nvSpPr>
          <p:cNvPr id="19" name="Shape 17"/>
          <p:cNvSpPr/>
          <p:nvPr/>
        </p:nvSpPr>
        <p:spPr>
          <a:xfrm>
            <a:off x="2061972"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20" name="Text 18"/>
          <p:cNvSpPr/>
          <p:nvPr/>
        </p:nvSpPr>
        <p:spPr>
          <a:xfrm>
            <a:off x="2061972"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x[0]</a:t>
            </a:r>
            <a:endParaRPr lang="en-US" sz="1000" dirty="0"/>
          </a:p>
        </p:txBody>
      </p:sp>
      <p:sp>
        <p:nvSpPr>
          <p:cNvPr id="21" name="Shape 19"/>
          <p:cNvSpPr/>
          <p:nvPr/>
        </p:nvSpPr>
        <p:spPr>
          <a:xfrm>
            <a:off x="2830068"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22" name="Text 20"/>
          <p:cNvSpPr/>
          <p:nvPr/>
        </p:nvSpPr>
        <p:spPr>
          <a:xfrm>
            <a:off x="2830068"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x[4]</a:t>
            </a:r>
            <a:endParaRPr lang="en-US" sz="1000" dirty="0"/>
          </a:p>
        </p:txBody>
      </p:sp>
      <p:sp>
        <p:nvSpPr>
          <p:cNvPr id="23" name="Shape 21"/>
          <p:cNvSpPr/>
          <p:nvPr/>
        </p:nvSpPr>
        <p:spPr>
          <a:xfrm>
            <a:off x="3890772"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24" name="Text 22"/>
          <p:cNvSpPr/>
          <p:nvPr/>
        </p:nvSpPr>
        <p:spPr>
          <a:xfrm>
            <a:off x="3890772"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x[2]</a:t>
            </a:r>
            <a:endParaRPr lang="en-US" sz="1000" dirty="0"/>
          </a:p>
        </p:txBody>
      </p:sp>
      <p:sp>
        <p:nvSpPr>
          <p:cNvPr id="25" name="Shape 23"/>
          <p:cNvSpPr/>
          <p:nvPr/>
        </p:nvSpPr>
        <p:spPr>
          <a:xfrm>
            <a:off x="4658868"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26" name="Text 24"/>
          <p:cNvSpPr/>
          <p:nvPr/>
        </p:nvSpPr>
        <p:spPr>
          <a:xfrm>
            <a:off x="4658868"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x[6]</a:t>
            </a:r>
            <a:endParaRPr lang="en-US" sz="1000" dirty="0"/>
          </a:p>
        </p:txBody>
      </p:sp>
      <p:sp>
        <p:nvSpPr>
          <p:cNvPr id="27" name="Shape 25"/>
          <p:cNvSpPr/>
          <p:nvPr/>
        </p:nvSpPr>
        <p:spPr>
          <a:xfrm>
            <a:off x="6816852"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28" name="Text 26"/>
          <p:cNvSpPr/>
          <p:nvPr/>
        </p:nvSpPr>
        <p:spPr>
          <a:xfrm>
            <a:off x="6816852"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x[1]</a:t>
            </a:r>
            <a:endParaRPr lang="en-US" sz="1000" dirty="0"/>
          </a:p>
        </p:txBody>
      </p:sp>
      <p:sp>
        <p:nvSpPr>
          <p:cNvPr id="29" name="Shape 27"/>
          <p:cNvSpPr/>
          <p:nvPr/>
        </p:nvSpPr>
        <p:spPr>
          <a:xfrm>
            <a:off x="7584948"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30" name="Text 28"/>
          <p:cNvSpPr/>
          <p:nvPr/>
        </p:nvSpPr>
        <p:spPr>
          <a:xfrm>
            <a:off x="7584948"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x[5]</a:t>
            </a:r>
            <a:endParaRPr lang="en-US" sz="1000" dirty="0"/>
          </a:p>
        </p:txBody>
      </p:sp>
      <p:sp>
        <p:nvSpPr>
          <p:cNvPr id="31" name="Shape 29"/>
          <p:cNvSpPr/>
          <p:nvPr/>
        </p:nvSpPr>
        <p:spPr>
          <a:xfrm>
            <a:off x="8645652"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32" name="Text 30"/>
          <p:cNvSpPr/>
          <p:nvPr/>
        </p:nvSpPr>
        <p:spPr>
          <a:xfrm>
            <a:off x="8645652"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x[3]</a:t>
            </a:r>
            <a:endParaRPr lang="en-US" sz="1000" dirty="0"/>
          </a:p>
        </p:txBody>
      </p:sp>
      <p:sp>
        <p:nvSpPr>
          <p:cNvPr id="33" name="Shape 31"/>
          <p:cNvSpPr/>
          <p:nvPr/>
        </p:nvSpPr>
        <p:spPr>
          <a:xfrm>
            <a:off x="9413748" y="3977640"/>
            <a:ext cx="685800" cy="457200"/>
          </a:xfrm>
          <a:prstGeom prst="roundRect">
            <a:avLst>
              <a:gd name="adj" fmla="val 12000"/>
            </a:avLst>
          </a:prstGeom>
          <a:solidFill>
            <a:srgbClr val="FFFFFF"/>
          </a:solidFill>
          <a:ln w="12700">
            <a:solidFill>
              <a:srgbClr val="D7DEE8"/>
            </a:solidFill>
            <a:prstDash val="solid"/>
          </a:ln>
        </p:spPr>
        <p:txBody>
          <a:bodyPr/>
          <a:p/>
        </p:txBody>
      </p:sp>
      <p:sp>
        <p:nvSpPr>
          <p:cNvPr id="34" name="Text 32"/>
          <p:cNvSpPr/>
          <p:nvPr/>
        </p:nvSpPr>
        <p:spPr>
          <a:xfrm>
            <a:off x="9413748" y="3977640"/>
            <a:ext cx="685800" cy="457200"/>
          </a:xfrm>
          <a:prstGeom prst="rect">
            <a:avLst/>
          </a:prstGeom>
          <a:noFill/>
          <a:ln/>
        </p:spPr>
        <p:txBody>
          <a:bodyPr wrap="square" rtlCol="0" anchor="ctr"/>
          <a:lstStyle/>
          <a:p>
            <a:pPr algn="ctr" indent="0" marL="0">
              <a:buNone/>
            </a:pPr>
            <a:r>
              <a:rPr lang="en-US" sz="1100" b="1" dirty="0">
                <a:solidFill>
                  <a:srgbClr val="16202E"/>
                </a:solidFill>
                <a:latin typeface="Calibri" pitchFamily="34" charset="0"/>
                <a:ea typeface="Calibri" pitchFamily="34" charset="-122"/>
                <a:cs typeface="Calibri" pitchFamily="34" charset="-120"/>
              </a:rPr>
              <a:t>x[7]</a:t>
            </a:r>
            <a:endParaRPr lang="en-US" sz="1000" dirty="0"/>
          </a:p>
        </p:txBody>
      </p:sp>
      <p:sp>
        <p:nvSpPr>
          <p:cNvPr id="35" name="Shape 33"/>
          <p:cNvSpPr/>
          <p:nvPr/>
        </p:nvSpPr>
        <p:spPr>
          <a:xfrm>
            <a:off x="6080760" y="2377440"/>
            <a:ext cx="0" cy="114300"/>
          </a:xfrm>
          <a:prstGeom prst="line">
            <a:avLst/>
          </a:prstGeom>
          <a:noFill/>
          <a:ln w="19050">
            <a:solidFill>
              <a:srgbClr val="9FB0C8"/>
            </a:solidFill>
            <a:prstDash val="solid"/>
          </a:ln>
        </p:spPr>
        <p:txBody>
          <a:bodyPr/>
          <a:p/>
        </p:txBody>
      </p:sp>
      <p:sp>
        <p:nvSpPr>
          <p:cNvPr id="36" name="Shape 34"/>
          <p:cNvSpPr/>
          <p:nvPr/>
        </p:nvSpPr>
        <p:spPr>
          <a:xfrm>
            <a:off x="3703320" y="2491740"/>
            <a:ext cx="2377440" cy="0"/>
          </a:xfrm>
          <a:prstGeom prst="line">
            <a:avLst/>
          </a:prstGeom>
          <a:noFill/>
          <a:ln w="19050">
            <a:solidFill>
              <a:srgbClr val="9FB0C8"/>
            </a:solidFill>
            <a:prstDash val="solid"/>
          </a:ln>
        </p:spPr>
        <p:txBody>
          <a:bodyPr/>
          <a:p/>
        </p:txBody>
      </p:sp>
      <p:sp>
        <p:nvSpPr>
          <p:cNvPr id="37" name="Shape 35"/>
          <p:cNvSpPr/>
          <p:nvPr/>
        </p:nvSpPr>
        <p:spPr>
          <a:xfrm>
            <a:off x="3703320" y="2491740"/>
            <a:ext cx="0" cy="114300"/>
          </a:xfrm>
          <a:prstGeom prst="line">
            <a:avLst/>
          </a:prstGeom>
          <a:noFill/>
          <a:ln w="19050">
            <a:solidFill>
              <a:srgbClr val="9FB0C8"/>
            </a:solidFill>
            <a:prstDash val="solid"/>
          </a:ln>
        </p:spPr>
        <p:txBody>
          <a:bodyPr/>
          <a:p/>
        </p:txBody>
      </p:sp>
      <p:sp>
        <p:nvSpPr>
          <p:cNvPr id="38" name="Shape 36"/>
          <p:cNvSpPr/>
          <p:nvPr/>
        </p:nvSpPr>
        <p:spPr>
          <a:xfrm>
            <a:off x="6080760" y="2377440"/>
            <a:ext cx="0" cy="114300"/>
          </a:xfrm>
          <a:prstGeom prst="line">
            <a:avLst/>
          </a:prstGeom>
          <a:noFill/>
          <a:ln w="19050">
            <a:solidFill>
              <a:srgbClr val="9FB0C8"/>
            </a:solidFill>
            <a:prstDash val="solid"/>
          </a:ln>
        </p:spPr>
        <p:txBody>
          <a:bodyPr/>
          <a:p/>
        </p:txBody>
      </p:sp>
      <p:sp>
        <p:nvSpPr>
          <p:cNvPr id="39" name="Shape 37"/>
          <p:cNvSpPr/>
          <p:nvPr/>
        </p:nvSpPr>
        <p:spPr>
          <a:xfrm>
            <a:off x="6080760" y="2491740"/>
            <a:ext cx="2377440" cy="0"/>
          </a:xfrm>
          <a:prstGeom prst="line">
            <a:avLst/>
          </a:prstGeom>
          <a:noFill/>
          <a:ln w="19050">
            <a:solidFill>
              <a:srgbClr val="9FB0C8"/>
            </a:solidFill>
            <a:prstDash val="solid"/>
          </a:ln>
        </p:spPr>
        <p:txBody>
          <a:bodyPr/>
          <a:p/>
        </p:txBody>
      </p:sp>
      <p:sp>
        <p:nvSpPr>
          <p:cNvPr id="40" name="Shape 38"/>
          <p:cNvSpPr/>
          <p:nvPr/>
        </p:nvSpPr>
        <p:spPr>
          <a:xfrm>
            <a:off x="8458200" y="2491740"/>
            <a:ext cx="0" cy="114300"/>
          </a:xfrm>
          <a:prstGeom prst="line">
            <a:avLst/>
          </a:prstGeom>
          <a:noFill/>
          <a:ln w="19050">
            <a:solidFill>
              <a:srgbClr val="9FB0C8"/>
            </a:solidFill>
            <a:prstDash val="solid"/>
          </a:ln>
        </p:spPr>
        <p:txBody>
          <a:bodyPr/>
          <a:p/>
        </p:txBody>
      </p:sp>
      <p:sp>
        <p:nvSpPr>
          <p:cNvPr id="41" name="Shape 39"/>
          <p:cNvSpPr/>
          <p:nvPr/>
        </p:nvSpPr>
        <p:spPr>
          <a:xfrm>
            <a:off x="3703320" y="3063240"/>
            <a:ext cx="0" cy="114300"/>
          </a:xfrm>
          <a:prstGeom prst="line">
            <a:avLst/>
          </a:prstGeom>
          <a:noFill/>
          <a:ln w="19050">
            <a:solidFill>
              <a:srgbClr val="9FB0C8"/>
            </a:solidFill>
            <a:prstDash val="solid"/>
          </a:ln>
        </p:spPr>
        <p:txBody>
          <a:bodyPr/>
          <a:p/>
        </p:txBody>
      </p:sp>
      <p:sp>
        <p:nvSpPr>
          <p:cNvPr id="42" name="Shape 40"/>
          <p:cNvSpPr/>
          <p:nvPr/>
        </p:nvSpPr>
        <p:spPr>
          <a:xfrm>
            <a:off x="2788920" y="3177540"/>
            <a:ext cx="914400" cy="0"/>
          </a:xfrm>
          <a:prstGeom prst="line">
            <a:avLst/>
          </a:prstGeom>
          <a:noFill/>
          <a:ln w="19050">
            <a:solidFill>
              <a:srgbClr val="9FB0C8"/>
            </a:solidFill>
            <a:prstDash val="solid"/>
          </a:ln>
        </p:spPr>
        <p:txBody>
          <a:bodyPr/>
          <a:p/>
        </p:txBody>
      </p:sp>
      <p:sp>
        <p:nvSpPr>
          <p:cNvPr id="43" name="Shape 41"/>
          <p:cNvSpPr/>
          <p:nvPr/>
        </p:nvSpPr>
        <p:spPr>
          <a:xfrm>
            <a:off x="2788920" y="3177540"/>
            <a:ext cx="0" cy="114300"/>
          </a:xfrm>
          <a:prstGeom prst="line">
            <a:avLst/>
          </a:prstGeom>
          <a:noFill/>
          <a:ln w="19050">
            <a:solidFill>
              <a:srgbClr val="9FB0C8"/>
            </a:solidFill>
            <a:prstDash val="solid"/>
          </a:ln>
        </p:spPr>
        <p:txBody>
          <a:bodyPr/>
          <a:p/>
        </p:txBody>
      </p:sp>
      <p:sp>
        <p:nvSpPr>
          <p:cNvPr id="44" name="Shape 42"/>
          <p:cNvSpPr/>
          <p:nvPr/>
        </p:nvSpPr>
        <p:spPr>
          <a:xfrm>
            <a:off x="3703320" y="3063240"/>
            <a:ext cx="0" cy="114300"/>
          </a:xfrm>
          <a:prstGeom prst="line">
            <a:avLst/>
          </a:prstGeom>
          <a:noFill/>
          <a:ln w="19050">
            <a:solidFill>
              <a:srgbClr val="9FB0C8"/>
            </a:solidFill>
            <a:prstDash val="solid"/>
          </a:ln>
        </p:spPr>
        <p:txBody>
          <a:bodyPr/>
          <a:p/>
        </p:txBody>
      </p:sp>
      <p:sp>
        <p:nvSpPr>
          <p:cNvPr id="45" name="Shape 43"/>
          <p:cNvSpPr/>
          <p:nvPr/>
        </p:nvSpPr>
        <p:spPr>
          <a:xfrm>
            <a:off x="3703320" y="3177540"/>
            <a:ext cx="914400" cy="0"/>
          </a:xfrm>
          <a:prstGeom prst="line">
            <a:avLst/>
          </a:prstGeom>
          <a:noFill/>
          <a:ln w="19050">
            <a:solidFill>
              <a:srgbClr val="9FB0C8"/>
            </a:solidFill>
            <a:prstDash val="solid"/>
          </a:ln>
        </p:spPr>
        <p:txBody>
          <a:bodyPr/>
          <a:p/>
        </p:txBody>
      </p:sp>
      <p:sp>
        <p:nvSpPr>
          <p:cNvPr id="46" name="Shape 44"/>
          <p:cNvSpPr/>
          <p:nvPr/>
        </p:nvSpPr>
        <p:spPr>
          <a:xfrm>
            <a:off x="4617720" y="3177540"/>
            <a:ext cx="0" cy="114300"/>
          </a:xfrm>
          <a:prstGeom prst="line">
            <a:avLst/>
          </a:prstGeom>
          <a:noFill/>
          <a:ln w="19050">
            <a:solidFill>
              <a:srgbClr val="9FB0C8"/>
            </a:solidFill>
            <a:prstDash val="solid"/>
          </a:ln>
        </p:spPr>
        <p:txBody>
          <a:bodyPr/>
          <a:p/>
        </p:txBody>
      </p:sp>
      <p:sp>
        <p:nvSpPr>
          <p:cNvPr id="47" name="Shape 45"/>
          <p:cNvSpPr/>
          <p:nvPr/>
        </p:nvSpPr>
        <p:spPr>
          <a:xfrm>
            <a:off x="8458200" y="3063240"/>
            <a:ext cx="0" cy="114300"/>
          </a:xfrm>
          <a:prstGeom prst="line">
            <a:avLst/>
          </a:prstGeom>
          <a:noFill/>
          <a:ln w="19050">
            <a:solidFill>
              <a:srgbClr val="9FB0C8"/>
            </a:solidFill>
            <a:prstDash val="solid"/>
          </a:ln>
        </p:spPr>
        <p:txBody>
          <a:bodyPr/>
          <a:p/>
        </p:txBody>
      </p:sp>
      <p:sp>
        <p:nvSpPr>
          <p:cNvPr id="48" name="Shape 46"/>
          <p:cNvSpPr/>
          <p:nvPr/>
        </p:nvSpPr>
        <p:spPr>
          <a:xfrm>
            <a:off x="7543800" y="3177540"/>
            <a:ext cx="914400" cy="0"/>
          </a:xfrm>
          <a:prstGeom prst="line">
            <a:avLst/>
          </a:prstGeom>
          <a:noFill/>
          <a:ln w="19050">
            <a:solidFill>
              <a:srgbClr val="9FB0C8"/>
            </a:solidFill>
            <a:prstDash val="solid"/>
          </a:ln>
        </p:spPr>
        <p:txBody>
          <a:bodyPr/>
          <a:p/>
        </p:txBody>
      </p:sp>
      <p:sp>
        <p:nvSpPr>
          <p:cNvPr id="49" name="Shape 47"/>
          <p:cNvSpPr/>
          <p:nvPr/>
        </p:nvSpPr>
        <p:spPr>
          <a:xfrm>
            <a:off x="7543800" y="3177540"/>
            <a:ext cx="0" cy="114300"/>
          </a:xfrm>
          <a:prstGeom prst="line">
            <a:avLst/>
          </a:prstGeom>
          <a:noFill/>
          <a:ln w="19050">
            <a:solidFill>
              <a:srgbClr val="9FB0C8"/>
            </a:solidFill>
            <a:prstDash val="solid"/>
          </a:ln>
        </p:spPr>
        <p:txBody>
          <a:bodyPr/>
          <a:p/>
        </p:txBody>
      </p:sp>
      <p:sp>
        <p:nvSpPr>
          <p:cNvPr id="50" name="Shape 48"/>
          <p:cNvSpPr/>
          <p:nvPr/>
        </p:nvSpPr>
        <p:spPr>
          <a:xfrm>
            <a:off x="8458200" y="3063240"/>
            <a:ext cx="0" cy="114300"/>
          </a:xfrm>
          <a:prstGeom prst="line">
            <a:avLst/>
          </a:prstGeom>
          <a:noFill/>
          <a:ln w="19050">
            <a:solidFill>
              <a:srgbClr val="9FB0C8"/>
            </a:solidFill>
            <a:prstDash val="solid"/>
          </a:ln>
        </p:spPr>
        <p:txBody>
          <a:bodyPr/>
          <a:p/>
        </p:txBody>
      </p:sp>
      <p:sp>
        <p:nvSpPr>
          <p:cNvPr id="51" name="Shape 49"/>
          <p:cNvSpPr/>
          <p:nvPr/>
        </p:nvSpPr>
        <p:spPr>
          <a:xfrm>
            <a:off x="8458200" y="3177540"/>
            <a:ext cx="914400" cy="0"/>
          </a:xfrm>
          <a:prstGeom prst="line">
            <a:avLst/>
          </a:prstGeom>
          <a:noFill/>
          <a:ln w="19050">
            <a:solidFill>
              <a:srgbClr val="9FB0C8"/>
            </a:solidFill>
            <a:prstDash val="solid"/>
          </a:ln>
        </p:spPr>
        <p:txBody>
          <a:bodyPr/>
          <a:p/>
        </p:txBody>
      </p:sp>
      <p:sp>
        <p:nvSpPr>
          <p:cNvPr id="52" name="Shape 50"/>
          <p:cNvSpPr/>
          <p:nvPr/>
        </p:nvSpPr>
        <p:spPr>
          <a:xfrm>
            <a:off x="9372600" y="3177540"/>
            <a:ext cx="0" cy="114300"/>
          </a:xfrm>
          <a:prstGeom prst="line">
            <a:avLst/>
          </a:prstGeom>
          <a:noFill/>
          <a:ln w="19050">
            <a:solidFill>
              <a:srgbClr val="9FB0C8"/>
            </a:solidFill>
            <a:prstDash val="solid"/>
          </a:ln>
        </p:spPr>
        <p:txBody>
          <a:bodyPr/>
          <a:p/>
        </p:txBody>
      </p:sp>
      <p:sp>
        <p:nvSpPr>
          <p:cNvPr id="53" name="Shape 51"/>
          <p:cNvSpPr/>
          <p:nvPr/>
        </p:nvSpPr>
        <p:spPr>
          <a:xfrm>
            <a:off x="2788920" y="3749040"/>
            <a:ext cx="0" cy="114300"/>
          </a:xfrm>
          <a:prstGeom prst="line">
            <a:avLst/>
          </a:prstGeom>
          <a:noFill/>
          <a:ln w="19050">
            <a:solidFill>
              <a:srgbClr val="9FB0C8"/>
            </a:solidFill>
            <a:prstDash val="solid"/>
          </a:ln>
        </p:spPr>
        <p:txBody>
          <a:bodyPr/>
          <a:p/>
        </p:txBody>
      </p:sp>
      <p:sp>
        <p:nvSpPr>
          <p:cNvPr id="54" name="Shape 52"/>
          <p:cNvSpPr/>
          <p:nvPr/>
        </p:nvSpPr>
        <p:spPr>
          <a:xfrm>
            <a:off x="2404872" y="3863340"/>
            <a:ext cx="384048" cy="0"/>
          </a:xfrm>
          <a:prstGeom prst="line">
            <a:avLst/>
          </a:prstGeom>
          <a:noFill/>
          <a:ln w="19050">
            <a:solidFill>
              <a:srgbClr val="9FB0C8"/>
            </a:solidFill>
            <a:prstDash val="solid"/>
          </a:ln>
        </p:spPr>
        <p:txBody>
          <a:bodyPr/>
          <a:p/>
        </p:txBody>
      </p:sp>
      <p:sp>
        <p:nvSpPr>
          <p:cNvPr id="55" name="Shape 53"/>
          <p:cNvSpPr/>
          <p:nvPr/>
        </p:nvSpPr>
        <p:spPr>
          <a:xfrm>
            <a:off x="2404872" y="3863340"/>
            <a:ext cx="0" cy="114300"/>
          </a:xfrm>
          <a:prstGeom prst="line">
            <a:avLst/>
          </a:prstGeom>
          <a:noFill/>
          <a:ln w="19050">
            <a:solidFill>
              <a:srgbClr val="9FB0C8"/>
            </a:solidFill>
            <a:prstDash val="solid"/>
          </a:ln>
        </p:spPr>
        <p:txBody>
          <a:bodyPr/>
          <a:p/>
        </p:txBody>
      </p:sp>
      <p:sp>
        <p:nvSpPr>
          <p:cNvPr id="56" name="Shape 54"/>
          <p:cNvSpPr/>
          <p:nvPr/>
        </p:nvSpPr>
        <p:spPr>
          <a:xfrm>
            <a:off x="2788920" y="3749040"/>
            <a:ext cx="0" cy="114300"/>
          </a:xfrm>
          <a:prstGeom prst="line">
            <a:avLst/>
          </a:prstGeom>
          <a:noFill/>
          <a:ln w="19050">
            <a:solidFill>
              <a:srgbClr val="9FB0C8"/>
            </a:solidFill>
            <a:prstDash val="solid"/>
          </a:ln>
        </p:spPr>
        <p:txBody>
          <a:bodyPr/>
          <a:p/>
        </p:txBody>
      </p:sp>
      <p:sp>
        <p:nvSpPr>
          <p:cNvPr id="57" name="Shape 55"/>
          <p:cNvSpPr/>
          <p:nvPr/>
        </p:nvSpPr>
        <p:spPr>
          <a:xfrm>
            <a:off x="2788920" y="3863340"/>
            <a:ext cx="384048" cy="0"/>
          </a:xfrm>
          <a:prstGeom prst="line">
            <a:avLst/>
          </a:prstGeom>
          <a:noFill/>
          <a:ln w="19050">
            <a:solidFill>
              <a:srgbClr val="9FB0C8"/>
            </a:solidFill>
            <a:prstDash val="solid"/>
          </a:ln>
        </p:spPr>
        <p:txBody>
          <a:bodyPr/>
          <a:p/>
        </p:txBody>
      </p:sp>
      <p:sp>
        <p:nvSpPr>
          <p:cNvPr id="58" name="Shape 56"/>
          <p:cNvSpPr/>
          <p:nvPr/>
        </p:nvSpPr>
        <p:spPr>
          <a:xfrm>
            <a:off x="3172968" y="3863340"/>
            <a:ext cx="0" cy="114300"/>
          </a:xfrm>
          <a:prstGeom prst="line">
            <a:avLst/>
          </a:prstGeom>
          <a:noFill/>
          <a:ln w="19050">
            <a:solidFill>
              <a:srgbClr val="9FB0C8"/>
            </a:solidFill>
            <a:prstDash val="solid"/>
          </a:ln>
        </p:spPr>
        <p:txBody>
          <a:bodyPr/>
          <a:p/>
        </p:txBody>
      </p:sp>
      <p:sp>
        <p:nvSpPr>
          <p:cNvPr id="59" name="Shape 57"/>
          <p:cNvSpPr/>
          <p:nvPr/>
        </p:nvSpPr>
        <p:spPr>
          <a:xfrm>
            <a:off x="4617720" y="3749040"/>
            <a:ext cx="0" cy="114300"/>
          </a:xfrm>
          <a:prstGeom prst="line">
            <a:avLst/>
          </a:prstGeom>
          <a:noFill/>
          <a:ln w="19050">
            <a:solidFill>
              <a:srgbClr val="9FB0C8"/>
            </a:solidFill>
            <a:prstDash val="solid"/>
          </a:ln>
        </p:spPr>
        <p:txBody>
          <a:bodyPr/>
          <a:p/>
        </p:txBody>
      </p:sp>
      <p:sp>
        <p:nvSpPr>
          <p:cNvPr id="60" name="Shape 58"/>
          <p:cNvSpPr/>
          <p:nvPr/>
        </p:nvSpPr>
        <p:spPr>
          <a:xfrm>
            <a:off x="4233672" y="3863340"/>
            <a:ext cx="384048" cy="0"/>
          </a:xfrm>
          <a:prstGeom prst="line">
            <a:avLst/>
          </a:prstGeom>
          <a:noFill/>
          <a:ln w="19050">
            <a:solidFill>
              <a:srgbClr val="9FB0C8"/>
            </a:solidFill>
            <a:prstDash val="solid"/>
          </a:ln>
        </p:spPr>
        <p:txBody>
          <a:bodyPr/>
          <a:p/>
        </p:txBody>
      </p:sp>
      <p:sp>
        <p:nvSpPr>
          <p:cNvPr id="61" name="Shape 59"/>
          <p:cNvSpPr/>
          <p:nvPr/>
        </p:nvSpPr>
        <p:spPr>
          <a:xfrm>
            <a:off x="4233672" y="3863340"/>
            <a:ext cx="0" cy="114300"/>
          </a:xfrm>
          <a:prstGeom prst="line">
            <a:avLst/>
          </a:prstGeom>
          <a:noFill/>
          <a:ln w="19050">
            <a:solidFill>
              <a:srgbClr val="9FB0C8"/>
            </a:solidFill>
            <a:prstDash val="solid"/>
          </a:ln>
        </p:spPr>
        <p:txBody>
          <a:bodyPr/>
          <a:p/>
        </p:txBody>
      </p:sp>
      <p:sp>
        <p:nvSpPr>
          <p:cNvPr id="62" name="Shape 60"/>
          <p:cNvSpPr/>
          <p:nvPr/>
        </p:nvSpPr>
        <p:spPr>
          <a:xfrm>
            <a:off x="4617720" y="3749040"/>
            <a:ext cx="0" cy="114300"/>
          </a:xfrm>
          <a:prstGeom prst="line">
            <a:avLst/>
          </a:prstGeom>
          <a:noFill/>
          <a:ln w="19050">
            <a:solidFill>
              <a:srgbClr val="9FB0C8"/>
            </a:solidFill>
            <a:prstDash val="solid"/>
          </a:ln>
        </p:spPr>
        <p:txBody>
          <a:bodyPr/>
          <a:p/>
        </p:txBody>
      </p:sp>
      <p:sp>
        <p:nvSpPr>
          <p:cNvPr id="63" name="Shape 61"/>
          <p:cNvSpPr/>
          <p:nvPr/>
        </p:nvSpPr>
        <p:spPr>
          <a:xfrm>
            <a:off x="4617720" y="3863340"/>
            <a:ext cx="384048" cy="0"/>
          </a:xfrm>
          <a:prstGeom prst="line">
            <a:avLst/>
          </a:prstGeom>
          <a:noFill/>
          <a:ln w="19050">
            <a:solidFill>
              <a:srgbClr val="9FB0C8"/>
            </a:solidFill>
            <a:prstDash val="solid"/>
          </a:ln>
        </p:spPr>
        <p:txBody>
          <a:bodyPr/>
          <a:p/>
        </p:txBody>
      </p:sp>
      <p:sp>
        <p:nvSpPr>
          <p:cNvPr id="64" name="Shape 62"/>
          <p:cNvSpPr/>
          <p:nvPr/>
        </p:nvSpPr>
        <p:spPr>
          <a:xfrm>
            <a:off x="5001768" y="3863340"/>
            <a:ext cx="0" cy="114300"/>
          </a:xfrm>
          <a:prstGeom prst="line">
            <a:avLst/>
          </a:prstGeom>
          <a:noFill/>
          <a:ln w="19050">
            <a:solidFill>
              <a:srgbClr val="9FB0C8"/>
            </a:solidFill>
            <a:prstDash val="solid"/>
          </a:ln>
        </p:spPr>
        <p:txBody>
          <a:bodyPr/>
          <a:p/>
        </p:txBody>
      </p:sp>
      <p:sp>
        <p:nvSpPr>
          <p:cNvPr id="65" name="Shape 63"/>
          <p:cNvSpPr/>
          <p:nvPr/>
        </p:nvSpPr>
        <p:spPr>
          <a:xfrm>
            <a:off x="7543800" y="3749040"/>
            <a:ext cx="0" cy="114300"/>
          </a:xfrm>
          <a:prstGeom prst="line">
            <a:avLst/>
          </a:prstGeom>
          <a:noFill/>
          <a:ln w="19050">
            <a:solidFill>
              <a:srgbClr val="9FB0C8"/>
            </a:solidFill>
            <a:prstDash val="solid"/>
          </a:ln>
        </p:spPr>
        <p:txBody>
          <a:bodyPr/>
          <a:p/>
        </p:txBody>
      </p:sp>
      <p:sp>
        <p:nvSpPr>
          <p:cNvPr id="66" name="Shape 64"/>
          <p:cNvSpPr/>
          <p:nvPr/>
        </p:nvSpPr>
        <p:spPr>
          <a:xfrm>
            <a:off x="7159752" y="3863340"/>
            <a:ext cx="384048" cy="0"/>
          </a:xfrm>
          <a:prstGeom prst="line">
            <a:avLst/>
          </a:prstGeom>
          <a:noFill/>
          <a:ln w="19050">
            <a:solidFill>
              <a:srgbClr val="9FB0C8"/>
            </a:solidFill>
            <a:prstDash val="solid"/>
          </a:ln>
        </p:spPr>
        <p:txBody>
          <a:bodyPr/>
          <a:p/>
        </p:txBody>
      </p:sp>
      <p:sp>
        <p:nvSpPr>
          <p:cNvPr id="67" name="Shape 65"/>
          <p:cNvSpPr/>
          <p:nvPr/>
        </p:nvSpPr>
        <p:spPr>
          <a:xfrm>
            <a:off x="7159752" y="3863340"/>
            <a:ext cx="0" cy="114300"/>
          </a:xfrm>
          <a:prstGeom prst="line">
            <a:avLst/>
          </a:prstGeom>
          <a:noFill/>
          <a:ln w="19050">
            <a:solidFill>
              <a:srgbClr val="9FB0C8"/>
            </a:solidFill>
            <a:prstDash val="solid"/>
          </a:ln>
        </p:spPr>
        <p:txBody>
          <a:bodyPr/>
          <a:p/>
        </p:txBody>
      </p:sp>
      <p:sp>
        <p:nvSpPr>
          <p:cNvPr id="68" name="Shape 66"/>
          <p:cNvSpPr/>
          <p:nvPr/>
        </p:nvSpPr>
        <p:spPr>
          <a:xfrm>
            <a:off x="7543800" y="3749040"/>
            <a:ext cx="0" cy="114300"/>
          </a:xfrm>
          <a:prstGeom prst="line">
            <a:avLst/>
          </a:prstGeom>
          <a:noFill/>
          <a:ln w="19050">
            <a:solidFill>
              <a:srgbClr val="9FB0C8"/>
            </a:solidFill>
            <a:prstDash val="solid"/>
          </a:ln>
        </p:spPr>
        <p:txBody>
          <a:bodyPr/>
          <a:p/>
        </p:txBody>
      </p:sp>
      <p:sp>
        <p:nvSpPr>
          <p:cNvPr id="69" name="Shape 67"/>
          <p:cNvSpPr/>
          <p:nvPr/>
        </p:nvSpPr>
        <p:spPr>
          <a:xfrm>
            <a:off x="7543800" y="3863340"/>
            <a:ext cx="384048" cy="0"/>
          </a:xfrm>
          <a:prstGeom prst="line">
            <a:avLst/>
          </a:prstGeom>
          <a:noFill/>
          <a:ln w="19050">
            <a:solidFill>
              <a:srgbClr val="9FB0C8"/>
            </a:solidFill>
            <a:prstDash val="solid"/>
          </a:ln>
        </p:spPr>
        <p:txBody>
          <a:bodyPr/>
          <a:p/>
        </p:txBody>
      </p:sp>
      <p:sp>
        <p:nvSpPr>
          <p:cNvPr id="70" name="Shape 68"/>
          <p:cNvSpPr/>
          <p:nvPr/>
        </p:nvSpPr>
        <p:spPr>
          <a:xfrm>
            <a:off x="7927848" y="3863340"/>
            <a:ext cx="0" cy="114300"/>
          </a:xfrm>
          <a:prstGeom prst="line">
            <a:avLst/>
          </a:prstGeom>
          <a:noFill/>
          <a:ln w="19050">
            <a:solidFill>
              <a:srgbClr val="9FB0C8"/>
            </a:solidFill>
            <a:prstDash val="solid"/>
          </a:ln>
        </p:spPr>
        <p:txBody>
          <a:bodyPr/>
          <a:p/>
        </p:txBody>
      </p:sp>
      <p:sp>
        <p:nvSpPr>
          <p:cNvPr id="71" name="Shape 69"/>
          <p:cNvSpPr/>
          <p:nvPr/>
        </p:nvSpPr>
        <p:spPr>
          <a:xfrm>
            <a:off x="9372600" y="3749040"/>
            <a:ext cx="0" cy="114300"/>
          </a:xfrm>
          <a:prstGeom prst="line">
            <a:avLst/>
          </a:prstGeom>
          <a:noFill/>
          <a:ln w="19050">
            <a:solidFill>
              <a:srgbClr val="9FB0C8"/>
            </a:solidFill>
            <a:prstDash val="solid"/>
          </a:ln>
        </p:spPr>
        <p:txBody>
          <a:bodyPr/>
          <a:p/>
        </p:txBody>
      </p:sp>
      <p:sp>
        <p:nvSpPr>
          <p:cNvPr id="72" name="Shape 70"/>
          <p:cNvSpPr/>
          <p:nvPr/>
        </p:nvSpPr>
        <p:spPr>
          <a:xfrm>
            <a:off x="8988552" y="3863340"/>
            <a:ext cx="384048" cy="0"/>
          </a:xfrm>
          <a:prstGeom prst="line">
            <a:avLst/>
          </a:prstGeom>
          <a:noFill/>
          <a:ln w="19050">
            <a:solidFill>
              <a:srgbClr val="9FB0C8"/>
            </a:solidFill>
            <a:prstDash val="solid"/>
          </a:ln>
        </p:spPr>
        <p:txBody>
          <a:bodyPr/>
          <a:p/>
        </p:txBody>
      </p:sp>
      <p:sp>
        <p:nvSpPr>
          <p:cNvPr id="73" name="Shape 71"/>
          <p:cNvSpPr/>
          <p:nvPr/>
        </p:nvSpPr>
        <p:spPr>
          <a:xfrm>
            <a:off x="8988552" y="3863340"/>
            <a:ext cx="0" cy="114300"/>
          </a:xfrm>
          <a:prstGeom prst="line">
            <a:avLst/>
          </a:prstGeom>
          <a:noFill/>
          <a:ln w="19050">
            <a:solidFill>
              <a:srgbClr val="9FB0C8"/>
            </a:solidFill>
            <a:prstDash val="solid"/>
          </a:ln>
        </p:spPr>
        <p:txBody>
          <a:bodyPr/>
          <a:p/>
        </p:txBody>
      </p:sp>
      <p:sp>
        <p:nvSpPr>
          <p:cNvPr id="74" name="Shape 72"/>
          <p:cNvSpPr/>
          <p:nvPr/>
        </p:nvSpPr>
        <p:spPr>
          <a:xfrm>
            <a:off x="9372600" y="3749040"/>
            <a:ext cx="0" cy="114300"/>
          </a:xfrm>
          <a:prstGeom prst="line">
            <a:avLst/>
          </a:prstGeom>
          <a:noFill/>
          <a:ln w="19050">
            <a:solidFill>
              <a:srgbClr val="9FB0C8"/>
            </a:solidFill>
            <a:prstDash val="solid"/>
          </a:ln>
        </p:spPr>
        <p:txBody>
          <a:bodyPr/>
          <a:p/>
        </p:txBody>
      </p:sp>
      <p:sp>
        <p:nvSpPr>
          <p:cNvPr id="75" name="Shape 73"/>
          <p:cNvSpPr/>
          <p:nvPr/>
        </p:nvSpPr>
        <p:spPr>
          <a:xfrm>
            <a:off x="9372600" y="3863340"/>
            <a:ext cx="384048" cy="0"/>
          </a:xfrm>
          <a:prstGeom prst="line">
            <a:avLst/>
          </a:prstGeom>
          <a:noFill/>
          <a:ln w="19050">
            <a:solidFill>
              <a:srgbClr val="9FB0C8"/>
            </a:solidFill>
            <a:prstDash val="solid"/>
          </a:ln>
        </p:spPr>
        <p:txBody>
          <a:bodyPr/>
          <a:p/>
        </p:txBody>
      </p:sp>
      <p:sp>
        <p:nvSpPr>
          <p:cNvPr id="76" name="Shape 74"/>
          <p:cNvSpPr/>
          <p:nvPr/>
        </p:nvSpPr>
        <p:spPr>
          <a:xfrm>
            <a:off x="9756648" y="3863340"/>
            <a:ext cx="0" cy="114300"/>
          </a:xfrm>
          <a:prstGeom prst="line">
            <a:avLst/>
          </a:prstGeom>
          <a:noFill/>
          <a:ln w="19050">
            <a:solidFill>
              <a:srgbClr val="9FB0C8"/>
            </a:solidFill>
            <a:prstDash val="solid"/>
          </a:ln>
        </p:spPr>
        <p:txBody>
          <a:bodyPr/>
          <a:p/>
        </p:txBody>
      </p:sp>
      <p:sp>
        <p:nvSpPr>
          <p:cNvPr id="77" name="Shape 75"/>
          <p:cNvSpPr/>
          <p:nvPr/>
        </p:nvSpPr>
        <p:spPr>
          <a:xfrm>
            <a:off x="502920" y="4892040"/>
            <a:ext cx="11155680" cy="1280160"/>
          </a:xfrm>
          <a:prstGeom prst="roundRect">
            <a:avLst>
              <a:gd name="adj" fmla="val 4286"/>
            </a:avLst>
          </a:prstGeom>
          <a:solidFill>
            <a:srgbClr val="E4F3F2"/>
          </a:solidFill>
          <a:ln w="12700">
            <a:solidFill>
              <a:srgbClr val="9FD4D1"/>
            </a:solidFill>
            <a:prstDash val="solid"/>
          </a:ln>
        </p:spPr>
        <p:txBody>
          <a:bodyPr/>
          <a:p/>
        </p:txBody>
      </p:sp>
      <p:sp>
        <p:nvSpPr>
          <p:cNvPr id="78" name="Text 76"/>
          <p:cNvSpPr/>
          <p:nvPr/>
        </p:nvSpPr>
        <p:spPr>
          <a:xfrm>
            <a:off x="731520" y="4983480"/>
            <a:ext cx="10698480" cy="1097280"/>
          </a:xfrm>
          <a:prstGeom prst="rect">
            <a:avLst/>
          </a:prstGeom>
          <a:noFill/>
          <a:ln/>
        </p:spPr>
        <p:txBody>
          <a:bodyPr wrap="square" rtlCol="0" anchor="ctr"/>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Each 2-point group is a trivial 2-point DFT: DFT2{a,b} = [a+b, a-b], no twiddle multiplication needed (W_2^0 = 1). This bottom-up order, applied stage by stage, is exactly the iterative FFT structure of the next slides.</a:t>
            </a:r>
            <a:endParaRPr lang="en-US" sz="1430" dirty="0"/>
          </a:p>
        </p:txBody>
      </p:sp>
      <p:sp>
        <p:nvSpPr>
          <p:cNvPr id="79" name="Shape 77"/>
          <p:cNvSpPr/>
          <p:nvPr/>
        </p:nvSpPr>
        <p:spPr>
          <a:xfrm>
            <a:off x="502920" y="6473952"/>
            <a:ext cx="11155680" cy="27432"/>
          </a:xfrm>
          <a:prstGeom prst="rect">
            <a:avLst/>
          </a:prstGeom>
          <a:solidFill>
            <a:srgbClr val="D7DEE8"/>
          </a:solidFill>
          <a:ln/>
        </p:spPr>
        <p:txBody>
          <a:bodyPr/>
          <a:p/>
        </p:txBody>
      </p:sp>
      <p:sp>
        <p:nvSpPr>
          <p:cNvPr id="80" name="Shape 78"/>
          <p:cNvSpPr/>
          <p:nvPr/>
        </p:nvSpPr>
        <p:spPr>
          <a:xfrm>
            <a:off x="502920" y="6473952"/>
            <a:ext cx="3984171" cy="27432"/>
          </a:xfrm>
          <a:prstGeom prst="rect">
            <a:avLst/>
          </a:prstGeom>
          <a:solidFill>
            <a:srgbClr val="0E8388"/>
          </a:solidFill>
          <a:ln/>
        </p:spPr>
        <p:txBody>
          <a:bodyPr/>
          <a:p/>
        </p:txBody>
      </p:sp>
      <p:sp>
        <p:nvSpPr>
          <p:cNvPr id="81" name="Text 7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82" name="Text 8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Bit-Reversal Ordering for N=8</a:t>
            </a:r>
            <a:endParaRPr lang="en-US" sz="2600" dirty="0"/>
          </a:p>
        </p:txBody>
      </p:sp>
      <p:sp>
        <p:nvSpPr>
          <p:cNvPr id="4" name="Text 2"/>
          <p:cNvSpPr/>
          <p:nvPr/>
        </p:nvSpPr>
        <p:spPr>
          <a:xfrm>
            <a:off x="502920" y="1188720"/>
            <a:ext cx="5212080" cy="137160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The recursive tree keeps re-sorting samples by parity. Doing that sorting once, up front, as a single index permutation lets the rest of the algorithm only ever combine neighboring elements at each stage, in place. That permutation is bit-reversal: write the index in binary and reverse the order of its bits.</a:t>
            </a:r>
            <a:endParaRPr lang="en-US" sz="1375"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5212080" cy="2633472"/>
        </p:xfrm>
        <a:graphic>
          <a:graphicData uri="http://schemas.openxmlformats.org/drawingml/2006/table">
            <a:tbl>
              <a:tblPr/>
              <a:tblGrid>
                <a:gridCol w="1303020"/>
                <a:gridCol w="1303020"/>
                <a:gridCol w="1303020"/>
                <a:gridCol w="13030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Index</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Binary</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Reversed</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New index</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000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000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001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010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010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011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110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001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110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011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7</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111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111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7</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6" name="Text 3"/>
          <p:cNvSpPr/>
          <p:nvPr/>
        </p:nvSpPr>
        <p:spPr>
          <a:xfrm>
            <a:off x="6446520" y="118872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NATURAL ORDER (AS STORED)</a:t>
            </a:r>
            <a:endParaRPr lang="en-US" sz="1200" dirty="0"/>
          </a:p>
        </p:txBody>
      </p:sp>
      <p:sp>
        <p:nvSpPr>
          <p:cNvPr id="7" name="Shape 4"/>
          <p:cNvSpPr/>
          <p:nvPr/>
        </p:nvSpPr>
        <p:spPr>
          <a:xfrm>
            <a:off x="6729984" y="2011680"/>
            <a:ext cx="0" cy="1005840"/>
          </a:xfrm>
          <a:prstGeom prst="line">
            <a:avLst/>
          </a:prstGeom>
          <a:noFill/>
          <a:ln w="15875">
            <a:solidFill>
              <a:srgbClr val="9FD4D1"/>
            </a:solidFill>
            <a:prstDash val="solid"/>
          </a:ln>
        </p:spPr>
        <p:txBody>
          <a:bodyPr/>
          <a:p/>
        </p:txBody>
      </p:sp>
      <p:sp>
        <p:nvSpPr>
          <p:cNvPr id="8" name="Shape 5"/>
          <p:cNvSpPr/>
          <p:nvPr/>
        </p:nvSpPr>
        <p:spPr>
          <a:xfrm>
            <a:off x="7360920" y="2011680"/>
            <a:ext cx="1892808" cy="1005840"/>
          </a:xfrm>
          <a:prstGeom prst="line">
            <a:avLst/>
          </a:prstGeom>
          <a:noFill/>
          <a:ln w="22225">
            <a:solidFill>
              <a:srgbClr val="D98324"/>
            </a:solidFill>
            <a:prstDash val="solid"/>
          </a:ln>
        </p:spPr>
        <p:txBody>
          <a:bodyPr/>
          <a:p/>
        </p:txBody>
      </p:sp>
      <p:sp>
        <p:nvSpPr>
          <p:cNvPr id="9" name="Shape 6"/>
          <p:cNvSpPr/>
          <p:nvPr/>
        </p:nvSpPr>
        <p:spPr>
          <a:xfrm>
            <a:off x="7991856" y="2011680"/>
            <a:ext cx="0" cy="1005840"/>
          </a:xfrm>
          <a:prstGeom prst="line">
            <a:avLst/>
          </a:prstGeom>
          <a:noFill/>
          <a:ln w="15875">
            <a:solidFill>
              <a:srgbClr val="9FD4D1"/>
            </a:solidFill>
            <a:prstDash val="solid"/>
          </a:ln>
        </p:spPr>
        <p:txBody>
          <a:bodyPr/>
          <a:p/>
        </p:txBody>
      </p:sp>
      <p:sp>
        <p:nvSpPr>
          <p:cNvPr id="10" name="Shape 7"/>
          <p:cNvSpPr/>
          <p:nvPr/>
        </p:nvSpPr>
        <p:spPr>
          <a:xfrm>
            <a:off x="8622792" y="2011680"/>
            <a:ext cx="1892808" cy="1005840"/>
          </a:xfrm>
          <a:prstGeom prst="line">
            <a:avLst/>
          </a:prstGeom>
          <a:noFill/>
          <a:ln w="22225">
            <a:solidFill>
              <a:srgbClr val="D98324"/>
            </a:solidFill>
            <a:prstDash val="solid"/>
          </a:ln>
        </p:spPr>
        <p:txBody>
          <a:bodyPr/>
          <a:p/>
        </p:txBody>
      </p:sp>
      <p:sp>
        <p:nvSpPr>
          <p:cNvPr id="11" name="Shape 8"/>
          <p:cNvSpPr/>
          <p:nvPr/>
        </p:nvSpPr>
        <p:spPr>
          <a:xfrm flipV="1">
            <a:off x="7360920" y="2011680"/>
            <a:ext cx="1892808" cy="1005840"/>
          </a:xfrm>
          <a:prstGeom prst="line">
            <a:avLst/>
          </a:prstGeom>
          <a:noFill/>
          <a:ln w="22225">
            <a:solidFill>
              <a:srgbClr val="D98324"/>
            </a:solidFill>
            <a:prstDash val="solid"/>
          </a:ln>
        </p:spPr>
        <p:txBody>
          <a:bodyPr/>
          <a:p/>
        </p:txBody>
      </p:sp>
      <p:sp>
        <p:nvSpPr>
          <p:cNvPr id="12" name="Shape 9"/>
          <p:cNvSpPr/>
          <p:nvPr/>
        </p:nvSpPr>
        <p:spPr>
          <a:xfrm>
            <a:off x="9884664" y="2011680"/>
            <a:ext cx="0" cy="1005840"/>
          </a:xfrm>
          <a:prstGeom prst="line">
            <a:avLst/>
          </a:prstGeom>
          <a:noFill/>
          <a:ln w="15875">
            <a:solidFill>
              <a:srgbClr val="9FD4D1"/>
            </a:solidFill>
            <a:prstDash val="solid"/>
          </a:ln>
        </p:spPr>
        <p:txBody>
          <a:bodyPr/>
          <a:p/>
        </p:txBody>
      </p:sp>
      <p:sp>
        <p:nvSpPr>
          <p:cNvPr id="13" name="Shape 10"/>
          <p:cNvSpPr/>
          <p:nvPr/>
        </p:nvSpPr>
        <p:spPr>
          <a:xfrm flipV="1">
            <a:off x="8622792" y="2011680"/>
            <a:ext cx="1892808" cy="1005840"/>
          </a:xfrm>
          <a:prstGeom prst="line">
            <a:avLst/>
          </a:prstGeom>
          <a:noFill/>
          <a:ln w="22225">
            <a:solidFill>
              <a:srgbClr val="D98324"/>
            </a:solidFill>
            <a:prstDash val="solid"/>
          </a:ln>
        </p:spPr>
        <p:txBody>
          <a:bodyPr/>
          <a:p/>
        </p:txBody>
      </p:sp>
      <p:sp>
        <p:nvSpPr>
          <p:cNvPr id="14" name="Shape 11"/>
          <p:cNvSpPr/>
          <p:nvPr/>
        </p:nvSpPr>
        <p:spPr>
          <a:xfrm>
            <a:off x="11146536" y="2011680"/>
            <a:ext cx="0" cy="1005840"/>
          </a:xfrm>
          <a:prstGeom prst="line">
            <a:avLst/>
          </a:prstGeom>
          <a:noFill/>
          <a:ln w="15875">
            <a:solidFill>
              <a:srgbClr val="9FD4D1"/>
            </a:solidFill>
            <a:prstDash val="solid"/>
          </a:ln>
        </p:spPr>
        <p:txBody>
          <a:bodyPr/>
          <a:p/>
        </p:txBody>
      </p:sp>
      <p:sp>
        <p:nvSpPr>
          <p:cNvPr id="15" name="Shape 12"/>
          <p:cNvSpPr/>
          <p:nvPr/>
        </p:nvSpPr>
        <p:spPr>
          <a:xfrm>
            <a:off x="6446520"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16" name="Text 13"/>
          <p:cNvSpPr/>
          <p:nvPr/>
        </p:nvSpPr>
        <p:spPr>
          <a:xfrm>
            <a:off x="6446520"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x0</a:t>
            </a:r>
            <a:endParaRPr lang="en-US" sz="1200" dirty="0"/>
          </a:p>
        </p:txBody>
      </p:sp>
      <p:sp>
        <p:nvSpPr>
          <p:cNvPr id="17" name="Shape 14"/>
          <p:cNvSpPr/>
          <p:nvPr/>
        </p:nvSpPr>
        <p:spPr>
          <a:xfrm>
            <a:off x="7077456"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18" name="Text 15"/>
          <p:cNvSpPr/>
          <p:nvPr/>
        </p:nvSpPr>
        <p:spPr>
          <a:xfrm>
            <a:off x="7077456"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x1</a:t>
            </a:r>
            <a:endParaRPr lang="en-US" sz="1200" dirty="0"/>
          </a:p>
        </p:txBody>
      </p:sp>
      <p:sp>
        <p:nvSpPr>
          <p:cNvPr id="19" name="Shape 16"/>
          <p:cNvSpPr/>
          <p:nvPr/>
        </p:nvSpPr>
        <p:spPr>
          <a:xfrm>
            <a:off x="7708392"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20" name="Text 17"/>
          <p:cNvSpPr/>
          <p:nvPr/>
        </p:nvSpPr>
        <p:spPr>
          <a:xfrm>
            <a:off x="7708392"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x2</a:t>
            </a:r>
            <a:endParaRPr lang="en-US" sz="1200" dirty="0"/>
          </a:p>
        </p:txBody>
      </p:sp>
      <p:sp>
        <p:nvSpPr>
          <p:cNvPr id="21" name="Shape 18"/>
          <p:cNvSpPr/>
          <p:nvPr/>
        </p:nvSpPr>
        <p:spPr>
          <a:xfrm>
            <a:off x="8339328"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22" name="Text 19"/>
          <p:cNvSpPr/>
          <p:nvPr/>
        </p:nvSpPr>
        <p:spPr>
          <a:xfrm>
            <a:off x="8339328"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x3</a:t>
            </a:r>
            <a:endParaRPr lang="en-US" sz="1200" dirty="0"/>
          </a:p>
        </p:txBody>
      </p:sp>
      <p:sp>
        <p:nvSpPr>
          <p:cNvPr id="23" name="Shape 20"/>
          <p:cNvSpPr/>
          <p:nvPr/>
        </p:nvSpPr>
        <p:spPr>
          <a:xfrm>
            <a:off x="8970264"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24" name="Text 21"/>
          <p:cNvSpPr/>
          <p:nvPr/>
        </p:nvSpPr>
        <p:spPr>
          <a:xfrm>
            <a:off x="8970264"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x4</a:t>
            </a:r>
            <a:endParaRPr lang="en-US" sz="1200" dirty="0"/>
          </a:p>
        </p:txBody>
      </p:sp>
      <p:sp>
        <p:nvSpPr>
          <p:cNvPr id="25" name="Shape 22"/>
          <p:cNvSpPr/>
          <p:nvPr/>
        </p:nvSpPr>
        <p:spPr>
          <a:xfrm>
            <a:off x="9601200"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26" name="Text 23"/>
          <p:cNvSpPr/>
          <p:nvPr/>
        </p:nvSpPr>
        <p:spPr>
          <a:xfrm>
            <a:off x="9601200"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x5</a:t>
            </a:r>
            <a:endParaRPr lang="en-US" sz="1200" dirty="0"/>
          </a:p>
        </p:txBody>
      </p:sp>
      <p:sp>
        <p:nvSpPr>
          <p:cNvPr id="27" name="Shape 24"/>
          <p:cNvSpPr/>
          <p:nvPr/>
        </p:nvSpPr>
        <p:spPr>
          <a:xfrm>
            <a:off x="10232136"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28" name="Text 25"/>
          <p:cNvSpPr/>
          <p:nvPr/>
        </p:nvSpPr>
        <p:spPr>
          <a:xfrm>
            <a:off x="10232136"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x6</a:t>
            </a:r>
            <a:endParaRPr lang="en-US" sz="1200" dirty="0"/>
          </a:p>
        </p:txBody>
      </p:sp>
      <p:sp>
        <p:nvSpPr>
          <p:cNvPr id="29" name="Shape 26"/>
          <p:cNvSpPr/>
          <p:nvPr/>
        </p:nvSpPr>
        <p:spPr>
          <a:xfrm>
            <a:off x="10863072" y="1554480"/>
            <a:ext cx="566928" cy="457200"/>
          </a:xfrm>
          <a:prstGeom prst="roundRect">
            <a:avLst>
              <a:gd name="adj" fmla="val 16000"/>
            </a:avLst>
          </a:prstGeom>
          <a:solidFill>
            <a:srgbClr val="EAF1FB"/>
          </a:solidFill>
          <a:ln w="12700">
            <a:solidFill>
              <a:srgbClr val="D7DEE8"/>
            </a:solidFill>
            <a:prstDash val="solid"/>
          </a:ln>
        </p:spPr>
        <p:txBody>
          <a:bodyPr/>
          <a:p/>
        </p:txBody>
      </p:sp>
      <p:sp>
        <p:nvSpPr>
          <p:cNvPr id="30" name="Text 27"/>
          <p:cNvSpPr/>
          <p:nvPr/>
        </p:nvSpPr>
        <p:spPr>
          <a:xfrm>
            <a:off x="10863072" y="155448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x7</a:t>
            </a:r>
            <a:endParaRPr lang="en-US" sz="1200" dirty="0"/>
          </a:p>
        </p:txBody>
      </p:sp>
      <p:sp>
        <p:nvSpPr>
          <p:cNvPr id="31" name="Shape 28"/>
          <p:cNvSpPr/>
          <p:nvPr/>
        </p:nvSpPr>
        <p:spPr>
          <a:xfrm>
            <a:off x="6446520"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32" name="Text 29"/>
          <p:cNvSpPr/>
          <p:nvPr/>
        </p:nvSpPr>
        <p:spPr>
          <a:xfrm>
            <a:off x="6446520"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x0</a:t>
            </a:r>
            <a:endParaRPr lang="en-US" sz="1200" dirty="0"/>
          </a:p>
        </p:txBody>
      </p:sp>
      <p:sp>
        <p:nvSpPr>
          <p:cNvPr id="33" name="Shape 30"/>
          <p:cNvSpPr/>
          <p:nvPr/>
        </p:nvSpPr>
        <p:spPr>
          <a:xfrm>
            <a:off x="7077456"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34" name="Text 31"/>
          <p:cNvSpPr/>
          <p:nvPr/>
        </p:nvSpPr>
        <p:spPr>
          <a:xfrm>
            <a:off x="7077456"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x4</a:t>
            </a:r>
            <a:endParaRPr lang="en-US" sz="1200" dirty="0"/>
          </a:p>
        </p:txBody>
      </p:sp>
      <p:sp>
        <p:nvSpPr>
          <p:cNvPr id="35" name="Shape 32"/>
          <p:cNvSpPr/>
          <p:nvPr/>
        </p:nvSpPr>
        <p:spPr>
          <a:xfrm>
            <a:off x="7708392"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36" name="Text 33"/>
          <p:cNvSpPr/>
          <p:nvPr/>
        </p:nvSpPr>
        <p:spPr>
          <a:xfrm>
            <a:off x="7708392"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x2</a:t>
            </a:r>
            <a:endParaRPr lang="en-US" sz="1200" dirty="0"/>
          </a:p>
        </p:txBody>
      </p:sp>
      <p:sp>
        <p:nvSpPr>
          <p:cNvPr id="37" name="Shape 34"/>
          <p:cNvSpPr/>
          <p:nvPr/>
        </p:nvSpPr>
        <p:spPr>
          <a:xfrm>
            <a:off x="8339328"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38" name="Text 35"/>
          <p:cNvSpPr/>
          <p:nvPr/>
        </p:nvSpPr>
        <p:spPr>
          <a:xfrm>
            <a:off x="8339328"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x6</a:t>
            </a:r>
            <a:endParaRPr lang="en-US" sz="1200" dirty="0"/>
          </a:p>
        </p:txBody>
      </p:sp>
      <p:sp>
        <p:nvSpPr>
          <p:cNvPr id="39" name="Shape 36"/>
          <p:cNvSpPr/>
          <p:nvPr/>
        </p:nvSpPr>
        <p:spPr>
          <a:xfrm>
            <a:off x="8970264"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40" name="Text 37"/>
          <p:cNvSpPr/>
          <p:nvPr/>
        </p:nvSpPr>
        <p:spPr>
          <a:xfrm>
            <a:off x="8970264"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x1</a:t>
            </a:r>
            <a:endParaRPr lang="en-US" sz="1200" dirty="0"/>
          </a:p>
        </p:txBody>
      </p:sp>
      <p:sp>
        <p:nvSpPr>
          <p:cNvPr id="41" name="Shape 38"/>
          <p:cNvSpPr/>
          <p:nvPr/>
        </p:nvSpPr>
        <p:spPr>
          <a:xfrm>
            <a:off x="9601200"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42" name="Text 39"/>
          <p:cNvSpPr/>
          <p:nvPr/>
        </p:nvSpPr>
        <p:spPr>
          <a:xfrm>
            <a:off x="9601200"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x5</a:t>
            </a:r>
            <a:endParaRPr lang="en-US" sz="1200" dirty="0"/>
          </a:p>
        </p:txBody>
      </p:sp>
      <p:sp>
        <p:nvSpPr>
          <p:cNvPr id="43" name="Shape 40"/>
          <p:cNvSpPr/>
          <p:nvPr/>
        </p:nvSpPr>
        <p:spPr>
          <a:xfrm>
            <a:off x="10232136"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44" name="Text 41"/>
          <p:cNvSpPr/>
          <p:nvPr/>
        </p:nvSpPr>
        <p:spPr>
          <a:xfrm>
            <a:off x="10232136"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x3</a:t>
            </a:r>
            <a:endParaRPr lang="en-US" sz="1200" dirty="0"/>
          </a:p>
        </p:txBody>
      </p:sp>
      <p:sp>
        <p:nvSpPr>
          <p:cNvPr id="45" name="Shape 42"/>
          <p:cNvSpPr/>
          <p:nvPr/>
        </p:nvSpPr>
        <p:spPr>
          <a:xfrm>
            <a:off x="10863072" y="3017520"/>
            <a:ext cx="566928" cy="457200"/>
          </a:xfrm>
          <a:prstGeom prst="roundRect">
            <a:avLst>
              <a:gd name="adj" fmla="val 16000"/>
            </a:avLst>
          </a:prstGeom>
          <a:solidFill>
            <a:srgbClr val="E4F3F2"/>
          </a:solidFill>
          <a:ln w="12700">
            <a:solidFill>
              <a:srgbClr val="9FD4D1"/>
            </a:solidFill>
            <a:prstDash val="solid"/>
          </a:ln>
        </p:spPr>
        <p:txBody>
          <a:bodyPr/>
          <a:p/>
        </p:txBody>
      </p:sp>
      <p:sp>
        <p:nvSpPr>
          <p:cNvPr id="46" name="Text 43"/>
          <p:cNvSpPr/>
          <p:nvPr/>
        </p:nvSpPr>
        <p:spPr>
          <a:xfrm>
            <a:off x="10863072" y="3017520"/>
            <a:ext cx="566928" cy="457200"/>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x7</a:t>
            </a:r>
            <a:endParaRPr lang="en-US" sz="1200" dirty="0"/>
          </a:p>
        </p:txBody>
      </p:sp>
      <p:sp>
        <p:nvSpPr>
          <p:cNvPr id="47" name="Text 44"/>
          <p:cNvSpPr/>
          <p:nvPr/>
        </p:nvSpPr>
        <p:spPr>
          <a:xfrm>
            <a:off x="6446520" y="356616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BIT-REVERSED ORDER (FED TO STAGES)</a:t>
            </a:r>
            <a:endParaRPr lang="en-US" sz="1200" dirty="0"/>
          </a:p>
        </p:txBody>
      </p:sp>
      <p:sp>
        <p:nvSpPr>
          <p:cNvPr id="48" name="Shape 45"/>
          <p:cNvSpPr/>
          <p:nvPr/>
        </p:nvSpPr>
        <p:spPr>
          <a:xfrm>
            <a:off x="6446520" y="4023360"/>
            <a:ext cx="4937760" cy="2194560"/>
          </a:xfrm>
          <a:prstGeom prst="roundRect">
            <a:avLst>
              <a:gd name="adj" fmla="val 2500"/>
            </a:avLst>
          </a:prstGeom>
          <a:solidFill>
            <a:srgbClr val="FFFFFF"/>
          </a:solidFill>
          <a:ln w="12700">
            <a:solidFill>
              <a:srgbClr val="D7DEE8"/>
            </a:solidFill>
            <a:prstDash val="solid"/>
          </a:ln>
        </p:spPr>
        <p:txBody>
          <a:bodyPr/>
          <a:p/>
        </p:txBody>
      </p:sp>
      <p:sp>
        <p:nvSpPr>
          <p:cNvPr id="49" name="Text 46"/>
          <p:cNvSpPr/>
          <p:nvPr/>
        </p:nvSpPr>
        <p:spPr>
          <a:xfrm>
            <a:off x="6629400" y="4133088"/>
            <a:ext cx="4572000" cy="201168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Amber lines show samples that move; teal lines show the four fixed points (x0, x2, x5, x7 stay in place). The bit-reversed order x0,x4,x2,x6,x1,x5,x3,x7 is exactly the order the leaves appeared in the decomposition tree, read left to right: bit-reversal is the flattened, iterative equivalent of the recursive even/odd splitting.</a:t>
            </a:r>
            <a:endParaRPr lang="en-US" sz="1320" dirty="0"/>
          </a:p>
        </p:txBody>
      </p:sp>
      <p:sp>
        <p:nvSpPr>
          <p:cNvPr id="50" name="Shape 47"/>
          <p:cNvSpPr/>
          <p:nvPr/>
        </p:nvSpPr>
        <p:spPr>
          <a:xfrm>
            <a:off x="502920" y="6473952"/>
            <a:ext cx="11155680" cy="27432"/>
          </a:xfrm>
          <a:prstGeom prst="rect">
            <a:avLst/>
          </a:prstGeom>
          <a:solidFill>
            <a:srgbClr val="D7DEE8"/>
          </a:solidFill>
          <a:ln/>
        </p:spPr>
        <p:txBody>
          <a:bodyPr/>
          <a:p/>
        </p:txBody>
      </p:sp>
      <p:sp>
        <p:nvSpPr>
          <p:cNvPr id="51" name="Shape 48"/>
          <p:cNvSpPr/>
          <p:nvPr/>
        </p:nvSpPr>
        <p:spPr>
          <a:xfrm>
            <a:off x="502920" y="6473952"/>
            <a:ext cx="4249783" cy="27432"/>
          </a:xfrm>
          <a:prstGeom prst="rect">
            <a:avLst/>
          </a:prstGeom>
          <a:solidFill>
            <a:srgbClr val="0E8388"/>
          </a:solidFill>
          <a:ln/>
        </p:spPr>
        <p:txBody>
          <a:bodyPr/>
          <a:p/>
        </p:txBody>
      </p:sp>
      <p:sp>
        <p:nvSpPr>
          <p:cNvPr id="52" name="Text 4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53" name="Text 5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Twiddle Factor Values for N=8</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5943600" cy="2633472"/>
        </p:xfrm>
        <a:graphic>
          <a:graphicData uri="http://schemas.openxmlformats.org/drawingml/2006/table">
            <a:tbl>
              <a:tblPr/>
              <a:tblGrid>
                <a:gridCol w="1485900"/>
                <a:gridCol w="1485900"/>
                <a:gridCol w="1485900"/>
                <a:gridCol w="14859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Angle</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W₈ᵏ = cos - j sin</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Rectangular value</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0 - j sin 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 + j0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45 - j sin 45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0.7071 - j0.7071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90°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90 - j sin 90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0 - j1 = -j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135°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135 - j sin 135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-0.7071 - j0.7071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180°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180 - j sin 180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 + j0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225°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225 - j sin 225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 + j0.7071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270°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270 - j sin 270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 + j1 = 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7</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315°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cos 315 - j sin 315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 + j0.7071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5" name="Shape 2"/>
          <p:cNvSpPr/>
          <p:nvPr/>
        </p:nvSpPr>
        <p:spPr>
          <a:xfrm>
            <a:off x="6720840" y="1188720"/>
            <a:ext cx="4937760" cy="4846320"/>
          </a:xfrm>
          <a:prstGeom prst="roundRect">
            <a:avLst>
              <a:gd name="adj" fmla="val 1132"/>
            </a:avLst>
          </a:prstGeom>
          <a:solidFill>
            <a:srgbClr val="FFFFFF"/>
          </a:solidFill>
          <a:ln w="12700">
            <a:solidFill>
              <a:srgbClr val="D7DEE8"/>
            </a:solidFill>
            <a:prstDash val="solid"/>
          </a:ln>
        </p:spPr>
        <p:txBody>
          <a:bodyPr/>
          <a:p/>
        </p:txBody>
      </p:sp>
      <p:sp>
        <p:nvSpPr>
          <p:cNvPr id="6" name="Shape 3"/>
          <p:cNvSpPr/>
          <p:nvPr/>
        </p:nvSpPr>
        <p:spPr>
          <a:xfrm>
            <a:off x="7909560" y="2103120"/>
            <a:ext cx="2560320" cy="2560320"/>
          </a:xfrm>
          <a:prstGeom prst="ellipse">
            <a:avLst/>
          </a:prstGeom>
          <a:solidFill>
            <a:srgbClr val="F3F7FC"/>
          </a:solidFill>
          <a:ln w="22225">
            <a:solidFill>
              <a:srgbClr val="9FB0C8"/>
            </a:solidFill>
            <a:prstDash val="solid"/>
          </a:ln>
        </p:spPr>
        <p:txBody>
          <a:bodyPr/>
          <a:p/>
        </p:txBody>
      </p:sp>
      <p:sp>
        <p:nvSpPr>
          <p:cNvPr id="7" name="Shape 4"/>
          <p:cNvSpPr/>
          <p:nvPr/>
        </p:nvSpPr>
        <p:spPr>
          <a:xfrm>
            <a:off x="7680960" y="3383280"/>
            <a:ext cx="3017520" cy="0"/>
          </a:xfrm>
          <a:prstGeom prst="line">
            <a:avLst/>
          </a:prstGeom>
          <a:noFill/>
          <a:ln w="12700">
            <a:solidFill>
              <a:srgbClr val="D7DEE8"/>
            </a:solidFill>
            <a:prstDash val="solid"/>
            <a:tailEnd type="triangle"/>
          </a:ln>
        </p:spPr>
        <p:txBody>
          <a:bodyPr/>
          <a:p/>
        </p:txBody>
      </p:sp>
      <p:sp>
        <p:nvSpPr>
          <p:cNvPr id="8" name="Shape 5"/>
          <p:cNvSpPr/>
          <p:nvPr/>
        </p:nvSpPr>
        <p:spPr>
          <a:xfrm>
            <a:off x="9189720" y="1874520"/>
            <a:ext cx="0" cy="3017520"/>
          </a:xfrm>
          <a:prstGeom prst="line">
            <a:avLst/>
          </a:prstGeom>
          <a:noFill/>
          <a:ln w="12700">
            <a:solidFill>
              <a:srgbClr val="D7DEE8"/>
            </a:solidFill>
            <a:prstDash val="solid"/>
            <a:tailEnd type="triangle"/>
          </a:ln>
        </p:spPr>
        <p:txBody>
          <a:bodyPr/>
          <a:p/>
        </p:txBody>
      </p:sp>
      <p:sp>
        <p:nvSpPr>
          <p:cNvPr id="9" name="Text 6"/>
          <p:cNvSpPr/>
          <p:nvPr/>
        </p:nvSpPr>
        <p:spPr>
          <a:xfrm>
            <a:off x="10515600" y="3401568"/>
            <a:ext cx="365760" cy="228600"/>
          </a:xfrm>
          <a:prstGeom prst="rect">
            <a:avLst/>
          </a:prstGeom>
          <a:noFill/>
          <a:ln/>
        </p:spPr>
        <p:txBody>
          <a:bodyPr wrap="square" lIns="0" tIns="0" rIns="0" bIns="0" rtlCol="0" anchor="ctr"/>
          <a:lstStyle/>
          <a:p>
            <a:pPr indent="0" marL="0">
              <a:buNone/>
            </a:pPr>
            <a:r>
              <a:rPr lang="en-US" sz="900" i="1" dirty="0">
                <a:solidFill>
                  <a:srgbClr val="5C6B7A"/>
                </a:solidFill>
                <a:latin typeface="Calibri" pitchFamily="34" charset="0"/>
                <a:ea typeface="Calibri" pitchFamily="34" charset="-122"/>
                <a:cs typeface="Calibri" pitchFamily="34" charset="-120"/>
              </a:rPr>
              <a:t>Re</a:t>
            </a:r>
            <a:endParaRPr lang="en-US" sz="900" dirty="0"/>
          </a:p>
        </p:txBody>
      </p:sp>
      <p:sp>
        <p:nvSpPr>
          <p:cNvPr id="10" name="Text 7"/>
          <p:cNvSpPr/>
          <p:nvPr/>
        </p:nvSpPr>
        <p:spPr>
          <a:xfrm>
            <a:off x="9235440" y="1828800"/>
            <a:ext cx="365760" cy="228600"/>
          </a:xfrm>
          <a:prstGeom prst="rect">
            <a:avLst/>
          </a:prstGeom>
          <a:noFill/>
          <a:ln/>
        </p:spPr>
        <p:txBody>
          <a:bodyPr wrap="square" lIns="0" tIns="0" rIns="0" bIns="0" rtlCol="0" anchor="ctr"/>
          <a:lstStyle/>
          <a:p>
            <a:pPr indent="0" marL="0">
              <a:buNone/>
            </a:pPr>
            <a:r>
              <a:rPr lang="en-US" sz="900" i="1" dirty="0">
                <a:solidFill>
                  <a:srgbClr val="5C6B7A"/>
                </a:solidFill>
                <a:latin typeface="Calibri" pitchFamily="34" charset="0"/>
                <a:ea typeface="Calibri" pitchFamily="34" charset="-122"/>
                <a:cs typeface="Calibri" pitchFamily="34" charset="-120"/>
              </a:rPr>
              <a:t>Im</a:t>
            </a:r>
            <a:endParaRPr lang="en-US" sz="900" dirty="0"/>
          </a:p>
        </p:txBody>
      </p:sp>
      <p:sp>
        <p:nvSpPr>
          <p:cNvPr id="11" name="Shape 8"/>
          <p:cNvSpPr/>
          <p:nvPr/>
        </p:nvSpPr>
        <p:spPr>
          <a:xfrm>
            <a:off x="9189720" y="3383280"/>
            <a:ext cx="1280160" cy="0"/>
          </a:xfrm>
          <a:prstGeom prst="line">
            <a:avLst/>
          </a:prstGeom>
          <a:noFill/>
          <a:ln w="12700">
            <a:solidFill>
              <a:srgbClr val="D98324"/>
            </a:solidFill>
            <a:prstDash val="solid"/>
          </a:ln>
        </p:spPr>
        <p:txBody>
          <a:bodyPr/>
          <a:p/>
        </p:txBody>
      </p:sp>
      <p:sp>
        <p:nvSpPr>
          <p:cNvPr id="12" name="Shape 9"/>
          <p:cNvSpPr/>
          <p:nvPr/>
        </p:nvSpPr>
        <p:spPr>
          <a:xfrm>
            <a:off x="10378440" y="3291840"/>
            <a:ext cx="182880" cy="182880"/>
          </a:xfrm>
          <a:prstGeom prst="ellipse">
            <a:avLst/>
          </a:prstGeom>
          <a:solidFill>
            <a:srgbClr val="D98324"/>
          </a:solidFill>
          <a:ln w="6350">
            <a:solidFill>
              <a:srgbClr val="D98324"/>
            </a:solidFill>
            <a:prstDash val="solid"/>
          </a:ln>
        </p:spPr>
        <p:txBody>
          <a:bodyPr/>
          <a:p/>
        </p:txBody>
      </p:sp>
      <p:sp>
        <p:nvSpPr>
          <p:cNvPr id="13" name="Text 10"/>
          <p:cNvSpPr/>
          <p:nvPr/>
        </p:nvSpPr>
        <p:spPr>
          <a:xfrm>
            <a:off x="10533888" y="3163824"/>
            <a:ext cx="1005840" cy="438912"/>
          </a:xfrm>
          <a:prstGeom prst="rect">
            <a:avLst/>
          </a:prstGeom>
          <a:noFill/>
          <a:ln/>
        </p:spPr>
        <p:txBody>
          <a:bodyPr wrap="square" lIns="0" tIns="0" rIns="0" bIns="0" rtlCol="0" anchor="ctr"/>
          <a:lstStyle/>
          <a:p>
            <a:pPr algn="ctr" indent="0" marL="0">
              <a:buNone/>
            </a:pPr>
            <a:r>
              <a:rPr lang="en-US" sz="1100" b="1" dirty="0">
                <a:solidFill>
                  <a:srgbClr val="D98324"/>
                </a:solidFill>
                <a:latin typeface="Calibri" pitchFamily="34" charset="0"/>
                <a:ea typeface="Calibri" pitchFamily="34" charset="-122"/>
                <a:cs typeface="Calibri" pitchFamily="34" charset="-120"/>
              </a:rPr>
              <a:t>k=0</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1</a:t>
            </a:r>
            <a:endParaRPr lang="en-US" sz="1050" dirty="0"/>
          </a:p>
        </p:txBody>
      </p:sp>
      <p:sp>
        <p:nvSpPr>
          <p:cNvPr id="14" name="Shape 11"/>
          <p:cNvSpPr/>
          <p:nvPr/>
        </p:nvSpPr>
        <p:spPr>
          <a:xfrm flipV="1">
            <a:off x="9189720" y="2478070"/>
            <a:ext cx="905210" cy="905210"/>
          </a:xfrm>
          <a:prstGeom prst="line">
            <a:avLst/>
          </a:prstGeom>
          <a:noFill/>
          <a:ln w="12700">
            <a:solidFill>
              <a:srgbClr val="0E8388"/>
            </a:solidFill>
            <a:prstDash val="solid"/>
          </a:ln>
        </p:spPr>
        <p:txBody>
          <a:bodyPr/>
          <a:p/>
        </p:txBody>
      </p:sp>
      <p:sp>
        <p:nvSpPr>
          <p:cNvPr id="15" name="Shape 12"/>
          <p:cNvSpPr/>
          <p:nvPr/>
        </p:nvSpPr>
        <p:spPr>
          <a:xfrm>
            <a:off x="10003490" y="2386630"/>
            <a:ext cx="182880" cy="182880"/>
          </a:xfrm>
          <a:prstGeom prst="ellipse">
            <a:avLst/>
          </a:prstGeom>
          <a:solidFill>
            <a:srgbClr val="0E8388"/>
          </a:solidFill>
          <a:ln w="6350">
            <a:solidFill>
              <a:srgbClr val="0E8388"/>
            </a:solidFill>
            <a:prstDash val="solid"/>
          </a:ln>
        </p:spPr>
        <p:txBody>
          <a:bodyPr/>
          <a:p/>
        </p:txBody>
      </p:sp>
      <p:sp>
        <p:nvSpPr>
          <p:cNvPr id="16" name="Text 13"/>
          <p:cNvSpPr/>
          <p:nvPr/>
        </p:nvSpPr>
        <p:spPr>
          <a:xfrm>
            <a:off x="9992888" y="1857736"/>
            <a:ext cx="1005840" cy="438912"/>
          </a:xfrm>
          <a:prstGeom prst="rect">
            <a:avLst/>
          </a:prstGeom>
          <a:noFill/>
          <a:ln/>
        </p:spPr>
        <p:txBody>
          <a:bodyPr wrap="square" lIns="0" tIns="0" rIns="0" bIns="0" rtlCol="0" anchor="ctr"/>
          <a:lstStyle/>
          <a:p>
            <a:pPr algn="ctr" indent="0" marL="0">
              <a:buNone/>
            </a:pPr>
            <a:r>
              <a:rPr lang="en-US" sz="1100" b="1" dirty="0">
                <a:solidFill>
                  <a:srgbClr val="0E8388"/>
                </a:solidFill>
                <a:latin typeface="Calibri" pitchFamily="34" charset="0"/>
                <a:ea typeface="Calibri" pitchFamily="34" charset="-122"/>
                <a:cs typeface="Calibri" pitchFamily="34" charset="-120"/>
              </a:rPr>
              <a:t>k=1</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0.71-0.71j</a:t>
            </a:r>
            <a:endParaRPr lang="en-US" sz="1050" dirty="0"/>
          </a:p>
        </p:txBody>
      </p:sp>
      <p:sp>
        <p:nvSpPr>
          <p:cNvPr id="17" name="Shape 14"/>
          <p:cNvSpPr/>
          <p:nvPr/>
        </p:nvSpPr>
        <p:spPr>
          <a:xfrm>
            <a:off x="9189720" y="2103120"/>
            <a:ext cx="0" cy="1280160"/>
          </a:xfrm>
          <a:prstGeom prst="line">
            <a:avLst/>
          </a:prstGeom>
          <a:noFill/>
          <a:ln w="12700">
            <a:solidFill>
              <a:srgbClr val="D98324"/>
            </a:solidFill>
            <a:prstDash val="solid"/>
          </a:ln>
        </p:spPr>
        <p:txBody>
          <a:bodyPr/>
          <a:p/>
        </p:txBody>
      </p:sp>
      <p:sp>
        <p:nvSpPr>
          <p:cNvPr id="18" name="Shape 15"/>
          <p:cNvSpPr/>
          <p:nvPr/>
        </p:nvSpPr>
        <p:spPr>
          <a:xfrm>
            <a:off x="9098280" y="2011680"/>
            <a:ext cx="182880" cy="182880"/>
          </a:xfrm>
          <a:prstGeom prst="ellipse">
            <a:avLst/>
          </a:prstGeom>
          <a:solidFill>
            <a:srgbClr val="D98324"/>
          </a:solidFill>
          <a:ln w="6350">
            <a:solidFill>
              <a:srgbClr val="D98324"/>
            </a:solidFill>
            <a:prstDash val="solid"/>
          </a:ln>
        </p:spPr>
        <p:txBody>
          <a:bodyPr/>
          <a:p/>
        </p:txBody>
      </p:sp>
      <p:sp>
        <p:nvSpPr>
          <p:cNvPr id="19" name="Text 16"/>
          <p:cNvSpPr/>
          <p:nvPr/>
        </p:nvSpPr>
        <p:spPr>
          <a:xfrm>
            <a:off x="8686800" y="1316736"/>
            <a:ext cx="1005840" cy="438912"/>
          </a:xfrm>
          <a:prstGeom prst="rect">
            <a:avLst/>
          </a:prstGeom>
          <a:noFill/>
          <a:ln/>
        </p:spPr>
        <p:txBody>
          <a:bodyPr wrap="square" lIns="0" tIns="0" rIns="0" bIns="0" rtlCol="0" anchor="ctr"/>
          <a:lstStyle/>
          <a:p>
            <a:pPr algn="ctr" indent="0" marL="0">
              <a:buNone/>
            </a:pPr>
            <a:r>
              <a:rPr lang="en-US" sz="1100" b="1" dirty="0">
                <a:solidFill>
                  <a:srgbClr val="D98324"/>
                </a:solidFill>
                <a:latin typeface="Calibri" pitchFamily="34" charset="0"/>
                <a:ea typeface="Calibri" pitchFamily="34" charset="-122"/>
                <a:cs typeface="Calibri" pitchFamily="34" charset="-120"/>
              </a:rPr>
              <a:t>k=2</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-j</a:t>
            </a:r>
            <a:endParaRPr lang="en-US" sz="1050" dirty="0"/>
          </a:p>
        </p:txBody>
      </p:sp>
      <p:sp>
        <p:nvSpPr>
          <p:cNvPr id="20" name="Shape 17"/>
          <p:cNvSpPr/>
          <p:nvPr/>
        </p:nvSpPr>
        <p:spPr>
          <a:xfrm>
            <a:off x="8284510" y="2478070"/>
            <a:ext cx="905210" cy="905210"/>
          </a:xfrm>
          <a:prstGeom prst="line">
            <a:avLst/>
          </a:prstGeom>
          <a:noFill/>
          <a:ln w="12700">
            <a:solidFill>
              <a:srgbClr val="0E8388"/>
            </a:solidFill>
            <a:prstDash val="solid"/>
          </a:ln>
        </p:spPr>
        <p:txBody>
          <a:bodyPr/>
          <a:p/>
        </p:txBody>
      </p:sp>
      <p:sp>
        <p:nvSpPr>
          <p:cNvPr id="21" name="Shape 18"/>
          <p:cNvSpPr/>
          <p:nvPr/>
        </p:nvSpPr>
        <p:spPr>
          <a:xfrm>
            <a:off x="8193070" y="2386630"/>
            <a:ext cx="182880" cy="182880"/>
          </a:xfrm>
          <a:prstGeom prst="ellipse">
            <a:avLst/>
          </a:prstGeom>
          <a:solidFill>
            <a:srgbClr val="0E8388"/>
          </a:solidFill>
          <a:ln w="6350">
            <a:solidFill>
              <a:srgbClr val="0E8388"/>
            </a:solidFill>
            <a:prstDash val="solid"/>
          </a:ln>
        </p:spPr>
        <p:txBody>
          <a:bodyPr/>
          <a:p/>
        </p:txBody>
      </p:sp>
      <p:sp>
        <p:nvSpPr>
          <p:cNvPr id="22" name="Text 19"/>
          <p:cNvSpPr/>
          <p:nvPr/>
        </p:nvSpPr>
        <p:spPr>
          <a:xfrm>
            <a:off x="7380712" y="1857736"/>
            <a:ext cx="1005840" cy="438912"/>
          </a:xfrm>
          <a:prstGeom prst="rect">
            <a:avLst/>
          </a:prstGeom>
          <a:noFill/>
          <a:ln/>
        </p:spPr>
        <p:txBody>
          <a:bodyPr wrap="square" lIns="0" tIns="0" rIns="0" bIns="0" rtlCol="0" anchor="ctr"/>
          <a:lstStyle/>
          <a:p>
            <a:pPr algn="ctr" indent="0" marL="0">
              <a:buNone/>
            </a:pPr>
            <a:r>
              <a:rPr lang="en-US" sz="1100" b="1" dirty="0">
                <a:solidFill>
                  <a:srgbClr val="0E8388"/>
                </a:solidFill>
                <a:latin typeface="Calibri" pitchFamily="34" charset="0"/>
                <a:ea typeface="Calibri" pitchFamily="34" charset="-122"/>
                <a:cs typeface="Calibri" pitchFamily="34" charset="-120"/>
              </a:rPr>
              <a:t>k=3</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-0.71-0.71j</a:t>
            </a:r>
            <a:endParaRPr lang="en-US" sz="1050" dirty="0"/>
          </a:p>
        </p:txBody>
      </p:sp>
      <p:sp>
        <p:nvSpPr>
          <p:cNvPr id="23" name="Shape 20"/>
          <p:cNvSpPr/>
          <p:nvPr/>
        </p:nvSpPr>
        <p:spPr>
          <a:xfrm>
            <a:off x="7909560" y="3383280"/>
            <a:ext cx="1280160" cy="0"/>
          </a:xfrm>
          <a:prstGeom prst="line">
            <a:avLst/>
          </a:prstGeom>
          <a:noFill/>
          <a:ln w="12700">
            <a:solidFill>
              <a:srgbClr val="D98324"/>
            </a:solidFill>
            <a:prstDash val="solid"/>
          </a:ln>
        </p:spPr>
        <p:txBody>
          <a:bodyPr/>
          <a:p/>
        </p:txBody>
      </p:sp>
      <p:sp>
        <p:nvSpPr>
          <p:cNvPr id="24" name="Shape 21"/>
          <p:cNvSpPr/>
          <p:nvPr/>
        </p:nvSpPr>
        <p:spPr>
          <a:xfrm>
            <a:off x="7818120" y="3291840"/>
            <a:ext cx="182880" cy="182880"/>
          </a:xfrm>
          <a:prstGeom prst="ellipse">
            <a:avLst/>
          </a:prstGeom>
          <a:solidFill>
            <a:srgbClr val="D98324"/>
          </a:solidFill>
          <a:ln w="6350">
            <a:solidFill>
              <a:srgbClr val="D98324"/>
            </a:solidFill>
            <a:prstDash val="solid"/>
          </a:ln>
        </p:spPr>
        <p:txBody>
          <a:bodyPr/>
          <a:p/>
        </p:txBody>
      </p:sp>
      <p:sp>
        <p:nvSpPr>
          <p:cNvPr id="25" name="Text 22"/>
          <p:cNvSpPr/>
          <p:nvPr/>
        </p:nvSpPr>
        <p:spPr>
          <a:xfrm>
            <a:off x="6839712" y="3163824"/>
            <a:ext cx="1005840" cy="438912"/>
          </a:xfrm>
          <a:prstGeom prst="rect">
            <a:avLst/>
          </a:prstGeom>
          <a:noFill/>
          <a:ln/>
        </p:spPr>
        <p:txBody>
          <a:bodyPr wrap="square" lIns="0" tIns="0" rIns="0" bIns="0" rtlCol="0" anchor="ctr"/>
          <a:lstStyle/>
          <a:p>
            <a:pPr algn="ctr" indent="0" marL="0">
              <a:buNone/>
            </a:pPr>
            <a:r>
              <a:rPr lang="en-US" sz="1100" b="1" dirty="0">
                <a:solidFill>
                  <a:srgbClr val="D98324"/>
                </a:solidFill>
                <a:latin typeface="Calibri" pitchFamily="34" charset="0"/>
                <a:ea typeface="Calibri" pitchFamily="34" charset="-122"/>
                <a:cs typeface="Calibri" pitchFamily="34" charset="-120"/>
              </a:rPr>
              <a:t>k=4</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-1</a:t>
            </a:r>
            <a:endParaRPr lang="en-US" sz="1050" dirty="0"/>
          </a:p>
        </p:txBody>
      </p:sp>
      <p:sp>
        <p:nvSpPr>
          <p:cNvPr id="26" name="Shape 23"/>
          <p:cNvSpPr/>
          <p:nvPr/>
        </p:nvSpPr>
        <p:spPr>
          <a:xfrm flipV="1">
            <a:off x="8284510" y="3383280"/>
            <a:ext cx="905210" cy="905210"/>
          </a:xfrm>
          <a:prstGeom prst="line">
            <a:avLst/>
          </a:prstGeom>
          <a:noFill/>
          <a:ln w="12700">
            <a:solidFill>
              <a:srgbClr val="0E8388"/>
            </a:solidFill>
            <a:prstDash val="solid"/>
          </a:ln>
        </p:spPr>
        <p:txBody>
          <a:bodyPr/>
          <a:p/>
        </p:txBody>
      </p:sp>
      <p:sp>
        <p:nvSpPr>
          <p:cNvPr id="27" name="Shape 24"/>
          <p:cNvSpPr/>
          <p:nvPr/>
        </p:nvSpPr>
        <p:spPr>
          <a:xfrm>
            <a:off x="8193070" y="4197050"/>
            <a:ext cx="182880" cy="182880"/>
          </a:xfrm>
          <a:prstGeom prst="ellipse">
            <a:avLst/>
          </a:prstGeom>
          <a:solidFill>
            <a:srgbClr val="0E8388"/>
          </a:solidFill>
          <a:ln w="6350">
            <a:solidFill>
              <a:srgbClr val="0E8388"/>
            </a:solidFill>
            <a:prstDash val="solid"/>
          </a:ln>
        </p:spPr>
        <p:txBody>
          <a:bodyPr/>
          <a:p/>
        </p:txBody>
      </p:sp>
      <p:sp>
        <p:nvSpPr>
          <p:cNvPr id="28" name="Text 25"/>
          <p:cNvSpPr/>
          <p:nvPr/>
        </p:nvSpPr>
        <p:spPr>
          <a:xfrm>
            <a:off x="7380712" y="4469912"/>
            <a:ext cx="1005840" cy="438912"/>
          </a:xfrm>
          <a:prstGeom prst="rect">
            <a:avLst/>
          </a:prstGeom>
          <a:noFill/>
          <a:ln/>
        </p:spPr>
        <p:txBody>
          <a:bodyPr wrap="square" lIns="0" tIns="0" rIns="0" bIns="0" rtlCol="0" anchor="ctr"/>
          <a:lstStyle/>
          <a:p>
            <a:pPr algn="ctr" indent="0" marL="0">
              <a:buNone/>
            </a:pPr>
            <a:r>
              <a:rPr lang="en-US" sz="1100" b="1" dirty="0">
                <a:solidFill>
                  <a:srgbClr val="0E8388"/>
                </a:solidFill>
                <a:latin typeface="Calibri" pitchFamily="34" charset="0"/>
                <a:ea typeface="Calibri" pitchFamily="34" charset="-122"/>
                <a:cs typeface="Calibri" pitchFamily="34" charset="-120"/>
              </a:rPr>
              <a:t>k=5</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-0.71+0.71j</a:t>
            </a:r>
            <a:endParaRPr lang="en-US" sz="1050" dirty="0"/>
          </a:p>
        </p:txBody>
      </p:sp>
      <p:sp>
        <p:nvSpPr>
          <p:cNvPr id="29" name="Shape 26"/>
          <p:cNvSpPr/>
          <p:nvPr/>
        </p:nvSpPr>
        <p:spPr>
          <a:xfrm>
            <a:off x="9189720" y="3383280"/>
            <a:ext cx="0" cy="1280160"/>
          </a:xfrm>
          <a:prstGeom prst="line">
            <a:avLst/>
          </a:prstGeom>
          <a:noFill/>
          <a:ln w="12700">
            <a:solidFill>
              <a:srgbClr val="D98324"/>
            </a:solidFill>
            <a:prstDash val="solid"/>
          </a:ln>
        </p:spPr>
        <p:txBody>
          <a:bodyPr/>
          <a:p/>
        </p:txBody>
      </p:sp>
      <p:sp>
        <p:nvSpPr>
          <p:cNvPr id="30" name="Shape 27"/>
          <p:cNvSpPr/>
          <p:nvPr/>
        </p:nvSpPr>
        <p:spPr>
          <a:xfrm>
            <a:off x="9098280" y="4572000"/>
            <a:ext cx="182880" cy="182880"/>
          </a:xfrm>
          <a:prstGeom prst="ellipse">
            <a:avLst/>
          </a:prstGeom>
          <a:solidFill>
            <a:srgbClr val="D98324"/>
          </a:solidFill>
          <a:ln w="6350">
            <a:solidFill>
              <a:srgbClr val="D98324"/>
            </a:solidFill>
            <a:prstDash val="solid"/>
          </a:ln>
        </p:spPr>
        <p:txBody>
          <a:bodyPr/>
          <a:p/>
        </p:txBody>
      </p:sp>
      <p:sp>
        <p:nvSpPr>
          <p:cNvPr id="31" name="Text 28"/>
          <p:cNvSpPr/>
          <p:nvPr/>
        </p:nvSpPr>
        <p:spPr>
          <a:xfrm>
            <a:off x="8686800" y="5010912"/>
            <a:ext cx="1005840" cy="438912"/>
          </a:xfrm>
          <a:prstGeom prst="rect">
            <a:avLst/>
          </a:prstGeom>
          <a:noFill/>
          <a:ln/>
        </p:spPr>
        <p:txBody>
          <a:bodyPr wrap="square" lIns="0" tIns="0" rIns="0" bIns="0" rtlCol="0" anchor="ctr"/>
          <a:lstStyle/>
          <a:p>
            <a:pPr algn="ctr" indent="0" marL="0">
              <a:buNone/>
            </a:pPr>
            <a:r>
              <a:rPr lang="en-US" sz="1100" b="1" dirty="0">
                <a:solidFill>
                  <a:srgbClr val="D98324"/>
                </a:solidFill>
                <a:latin typeface="Calibri" pitchFamily="34" charset="0"/>
                <a:ea typeface="Calibri" pitchFamily="34" charset="-122"/>
                <a:cs typeface="Calibri" pitchFamily="34" charset="-120"/>
              </a:rPr>
              <a:t>k=6</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j</a:t>
            </a:r>
            <a:endParaRPr lang="en-US" sz="1050" dirty="0"/>
          </a:p>
        </p:txBody>
      </p:sp>
      <p:sp>
        <p:nvSpPr>
          <p:cNvPr id="32" name="Shape 29"/>
          <p:cNvSpPr/>
          <p:nvPr/>
        </p:nvSpPr>
        <p:spPr>
          <a:xfrm>
            <a:off x="9189720" y="3383280"/>
            <a:ext cx="905210" cy="905210"/>
          </a:xfrm>
          <a:prstGeom prst="line">
            <a:avLst/>
          </a:prstGeom>
          <a:noFill/>
          <a:ln w="12700">
            <a:solidFill>
              <a:srgbClr val="0E8388"/>
            </a:solidFill>
            <a:prstDash val="solid"/>
          </a:ln>
        </p:spPr>
        <p:txBody>
          <a:bodyPr/>
          <a:p/>
        </p:txBody>
      </p:sp>
      <p:sp>
        <p:nvSpPr>
          <p:cNvPr id="33" name="Shape 30"/>
          <p:cNvSpPr/>
          <p:nvPr/>
        </p:nvSpPr>
        <p:spPr>
          <a:xfrm>
            <a:off x="10003490" y="4197050"/>
            <a:ext cx="182880" cy="182880"/>
          </a:xfrm>
          <a:prstGeom prst="ellipse">
            <a:avLst/>
          </a:prstGeom>
          <a:solidFill>
            <a:srgbClr val="0E8388"/>
          </a:solidFill>
          <a:ln w="6350">
            <a:solidFill>
              <a:srgbClr val="0E8388"/>
            </a:solidFill>
            <a:prstDash val="solid"/>
          </a:ln>
        </p:spPr>
        <p:txBody>
          <a:bodyPr/>
          <a:p/>
        </p:txBody>
      </p:sp>
      <p:sp>
        <p:nvSpPr>
          <p:cNvPr id="34" name="Text 31"/>
          <p:cNvSpPr/>
          <p:nvPr/>
        </p:nvSpPr>
        <p:spPr>
          <a:xfrm>
            <a:off x="9992888" y="4469912"/>
            <a:ext cx="1005840" cy="438912"/>
          </a:xfrm>
          <a:prstGeom prst="rect">
            <a:avLst/>
          </a:prstGeom>
          <a:noFill/>
          <a:ln/>
        </p:spPr>
        <p:txBody>
          <a:bodyPr wrap="square" lIns="0" tIns="0" rIns="0" bIns="0" rtlCol="0" anchor="ctr"/>
          <a:lstStyle/>
          <a:p>
            <a:pPr algn="ctr" indent="0" marL="0">
              <a:buNone/>
            </a:pPr>
            <a:r>
              <a:rPr lang="en-US" sz="1100" b="1" dirty="0">
                <a:solidFill>
                  <a:srgbClr val="0E8388"/>
                </a:solidFill>
                <a:latin typeface="Calibri" pitchFamily="34" charset="0"/>
                <a:ea typeface="Calibri" pitchFamily="34" charset="-122"/>
                <a:cs typeface="Calibri" pitchFamily="34" charset="-120"/>
              </a:rPr>
              <a:t>k=7</a:t>
            </a:r>
            <a:endParaRPr lang="en-US" sz="1050" dirty="0"/>
          </a:p>
          <a:p>
            <a:pPr algn="ctr" indent="0" marL="0">
              <a:buNone/>
            </a:pPr>
            <a:r>
              <a:rPr lang="en-US" sz="850" dirty="0">
                <a:solidFill>
                  <a:srgbClr val="5C6B7A"/>
                </a:solidFill>
                <a:latin typeface="Calibri" pitchFamily="34" charset="0"/>
                <a:ea typeface="Calibri" pitchFamily="34" charset="-122"/>
                <a:cs typeface="Calibri" pitchFamily="34" charset="-120"/>
              </a:rPr>
              <a:t>0.71+0.71j</a:t>
            </a:r>
            <a:endParaRPr lang="en-US" sz="1050" dirty="0"/>
          </a:p>
        </p:txBody>
      </p:sp>
      <p:sp>
        <p:nvSpPr>
          <p:cNvPr id="35" name="Shape 32"/>
          <p:cNvSpPr/>
          <p:nvPr/>
        </p:nvSpPr>
        <p:spPr>
          <a:xfrm>
            <a:off x="9153144" y="3346704"/>
            <a:ext cx="73152" cy="73152"/>
          </a:xfrm>
          <a:prstGeom prst="ellipse">
            <a:avLst/>
          </a:prstGeom>
          <a:solidFill>
            <a:srgbClr val="132A4A"/>
          </a:solidFill>
          <a:ln w="6350">
            <a:solidFill>
              <a:srgbClr val="132A4A"/>
            </a:solidFill>
            <a:prstDash val="solid"/>
          </a:ln>
        </p:spPr>
        <p:txBody>
          <a:bodyPr/>
          <a:p/>
        </p:txBody>
      </p:sp>
      <p:sp>
        <p:nvSpPr>
          <p:cNvPr id="36" name="Shape 33"/>
          <p:cNvSpPr/>
          <p:nvPr/>
        </p:nvSpPr>
        <p:spPr>
          <a:xfrm>
            <a:off x="6967728" y="5687568"/>
            <a:ext cx="146304" cy="146304"/>
          </a:xfrm>
          <a:prstGeom prst="ellipse">
            <a:avLst/>
          </a:prstGeom>
          <a:solidFill>
            <a:srgbClr val="D98324"/>
          </a:solidFill>
          <a:ln w="6350">
            <a:solidFill>
              <a:srgbClr val="D98324"/>
            </a:solidFill>
            <a:prstDash val="solid"/>
          </a:ln>
        </p:spPr>
        <p:txBody>
          <a:bodyPr/>
          <a:p/>
        </p:txBody>
      </p:sp>
      <p:sp>
        <p:nvSpPr>
          <p:cNvPr id="37" name="Text 34"/>
          <p:cNvSpPr/>
          <p:nvPr/>
        </p:nvSpPr>
        <p:spPr>
          <a:xfrm>
            <a:off x="7178040" y="5641848"/>
            <a:ext cx="2377440" cy="237744"/>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trivial: 1, -1, j, -j (no multiplier)</a:t>
            </a:r>
            <a:endParaRPr lang="en-US" sz="950" dirty="0"/>
          </a:p>
        </p:txBody>
      </p:sp>
      <p:sp>
        <p:nvSpPr>
          <p:cNvPr id="38" name="Shape 35"/>
          <p:cNvSpPr/>
          <p:nvPr/>
        </p:nvSpPr>
        <p:spPr>
          <a:xfrm>
            <a:off x="9619488" y="5687568"/>
            <a:ext cx="146304" cy="146304"/>
          </a:xfrm>
          <a:prstGeom prst="ellipse">
            <a:avLst/>
          </a:prstGeom>
          <a:solidFill>
            <a:srgbClr val="0E8388"/>
          </a:solidFill>
          <a:ln w="6350">
            <a:solidFill>
              <a:srgbClr val="0E8388"/>
            </a:solidFill>
            <a:prstDash val="solid"/>
          </a:ln>
        </p:spPr>
        <p:txBody>
          <a:bodyPr/>
          <a:p/>
        </p:txBody>
      </p:sp>
      <p:sp>
        <p:nvSpPr>
          <p:cNvPr id="39" name="Text 36"/>
          <p:cNvSpPr/>
          <p:nvPr/>
        </p:nvSpPr>
        <p:spPr>
          <a:xfrm>
            <a:off x="9829800" y="5641848"/>
            <a:ext cx="1737360" cy="237744"/>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general complex multiply</a:t>
            </a:r>
            <a:endParaRPr lang="en-US" sz="950" dirty="0"/>
          </a:p>
        </p:txBody>
      </p:sp>
      <p:sp>
        <p:nvSpPr>
          <p:cNvPr id="40" name="Text 37"/>
          <p:cNvSpPr/>
          <p:nvPr/>
        </p:nvSpPr>
        <p:spPr>
          <a:xfrm>
            <a:off x="502920" y="5623560"/>
            <a:ext cx="5943600" cy="73152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Four of the eight values (k = 0, 2, 4, 6) are trivial: multiplying by them needs only a sign flip and/or a swap, no real multiplier. This matters directly for the hardware operation count.</a:t>
            </a:r>
            <a:endParaRPr lang="en-US" sz="1210" dirty="0"/>
          </a:p>
        </p:txBody>
      </p:sp>
      <p:sp>
        <p:nvSpPr>
          <p:cNvPr id="41" name="Shape 38"/>
          <p:cNvSpPr/>
          <p:nvPr/>
        </p:nvSpPr>
        <p:spPr>
          <a:xfrm>
            <a:off x="502920" y="6473952"/>
            <a:ext cx="11155680" cy="27432"/>
          </a:xfrm>
          <a:prstGeom prst="rect">
            <a:avLst/>
          </a:prstGeom>
          <a:solidFill>
            <a:srgbClr val="D7DEE8"/>
          </a:solidFill>
          <a:ln/>
        </p:spPr>
        <p:txBody>
          <a:bodyPr/>
          <a:p/>
        </p:txBody>
      </p:sp>
      <p:sp>
        <p:nvSpPr>
          <p:cNvPr id="42" name="Shape 39"/>
          <p:cNvSpPr/>
          <p:nvPr/>
        </p:nvSpPr>
        <p:spPr>
          <a:xfrm>
            <a:off x="502920" y="6473952"/>
            <a:ext cx="4515394" cy="27432"/>
          </a:xfrm>
          <a:prstGeom prst="rect">
            <a:avLst/>
          </a:prstGeom>
          <a:solidFill>
            <a:srgbClr val="0E8388"/>
          </a:solidFill>
          <a:ln/>
        </p:spPr>
        <p:txBody>
          <a:bodyPr/>
          <a:p/>
        </p:txBody>
      </p:sp>
      <p:sp>
        <p:nvSpPr>
          <p:cNvPr id="43" name="Text 4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4" name="Text 4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The 8-Point FFT (DIT): Three Stages</a:t>
            </a:r>
            <a:endParaRPr lang="en-US" sz="2600" dirty="0"/>
          </a:p>
        </p:txBody>
      </p:sp>
      <p:sp>
        <p:nvSpPr>
          <p:cNvPr id="4" name="Shape 2"/>
          <p:cNvSpPr/>
          <p:nvPr/>
        </p:nvSpPr>
        <p:spPr>
          <a:xfrm>
            <a:off x="502920" y="1234440"/>
            <a:ext cx="5120640" cy="640080"/>
          </a:xfrm>
          <a:prstGeom prst="roundRect">
            <a:avLst>
              <a:gd name="adj" fmla="val 8571"/>
            </a:avLst>
          </a:prstGeom>
          <a:solidFill>
            <a:srgbClr val="132A4A"/>
          </a:solidFill>
          <a:ln w="12700">
            <a:solidFill>
              <a:srgbClr val="132A4A"/>
            </a:solidFill>
            <a:prstDash val="solid"/>
          </a:ln>
        </p:spPr>
        <p:txBody>
          <a:bodyPr/>
          <a:p/>
        </p:txBody>
      </p:sp>
      <p:sp>
        <p:nvSpPr>
          <p:cNvPr id="5" name="Text 3"/>
          <p:cNvSpPr/>
          <p:nvPr/>
        </p:nvSpPr>
        <p:spPr>
          <a:xfrm>
            <a:off x="502920" y="1234440"/>
            <a:ext cx="512064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Stages = log</a:t>
            </a:r>
            <a:pPr algn="ctr" indent="0" marL="0">
              <a:buNone/>
            </a:pPr>
            <a:r>
              <a:rPr lang="en-US" sz="1800" b="1" baseline="-40000" dirty="0">
                <a:solidFill>
                  <a:srgbClr val="FFFFFF"/>
                </a:solidFill>
                <a:latin typeface="Cambria" pitchFamily="34" charset="0"/>
                <a:ea typeface="Cambria" pitchFamily="34" charset="-122"/>
                <a:cs typeface="Cambria" pitchFamily="34" charset="-120"/>
              </a:rPr>
              <a:t>2</a:t>
            </a:r>
            <a:pPr algn="ctr" indent="0" marL="0">
              <a:buNone/>
            </a:pPr>
            <a:r>
              <a:rPr lang="en-US" sz="1800" b="1" dirty="0">
                <a:solidFill>
                  <a:srgbClr val="FFFFFF"/>
                </a:solidFill>
                <a:latin typeface="Cambria" pitchFamily="34" charset="0"/>
                <a:ea typeface="Cambria" pitchFamily="34" charset="-122"/>
                <a:cs typeface="Cambria" pitchFamily="34" charset="-120"/>
              </a:rPr>
              <a:t>(8) = 3</a:t>
            </a:r>
            <a:endParaRPr lang="en-US" sz="1800" dirty="0"/>
          </a:p>
        </p:txBody>
      </p:sp>
      <p:sp>
        <p:nvSpPr>
          <p:cNvPr id="6" name="Text 4"/>
          <p:cNvSpPr/>
          <p:nvPr/>
        </p:nvSpPr>
        <p:spPr>
          <a:xfrm>
            <a:off x="502920" y="2057400"/>
            <a:ext cx="5120640" cy="11887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Each stage corresponds to one level of the recursive decomposition tree, read bottom-up: combine 1-point results into 2-point, 2-point into 4-point, 4-point into the final 8-point result.</a:t>
            </a:r>
            <a:endParaRPr lang="en-US" sz="1408" dirty="0"/>
          </a:p>
        </p:txBody>
      </p:sp>
      <p:sp>
        <p:nvSpPr>
          <p:cNvPr id="7" name="Shape 5"/>
          <p:cNvSpPr/>
          <p:nvPr/>
        </p:nvSpPr>
        <p:spPr>
          <a:xfrm>
            <a:off x="502920" y="3337560"/>
            <a:ext cx="5120640" cy="1371600"/>
          </a:xfrm>
          <a:prstGeom prst="roundRect">
            <a:avLst>
              <a:gd name="adj" fmla="val 4000"/>
            </a:avLst>
          </a:prstGeom>
          <a:solidFill>
            <a:srgbClr val="E4F3F2"/>
          </a:solidFill>
          <a:ln w="12700">
            <a:solidFill>
              <a:srgbClr val="9FD4D1"/>
            </a:solidFill>
            <a:prstDash val="solid"/>
          </a:ln>
        </p:spPr>
        <p:txBody>
          <a:bodyPr/>
          <a:p/>
        </p:txBody>
      </p:sp>
      <p:sp>
        <p:nvSpPr>
          <p:cNvPr id="8" name="Text 6"/>
          <p:cNvSpPr/>
          <p:nvPr/>
        </p:nvSpPr>
        <p:spPr>
          <a:xfrm>
            <a:off x="685800" y="3456432"/>
            <a:ext cx="4754880" cy="114300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Every stage has exactly N/2 = 4 butterflies, since each butterfly consumes 2 inputs and produces 2 outputs and every stage processes all 8 data points once.</a:t>
            </a:r>
            <a:endParaRPr lang="en-US" sz="1375" dirty="0"/>
          </a:p>
          <a:p>
            <a:pPr algn="l" indent="0" marL="0">
              <a:lnSpc>
                <a:spcPct val="118000"/>
              </a:lnSpc>
              <a:buNone/>
            </a:pPr>
            <a:endParaRPr lang="en-US" sz="1375"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(N/2) x log₂N = 4 x 3 = 12 butterflies total.</a:t>
            </a:r>
            <a:endParaRPr lang="en-US" sz="1375"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46520" y="1234440"/>
          <a:ext cx="4937760" cy="1170432"/>
        </p:xfrm>
        <a:graphic>
          <a:graphicData uri="http://schemas.openxmlformats.org/drawingml/2006/table">
            <a:tbl>
              <a:tblPr/>
              <a:tblGrid>
                <a:gridCol w="548640"/>
                <a:gridCol w="1371600"/>
                <a:gridCol w="731520"/>
                <a:gridCol w="1554480"/>
                <a:gridCol w="7315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Combines</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Twiddles used</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Count</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1-pt → 2-pt</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W₂⁰ = 1 (trivial)</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2-pt → 4-pt</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W₄⁰, W₄¹</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4-pt → 8-pt</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N=8</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W₈⁰..W₈³</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6473952"/>
            <a:ext cx="11155680" cy="27432"/>
          </a:xfrm>
          <a:prstGeom prst="rect">
            <a:avLst/>
          </a:prstGeom>
          <a:solidFill>
            <a:srgbClr val="D7DEE8"/>
          </a:solidFill>
          <a:ln/>
        </p:spPr>
        <p:txBody>
          <a:bodyPr/>
          <a:p/>
        </p:txBody>
      </p:sp>
      <p:sp>
        <p:nvSpPr>
          <p:cNvPr id="11" name="Shape 8"/>
          <p:cNvSpPr/>
          <p:nvPr/>
        </p:nvSpPr>
        <p:spPr>
          <a:xfrm>
            <a:off x="502920" y="6473952"/>
            <a:ext cx="4781006" cy="27432"/>
          </a:xfrm>
          <a:prstGeom prst="rect">
            <a:avLst/>
          </a:prstGeom>
          <a:solidFill>
            <a:srgbClr val="0E8388"/>
          </a:solidFill>
          <a:ln/>
        </p:spPr>
        <p:txBody>
          <a:bodyPr/>
          <a:p/>
        </p:txBody>
      </p:sp>
      <p:sp>
        <p:nvSpPr>
          <p:cNvPr id="12" name="Text 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3" name="Text 1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Stage 1 &amp; Stage 2: Building Up the Result</a:t>
            </a:r>
            <a:endParaRPr lang="en-US" sz="2600" dirty="0"/>
          </a:p>
        </p:txBody>
      </p:sp>
      <p:sp>
        <p:nvSpPr>
          <p:cNvPr id="4" name="Text 2"/>
          <p:cNvSpPr/>
          <p:nvPr/>
        </p:nvSpPr>
        <p:spPr>
          <a:xfrm>
            <a:off x="502920" y="118872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STAGE 1 · FOUR TRIVIAL 2-POINT BUTTERFLIES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212080" cy="1463040"/>
        </p:xfrm>
        <a:graphic>
          <a:graphicData uri="http://schemas.openxmlformats.org/drawingml/2006/table">
            <a:tbl>
              <a:tblPr/>
              <a:tblGrid>
                <a:gridCol w="1042416"/>
                <a:gridCol w="1042416"/>
                <a:gridCol w="1042416"/>
                <a:gridCol w="1042416"/>
                <a:gridCol w="1042416"/>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BFly</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Inputs</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Twiddle</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x0,x4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W₂⁰=1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x0+x4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x0-x4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x2,x6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W₂⁰=1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x2+x6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x2-x6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x1,x5</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W₂⁰=1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x1+x5</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x1-x5</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x3,x7</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W₂⁰=1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x3+x7</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x3-x7</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6" name="Text 3"/>
          <p:cNvSpPr/>
          <p:nvPr/>
        </p:nvSpPr>
        <p:spPr>
          <a:xfrm>
            <a:off x="502920" y="3063240"/>
            <a:ext cx="5212080" cy="50292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Every Stage-1 twiddle is trivial (W₂⁰=1): only additions and subtractions, no genuine multiply. Each butterfly writes back in place.</a:t>
            </a:r>
            <a:endParaRPr lang="en-US" sz="1210" dirty="0"/>
          </a:p>
        </p:txBody>
      </p:sp>
      <p:sp>
        <p:nvSpPr>
          <p:cNvPr id="7" name="Text 4"/>
          <p:cNvSpPr/>
          <p:nvPr/>
        </p:nvSpPr>
        <p:spPr>
          <a:xfrm>
            <a:off x="6446520" y="118872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STAGE 2 · COMBINE INTO FOUR-POINT RESULTS</a:t>
            </a:r>
            <a:endParaRPr lang="en-US" sz="12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446520" y="1481328"/>
          <a:ext cx="4937760" cy="1463040"/>
        </p:xfrm>
        <a:graphic>
          <a:graphicData uri="http://schemas.openxmlformats.org/drawingml/2006/table">
            <a:tbl>
              <a:tblPr/>
              <a:tblGrid>
                <a:gridCol w="457200"/>
                <a:gridCol w="365760"/>
                <a:gridCol w="1737360"/>
                <a:gridCol w="914400"/>
                <a:gridCol w="14630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Grp</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Inputs</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Twiddle</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Outputs</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A</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(x0+x4),(x2+x6)</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W₄⁰=1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sum, diff</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A</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(x0-x4),(x2-x6)</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W₄¹=-j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sum, diff (rotated)</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(x1+x5),(x3+x7)</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W₄⁰=1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sum, diff</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(x1-x5),(x3-x7)</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W₄¹=-j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sum, diff (rotated)</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9" name="Text 5"/>
          <p:cNvSpPr/>
          <p:nvPr/>
        </p:nvSpPr>
        <p:spPr>
          <a:xfrm>
            <a:off x="6446520" y="3063240"/>
            <a:ext cx="4937760" cy="82296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Group A produces E[0..3] (even samples), Group B produces O[0..3] (odd samples). W₄¹=-j is trivial: it swaps real/imaginary parts and flips a sign, no true multiplier needed.</a:t>
            </a:r>
            <a:endParaRPr lang="en-US" sz="1210" dirty="0"/>
          </a:p>
        </p:txBody>
      </p:sp>
      <p:sp>
        <p:nvSpPr>
          <p:cNvPr id="10" name="Shape 6"/>
          <p:cNvSpPr/>
          <p:nvPr/>
        </p:nvSpPr>
        <p:spPr>
          <a:xfrm>
            <a:off x="502920" y="3794760"/>
            <a:ext cx="11155680" cy="1280160"/>
          </a:xfrm>
          <a:prstGeom prst="roundRect">
            <a:avLst>
              <a:gd name="adj" fmla="val 4286"/>
            </a:avLst>
          </a:prstGeom>
          <a:solidFill>
            <a:srgbClr val="EAF1FB"/>
          </a:solidFill>
          <a:ln w="12700">
            <a:solidFill>
              <a:srgbClr val="D7DEE8"/>
            </a:solidFill>
            <a:prstDash val="solid"/>
          </a:ln>
        </p:spPr>
        <p:txBody>
          <a:bodyPr/>
          <a:p/>
        </p:txBody>
      </p:sp>
      <p:sp>
        <p:nvSpPr>
          <p:cNvPr id="11" name="Text 7"/>
          <p:cNvSpPr/>
          <p:nvPr/>
        </p:nvSpPr>
        <p:spPr>
          <a:xfrm>
            <a:off x="685800" y="3931920"/>
            <a:ext cx="10789920" cy="10058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Butterflies per stage: 4 (= N/2) in both Stage 1 and Stage 2. Stage 1 works on bit-reversed input pairs; Stage 2 combines the four 2-point results into two 4-point DFTs, E[k] and O[k], ready for the final combination in Stage 3.</a:t>
            </a:r>
            <a:endParaRPr lang="en-US" sz="1353" dirty="0"/>
          </a:p>
        </p:txBody>
      </p:sp>
      <p:sp>
        <p:nvSpPr>
          <p:cNvPr id="12" name="Shape 8"/>
          <p:cNvSpPr/>
          <p:nvPr/>
        </p:nvSpPr>
        <p:spPr>
          <a:xfrm>
            <a:off x="502920" y="6473952"/>
            <a:ext cx="11155680" cy="27432"/>
          </a:xfrm>
          <a:prstGeom prst="rect">
            <a:avLst/>
          </a:prstGeom>
          <a:solidFill>
            <a:srgbClr val="D7DEE8"/>
          </a:solidFill>
          <a:ln/>
        </p:spPr>
        <p:txBody>
          <a:bodyPr/>
          <a:p/>
        </p:txBody>
      </p:sp>
      <p:sp>
        <p:nvSpPr>
          <p:cNvPr id="13" name="Shape 9"/>
          <p:cNvSpPr/>
          <p:nvPr/>
        </p:nvSpPr>
        <p:spPr>
          <a:xfrm>
            <a:off x="502920" y="6473952"/>
            <a:ext cx="5046617" cy="27432"/>
          </a:xfrm>
          <a:prstGeom prst="rect">
            <a:avLst/>
          </a:prstGeom>
          <a:solidFill>
            <a:srgbClr val="0E8388"/>
          </a:solidFill>
          <a:ln/>
        </p:spPr>
        <p:txBody>
          <a:bodyPr/>
          <a:p/>
        </p:txBody>
      </p:sp>
      <p:sp>
        <p:nvSpPr>
          <p:cNvPr id="14" name="Text 1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5" name="Text 1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Stage 3: Final Combination Into X[k]</a:t>
            </a:r>
            <a:endParaRPr lang="en-US" sz="2600" dirty="0"/>
          </a:p>
        </p:txBody>
      </p:sp>
      <p:sp>
        <p:nvSpPr>
          <p:cNvPr id="4" name="Text 2"/>
          <p:cNvSpPr/>
          <p:nvPr/>
        </p:nvSpPr>
        <p:spPr>
          <a:xfrm>
            <a:off x="502920" y="1188720"/>
            <a:ext cx="11155680" cy="5029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Inputs: the two 4-point results, E[k] (Group A) and O[k] (Group B), combined with the full set of 8-point twiddle factors.</a:t>
            </a:r>
            <a:endParaRPr lang="en-US" sz="143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55680" cy="1463040"/>
        </p:xfrm>
        <a:graphic>
          <a:graphicData uri="http://schemas.openxmlformats.org/drawingml/2006/table">
            <a:tbl>
              <a:tblPr/>
              <a:tblGrid>
                <a:gridCol w="640080"/>
                <a:gridCol w="1280160"/>
                <a:gridCol w="1280160"/>
                <a:gridCol w="2468880"/>
                <a:gridCol w="2743200"/>
                <a:gridCol w="27432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Twiddle W₈ᵏ</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X[k]=E[k]+W₈ᵏO[k]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X[k+4]=E[k]-W₈ᵏO[k]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E[0]</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O[0]</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X[4]</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E[1]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0.7071-j0.7071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X[5]</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E[2]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X[6]</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E[3]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O[3]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-0.7071-j0.7071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X[7]</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6" name="Shape 3"/>
          <p:cNvSpPr/>
          <p:nvPr/>
        </p:nvSpPr>
        <p:spPr>
          <a:xfrm>
            <a:off x="502920" y="3794760"/>
            <a:ext cx="11155680" cy="1371600"/>
          </a:xfrm>
          <a:prstGeom prst="roundRect">
            <a:avLst>
              <a:gd name="adj" fmla="val 4000"/>
            </a:avLst>
          </a:prstGeom>
          <a:solidFill>
            <a:srgbClr val="EAF1FB"/>
          </a:solidFill>
          <a:ln w="12700">
            <a:solidFill>
              <a:srgbClr val="D7DEE8"/>
            </a:solidFill>
            <a:prstDash val="solid"/>
          </a:ln>
        </p:spPr>
        <p:txBody>
          <a:bodyPr/>
          <a:p/>
        </p:txBody>
      </p:sp>
      <p:sp>
        <p:nvSpPr>
          <p:cNvPr id="7" name="Text 4"/>
          <p:cNvSpPr/>
          <p:nvPr/>
        </p:nvSpPr>
        <p:spPr>
          <a:xfrm>
            <a:off x="685800" y="3931920"/>
            <a:ext cx="10789920" cy="109728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This is exactly the equation pair from Section 2, evaluated four times. Only k=1 and k=3 need a genuine complex multiplication (by W₈¹ and W₈³); k=0 and k=2 use trivial twiddle factors (1 and -j). After this stage the outputs X[0]..X[7] are already in natural order, no permutation needed for DIT.</a:t>
            </a:r>
            <a:endParaRPr lang="en-US" sz="1430" dirty="0"/>
          </a:p>
        </p:txBody>
      </p:sp>
      <p:sp>
        <p:nvSpPr>
          <p:cNvPr id="8" name="Shape 5"/>
          <p:cNvSpPr/>
          <p:nvPr/>
        </p:nvSpPr>
        <p:spPr>
          <a:xfrm>
            <a:off x="502920" y="6473952"/>
            <a:ext cx="11155680" cy="27432"/>
          </a:xfrm>
          <a:prstGeom prst="rect">
            <a:avLst/>
          </a:prstGeom>
          <a:solidFill>
            <a:srgbClr val="D7DEE8"/>
          </a:solidFill>
          <a:ln/>
        </p:spPr>
        <p:txBody>
          <a:bodyPr/>
          <a:p/>
        </p:txBody>
      </p:sp>
      <p:sp>
        <p:nvSpPr>
          <p:cNvPr id="9" name="Shape 6"/>
          <p:cNvSpPr/>
          <p:nvPr/>
        </p:nvSpPr>
        <p:spPr>
          <a:xfrm>
            <a:off x="502920" y="6473952"/>
            <a:ext cx="5312229" cy="27432"/>
          </a:xfrm>
          <a:prstGeom prst="rect">
            <a:avLst/>
          </a:prstGeom>
          <a:solidFill>
            <a:srgbClr val="0E8388"/>
          </a:solidFill>
          <a:ln/>
        </p:spPr>
        <p:txBody>
          <a:bodyPr/>
          <a:p/>
        </p:txBody>
      </p:sp>
      <p:sp>
        <p:nvSpPr>
          <p:cNvPr id="10" name="Text 7"/>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1" name="Text 8"/>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Complete Flow Graph (DIT)</a:t>
            </a:r>
            <a:endParaRPr lang="en-US" sz="2600" dirty="0"/>
          </a:p>
        </p:txBody>
      </p:sp>
      <p:sp>
        <p:nvSpPr>
          <p:cNvPr id="4" name="Text 2"/>
          <p:cNvSpPr/>
          <p:nvPr/>
        </p:nvSpPr>
        <p:spPr>
          <a:xfrm>
            <a:off x="502920" y="1298448"/>
            <a:ext cx="1371600" cy="274320"/>
          </a:xfrm>
          <a:prstGeom prst="rect">
            <a:avLst/>
          </a:prstGeom>
          <a:noFill/>
          <a:ln/>
        </p:spPr>
        <p:txBody>
          <a:bodyPr wrap="square" lIns="0" tIns="0" rIns="0" bIns="0" rtlCol="0" anchor="ctr"/>
          <a:lstStyle/>
          <a:p>
            <a:pPr algn="l" indent="0" marL="0">
              <a:buNone/>
            </a:pPr>
            <a:r>
              <a:rPr lang="en-US" sz="1100" b="1" dirty="0">
                <a:solidFill>
                  <a:srgbClr val="5C6B7A"/>
                </a:solidFill>
                <a:latin typeface="Calibri" pitchFamily="34" charset="0"/>
                <a:ea typeface="Calibri" pitchFamily="34" charset="-122"/>
                <a:cs typeface="Calibri" pitchFamily="34" charset="-120"/>
              </a:rPr>
              <a:t>Bit-reversed input</a:t>
            </a:r>
            <a:endParaRPr lang="en-US" sz="1000" dirty="0"/>
          </a:p>
        </p:txBody>
      </p:sp>
      <p:sp>
        <p:nvSpPr>
          <p:cNvPr id="5" name="Text 3"/>
          <p:cNvSpPr/>
          <p:nvPr/>
        </p:nvSpPr>
        <p:spPr>
          <a:xfrm>
            <a:off x="226314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1</a:t>
            </a:r>
            <a:endParaRPr lang="en-US" sz="1300" dirty="0"/>
          </a:p>
        </p:txBody>
      </p:sp>
      <p:sp>
        <p:nvSpPr>
          <p:cNvPr id="6" name="Text 4"/>
          <p:cNvSpPr/>
          <p:nvPr/>
        </p:nvSpPr>
        <p:spPr>
          <a:xfrm>
            <a:off x="486918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2</a:t>
            </a:r>
            <a:endParaRPr lang="en-US" sz="1300" dirty="0"/>
          </a:p>
        </p:txBody>
      </p:sp>
      <p:sp>
        <p:nvSpPr>
          <p:cNvPr id="7" name="Text 5"/>
          <p:cNvSpPr/>
          <p:nvPr/>
        </p:nvSpPr>
        <p:spPr>
          <a:xfrm>
            <a:off x="747522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3</a:t>
            </a:r>
            <a:endParaRPr lang="en-US" sz="1300" dirty="0"/>
          </a:p>
        </p:txBody>
      </p:sp>
      <p:sp>
        <p:nvSpPr>
          <p:cNvPr id="8" name="Text 6"/>
          <p:cNvSpPr/>
          <p:nvPr/>
        </p:nvSpPr>
        <p:spPr>
          <a:xfrm>
            <a:off x="9921240" y="1298448"/>
            <a:ext cx="1920240" cy="274320"/>
          </a:xfrm>
          <a:prstGeom prst="rect">
            <a:avLst/>
          </a:prstGeom>
          <a:noFill/>
          <a:ln/>
        </p:spPr>
        <p:txBody>
          <a:bodyPr wrap="square" lIns="0" tIns="0" rIns="0" bIns="0" rtlCol="0" anchor="ctr"/>
          <a:lstStyle/>
          <a:p>
            <a:pPr algn="l" indent="0" marL="0">
              <a:buNone/>
            </a:pPr>
            <a:r>
              <a:rPr lang="en-US" sz="1100" b="1" dirty="0">
                <a:solidFill>
                  <a:srgbClr val="5C6B7A"/>
                </a:solidFill>
                <a:latin typeface="Calibri" pitchFamily="34" charset="0"/>
                <a:ea typeface="Calibri" pitchFamily="34" charset="-122"/>
                <a:cs typeface="Calibri" pitchFamily="34" charset="-120"/>
              </a:rPr>
              <a:t>Output (natural order)</a:t>
            </a:r>
            <a:endParaRPr lang="en-US" sz="1000" dirty="0"/>
          </a:p>
        </p:txBody>
      </p:sp>
      <p:sp>
        <p:nvSpPr>
          <p:cNvPr id="9" name="Shape 7"/>
          <p:cNvSpPr/>
          <p:nvPr/>
        </p:nvSpPr>
        <p:spPr>
          <a:xfrm>
            <a:off x="1874520" y="1828800"/>
            <a:ext cx="964692" cy="205740"/>
          </a:xfrm>
          <a:prstGeom prst="line">
            <a:avLst/>
          </a:prstGeom>
          <a:noFill/>
          <a:ln w="19050">
            <a:solidFill>
              <a:srgbClr val="9FB0C8"/>
            </a:solidFill>
            <a:prstDash val="solid"/>
          </a:ln>
        </p:spPr>
        <p:txBody>
          <a:bodyPr/>
          <a:p/>
        </p:txBody>
      </p:sp>
      <p:sp>
        <p:nvSpPr>
          <p:cNvPr id="10" name="Shape 8"/>
          <p:cNvSpPr/>
          <p:nvPr/>
        </p:nvSpPr>
        <p:spPr>
          <a:xfrm flipV="1">
            <a:off x="1874520" y="2171700"/>
            <a:ext cx="964692" cy="205740"/>
          </a:xfrm>
          <a:prstGeom prst="line">
            <a:avLst/>
          </a:prstGeom>
          <a:noFill/>
          <a:ln w="19050">
            <a:solidFill>
              <a:srgbClr val="9FB0C8"/>
            </a:solidFill>
            <a:prstDash val="solid"/>
          </a:ln>
        </p:spPr>
        <p:txBody>
          <a:bodyPr/>
          <a:p/>
        </p:txBody>
      </p:sp>
      <p:sp>
        <p:nvSpPr>
          <p:cNvPr id="11" name="Shape 9"/>
          <p:cNvSpPr/>
          <p:nvPr/>
        </p:nvSpPr>
        <p:spPr>
          <a:xfrm flipV="1">
            <a:off x="3515868" y="1828800"/>
            <a:ext cx="964692" cy="205740"/>
          </a:xfrm>
          <a:prstGeom prst="line">
            <a:avLst/>
          </a:prstGeom>
          <a:noFill/>
          <a:ln w="19050">
            <a:solidFill>
              <a:srgbClr val="9FB0C8"/>
            </a:solidFill>
            <a:prstDash val="solid"/>
          </a:ln>
        </p:spPr>
        <p:txBody>
          <a:bodyPr/>
          <a:p/>
        </p:txBody>
      </p:sp>
      <p:sp>
        <p:nvSpPr>
          <p:cNvPr id="12" name="Shape 10"/>
          <p:cNvSpPr/>
          <p:nvPr/>
        </p:nvSpPr>
        <p:spPr>
          <a:xfrm>
            <a:off x="3515868" y="2171700"/>
            <a:ext cx="964692" cy="205740"/>
          </a:xfrm>
          <a:prstGeom prst="line">
            <a:avLst/>
          </a:prstGeom>
          <a:noFill/>
          <a:ln w="19050">
            <a:solidFill>
              <a:srgbClr val="9FB0C8"/>
            </a:solidFill>
            <a:prstDash val="solid"/>
          </a:ln>
        </p:spPr>
        <p:txBody>
          <a:bodyPr/>
          <a:p/>
        </p:txBody>
      </p:sp>
      <p:sp>
        <p:nvSpPr>
          <p:cNvPr id="13" name="Shape 11"/>
          <p:cNvSpPr/>
          <p:nvPr/>
        </p:nvSpPr>
        <p:spPr>
          <a:xfrm>
            <a:off x="1874520" y="2926080"/>
            <a:ext cx="964692" cy="205740"/>
          </a:xfrm>
          <a:prstGeom prst="line">
            <a:avLst/>
          </a:prstGeom>
          <a:noFill/>
          <a:ln w="19050">
            <a:solidFill>
              <a:srgbClr val="9FB0C8"/>
            </a:solidFill>
            <a:prstDash val="solid"/>
          </a:ln>
        </p:spPr>
        <p:txBody>
          <a:bodyPr/>
          <a:p/>
        </p:txBody>
      </p:sp>
      <p:sp>
        <p:nvSpPr>
          <p:cNvPr id="14" name="Shape 12"/>
          <p:cNvSpPr/>
          <p:nvPr/>
        </p:nvSpPr>
        <p:spPr>
          <a:xfrm flipV="1">
            <a:off x="1874520" y="3268980"/>
            <a:ext cx="964692" cy="205740"/>
          </a:xfrm>
          <a:prstGeom prst="line">
            <a:avLst/>
          </a:prstGeom>
          <a:noFill/>
          <a:ln w="19050">
            <a:solidFill>
              <a:srgbClr val="9FB0C8"/>
            </a:solidFill>
            <a:prstDash val="solid"/>
          </a:ln>
        </p:spPr>
        <p:txBody>
          <a:bodyPr/>
          <a:p/>
        </p:txBody>
      </p:sp>
      <p:sp>
        <p:nvSpPr>
          <p:cNvPr id="15" name="Shape 13"/>
          <p:cNvSpPr/>
          <p:nvPr/>
        </p:nvSpPr>
        <p:spPr>
          <a:xfrm flipV="1">
            <a:off x="3515868" y="2926080"/>
            <a:ext cx="964692" cy="205740"/>
          </a:xfrm>
          <a:prstGeom prst="line">
            <a:avLst/>
          </a:prstGeom>
          <a:noFill/>
          <a:ln w="19050">
            <a:solidFill>
              <a:srgbClr val="9FB0C8"/>
            </a:solidFill>
            <a:prstDash val="solid"/>
          </a:ln>
        </p:spPr>
        <p:txBody>
          <a:bodyPr/>
          <a:p/>
        </p:txBody>
      </p:sp>
      <p:sp>
        <p:nvSpPr>
          <p:cNvPr id="16" name="Shape 14"/>
          <p:cNvSpPr/>
          <p:nvPr/>
        </p:nvSpPr>
        <p:spPr>
          <a:xfrm>
            <a:off x="3515868" y="3268980"/>
            <a:ext cx="964692" cy="205740"/>
          </a:xfrm>
          <a:prstGeom prst="line">
            <a:avLst/>
          </a:prstGeom>
          <a:noFill/>
          <a:ln w="19050">
            <a:solidFill>
              <a:srgbClr val="9FB0C8"/>
            </a:solidFill>
            <a:prstDash val="solid"/>
          </a:ln>
        </p:spPr>
        <p:txBody>
          <a:bodyPr/>
          <a:p/>
        </p:txBody>
      </p:sp>
      <p:sp>
        <p:nvSpPr>
          <p:cNvPr id="17" name="Shape 15"/>
          <p:cNvSpPr/>
          <p:nvPr/>
        </p:nvSpPr>
        <p:spPr>
          <a:xfrm>
            <a:off x="1874520" y="4023360"/>
            <a:ext cx="964692" cy="205740"/>
          </a:xfrm>
          <a:prstGeom prst="line">
            <a:avLst/>
          </a:prstGeom>
          <a:noFill/>
          <a:ln w="19050">
            <a:solidFill>
              <a:srgbClr val="9FB0C8"/>
            </a:solidFill>
            <a:prstDash val="solid"/>
          </a:ln>
        </p:spPr>
        <p:txBody>
          <a:bodyPr/>
          <a:p/>
        </p:txBody>
      </p:sp>
      <p:sp>
        <p:nvSpPr>
          <p:cNvPr id="18" name="Shape 16"/>
          <p:cNvSpPr/>
          <p:nvPr/>
        </p:nvSpPr>
        <p:spPr>
          <a:xfrm flipV="1">
            <a:off x="1874520" y="4366260"/>
            <a:ext cx="964692" cy="205740"/>
          </a:xfrm>
          <a:prstGeom prst="line">
            <a:avLst/>
          </a:prstGeom>
          <a:noFill/>
          <a:ln w="19050">
            <a:solidFill>
              <a:srgbClr val="9FB0C8"/>
            </a:solidFill>
            <a:prstDash val="solid"/>
          </a:ln>
        </p:spPr>
        <p:txBody>
          <a:bodyPr/>
          <a:p/>
        </p:txBody>
      </p:sp>
      <p:sp>
        <p:nvSpPr>
          <p:cNvPr id="19" name="Shape 17"/>
          <p:cNvSpPr/>
          <p:nvPr/>
        </p:nvSpPr>
        <p:spPr>
          <a:xfrm flipV="1">
            <a:off x="3515868" y="4023360"/>
            <a:ext cx="964692" cy="205740"/>
          </a:xfrm>
          <a:prstGeom prst="line">
            <a:avLst/>
          </a:prstGeom>
          <a:noFill/>
          <a:ln w="19050">
            <a:solidFill>
              <a:srgbClr val="9FB0C8"/>
            </a:solidFill>
            <a:prstDash val="solid"/>
          </a:ln>
        </p:spPr>
        <p:txBody>
          <a:bodyPr/>
          <a:p/>
        </p:txBody>
      </p:sp>
      <p:sp>
        <p:nvSpPr>
          <p:cNvPr id="20" name="Shape 18"/>
          <p:cNvSpPr/>
          <p:nvPr/>
        </p:nvSpPr>
        <p:spPr>
          <a:xfrm>
            <a:off x="3515868" y="4366260"/>
            <a:ext cx="964692" cy="205740"/>
          </a:xfrm>
          <a:prstGeom prst="line">
            <a:avLst/>
          </a:prstGeom>
          <a:noFill/>
          <a:ln w="19050">
            <a:solidFill>
              <a:srgbClr val="9FB0C8"/>
            </a:solidFill>
            <a:prstDash val="solid"/>
          </a:ln>
        </p:spPr>
        <p:txBody>
          <a:bodyPr/>
          <a:p/>
        </p:txBody>
      </p:sp>
      <p:sp>
        <p:nvSpPr>
          <p:cNvPr id="21" name="Shape 19"/>
          <p:cNvSpPr/>
          <p:nvPr/>
        </p:nvSpPr>
        <p:spPr>
          <a:xfrm>
            <a:off x="1874520" y="5120640"/>
            <a:ext cx="964692" cy="205740"/>
          </a:xfrm>
          <a:prstGeom prst="line">
            <a:avLst/>
          </a:prstGeom>
          <a:noFill/>
          <a:ln w="19050">
            <a:solidFill>
              <a:srgbClr val="9FB0C8"/>
            </a:solidFill>
            <a:prstDash val="solid"/>
          </a:ln>
        </p:spPr>
        <p:txBody>
          <a:bodyPr/>
          <a:p/>
        </p:txBody>
      </p:sp>
      <p:sp>
        <p:nvSpPr>
          <p:cNvPr id="22" name="Shape 20"/>
          <p:cNvSpPr/>
          <p:nvPr/>
        </p:nvSpPr>
        <p:spPr>
          <a:xfrm flipV="1">
            <a:off x="1874520" y="5463540"/>
            <a:ext cx="964692" cy="205740"/>
          </a:xfrm>
          <a:prstGeom prst="line">
            <a:avLst/>
          </a:prstGeom>
          <a:noFill/>
          <a:ln w="19050">
            <a:solidFill>
              <a:srgbClr val="9FB0C8"/>
            </a:solidFill>
            <a:prstDash val="solid"/>
          </a:ln>
        </p:spPr>
        <p:txBody>
          <a:bodyPr/>
          <a:p/>
        </p:txBody>
      </p:sp>
      <p:sp>
        <p:nvSpPr>
          <p:cNvPr id="23" name="Shape 21"/>
          <p:cNvSpPr/>
          <p:nvPr/>
        </p:nvSpPr>
        <p:spPr>
          <a:xfrm flipV="1">
            <a:off x="3515868" y="5120640"/>
            <a:ext cx="964692" cy="205740"/>
          </a:xfrm>
          <a:prstGeom prst="line">
            <a:avLst/>
          </a:prstGeom>
          <a:noFill/>
          <a:ln w="19050">
            <a:solidFill>
              <a:srgbClr val="9FB0C8"/>
            </a:solidFill>
            <a:prstDash val="solid"/>
          </a:ln>
        </p:spPr>
        <p:txBody>
          <a:bodyPr/>
          <a:p/>
        </p:txBody>
      </p:sp>
      <p:sp>
        <p:nvSpPr>
          <p:cNvPr id="24" name="Shape 22"/>
          <p:cNvSpPr/>
          <p:nvPr/>
        </p:nvSpPr>
        <p:spPr>
          <a:xfrm>
            <a:off x="3515868" y="5463540"/>
            <a:ext cx="964692" cy="205740"/>
          </a:xfrm>
          <a:prstGeom prst="line">
            <a:avLst/>
          </a:prstGeom>
          <a:noFill/>
          <a:ln w="19050">
            <a:solidFill>
              <a:srgbClr val="9FB0C8"/>
            </a:solidFill>
            <a:prstDash val="solid"/>
          </a:ln>
        </p:spPr>
        <p:txBody>
          <a:bodyPr/>
          <a:p/>
        </p:txBody>
      </p:sp>
      <p:sp>
        <p:nvSpPr>
          <p:cNvPr id="25" name="Shape 23"/>
          <p:cNvSpPr/>
          <p:nvPr/>
        </p:nvSpPr>
        <p:spPr>
          <a:xfrm>
            <a:off x="4480560" y="1828800"/>
            <a:ext cx="964692" cy="480060"/>
          </a:xfrm>
          <a:prstGeom prst="line">
            <a:avLst/>
          </a:prstGeom>
          <a:noFill/>
          <a:ln w="19050">
            <a:solidFill>
              <a:srgbClr val="9FB0C8"/>
            </a:solidFill>
            <a:prstDash val="solid"/>
          </a:ln>
        </p:spPr>
        <p:txBody>
          <a:bodyPr/>
          <a:p/>
        </p:txBody>
      </p:sp>
      <p:sp>
        <p:nvSpPr>
          <p:cNvPr id="26" name="Shape 24"/>
          <p:cNvSpPr/>
          <p:nvPr/>
        </p:nvSpPr>
        <p:spPr>
          <a:xfrm flipV="1">
            <a:off x="4480560" y="2446020"/>
            <a:ext cx="964692" cy="480060"/>
          </a:xfrm>
          <a:prstGeom prst="line">
            <a:avLst/>
          </a:prstGeom>
          <a:noFill/>
          <a:ln w="19050">
            <a:solidFill>
              <a:srgbClr val="9FB0C8"/>
            </a:solidFill>
            <a:prstDash val="solid"/>
          </a:ln>
        </p:spPr>
        <p:txBody>
          <a:bodyPr/>
          <a:p/>
        </p:txBody>
      </p:sp>
      <p:sp>
        <p:nvSpPr>
          <p:cNvPr id="27" name="Shape 25"/>
          <p:cNvSpPr/>
          <p:nvPr/>
        </p:nvSpPr>
        <p:spPr>
          <a:xfrm flipV="1">
            <a:off x="6121908" y="1828800"/>
            <a:ext cx="964692" cy="480060"/>
          </a:xfrm>
          <a:prstGeom prst="line">
            <a:avLst/>
          </a:prstGeom>
          <a:noFill/>
          <a:ln w="19050">
            <a:solidFill>
              <a:srgbClr val="9FB0C8"/>
            </a:solidFill>
            <a:prstDash val="solid"/>
          </a:ln>
        </p:spPr>
        <p:txBody>
          <a:bodyPr/>
          <a:p/>
        </p:txBody>
      </p:sp>
      <p:sp>
        <p:nvSpPr>
          <p:cNvPr id="28" name="Shape 26"/>
          <p:cNvSpPr/>
          <p:nvPr/>
        </p:nvSpPr>
        <p:spPr>
          <a:xfrm>
            <a:off x="6121908" y="2446020"/>
            <a:ext cx="964692" cy="480060"/>
          </a:xfrm>
          <a:prstGeom prst="line">
            <a:avLst/>
          </a:prstGeom>
          <a:noFill/>
          <a:ln w="19050">
            <a:solidFill>
              <a:srgbClr val="9FB0C8"/>
            </a:solidFill>
            <a:prstDash val="solid"/>
          </a:ln>
        </p:spPr>
        <p:txBody>
          <a:bodyPr/>
          <a:p/>
        </p:txBody>
      </p:sp>
      <p:sp>
        <p:nvSpPr>
          <p:cNvPr id="29" name="Shape 27"/>
          <p:cNvSpPr/>
          <p:nvPr/>
        </p:nvSpPr>
        <p:spPr>
          <a:xfrm>
            <a:off x="4480560" y="2377440"/>
            <a:ext cx="964692" cy="480060"/>
          </a:xfrm>
          <a:prstGeom prst="line">
            <a:avLst/>
          </a:prstGeom>
          <a:noFill/>
          <a:ln w="19050">
            <a:solidFill>
              <a:srgbClr val="9FB0C8"/>
            </a:solidFill>
            <a:prstDash val="solid"/>
          </a:ln>
        </p:spPr>
        <p:txBody>
          <a:bodyPr/>
          <a:p/>
        </p:txBody>
      </p:sp>
      <p:sp>
        <p:nvSpPr>
          <p:cNvPr id="30" name="Shape 28"/>
          <p:cNvSpPr/>
          <p:nvPr/>
        </p:nvSpPr>
        <p:spPr>
          <a:xfrm flipV="1">
            <a:off x="4480560" y="2994660"/>
            <a:ext cx="964692" cy="480060"/>
          </a:xfrm>
          <a:prstGeom prst="line">
            <a:avLst/>
          </a:prstGeom>
          <a:noFill/>
          <a:ln w="19050">
            <a:solidFill>
              <a:srgbClr val="9FB0C8"/>
            </a:solidFill>
            <a:prstDash val="solid"/>
          </a:ln>
        </p:spPr>
        <p:txBody>
          <a:bodyPr/>
          <a:p/>
        </p:txBody>
      </p:sp>
      <p:sp>
        <p:nvSpPr>
          <p:cNvPr id="31" name="Shape 29"/>
          <p:cNvSpPr/>
          <p:nvPr/>
        </p:nvSpPr>
        <p:spPr>
          <a:xfrm flipV="1">
            <a:off x="6121908" y="2377440"/>
            <a:ext cx="964692" cy="480060"/>
          </a:xfrm>
          <a:prstGeom prst="line">
            <a:avLst/>
          </a:prstGeom>
          <a:noFill/>
          <a:ln w="19050">
            <a:solidFill>
              <a:srgbClr val="9FB0C8"/>
            </a:solidFill>
            <a:prstDash val="solid"/>
          </a:ln>
        </p:spPr>
        <p:txBody>
          <a:bodyPr/>
          <a:p/>
        </p:txBody>
      </p:sp>
      <p:sp>
        <p:nvSpPr>
          <p:cNvPr id="32" name="Shape 30"/>
          <p:cNvSpPr/>
          <p:nvPr/>
        </p:nvSpPr>
        <p:spPr>
          <a:xfrm>
            <a:off x="6121908" y="2994660"/>
            <a:ext cx="964692" cy="480060"/>
          </a:xfrm>
          <a:prstGeom prst="line">
            <a:avLst/>
          </a:prstGeom>
          <a:noFill/>
          <a:ln w="19050">
            <a:solidFill>
              <a:srgbClr val="9FB0C8"/>
            </a:solidFill>
            <a:prstDash val="solid"/>
          </a:ln>
        </p:spPr>
        <p:txBody>
          <a:bodyPr/>
          <a:p/>
        </p:txBody>
      </p:sp>
      <p:sp>
        <p:nvSpPr>
          <p:cNvPr id="33" name="Shape 31"/>
          <p:cNvSpPr/>
          <p:nvPr/>
        </p:nvSpPr>
        <p:spPr>
          <a:xfrm>
            <a:off x="4480560" y="4023360"/>
            <a:ext cx="964692" cy="480060"/>
          </a:xfrm>
          <a:prstGeom prst="line">
            <a:avLst/>
          </a:prstGeom>
          <a:noFill/>
          <a:ln w="19050">
            <a:solidFill>
              <a:srgbClr val="9FB0C8"/>
            </a:solidFill>
            <a:prstDash val="solid"/>
          </a:ln>
        </p:spPr>
        <p:txBody>
          <a:bodyPr/>
          <a:p/>
        </p:txBody>
      </p:sp>
      <p:sp>
        <p:nvSpPr>
          <p:cNvPr id="34" name="Shape 32"/>
          <p:cNvSpPr/>
          <p:nvPr/>
        </p:nvSpPr>
        <p:spPr>
          <a:xfrm flipV="1">
            <a:off x="4480560" y="4640580"/>
            <a:ext cx="964692" cy="480060"/>
          </a:xfrm>
          <a:prstGeom prst="line">
            <a:avLst/>
          </a:prstGeom>
          <a:noFill/>
          <a:ln w="19050">
            <a:solidFill>
              <a:srgbClr val="9FB0C8"/>
            </a:solidFill>
            <a:prstDash val="solid"/>
          </a:ln>
        </p:spPr>
        <p:txBody>
          <a:bodyPr/>
          <a:p/>
        </p:txBody>
      </p:sp>
      <p:sp>
        <p:nvSpPr>
          <p:cNvPr id="35" name="Shape 33"/>
          <p:cNvSpPr/>
          <p:nvPr/>
        </p:nvSpPr>
        <p:spPr>
          <a:xfrm flipV="1">
            <a:off x="6121908" y="4023360"/>
            <a:ext cx="964692" cy="480060"/>
          </a:xfrm>
          <a:prstGeom prst="line">
            <a:avLst/>
          </a:prstGeom>
          <a:noFill/>
          <a:ln w="19050">
            <a:solidFill>
              <a:srgbClr val="9FB0C8"/>
            </a:solidFill>
            <a:prstDash val="solid"/>
          </a:ln>
        </p:spPr>
        <p:txBody>
          <a:bodyPr/>
          <a:p/>
        </p:txBody>
      </p:sp>
      <p:sp>
        <p:nvSpPr>
          <p:cNvPr id="36" name="Shape 34"/>
          <p:cNvSpPr/>
          <p:nvPr/>
        </p:nvSpPr>
        <p:spPr>
          <a:xfrm>
            <a:off x="6121908" y="4640580"/>
            <a:ext cx="964692" cy="480060"/>
          </a:xfrm>
          <a:prstGeom prst="line">
            <a:avLst/>
          </a:prstGeom>
          <a:noFill/>
          <a:ln w="19050">
            <a:solidFill>
              <a:srgbClr val="9FB0C8"/>
            </a:solidFill>
            <a:prstDash val="solid"/>
          </a:ln>
        </p:spPr>
        <p:txBody>
          <a:bodyPr/>
          <a:p/>
        </p:txBody>
      </p:sp>
      <p:sp>
        <p:nvSpPr>
          <p:cNvPr id="37" name="Shape 35"/>
          <p:cNvSpPr/>
          <p:nvPr/>
        </p:nvSpPr>
        <p:spPr>
          <a:xfrm>
            <a:off x="4480560" y="4572000"/>
            <a:ext cx="964692" cy="480060"/>
          </a:xfrm>
          <a:prstGeom prst="line">
            <a:avLst/>
          </a:prstGeom>
          <a:noFill/>
          <a:ln w="19050">
            <a:solidFill>
              <a:srgbClr val="9FB0C8"/>
            </a:solidFill>
            <a:prstDash val="solid"/>
          </a:ln>
        </p:spPr>
        <p:txBody>
          <a:bodyPr/>
          <a:p/>
        </p:txBody>
      </p:sp>
      <p:sp>
        <p:nvSpPr>
          <p:cNvPr id="38" name="Shape 36"/>
          <p:cNvSpPr/>
          <p:nvPr/>
        </p:nvSpPr>
        <p:spPr>
          <a:xfrm flipV="1">
            <a:off x="4480560" y="5189220"/>
            <a:ext cx="964692" cy="480060"/>
          </a:xfrm>
          <a:prstGeom prst="line">
            <a:avLst/>
          </a:prstGeom>
          <a:noFill/>
          <a:ln w="19050">
            <a:solidFill>
              <a:srgbClr val="9FB0C8"/>
            </a:solidFill>
            <a:prstDash val="solid"/>
          </a:ln>
        </p:spPr>
        <p:txBody>
          <a:bodyPr/>
          <a:p/>
        </p:txBody>
      </p:sp>
      <p:sp>
        <p:nvSpPr>
          <p:cNvPr id="39" name="Shape 37"/>
          <p:cNvSpPr/>
          <p:nvPr/>
        </p:nvSpPr>
        <p:spPr>
          <a:xfrm flipV="1">
            <a:off x="6121908" y="4572000"/>
            <a:ext cx="964692" cy="480060"/>
          </a:xfrm>
          <a:prstGeom prst="line">
            <a:avLst/>
          </a:prstGeom>
          <a:noFill/>
          <a:ln w="19050">
            <a:solidFill>
              <a:srgbClr val="9FB0C8"/>
            </a:solidFill>
            <a:prstDash val="solid"/>
          </a:ln>
        </p:spPr>
        <p:txBody>
          <a:bodyPr/>
          <a:p/>
        </p:txBody>
      </p:sp>
      <p:sp>
        <p:nvSpPr>
          <p:cNvPr id="40" name="Shape 38"/>
          <p:cNvSpPr/>
          <p:nvPr/>
        </p:nvSpPr>
        <p:spPr>
          <a:xfrm>
            <a:off x="6121908" y="5189220"/>
            <a:ext cx="964692" cy="480060"/>
          </a:xfrm>
          <a:prstGeom prst="line">
            <a:avLst/>
          </a:prstGeom>
          <a:noFill/>
          <a:ln w="19050">
            <a:solidFill>
              <a:srgbClr val="9FB0C8"/>
            </a:solidFill>
            <a:prstDash val="solid"/>
          </a:ln>
        </p:spPr>
        <p:txBody>
          <a:bodyPr/>
          <a:p/>
        </p:txBody>
      </p:sp>
      <p:sp>
        <p:nvSpPr>
          <p:cNvPr id="41" name="Shape 39"/>
          <p:cNvSpPr/>
          <p:nvPr/>
        </p:nvSpPr>
        <p:spPr>
          <a:xfrm>
            <a:off x="7086600" y="1828800"/>
            <a:ext cx="964692" cy="1028700"/>
          </a:xfrm>
          <a:prstGeom prst="line">
            <a:avLst/>
          </a:prstGeom>
          <a:noFill/>
          <a:ln w="19050">
            <a:solidFill>
              <a:srgbClr val="9FB0C8"/>
            </a:solidFill>
            <a:prstDash val="solid"/>
          </a:ln>
        </p:spPr>
        <p:txBody>
          <a:bodyPr/>
          <a:p/>
        </p:txBody>
      </p:sp>
      <p:sp>
        <p:nvSpPr>
          <p:cNvPr id="42" name="Shape 40"/>
          <p:cNvSpPr/>
          <p:nvPr/>
        </p:nvSpPr>
        <p:spPr>
          <a:xfrm flipV="1">
            <a:off x="7086600" y="2994660"/>
            <a:ext cx="964692" cy="1028700"/>
          </a:xfrm>
          <a:prstGeom prst="line">
            <a:avLst/>
          </a:prstGeom>
          <a:noFill/>
          <a:ln w="19050">
            <a:solidFill>
              <a:srgbClr val="9FB0C8"/>
            </a:solidFill>
            <a:prstDash val="solid"/>
          </a:ln>
        </p:spPr>
        <p:txBody>
          <a:bodyPr/>
          <a:p/>
        </p:txBody>
      </p:sp>
      <p:sp>
        <p:nvSpPr>
          <p:cNvPr id="43" name="Shape 41"/>
          <p:cNvSpPr/>
          <p:nvPr/>
        </p:nvSpPr>
        <p:spPr>
          <a:xfrm flipV="1">
            <a:off x="8727948" y="1828800"/>
            <a:ext cx="964692" cy="1028700"/>
          </a:xfrm>
          <a:prstGeom prst="line">
            <a:avLst/>
          </a:prstGeom>
          <a:noFill/>
          <a:ln w="19050">
            <a:solidFill>
              <a:srgbClr val="9FB0C8"/>
            </a:solidFill>
            <a:prstDash val="solid"/>
          </a:ln>
        </p:spPr>
        <p:txBody>
          <a:bodyPr/>
          <a:p/>
        </p:txBody>
      </p:sp>
      <p:sp>
        <p:nvSpPr>
          <p:cNvPr id="44" name="Shape 42"/>
          <p:cNvSpPr/>
          <p:nvPr/>
        </p:nvSpPr>
        <p:spPr>
          <a:xfrm>
            <a:off x="8727948" y="2994660"/>
            <a:ext cx="964692" cy="1028700"/>
          </a:xfrm>
          <a:prstGeom prst="line">
            <a:avLst/>
          </a:prstGeom>
          <a:noFill/>
          <a:ln w="19050">
            <a:solidFill>
              <a:srgbClr val="9FB0C8"/>
            </a:solidFill>
            <a:prstDash val="solid"/>
          </a:ln>
        </p:spPr>
        <p:txBody>
          <a:bodyPr/>
          <a:p/>
        </p:txBody>
      </p:sp>
      <p:sp>
        <p:nvSpPr>
          <p:cNvPr id="45" name="Shape 43"/>
          <p:cNvSpPr/>
          <p:nvPr/>
        </p:nvSpPr>
        <p:spPr>
          <a:xfrm>
            <a:off x="7086600" y="2377440"/>
            <a:ext cx="964692" cy="1028700"/>
          </a:xfrm>
          <a:prstGeom prst="line">
            <a:avLst/>
          </a:prstGeom>
          <a:noFill/>
          <a:ln w="19050">
            <a:solidFill>
              <a:srgbClr val="9FB0C8"/>
            </a:solidFill>
            <a:prstDash val="solid"/>
          </a:ln>
        </p:spPr>
        <p:txBody>
          <a:bodyPr/>
          <a:p/>
        </p:txBody>
      </p:sp>
      <p:sp>
        <p:nvSpPr>
          <p:cNvPr id="46" name="Shape 44"/>
          <p:cNvSpPr/>
          <p:nvPr/>
        </p:nvSpPr>
        <p:spPr>
          <a:xfrm flipV="1">
            <a:off x="7086600" y="3543300"/>
            <a:ext cx="964692" cy="1028700"/>
          </a:xfrm>
          <a:prstGeom prst="line">
            <a:avLst/>
          </a:prstGeom>
          <a:noFill/>
          <a:ln w="19050">
            <a:solidFill>
              <a:srgbClr val="9FB0C8"/>
            </a:solidFill>
            <a:prstDash val="solid"/>
          </a:ln>
        </p:spPr>
        <p:txBody>
          <a:bodyPr/>
          <a:p/>
        </p:txBody>
      </p:sp>
      <p:sp>
        <p:nvSpPr>
          <p:cNvPr id="47" name="Shape 45"/>
          <p:cNvSpPr/>
          <p:nvPr/>
        </p:nvSpPr>
        <p:spPr>
          <a:xfrm flipV="1">
            <a:off x="8727948" y="2377440"/>
            <a:ext cx="964692" cy="1028700"/>
          </a:xfrm>
          <a:prstGeom prst="line">
            <a:avLst/>
          </a:prstGeom>
          <a:noFill/>
          <a:ln w="19050">
            <a:solidFill>
              <a:srgbClr val="9FB0C8"/>
            </a:solidFill>
            <a:prstDash val="solid"/>
          </a:ln>
        </p:spPr>
        <p:txBody>
          <a:bodyPr/>
          <a:p/>
        </p:txBody>
      </p:sp>
      <p:sp>
        <p:nvSpPr>
          <p:cNvPr id="48" name="Shape 46"/>
          <p:cNvSpPr/>
          <p:nvPr/>
        </p:nvSpPr>
        <p:spPr>
          <a:xfrm>
            <a:off x="8727948" y="3543300"/>
            <a:ext cx="964692" cy="1028700"/>
          </a:xfrm>
          <a:prstGeom prst="line">
            <a:avLst/>
          </a:prstGeom>
          <a:noFill/>
          <a:ln w="19050">
            <a:solidFill>
              <a:srgbClr val="9FB0C8"/>
            </a:solidFill>
            <a:prstDash val="solid"/>
          </a:ln>
        </p:spPr>
        <p:txBody>
          <a:bodyPr/>
          <a:p/>
        </p:txBody>
      </p:sp>
      <p:sp>
        <p:nvSpPr>
          <p:cNvPr id="49" name="Shape 47"/>
          <p:cNvSpPr/>
          <p:nvPr/>
        </p:nvSpPr>
        <p:spPr>
          <a:xfrm>
            <a:off x="7086600" y="2926080"/>
            <a:ext cx="964692" cy="1028700"/>
          </a:xfrm>
          <a:prstGeom prst="line">
            <a:avLst/>
          </a:prstGeom>
          <a:noFill/>
          <a:ln w="19050">
            <a:solidFill>
              <a:srgbClr val="9FB0C8"/>
            </a:solidFill>
            <a:prstDash val="solid"/>
          </a:ln>
        </p:spPr>
        <p:txBody>
          <a:bodyPr/>
          <a:p/>
        </p:txBody>
      </p:sp>
      <p:sp>
        <p:nvSpPr>
          <p:cNvPr id="50" name="Shape 48"/>
          <p:cNvSpPr/>
          <p:nvPr/>
        </p:nvSpPr>
        <p:spPr>
          <a:xfrm flipV="1">
            <a:off x="7086600" y="4091940"/>
            <a:ext cx="964692" cy="1028700"/>
          </a:xfrm>
          <a:prstGeom prst="line">
            <a:avLst/>
          </a:prstGeom>
          <a:noFill/>
          <a:ln w="19050">
            <a:solidFill>
              <a:srgbClr val="9FB0C8"/>
            </a:solidFill>
            <a:prstDash val="solid"/>
          </a:ln>
        </p:spPr>
        <p:txBody>
          <a:bodyPr/>
          <a:p/>
        </p:txBody>
      </p:sp>
      <p:sp>
        <p:nvSpPr>
          <p:cNvPr id="51" name="Shape 49"/>
          <p:cNvSpPr/>
          <p:nvPr/>
        </p:nvSpPr>
        <p:spPr>
          <a:xfrm flipV="1">
            <a:off x="8727948" y="2926080"/>
            <a:ext cx="964692" cy="1028700"/>
          </a:xfrm>
          <a:prstGeom prst="line">
            <a:avLst/>
          </a:prstGeom>
          <a:noFill/>
          <a:ln w="19050">
            <a:solidFill>
              <a:srgbClr val="9FB0C8"/>
            </a:solidFill>
            <a:prstDash val="solid"/>
          </a:ln>
        </p:spPr>
        <p:txBody>
          <a:bodyPr/>
          <a:p/>
        </p:txBody>
      </p:sp>
      <p:sp>
        <p:nvSpPr>
          <p:cNvPr id="52" name="Shape 50"/>
          <p:cNvSpPr/>
          <p:nvPr/>
        </p:nvSpPr>
        <p:spPr>
          <a:xfrm>
            <a:off x="8727948" y="4091940"/>
            <a:ext cx="964692" cy="1028700"/>
          </a:xfrm>
          <a:prstGeom prst="line">
            <a:avLst/>
          </a:prstGeom>
          <a:noFill/>
          <a:ln w="19050">
            <a:solidFill>
              <a:srgbClr val="9FB0C8"/>
            </a:solidFill>
            <a:prstDash val="solid"/>
          </a:ln>
        </p:spPr>
        <p:txBody>
          <a:bodyPr/>
          <a:p/>
        </p:txBody>
      </p:sp>
      <p:sp>
        <p:nvSpPr>
          <p:cNvPr id="53" name="Shape 51"/>
          <p:cNvSpPr/>
          <p:nvPr/>
        </p:nvSpPr>
        <p:spPr>
          <a:xfrm>
            <a:off x="7086600" y="3474720"/>
            <a:ext cx="964692" cy="1028700"/>
          </a:xfrm>
          <a:prstGeom prst="line">
            <a:avLst/>
          </a:prstGeom>
          <a:noFill/>
          <a:ln w="19050">
            <a:solidFill>
              <a:srgbClr val="9FB0C8"/>
            </a:solidFill>
            <a:prstDash val="solid"/>
          </a:ln>
        </p:spPr>
        <p:txBody>
          <a:bodyPr/>
          <a:p/>
        </p:txBody>
      </p:sp>
      <p:sp>
        <p:nvSpPr>
          <p:cNvPr id="54" name="Shape 52"/>
          <p:cNvSpPr/>
          <p:nvPr/>
        </p:nvSpPr>
        <p:spPr>
          <a:xfrm flipV="1">
            <a:off x="7086600" y="4640580"/>
            <a:ext cx="964692" cy="1028700"/>
          </a:xfrm>
          <a:prstGeom prst="line">
            <a:avLst/>
          </a:prstGeom>
          <a:noFill/>
          <a:ln w="19050">
            <a:solidFill>
              <a:srgbClr val="9FB0C8"/>
            </a:solidFill>
            <a:prstDash val="solid"/>
          </a:ln>
        </p:spPr>
        <p:txBody>
          <a:bodyPr/>
          <a:p/>
        </p:txBody>
      </p:sp>
      <p:sp>
        <p:nvSpPr>
          <p:cNvPr id="55" name="Shape 53"/>
          <p:cNvSpPr/>
          <p:nvPr/>
        </p:nvSpPr>
        <p:spPr>
          <a:xfrm flipV="1">
            <a:off x="8727948" y="3474720"/>
            <a:ext cx="964692" cy="1028700"/>
          </a:xfrm>
          <a:prstGeom prst="line">
            <a:avLst/>
          </a:prstGeom>
          <a:noFill/>
          <a:ln w="19050">
            <a:solidFill>
              <a:srgbClr val="9FB0C8"/>
            </a:solidFill>
            <a:prstDash val="solid"/>
          </a:ln>
        </p:spPr>
        <p:txBody>
          <a:bodyPr/>
          <a:p/>
        </p:txBody>
      </p:sp>
      <p:sp>
        <p:nvSpPr>
          <p:cNvPr id="56" name="Shape 54"/>
          <p:cNvSpPr/>
          <p:nvPr/>
        </p:nvSpPr>
        <p:spPr>
          <a:xfrm>
            <a:off x="8727948" y="4640580"/>
            <a:ext cx="964692" cy="1028700"/>
          </a:xfrm>
          <a:prstGeom prst="line">
            <a:avLst/>
          </a:prstGeom>
          <a:noFill/>
          <a:ln w="19050">
            <a:solidFill>
              <a:srgbClr val="9FB0C8"/>
            </a:solidFill>
            <a:prstDash val="solid"/>
          </a:ln>
        </p:spPr>
        <p:txBody>
          <a:bodyPr/>
          <a:p/>
        </p:txBody>
      </p:sp>
      <p:sp>
        <p:nvSpPr>
          <p:cNvPr id="57" name="Shape 55"/>
          <p:cNvSpPr/>
          <p:nvPr/>
        </p:nvSpPr>
        <p:spPr>
          <a:xfrm>
            <a:off x="1824228" y="1778508"/>
            <a:ext cx="100584" cy="100584"/>
          </a:xfrm>
          <a:prstGeom prst="ellipse">
            <a:avLst/>
          </a:prstGeom>
          <a:solidFill>
            <a:srgbClr val="132A4A"/>
          </a:solidFill>
          <a:ln w="6350">
            <a:solidFill>
              <a:srgbClr val="132A4A"/>
            </a:solidFill>
            <a:prstDash val="solid"/>
          </a:ln>
        </p:spPr>
        <p:txBody>
          <a:bodyPr/>
          <a:p/>
        </p:txBody>
      </p:sp>
      <p:sp>
        <p:nvSpPr>
          <p:cNvPr id="58" name="Shape 56"/>
          <p:cNvSpPr/>
          <p:nvPr/>
        </p:nvSpPr>
        <p:spPr>
          <a:xfrm>
            <a:off x="1824228" y="2327148"/>
            <a:ext cx="100584" cy="100584"/>
          </a:xfrm>
          <a:prstGeom prst="ellipse">
            <a:avLst/>
          </a:prstGeom>
          <a:solidFill>
            <a:srgbClr val="132A4A"/>
          </a:solidFill>
          <a:ln w="6350">
            <a:solidFill>
              <a:srgbClr val="132A4A"/>
            </a:solidFill>
            <a:prstDash val="solid"/>
          </a:ln>
        </p:spPr>
        <p:txBody>
          <a:bodyPr/>
          <a:p/>
        </p:txBody>
      </p:sp>
      <p:sp>
        <p:nvSpPr>
          <p:cNvPr id="59" name="Shape 57"/>
          <p:cNvSpPr/>
          <p:nvPr/>
        </p:nvSpPr>
        <p:spPr>
          <a:xfrm>
            <a:off x="1824228" y="2875788"/>
            <a:ext cx="100584" cy="100584"/>
          </a:xfrm>
          <a:prstGeom prst="ellipse">
            <a:avLst/>
          </a:prstGeom>
          <a:solidFill>
            <a:srgbClr val="132A4A"/>
          </a:solidFill>
          <a:ln w="6350">
            <a:solidFill>
              <a:srgbClr val="132A4A"/>
            </a:solidFill>
            <a:prstDash val="solid"/>
          </a:ln>
        </p:spPr>
        <p:txBody>
          <a:bodyPr/>
          <a:p/>
        </p:txBody>
      </p:sp>
      <p:sp>
        <p:nvSpPr>
          <p:cNvPr id="60" name="Shape 58"/>
          <p:cNvSpPr/>
          <p:nvPr/>
        </p:nvSpPr>
        <p:spPr>
          <a:xfrm>
            <a:off x="1824228" y="3424428"/>
            <a:ext cx="100584" cy="100584"/>
          </a:xfrm>
          <a:prstGeom prst="ellipse">
            <a:avLst/>
          </a:prstGeom>
          <a:solidFill>
            <a:srgbClr val="132A4A"/>
          </a:solidFill>
          <a:ln w="6350">
            <a:solidFill>
              <a:srgbClr val="132A4A"/>
            </a:solidFill>
            <a:prstDash val="solid"/>
          </a:ln>
        </p:spPr>
        <p:txBody>
          <a:bodyPr/>
          <a:p/>
        </p:txBody>
      </p:sp>
      <p:sp>
        <p:nvSpPr>
          <p:cNvPr id="61" name="Shape 59"/>
          <p:cNvSpPr/>
          <p:nvPr/>
        </p:nvSpPr>
        <p:spPr>
          <a:xfrm>
            <a:off x="1824228" y="3973068"/>
            <a:ext cx="100584" cy="100584"/>
          </a:xfrm>
          <a:prstGeom prst="ellipse">
            <a:avLst/>
          </a:prstGeom>
          <a:solidFill>
            <a:srgbClr val="132A4A"/>
          </a:solidFill>
          <a:ln w="6350">
            <a:solidFill>
              <a:srgbClr val="132A4A"/>
            </a:solidFill>
            <a:prstDash val="solid"/>
          </a:ln>
        </p:spPr>
        <p:txBody>
          <a:bodyPr/>
          <a:p/>
        </p:txBody>
      </p:sp>
      <p:sp>
        <p:nvSpPr>
          <p:cNvPr id="62" name="Shape 60"/>
          <p:cNvSpPr/>
          <p:nvPr/>
        </p:nvSpPr>
        <p:spPr>
          <a:xfrm>
            <a:off x="1824228" y="4521708"/>
            <a:ext cx="100584" cy="100584"/>
          </a:xfrm>
          <a:prstGeom prst="ellipse">
            <a:avLst/>
          </a:prstGeom>
          <a:solidFill>
            <a:srgbClr val="132A4A"/>
          </a:solidFill>
          <a:ln w="6350">
            <a:solidFill>
              <a:srgbClr val="132A4A"/>
            </a:solidFill>
            <a:prstDash val="solid"/>
          </a:ln>
        </p:spPr>
        <p:txBody>
          <a:bodyPr/>
          <a:p/>
        </p:txBody>
      </p:sp>
      <p:sp>
        <p:nvSpPr>
          <p:cNvPr id="63" name="Shape 61"/>
          <p:cNvSpPr/>
          <p:nvPr/>
        </p:nvSpPr>
        <p:spPr>
          <a:xfrm>
            <a:off x="1824228" y="5070348"/>
            <a:ext cx="100584" cy="100584"/>
          </a:xfrm>
          <a:prstGeom prst="ellipse">
            <a:avLst/>
          </a:prstGeom>
          <a:solidFill>
            <a:srgbClr val="132A4A"/>
          </a:solidFill>
          <a:ln w="6350">
            <a:solidFill>
              <a:srgbClr val="132A4A"/>
            </a:solidFill>
            <a:prstDash val="solid"/>
          </a:ln>
        </p:spPr>
        <p:txBody>
          <a:bodyPr/>
          <a:p/>
        </p:txBody>
      </p:sp>
      <p:sp>
        <p:nvSpPr>
          <p:cNvPr id="64" name="Shape 62"/>
          <p:cNvSpPr/>
          <p:nvPr/>
        </p:nvSpPr>
        <p:spPr>
          <a:xfrm>
            <a:off x="1824228" y="5618988"/>
            <a:ext cx="100584" cy="100584"/>
          </a:xfrm>
          <a:prstGeom prst="ellipse">
            <a:avLst/>
          </a:prstGeom>
          <a:solidFill>
            <a:srgbClr val="132A4A"/>
          </a:solidFill>
          <a:ln w="6350">
            <a:solidFill>
              <a:srgbClr val="132A4A"/>
            </a:solidFill>
            <a:prstDash val="solid"/>
          </a:ln>
        </p:spPr>
        <p:txBody>
          <a:bodyPr/>
          <a:p/>
        </p:txBody>
      </p:sp>
      <p:sp>
        <p:nvSpPr>
          <p:cNvPr id="65" name="Shape 63"/>
          <p:cNvSpPr/>
          <p:nvPr/>
        </p:nvSpPr>
        <p:spPr>
          <a:xfrm>
            <a:off x="4430268" y="1778508"/>
            <a:ext cx="100584" cy="100584"/>
          </a:xfrm>
          <a:prstGeom prst="ellipse">
            <a:avLst/>
          </a:prstGeom>
          <a:solidFill>
            <a:srgbClr val="132A4A"/>
          </a:solidFill>
          <a:ln w="6350">
            <a:solidFill>
              <a:srgbClr val="132A4A"/>
            </a:solidFill>
            <a:prstDash val="solid"/>
          </a:ln>
        </p:spPr>
        <p:txBody>
          <a:bodyPr/>
          <a:p/>
        </p:txBody>
      </p:sp>
      <p:sp>
        <p:nvSpPr>
          <p:cNvPr id="66" name="Shape 64"/>
          <p:cNvSpPr/>
          <p:nvPr/>
        </p:nvSpPr>
        <p:spPr>
          <a:xfrm>
            <a:off x="4430268" y="2327148"/>
            <a:ext cx="100584" cy="100584"/>
          </a:xfrm>
          <a:prstGeom prst="ellipse">
            <a:avLst/>
          </a:prstGeom>
          <a:solidFill>
            <a:srgbClr val="132A4A"/>
          </a:solidFill>
          <a:ln w="6350">
            <a:solidFill>
              <a:srgbClr val="132A4A"/>
            </a:solidFill>
            <a:prstDash val="solid"/>
          </a:ln>
        </p:spPr>
        <p:txBody>
          <a:bodyPr/>
          <a:p/>
        </p:txBody>
      </p:sp>
      <p:sp>
        <p:nvSpPr>
          <p:cNvPr id="67" name="Shape 65"/>
          <p:cNvSpPr/>
          <p:nvPr/>
        </p:nvSpPr>
        <p:spPr>
          <a:xfrm>
            <a:off x="4430268" y="2875788"/>
            <a:ext cx="100584" cy="100584"/>
          </a:xfrm>
          <a:prstGeom prst="ellipse">
            <a:avLst/>
          </a:prstGeom>
          <a:solidFill>
            <a:srgbClr val="132A4A"/>
          </a:solidFill>
          <a:ln w="6350">
            <a:solidFill>
              <a:srgbClr val="132A4A"/>
            </a:solidFill>
            <a:prstDash val="solid"/>
          </a:ln>
        </p:spPr>
        <p:txBody>
          <a:bodyPr/>
          <a:p/>
        </p:txBody>
      </p:sp>
      <p:sp>
        <p:nvSpPr>
          <p:cNvPr id="68" name="Shape 66"/>
          <p:cNvSpPr/>
          <p:nvPr/>
        </p:nvSpPr>
        <p:spPr>
          <a:xfrm>
            <a:off x="4430268" y="3424428"/>
            <a:ext cx="100584" cy="100584"/>
          </a:xfrm>
          <a:prstGeom prst="ellipse">
            <a:avLst/>
          </a:prstGeom>
          <a:solidFill>
            <a:srgbClr val="132A4A"/>
          </a:solidFill>
          <a:ln w="6350">
            <a:solidFill>
              <a:srgbClr val="132A4A"/>
            </a:solidFill>
            <a:prstDash val="solid"/>
          </a:ln>
        </p:spPr>
        <p:txBody>
          <a:bodyPr/>
          <a:p/>
        </p:txBody>
      </p:sp>
      <p:sp>
        <p:nvSpPr>
          <p:cNvPr id="69" name="Shape 67"/>
          <p:cNvSpPr/>
          <p:nvPr/>
        </p:nvSpPr>
        <p:spPr>
          <a:xfrm>
            <a:off x="4430268" y="3973068"/>
            <a:ext cx="100584" cy="100584"/>
          </a:xfrm>
          <a:prstGeom prst="ellipse">
            <a:avLst/>
          </a:prstGeom>
          <a:solidFill>
            <a:srgbClr val="132A4A"/>
          </a:solidFill>
          <a:ln w="6350">
            <a:solidFill>
              <a:srgbClr val="132A4A"/>
            </a:solidFill>
            <a:prstDash val="solid"/>
          </a:ln>
        </p:spPr>
        <p:txBody>
          <a:bodyPr/>
          <a:p/>
        </p:txBody>
      </p:sp>
      <p:sp>
        <p:nvSpPr>
          <p:cNvPr id="70" name="Shape 68"/>
          <p:cNvSpPr/>
          <p:nvPr/>
        </p:nvSpPr>
        <p:spPr>
          <a:xfrm>
            <a:off x="4430268" y="4521708"/>
            <a:ext cx="100584" cy="100584"/>
          </a:xfrm>
          <a:prstGeom prst="ellipse">
            <a:avLst/>
          </a:prstGeom>
          <a:solidFill>
            <a:srgbClr val="132A4A"/>
          </a:solidFill>
          <a:ln w="6350">
            <a:solidFill>
              <a:srgbClr val="132A4A"/>
            </a:solidFill>
            <a:prstDash val="solid"/>
          </a:ln>
        </p:spPr>
        <p:txBody>
          <a:bodyPr/>
          <a:p/>
        </p:txBody>
      </p:sp>
      <p:sp>
        <p:nvSpPr>
          <p:cNvPr id="71" name="Shape 69"/>
          <p:cNvSpPr/>
          <p:nvPr/>
        </p:nvSpPr>
        <p:spPr>
          <a:xfrm>
            <a:off x="4430268" y="5070348"/>
            <a:ext cx="100584" cy="100584"/>
          </a:xfrm>
          <a:prstGeom prst="ellipse">
            <a:avLst/>
          </a:prstGeom>
          <a:solidFill>
            <a:srgbClr val="132A4A"/>
          </a:solidFill>
          <a:ln w="6350">
            <a:solidFill>
              <a:srgbClr val="132A4A"/>
            </a:solidFill>
            <a:prstDash val="solid"/>
          </a:ln>
        </p:spPr>
        <p:txBody>
          <a:bodyPr/>
          <a:p/>
        </p:txBody>
      </p:sp>
      <p:sp>
        <p:nvSpPr>
          <p:cNvPr id="72" name="Shape 70"/>
          <p:cNvSpPr/>
          <p:nvPr/>
        </p:nvSpPr>
        <p:spPr>
          <a:xfrm>
            <a:off x="4430268" y="5618988"/>
            <a:ext cx="100584" cy="100584"/>
          </a:xfrm>
          <a:prstGeom prst="ellipse">
            <a:avLst/>
          </a:prstGeom>
          <a:solidFill>
            <a:srgbClr val="132A4A"/>
          </a:solidFill>
          <a:ln w="6350">
            <a:solidFill>
              <a:srgbClr val="132A4A"/>
            </a:solidFill>
            <a:prstDash val="solid"/>
          </a:ln>
        </p:spPr>
        <p:txBody>
          <a:bodyPr/>
          <a:p/>
        </p:txBody>
      </p:sp>
      <p:sp>
        <p:nvSpPr>
          <p:cNvPr id="73" name="Shape 71"/>
          <p:cNvSpPr/>
          <p:nvPr/>
        </p:nvSpPr>
        <p:spPr>
          <a:xfrm>
            <a:off x="7036308" y="1778508"/>
            <a:ext cx="100584" cy="100584"/>
          </a:xfrm>
          <a:prstGeom prst="ellipse">
            <a:avLst/>
          </a:prstGeom>
          <a:solidFill>
            <a:srgbClr val="132A4A"/>
          </a:solidFill>
          <a:ln w="6350">
            <a:solidFill>
              <a:srgbClr val="132A4A"/>
            </a:solidFill>
            <a:prstDash val="solid"/>
          </a:ln>
        </p:spPr>
        <p:txBody>
          <a:bodyPr/>
          <a:p/>
        </p:txBody>
      </p:sp>
      <p:sp>
        <p:nvSpPr>
          <p:cNvPr id="74" name="Shape 72"/>
          <p:cNvSpPr/>
          <p:nvPr/>
        </p:nvSpPr>
        <p:spPr>
          <a:xfrm>
            <a:off x="7036308" y="2327148"/>
            <a:ext cx="100584" cy="100584"/>
          </a:xfrm>
          <a:prstGeom prst="ellipse">
            <a:avLst/>
          </a:prstGeom>
          <a:solidFill>
            <a:srgbClr val="132A4A"/>
          </a:solidFill>
          <a:ln w="6350">
            <a:solidFill>
              <a:srgbClr val="132A4A"/>
            </a:solidFill>
            <a:prstDash val="solid"/>
          </a:ln>
        </p:spPr>
        <p:txBody>
          <a:bodyPr/>
          <a:p/>
        </p:txBody>
      </p:sp>
      <p:sp>
        <p:nvSpPr>
          <p:cNvPr id="75" name="Shape 73"/>
          <p:cNvSpPr/>
          <p:nvPr/>
        </p:nvSpPr>
        <p:spPr>
          <a:xfrm>
            <a:off x="7036308" y="2875788"/>
            <a:ext cx="100584" cy="100584"/>
          </a:xfrm>
          <a:prstGeom prst="ellipse">
            <a:avLst/>
          </a:prstGeom>
          <a:solidFill>
            <a:srgbClr val="132A4A"/>
          </a:solidFill>
          <a:ln w="6350">
            <a:solidFill>
              <a:srgbClr val="132A4A"/>
            </a:solidFill>
            <a:prstDash val="solid"/>
          </a:ln>
        </p:spPr>
        <p:txBody>
          <a:bodyPr/>
          <a:p/>
        </p:txBody>
      </p:sp>
      <p:sp>
        <p:nvSpPr>
          <p:cNvPr id="76" name="Shape 74"/>
          <p:cNvSpPr/>
          <p:nvPr/>
        </p:nvSpPr>
        <p:spPr>
          <a:xfrm>
            <a:off x="7036308" y="3424428"/>
            <a:ext cx="100584" cy="100584"/>
          </a:xfrm>
          <a:prstGeom prst="ellipse">
            <a:avLst/>
          </a:prstGeom>
          <a:solidFill>
            <a:srgbClr val="132A4A"/>
          </a:solidFill>
          <a:ln w="6350">
            <a:solidFill>
              <a:srgbClr val="132A4A"/>
            </a:solidFill>
            <a:prstDash val="solid"/>
          </a:ln>
        </p:spPr>
        <p:txBody>
          <a:bodyPr/>
          <a:p/>
        </p:txBody>
      </p:sp>
      <p:sp>
        <p:nvSpPr>
          <p:cNvPr id="77" name="Shape 75"/>
          <p:cNvSpPr/>
          <p:nvPr/>
        </p:nvSpPr>
        <p:spPr>
          <a:xfrm>
            <a:off x="7036308" y="3973068"/>
            <a:ext cx="100584" cy="100584"/>
          </a:xfrm>
          <a:prstGeom prst="ellipse">
            <a:avLst/>
          </a:prstGeom>
          <a:solidFill>
            <a:srgbClr val="132A4A"/>
          </a:solidFill>
          <a:ln w="6350">
            <a:solidFill>
              <a:srgbClr val="132A4A"/>
            </a:solidFill>
            <a:prstDash val="solid"/>
          </a:ln>
        </p:spPr>
        <p:txBody>
          <a:bodyPr/>
          <a:p/>
        </p:txBody>
      </p:sp>
      <p:sp>
        <p:nvSpPr>
          <p:cNvPr id="78" name="Shape 76"/>
          <p:cNvSpPr/>
          <p:nvPr/>
        </p:nvSpPr>
        <p:spPr>
          <a:xfrm>
            <a:off x="7036308" y="4521708"/>
            <a:ext cx="100584" cy="100584"/>
          </a:xfrm>
          <a:prstGeom prst="ellipse">
            <a:avLst/>
          </a:prstGeom>
          <a:solidFill>
            <a:srgbClr val="132A4A"/>
          </a:solidFill>
          <a:ln w="6350">
            <a:solidFill>
              <a:srgbClr val="132A4A"/>
            </a:solidFill>
            <a:prstDash val="solid"/>
          </a:ln>
        </p:spPr>
        <p:txBody>
          <a:bodyPr/>
          <a:p/>
        </p:txBody>
      </p:sp>
      <p:sp>
        <p:nvSpPr>
          <p:cNvPr id="79" name="Shape 77"/>
          <p:cNvSpPr/>
          <p:nvPr/>
        </p:nvSpPr>
        <p:spPr>
          <a:xfrm>
            <a:off x="7036308" y="5070348"/>
            <a:ext cx="100584" cy="100584"/>
          </a:xfrm>
          <a:prstGeom prst="ellipse">
            <a:avLst/>
          </a:prstGeom>
          <a:solidFill>
            <a:srgbClr val="132A4A"/>
          </a:solidFill>
          <a:ln w="6350">
            <a:solidFill>
              <a:srgbClr val="132A4A"/>
            </a:solidFill>
            <a:prstDash val="solid"/>
          </a:ln>
        </p:spPr>
        <p:txBody>
          <a:bodyPr/>
          <a:p/>
        </p:txBody>
      </p:sp>
      <p:sp>
        <p:nvSpPr>
          <p:cNvPr id="80" name="Shape 78"/>
          <p:cNvSpPr/>
          <p:nvPr/>
        </p:nvSpPr>
        <p:spPr>
          <a:xfrm>
            <a:off x="7036308" y="5618988"/>
            <a:ext cx="100584" cy="100584"/>
          </a:xfrm>
          <a:prstGeom prst="ellipse">
            <a:avLst/>
          </a:prstGeom>
          <a:solidFill>
            <a:srgbClr val="132A4A"/>
          </a:solidFill>
          <a:ln w="6350">
            <a:solidFill>
              <a:srgbClr val="132A4A"/>
            </a:solidFill>
            <a:prstDash val="solid"/>
          </a:ln>
        </p:spPr>
        <p:txBody>
          <a:bodyPr/>
          <a:p/>
        </p:txBody>
      </p:sp>
      <p:sp>
        <p:nvSpPr>
          <p:cNvPr id="81" name="Shape 79"/>
          <p:cNvSpPr/>
          <p:nvPr/>
        </p:nvSpPr>
        <p:spPr>
          <a:xfrm>
            <a:off x="9642348" y="1778508"/>
            <a:ext cx="100584" cy="100584"/>
          </a:xfrm>
          <a:prstGeom prst="ellipse">
            <a:avLst/>
          </a:prstGeom>
          <a:solidFill>
            <a:srgbClr val="132A4A"/>
          </a:solidFill>
          <a:ln w="6350">
            <a:solidFill>
              <a:srgbClr val="132A4A"/>
            </a:solidFill>
            <a:prstDash val="solid"/>
          </a:ln>
        </p:spPr>
        <p:txBody>
          <a:bodyPr/>
          <a:p/>
        </p:txBody>
      </p:sp>
      <p:sp>
        <p:nvSpPr>
          <p:cNvPr id="82" name="Shape 80"/>
          <p:cNvSpPr/>
          <p:nvPr/>
        </p:nvSpPr>
        <p:spPr>
          <a:xfrm>
            <a:off x="9642348" y="2327148"/>
            <a:ext cx="100584" cy="100584"/>
          </a:xfrm>
          <a:prstGeom prst="ellipse">
            <a:avLst/>
          </a:prstGeom>
          <a:solidFill>
            <a:srgbClr val="132A4A"/>
          </a:solidFill>
          <a:ln w="6350">
            <a:solidFill>
              <a:srgbClr val="132A4A"/>
            </a:solidFill>
            <a:prstDash val="solid"/>
          </a:ln>
        </p:spPr>
        <p:txBody>
          <a:bodyPr/>
          <a:p/>
        </p:txBody>
      </p:sp>
      <p:sp>
        <p:nvSpPr>
          <p:cNvPr id="83" name="Shape 81"/>
          <p:cNvSpPr/>
          <p:nvPr/>
        </p:nvSpPr>
        <p:spPr>
          <a:xfrm>
            <a:off x="9642348" y="2875788"/>
            <a:ext cx="100584" cy="100584"/>
          </a:xfrm>
          <a:prstGeom prst="ellipse">
            <a:avLst/>
          </a:prstGeom>
          <a:solidFill>
            <a:srgbClr val="132A4A"/>
          </a:solidFill>
          <a:ln w="6350">
            <a:solidFill>
              <a:srgbClr val="132A4A"/>
            </a:solidFill>
            <a:prstDash val="solid"/>
          </a:ln>
        </p:spPr>
        <p:txBody>
          <a:bodyPr/>
          <a:p/>
        </p:txBody>
      </p:sp>
      <p:sp>
        <p:nvSpPr>
          <p:cNvPr id="84" name="Shape 82"/>
          <p:cNvSpPr/>
          <p:nvPr/>
        </p:nvSpPr>
        <p:spPr>
          <a:xfrm>
            <a:off x="9642348" y="3424428"/>
            <a:ext cx="100584" cy="100584"/>
          </a:xfrm>
          <a:prstGeom prst="ellipse">
            <a:avLst/>
          </a:prstGeom>
          <a:solidFill>
            <a:srgbClr val="132A4A"/>
          </a:solidFill>
          <a:ln w="6350">
            <a:solidFill>
              <a:srgbClr val="132A4A"/>
            </a:solidFill>
            <a:prstDash val="solid"/>
          </a:ln>
        </p:spPr>
        <p:txBody>
          <a:bodyPr/>
          <a:p/>
        </p:txBody>
      </p:sp>
      <p:sp>
        <p:nvSpPr>
          <p:cNvPr id="85" name="Shape 83"/>
          <p:cNvSpPr/>
          <p:nvPr/>
        </p:nvSpPr>
        <p:spPr>
          <a:xfrm>
            <a:off x="9642348" y="3973068"/>
            <a:ext cx="100584" cy="100584"/>
          </a:xfrm>
          <a:prstGeom prst="ellipse">
            <a:avLst/>
          </a:prstGeom>
          <a:solidFill>
            <a:srgbClr val="132A4A"/>
          </a:solidFill>
          <a:ln w="6350">
            <a:solidFill>
              <a:srgbClr val="132A4A"/>
            </a:solidFill>
            <a:prstDash val="solid"/>
          </a:ln>
        </p:spPr>
        <p:txBody>
          <a:bodyPr/>
          <a:p/>
        </p:txBody>
      </p:sp>
      <p:sp>
        <p:nvSpPr>
          <p:cNvPr id="86" name="Shape 84"/>
          <p:cNvSpPr/>
          <p:nvPr/>
        </p:nvSpPr>
        <p:spPr>
          <a:xfrm>
            <a:off x="9642348" y="4521708"/>
            <a:ext cx="100584" cy="100584"/>
          </a:xfrm>
          <a:prstGeom prst="ellipse">
            <a:avLst/>
          </a:prstGeom>
          <a:solidFill>
            <a:srgbClr val="132A4A"/>
          </a:solidFill>
          <a:ln w="6350">
            <a:solidFill>
              <a:srgbClr val="132A4A"/>
            </a:solidFill>
            <a:prstDash val="solid"/>
          </a:ln>
        </p:spPr>
        <p:txBody>
          <a:bodyPr/>
          <a:p/>
        </p:txBody>
      </p:sp>
      <p:sp>
        <p:nvSpPr>
          <p:cNvPr id="87" name="Shape 85"/>
          <p:cNvSpPr/>
          <p:nvPr/>
        </p:nvSpPr>
        <p:spPr>
          <a:xfrm>
            <a:off x="9642348" y="5070348"/>
            <a:ext cx="100584" cy="100584"/>
          </a:xfrm>
          <a:prstGeom prst="ellipse">
            <a:avLst/>
          </a:prstGeom>
          <a:solidFill>
            <a:srgbClr val="132A4A"/>
          </a:solidFill>
          <a:ln w="6350">
            <a:solidFill>
              <a:srgbClr val="132A4A"/>
            </a:solidFill>
            <a:prstDash val="solid"/>
          </a:ln>
        </p:spPr>
        <p:txBody>
          <a:bodyPr/>
          <a:p/>
        </p:txBody>
      </p:sp>
      <p:sp>
        <p:nvSpPr>
          <p:cNvPr id="88" name="Shape 86"/>
          <p:cNvSpPr/>
          <p:nvPr/>
        </p:nvSpPr>
        <p:spPr>
          <a:xfrm>
            <a:off x="9642348" y="5618988"/>
            <a:ext cx="100584" cy="100584"/>
          </a:xfrm>
          <a:prstGeom prst="ellipse">
            <a:avLst/>
          </a:prstGeom>
          <a:solidFill>
            <a:srgbClr val="132A4A"/>
          </a:solidFill>
          <a:ln w="6350">
            <a:solidFill>
              <a:srgbClr val="132A4A"/>
            </a:solidFill>
            <a:prstDash val="solid"/>
          </a:ln>
        </p:spPr>
        <p:txBody>
          <a:bodyPr/>
          <a:p/>
        </p:txBody>
      </p:sp>
      <p:sp>
        <p:nvSpPr>
          <p:cNvPr id="89" name="Shape 87"/>
          <p:cNvSpPr/>
          <p:nvPr/>
        </p:nvSpPr>
        <p:spPr>
          <a:xfrm>
            <a:off x="2839212" y="195681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0" name="Text 88"/>
          <p:cNvSpPr/>
          <p:nvPr/>
        </p:nvSpPr>
        <p:spPr>
          <a:xfrm>
            <a:off x="2839212" y="195681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1" name="Shape 89"/>
          <p:cNvSpPr/>
          <p:nvPr/>
        </p:nvSpPr>
        <p:spPr>
          <a:xfrm>
            <a:off x="2839212" y="305409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2" name="Text 90"/>
          <p:cNvSpPr/>
          <p:nvPr/>
        </p:nvSpPr>
        <p:spPr>
          <a:xfrm>
            <a:off x="2839212" y="305409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3" name="Shape 91"/>
          <p:cNvSpPr/>
          <p:nvPr/>
        </p:nvSpPr>
        <p:spPr>
          <a:xfrm>
            <a:off x="2839212" y="415137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4" name="Text 92"/>
          <p:cNvSpPr/>
          <p:nvPr/>
        </p:nvSpPr>
        <p:spPr>
          <a:xfrm>
            <a:off x="2839212" y="415137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5" name="Shape 93"/>
          <p:cNvSpPr/>
          <p:nvPr/>
        </p:nvSpPr>
        <p:spPr>
          <a:xfrm>
            <a:off x="2839212" y="524865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6" name="Text 94"/>
          <p:cNvSpPr/>
          <p:nvPr/>
        </p:nvSpPr>
        <p:spPr>
          <a:xfrm>
            <a:off x="2839212" y="524865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7" name="Shape 95"/>
          <p:cNvSpPr/>
          <p:nvPr/>
        </p:nvSpPr>
        <p:spPr>
          <a:xfrm>
            <a:off x="5445252" y="223113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8" name="Text 96"/>
          <p:cNvSpPr/>
          <p:nvPr/>
        </p:nvSpPr>
        <p:spPr>
          <a:xfrm>
            <a:off x="5445252" y="223113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9" name="Shape 97"/>
          <p:cNvSpPr/>
          <p:nvPr/>
        </p:nvSpPr>
        <p:spPr>
          <a:xfrm>
            <a:off x="5445252" y="277977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00" name="Text 98"/>
          <p:cNvSpPr/>
          <p:nvPr/>
        </p:nvSpPr>
        <p:spPr>
          <a:xfrm>
            <a:off x="5445252" y="277977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101" name="Shape 99"/>
          <p:cNvSpPr/>
          <p:nvPr/>
        </p:nvSpPr>
        <p:spPr>
          <a:xfrm>
            <a:off x="5445252" y="442569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02" name="Text 100"/>
          <p:cNvSpPr/>
          <p:nvPr/>
        </p:nvSpPr>
        <p:spPr>
          <a:xfrm>
            <a:off x="5445252" y="442569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03" name="Shape 101"/>
          <p:cNvSpPr/>
          <p:nvPr/>
        </p:nvSpPr>
        <p:spPr>
          <a:xfrm>
            <a:off x="5445252" y="497433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04" name="Text 102"/>
          <p:cNvSpPr/>
          <p:nvPr/>
        </p:nvSpPr>
        <p:spPr>
          <a:xfrm>
            <a:off x="5445252" y="497433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105" name="Shape 103"/>
          <p:cNvSpPr/>
          <p:nvPr/>
        </p:nvSpPr>
        <p:spPr>
          <a:xfrm>
            <a:off x="8051292" y="277977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06" name="Text 104"/>
          <p:cNvSpPr/>
          <p:nvPr/>
        </p:nvSpPr>
        <p:spPr>
          <a:xfrm>
            <a:off x="8051292" y="277977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07" name="Shape 105"/>
          <p:cNvSpPr/>
          <p:nvPr/>
        </p:nvSpPr>
        <p:spPr>
          <a:xfrm>
            <a:off x="8051292" y="332841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08" name="Text 106"/>
          <p:cNvSpPr/>
          <p:nvPr/>
        </p:nvSpPr>
        <p:spPr>
          <a:xfrm>
            <a:off x="8051292" y="332841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W8^1</a:t>
            </a:r>
            <a:endParaRPr lang="en-US" sz="1100" dirty="0"/>
          </a:p>
        </p:txBody>
      </p:sp>
      <p:sp>
        <p:nvSpPr>
          <p:cNvPr id="109" name="Shape 107"/>
          <p:cNvSpPr/>
          <p:nvPr/>
        </p:nvSpPr>
        <p:spPr>
          <a:xfrm>
            <a:off x="8051292" y="387705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10" name="Text 108"/>
          <p:cNvSpPr/>
          <p:nvPr/>
        </p:nvSpPr>
        <p:spPr>
          <a:xfrm>
            <a:off x="8051292" y="387705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111" name="Shape 109"/>
          <p:cNvSpPr/>
          <p:nvPr/>
        </p:nvSpPr>
        <p:spPr>
          <a:xfrm>
            <a:off x="8051292" y="442569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12" name="Text 110"/>
          <p:cNvSpPr/>
          <p:nvPr/>
        </p:nvSpPr>
        <p:spPr>
          <a:xfrm>
            <a:off x="8051292" y="442569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W8^3</a:t>
            </a:r>
            <a:endParaRPr lang="en-US" sz="1100" dirty="0"/>
          </a:p>
        </p:txBody>
      </p:sp>
      <p:sp>
        <p:nvSpPr>
          <p:cNvPr id="113" name="Text 111"/>
          <p:cNvSpPr/>
          <p:nvPr/>
        </p:nvSpPr>
        <p:spPr>
          <a:xfrm>
            <a:off x="502920" y="170078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x[0]=1</a:t>
            </a:r>
            <a:endParaRPr lang="en-US" sz="1150" dirty="0"/>
          </a:p>
        </p:txBody>
      </p:sp>
      <p:sp>
        <p:nvSpPr>
          <p:cNvPr id="114" name="Text 112"/>
          <p:cNvSpPr/>
          <p:nvPr/>
        </p:nvSpPr>
        <p:spPr>
          <a:xfrm>
            <a:off x="502920" y="224942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x[4]=5</a:t>
            </a:r>
            <a:endParaRPr lang="en-US" sz="1150" dirty="0"/>
          </a:p>
        </p:txBody>
      </p:sp>
      <p:sp>
        <p:nvSpPr>
          <p:cNvPr id="115" name="Text 113"/>
          <p:cNvSpPr/>
          <p:nvPr/>
        </p:nvSpPr>
        <p:spPr>
          <a:xfrm>
            <a:off x="502920" y="279806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x[2]=3</a:t>
            </a:r>
            <a:endParaRPr lang="en-US" sz="1150" dirty="0"/>
          </a:p>
        </p:txBody>
      </p:sp>
      <p:sp>
        <p:nvSpPr>
          <p:cNvPr id="116" name="Text 114"/>
          <p:cNvSpPr/>
          <p:nvPr/>
        </p:nvSpPr>
        <p:spPr>
          <a:xfrm>
            <a:off x="502920" y="334670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x[6]=7</a:t>
            </a:r>
            <a:endParaRPr lang="en-US" sz="1150" dirty="0"/>
          </a:p>
        </p:txBody>
      </p:sp>
      <p:sp>
        <p:nvSpPr>
          <p:cNvPr id="117" name="Text 115"/>
          <p:cNvSpPr/>
          <p:nvPr/>
        </p:nvSpPr>
        <p:spPr>
          <a:xfrm>
            <a:off x="502920" y="389534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x[1]=2</a:t>
            </a:r>
            <a:endParaRPr lang="en-US" sz="1150" dirty="0"/>
          </a:p>
        </p:txBody>
      </p:sp>
      <p:sp>
        <p:nvSpPr>
          <p:cNvPr id="118" name="Text 116"/>
          <p:cNvSpPr/>
          <p:nvPr/>
        </p:nvSpPr>
        <p:spPr>
          <a:xfrm>
            <a:off x="502920" y="444398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x[5]=6</a:t>
            </a:r>
            <a:endParaRPr lang="en-US" sz="1150" dirty="0"/>
          </a:p>
        </p:txBody>
      </p:sp>
      <p:sp>
        <p:nvSpPr>
          <p:cNvPr id="119" name="Text 117"/>
          <p:cNvSpPr/>
          <p:nvPr/>
        </p:nvSpPr>
        <p:spPr>
          <a:xfrm>
            <a:off x="502920" y="499262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x[3]=4</a:t>
            </a:r>
            <a:endParaRPr lang="en-US" sz="1150" dirty="0"/>
          </a:p>
        </p:txBody>
      </p:sp>
      <p:sp>
        <p:nvSpPr>
          <p:cNvPr id="120" name="Text 118"/>
          <p:cNvSpPr/>
          <p:nvPr/>
        </p:nvSpPr>
        <p:spPr>
          <a:xfrm>
            <a:off x="502920" y="554126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x[7]=8</a:t>
            </a:r>
            <a:endParaRPr lang="en-US" sz="1150" dirty="0"/>
          </a:p>
        </p:txBody>
      </p:sp>
      <p:sp>
        <p:nvSpPr>
          <p:cNvPr id="121" name="Shape 119"/>
          <p:cNvSpPr/>
          <p:nvPr/>
        </p:nvSpPr>
        <p:spPr>
          <a:xfrm>
            <a:off x="9966960" y="163677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2" name="Text 120"/>
          <p:cNvSpPr/>
          <p:nvPr/>
        </p:nvSpPr>
        <p:spPr>
          <a:xfrm>
            <a:off x="9966960" y="163677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X[0]</a:t>
            </a:r>
            <a:endParaRPr lang="en-US" sz="1200" dirty="0"/>
          </a:p>
        </p:txBody>
      </p:sp>
      <p:sp>
        <p:nvSpPr>
          <p:cNvPr id="123" name="Shape 121"/>
          <p:cNvSpPr/>
          <p:nvPr/>
        </p:nvSpPr>
        <p:spPr>
          <a:xfrm>
            <a:off x="9966960" y="218541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4" name="Text 122"/>
          <p:cNvSpPr/>
          <p:nvPr/>
        </p:nvSpPr>
        <p:spPr>
          <a:xfrm>
            <a:off x="9966960" y="218541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X[1]</a:t>
            </a:r>
            <a:endParaRPr lang="en-US" sz="1200" dirty="0"/>
          </a:p>
        </p:txBody>
      </p:sp>
      <p:sp>
        <p:nvSpPr>
          <p:cNvPr id="125" name="Shape 123"/>
          <p:cNvSpPr/>
          <p:nvPr/>
        </p:nvSpPr>
        <p:spPr>
          <a:xfrm>
            <a:off x="9966960" y="273405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6" name="Text 124"/>
          <p:cNvSpPr/>
          <p:nvPr/>
        </p:nvSpPr>
        <p:spPr>
          <a:xfrm>
            <a:off x="9966960" y="273405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X[2]</a:t>
            </a:r>
            <a:endParaRPr lang="en-US" sz="1200" dirty="0"/>
          </a:p>
        </p:txBody>
      </p:sp>
      <p:sp>
        <p:nvSpPr>
          <p:cNvPr id="127" name="Shape 125"/>
          <p:cNvSpPr/>
          <p:nvPr/>
        </p:nvSpPr>
        <p:spPr>
          <a:xfrm>
            <a:off x="9966960" y="328269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8" name="Text 126"/>
          <p:cNvSpPr/>
          <p:nvPr/>
        </p:nvSpPr>
        <p:spPr>
          <a:xfrm>
            <a:off x="9966960" y="328269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X[3]</a:t>
            </a:r>
            <a:endParaRPr lang="en-US" sz="1200" dirty="0"/>
          </a:p>
        </p:txBody>
      </p:sp>
      <p:sp>
        <p:nvSpPr>
          <p:cNvPr id="129" name="Shape 127"/>
          <p:cNvSpPr/>
          <p:nvPr/>
        </p:nvSpPr>
        <p:spPr>
          <a:xfrm>
            <a:off x="9966960" y="383133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0" name="Text 128"/>
          <p:cNvSpPr/>
          <p:nvPr/>
        </p:nvSpPr>
        <p:spPr>
          <a:xfrm>
            <a:off x="9966960" y="383133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X[4]</a:t>
            </a:r>
            <a:endParaRPr lang="en-US" sz="1200" dirty="0"/>
          </a:p>
        </p:txBody>
      </p:sp>
      <p:sp>
        <p:nvSpPr>
          <p:cNvPr id="131" name="Shape 129"/>
          <p:cNvSpPr/>
          <p:nvPr/>
        </p:nvSpPr>
        <p:spPr>
          <a:xfrm>
            <a:off x="9966960" y="437997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2" name="Text 130"/>
          <p:cNvSpPr/>
          <p:nvPr/>
        </p:nvSpPr>
        <p:spPr>
          <a:xfrm>
            <a:off x="9966960" y="437997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X[5]</a:t>
            </a:r>
            <a:endParaRPr lang="en-US" sz="1200" dirty="0"/>
          </a:p>
        </p:txBody>
      </p:sp>
      <p:sp>
        <p:nvSpPr>
          <p:cNvPr id="133" name="Shape 131"/>
          <p:cNvSpPr/>
          <p:nvPr/>
        </p:nvSpPr>
        <p:spPr>
          <a:xfrm>
            <a:off x="9966960" y="492861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4" name="Text 132"/>
          <p:cNvSpPr/>
          <p:nvPr/>
        </p:nvSpPr>
        <p:spPr>
          <a:xfrm>
            <a:off x="9966960" y="492861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X[6]</a:t>
            </a:r>
            <a:endParaRPr lang="en-US" sz="1200" dirty="0"/>
          </a:p>
        </p:txBody>
      </p:sp>
      <p:sp>
        <p:nvSpPr>
          <p:cNvPr id="135" name="Shape 133"/>
          <p:cNvSpPr/>
          <p:nvPr/>
        </p:nvSpPr>
        <p:spPr>
          <a:xfrm>
            <a:off x="9966960" y="547725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6" name="Text 134"/>
          <p:cNvSpPr/>
          <p:nvPr/>
        </p:nvSpPr>
        <p:spPr>
          <a:xfrm>
            <a:off x="9966960" y="547725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X[7]</a:t>
            </a:r>
            <a:endParaRPr lang="en-US" sz="1200" dirty="0"/>
          </a:p>
        </p:txBody>
      </p:sp>
      <p:sp>
        <p:nvSpPr>
          <p:cNvPr id="137" name="Text 135"/>
          <p:cNvSpPr/>
          <p:nvPr/>
        </p:nvSpPr>
        <p:spPr>
          <a:xfrm>
            <a:off x="502920" y="6053328"/>
            <a:ext cx="11155680" cy="411480"/>
          </a:xfrm>
          <a:prstGeom prst="rect">
            <a:avLst/>
          </a:prstGeom>
          <a:noFill/>
          <a:ln/>
        </p:spPr>
        <p:txBody>
          <a:bodyPr wrap="square" rtlCol="0" anchor="t"/>
          <a:lstStyle/>
          <a:p>
            <a:pPr algn="l" indent="0" marL="0">
              <a:lnSpc>
                <a:spcPct val="118000"/>
              </a:lnSpc>
              <a:buNone/>
            </a:pPr>
            <a:r>
              <a:rPr lang="en-US" sz="1100" i="1" dirty="0">
                <a:solidFill>
                  <a:srgbClr val="5C6B7A"/>
                </a:solidFill>
                <a:latin typeface="Calibri" pitchFamily="34" charset="0"/>
                <a:ea typeface="Calibri" pitchFamily="34" charset="-122"/>
                <a:cs typeface="Calibri" pitchFamily="34" charset="-120"/>
              </a:rPr>
              <a:t>Read left to right. Each box is one butterfly with its twiddle factor (teal = trivial 1, amber = other). The span doubles every stage: 1, 2, then 4 rows apart.</a:t>
            </a:r>
            <a:endParaRPr lang="en-US" sz="1155" dirty="0"/>
          </a:p>
        </p:txBody>
      </p:sp>
      <p:sp>
        <p:nvSpPr>
          <p:cNvPr id="138" name="Shape 136"/>
          <p:cNvSpPr/>
          <p:nvPr/>
        </p:nvSpPr>
        <p:spPr>
          <a:xfrm>
            <a:off x="502920" y="6473952"/>
            <a:ext cx="11155680" cy="27432"/>
          </a:xfrm>
          <a:prstGeom prst="rect">
            <a:avLst/>
          </a:prstGeom>
          <a:solidFill>
            <a:srgbClr val="D7DEE8"/>
          </a:solidFill>
          <a:ln/>
        </p:spPr>
        <p:txBody>
          <a:bodyPr/>
          <a:p/>
        </p:txBody>
      </p:sp>
      <p:sp>
        <p:nvSpPr>
          <p:cNvPr id="139" name="Shape 137"/>
          <p:cNvSpPr/>
          <p:nvPr/>
        </p:nvSpPr>
        <p:spPr>
          <a:xfrm>
            <a:off x="502920" y="6473952"/>
            <a:ext cx="5577840" cy="27432"/>
          </a:xfrm>
          <a:prstGeom prst="rect">
            <a:avLst/>
          </a:prstGeom>
          <a:solidFill>
            <a:srgbClr val="0E8388"/>
          </a:solidFill>
          <a:ln/>
        </p:spPr>
        <p:txBody>
          <a:bodyPr/>
          <a:p/>
        </p:txBody>
      </p:sp>
      <p:sp>
        <p:nvSpPr>
          <p:cNvPr id="140" name="Text 138"/>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41" name="Text 139"/>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Worked Example: Input</a:t>
            </a:r>
            <a:endParaRPr lang="en-US" sz="2600" dirty="0"/>
          </a:p>
        </p:txBody>
      </p:sp>
      <p:sp>
        <p:nvSpPr>
          <p:cNvPr id="4" name="Text 2"/>
          <p:cNvSpPr/>
          <p:nvPr/>
        </p:nvSpPr>
        <p:spPr>
          <a:xfrm>
            <a:off x="502920" y="1280160"/>
            <a:ext cx="512064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INPUT SEQUENCE, NATURAL ORDER</a:t>
            </a:r>
            <a:endParaRPr lang="en-US" sz="1200" dirty="0"/>
          </a:p>
        </p:txBody>
      </p:sp>
      <p:sp>
        <p:nvSpPr>
          <p:cNvPr id="5" name="Shape 3"/>
          <p:cNvSpPr/>
          <p:nvPr/>
        </p:nvSpPr>
        <p:spPr>
          <a:xfrm>
            <a:off x="502920"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6" name="Text 4"/>
          <p:cNvSpPr/>
          <p:nvPr/>
        </p:nvSpPr>
        <p:spPr>
          <a:xfrm>
            <a:off x="502920"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x0=1</a:t>
            </a:r>
            <a:endParaRPr lang="en-US" sz="1100" dirty="0"/>
          </a:p>
        </p:txBody>
      </p:sp>
      <p:sp>
        <p:nvSpPr>
          <p:cNvPr id="7" name="Shape 5"/>
          <p:cNvSpPr/>
          <p:nvPr/>
        </p:nvSpPr>
        <p:spPr>
          <a:xfrm>
            <a:off x="1161288"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8" name="Text 6"/>
          <p:cNvSpPr/>
          <p:nvPr/>
        </p:nvSpPr>
        <p:spPr>
          <a:xfrm>
            <a:off x="1161288"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x1=2</a:t>
            </a:r>
            <a:endParaRPr lang="en-US" sz="1100" dirty="0"/>
          </a:p>
        </p:txBody>
      </p:sp>
      <p:sp>
        <p:nvSpPr>
          <p:cNvPr id="9" name="Shape 7"/>
          <p:cNvSpPr/>
          <p:nvPr/>
        </p:nvSpPr>
        <p:spPr>
          <a:xfrm>
            <a:off x="1819656"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10" name="Text 8"/>
          <p:cNvSpPr/>
          <p:nvPr/>
        </p:nvSpPr>
        <p:spPr>
          <a:xfrm>
            <a:off x="1819656"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x2=3</a:t>
            </a:r>
            <a:endParaRPr lang="en-US" sz="1100" dirty="0"/>
          </a:p>
        </p:txBody>
      </p:sp>
      <p:sp>
        <p:nvSpPr>
          <p:cNvPr id="11" name="Shape 9"/>
          <p:cNvSpPr/>
          <p:nvPr/>
        </p:nvSpPr>
        <p:spPr>
          <a:xfrm>
            <a:off x="2478024"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12" name="Text 10"/>
          <p:cNvSpPr/>
          <p:nvPr/>
        </p:nvSpPr>
        <p:spPr>
          <a:xfrm>
            <a:off x="2478024"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x3=4</a:t>
            </a:r>
            <a:endParaRPr lang="en-US" sz="1100" dirty="0"/>
          </a:p>
        </p:txBody>
      </p:sp>
      <p:sp>
        <p:nvSpPr>
          <p:cNvPr id="13" name="Shape 11"/>
          <p:cNvSpPr/>
          <p:nvPr/>
        </p:nvSpPr>
        <p:spPr>
          <a:xfrm>
            <a:off x="3136392"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14" name="Text 12"/>
          <p:cNvSpPr/>
          <p:nvPr/>
        </p:nvSpPr>
        <p:spPr>
          <a:xfrm>
            <a:off x="3136392"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x4=5</a:t>
            </a:r>
            <a:endParaRPr lang="en-US" sz="1100" dirty="0"/>
          </a:p>
        </p:txBody>
      </p:sp>
      <p:sp>
        <p:nvSpPr>
          <p:cNvPr id="15" name="Shape 13"/>
          <p:cNvSpPr/>
          <p:nvPr/>
        </p:nvSpPr>
        <p:spPr>
          <a:xfrm>
            <a:off x="3794760"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16" name="Text 14"/>
          <p:cNvSpPr/>
          <p:nvPr/>
        </p:nvSpPr>
        <p:spPr>
          <a:xfrm>
            <a:off x="3794760"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x5=6</a:t>
            </a:r>
            <a:endParaRPr lang="en-US" sz="1100" dirty="0"/>
          </a:p>
        </p:txBody>
      </p:sp>
      <p:sp>
        <p:nvSpPr>
          <p:cNvPr id="17" name="Shape 15"/>
          <p:cNvSpPr/>
          <p:nvPr/>
        </p:nvSpPr>
        <p:spPr>
          <a:xfrm>
            <a:off x="4453128"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18" name="Text 16"/>
          <p:cNvSpPr/>
          <p:nvPr/>
        </p:nvSpPr>
        <p:spPr>
          <a:xfrm>
            <a:off x="4453128"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x6=7</a:t>
            </a:r>
            <a:endParaRPr lang="en-US" sz="1100" dirty="0"/>
          </a:p>
        </p:txBody>
      </p:sp>
      <p:sp>
        <p:nvSpPr>
          <p:cNvPr id="19" name="Shape 17"/>
          <p:cNvSpPr/>
          <p:nvPr/>
        </p:nvSpPr>
        <p:spPr>
          <a:xfrm>
            <a:off x="5111496" y="1600200"/>
            <a:ext cx="603504" cy="502920"/>
          </a:xfrm>
          <a:prstGeom prst="roundRect">
            <a:avLst>
              <a:gd name="adj" fmla="val 14545"/>
            </a:avLst>
          </a:prstGeom>
          <a:solidFill>
            <a:srgbClr val="EAF1FB"/>
          </a:solidFill>
          <a:ln w="12700">
            <a:solidFill>
              <a:srgbClr val="D7DEE8"/>
            </a:solidFill>
            <a:prstDash val="solid"/>
          </a:ln>
        </p:spPr>
        <p:txBody>
          <a:bodyPr/>
          <a:p/>
        </p:txBody>
      </p:sp>
      <p:sp>
        <p:nvSpPr>
          <p:cNvPr id="20" name="Text 18"/>
          <p:cNvSpPr/>
          <p:nvPr/>
        </p:nvSpPr>
        <p:spPr>
          <a:xfrm>
            <a:off x="5111496" y="160020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x7=8</a:t>
            </a:r>
            <a:endParaRPr lang="en-US" sz="1100" dirty="0"/>
          </a:p>
        </p:txBody>
      </p:sp>
      <p:sp>
        <p:nvSpPr>
          <p:cNvPr id="21" name="Text 19"/>
          <p:cNvSpPr/>
          <p:nvPr/>
        </p:nvSpPr>
        <p:spPr>
          <a:xfrm>
            <a:off x="502920" y="2377440"/>
            <a:ext cx="548640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REORDERED BY BIT-REVERSAL, READY FOR STAGES</a:t>
            </a:r>
            <a:endParaRPr lang="en-US" sz="1200" dirty="0"/>
          </a:p>
        </p:txBody>
      </p:sp>
      <p:sp>
        <p:nvSpPr>
          <p:cNvPr id="22" name="Shape 20"/>
          <p:cNvSpPr/>
          <p:nvPr/>
        </p:nvSpPr>
        <p:spPr>
          <a:xfrm>
            <a:off x="502920"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23" name="Text 21"/>
          <p:cNvSpPr/>
          <p:nvPr/>
        </p:nvSpPr>
        <p:spPr>
          <a:xfrm>
            <a:off x="502920"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x0=1</a:t>
            </a:r>
            <a:endParaRPr lang="en-US" sz="1100" dirty="0"/>
          </a:p>
        </p:txBody>
      </p:sp>
      <p:sp>
        <p:nvSpPr>
          <p:cNvPr id="24" name="Shape 22"/>
          <p:cNvSpPr/>
          <p:nvPr/>
        </p:nvSpPr>
        <p:spPr>
          <a:xfrm>
            <a:off x="1161288"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25" name="Text 23"/>
          <p:cNvSpPr/>
          <p:nvPr/>
        </p:nvSpPr>
        <p:spPr>
          <a:xfrm>
            <a:off x="1161288"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x4=5</a:t>
            </a:r>
            <a:endParaRPr lang="en-US" sz="1100" dirty="0"/>
          </a:p>
        </p:txBody>
      </p:sp>
      <p:sp>
        <p:nvSpPr>
          <p:cNvPr id="26" name="Shape 24"/>
          <p:cNvSpPr/>
          <p:nvPr/>
        </p:nvSpPr>
        <p:spPr>
          <a:xfrm>
            <a:off x="1819656"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27" name="Text 25"/>
          <p:cNvSpPr/>
          <p:nvPr/>
        </p:nvSpPr>
        <p:spPr>
          <a:xfrm>
            <a:off x="1819656"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x2=3</a:t>
            </a:r>
            <a:endParaRPr lang="en-US" sz="1100" dirty="0"/>
          </a:p>
        </p:txBody>
      </p:sp>
      <p:sp>
        <p:nvSpPr>
          <p:cNvPr id="28" name="Shape 26"/>
          <p:cNvSpPr/>
          <p:nvPr/>
        </p:nvSpPr>
        <p:spPr>
          <a:xfrm>
            <a:off x="2478024"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29" name="Text 27"/>
          <p:cNvSpPr/>
          <p:nvPr/>
        </p:nvSpPr>
        <p:spPr>
          <a:xfrm>
            <a:off x="2478024"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x6=7</a:t>
            </a:r>
            <a:endParaRPr lang="en-US" sz="1100" dirty="0"/>
          </a:p>
        </p:txBody>
      </p:sp>
      <p:sp>
        <p:nvSpPr>
          <p:cNvPr id="30" name="Shape 28"/>
          <p:cNvSpPr/>
          <p:nvPr/>
        </p:nvSpPr>
        <p:spPr>
          <a:xfrm>
            <a:off x="3136392"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31" name="Text 29"/>
          <p:cNvSpPr/>
          <p:nvPr/>
        </p:nvSpPr>
        <p:spPr>
          <a:xfrm>
            <a:off x="3136392"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x1=2</a:t>
            </a:r>
            <a:endParaRPr lang="en-US" sz="1100" dirty="0"/>
          </a:p>
        </p:txBody>
      </p:sp>
      <p:sp>
        <p:nvSpPr>
          <p:cNvPr id="32" name="Shape 30"/>
          <p:cNvSpPr/>
          <p:nvPr/>
        </p:nvSpPr>
        <p:spPr>
          <a:xfrm>
            <a:off x="3794760"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33" name="Text 31"/>
          <p:cNvSpPr/>
          <p:nvPr/>
        </p:nvSpPr>
        <p:spPr>
          <a:xfrm>
            <a:off x="3794760"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x5=6</a:t>
            </a:r>
            <a:endParaRPr lang="en-US" sz="1100" dirty="0"/>
          </a:p>
        </p:txBody>
      </p:sp>
      <p:sp>
        <p:nvSpPr>
          <p:cNvPr id="34" name="Shape 32"/>
          <p:cNvSpPr/>
          <p:nvPr/>
        </p:nvSpPr>
        <p:spPr>
          <a:xfrm>
            <a:off x="4453128"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35" name="Text 33"/>
          <p:cNvSpPr/>
          <p:nvPr/>
        </p:nvSpPr>
        <p:spPr>
          <a:xfrm>
            <a:off x="4453128"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x3=4</a:t>
            </a:r>
            <a:endParaRPr lang="en-US" sz="1100" dirty="0"/>
          </a:p>
        </p:txBody>
      </p:sp>
      <p:sp>
        <p:nvSpPr>
          <p:cNvPr id="36" name="Shape 34"/>
          <p:cNvSpPr/>
          <p:nvPr/>
        </p:nvSpPr>
        <p:spPr>
          <a:xfrm>
            <a:off x="5111496" y="2697480"/>
            <a:ext cx="603504" cy="502920"/>
          </a:xfrm>
          <a:prstGeom prst="roundRect">
            <a:avLst>
              <a:gd name="adj" fmla="val 14545"/>
            </a:avLst>
          </a:prstGeom>
          <a:solidFill>
            <a:srgbClr val="E4F3F2"/>
          </a:solidFill>
          <a:ln w="12700">
            <a:solidFill>
              <a:srgbClr val="9FD4D1"/>
            </a:solidFill>
            <a:prstDash val="solid"/>
          </a:ln>
        </p:spPr>
        <p:txBody>
          <a:bodyPr/>
          <a:p/>
        </p:txBody>
      </p:sp>
      <p:sp>
        <p:nvSpPr>
          <p:cNvPr id="37" name="Text 35"/>
          <p:cNvSpPr/>
          <p:nvPr/>
        </p:nvSpPr>
        <p:spPr>
          <a:xfrm>
            <a:off x="5111496" y="2697480"/>
            <a:ext cx="603504" cy="50292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x7=8</a:t>
            </a:r>
            <a:endParaRPr lang="en-US" sz="1100" dirty="0"/>
          </a:p>
        </p:txBody>
      </p:sp>
      <p:sp>
        <p:nvSpPr>
          <p:cNvPr id="38" name="Shape 36"/>
          <p:cNvSpPr/>
          <p:nvPr/>
        </p:nvSpPr>
        <p:spPr>
          <a:xfrm>
            <a:off x="502920" y="3520440"/>
            <a:ext cx="11155680" cy="2286000"/>
          </a:xfrm>
          <a:prstGeom prst="roundRect">
            <a:avLst>
              <a:gd name="adj" fmla="val 2400"/>
            </a:avLst>
          </a:prstGeom>
          <a:solidFill>
            <a:srgbClr val="EAF1FB"/>
          </a:solidFill>
          <a:ln w="12700">
            <a:solidFill>
              <a:srgbClr val="D7DEE8"/>
            </a:solidFill>
            <a:prstDash val="solid"/>
          </a:ln>
        </p:spPr>
        <p:txBody>
          <a:bodyPr/>
          <a:p/>
        </p:txBody>
      </p:sp>
      <p:sp>
        <p:nvSpPr>
          <p:cNvPr id="39" name="Text 37"/>
          <p:cNvSpPr/>
          <p:nvPr/>
        </p:nvSpPr>
        <p:spPr>
          <a:xfrm>
            <a:off x="731520" y="3657600"/>
            <a:ext cx="10698480" cy="201168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Plan for the next slides: starting from the bit-reversed sequence [1, 5, 3, 7, 2, 6, 4, 8], every butterfly in all three stages is calculated explicitly, which two numbers go in, which twiddle factor is used, and what the sum and difference are. No step is skipped and no result is only stated.</a:t>
            </a:r>
            <a:endParaRPr lang="en-US" sz="1430" dirty="0"/>
          </a:p>
          <a:p>
            <a:pPr algn="l" indent="0" marL="0">
              <a:lnSpc>
                <a:spcPct val="118000"/>
              </a:lnSpc>
              <a:buNone/>
            </a:pPr>
            <a:endParaRPr lang="en-US" sz="1430"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At the end, the eight outputs X[0]..X[7] are checked against the direct DFT summation, to confirm the FFT and DFT produce identical numbers.</a:t>
            </a:r>
            <a:endParaRPr lang="en-US" sz="1430" dirty="0"/>
          </a:p>
        </p:txBody>
      </p:sp>
      <p:sp>
        <p:nvSpPr>
          <p:cNvPr id="40" name="Shape 38"/>
          <p:cNvSpPr/>
          <p:nvPr/>
        </p:nvSpPr>
        <p:spPr>
          <a:xfrm>
            <a:off x="502920" y="6473952"/>
            <a:ext cx="11155680" cy="27432"/>
          </a:xfrm>
          <a:prstGeom prst="rect">
            <a:avLst/>
          </a:prstGeom>
          <a:solidFill>
            <a:srgbClr val="D7DEE8"/>
          </a:solidFill>
          <a:ln/>
        </p:spPr>
        <p:txBody>
          <a:bodyPr/>
          <a:p/>
        </p:txBody>
      </p:sp>
      <p:sp>
        <p:nvSpPr>
          <p:cNvPr id="41" name="Shape 39"/>
          <p:cNvSpPr/>
          <p:nvPr/>
        </p:nvSpPr>
        <p:spPr>
          <a:xfrm>
            <a:off x="502920" y="6473952"/>
            <a:ext cx="5843451" cy="27432"/>
          </a:xfrm>
          <a:prstGeom prst="rect">
            <a:avLst/>
          </a:prstGeom>
          <a:solidFill>
            <a:srgbClr val="0E8388"/>
          </a:solidFill>
          <a:ln/>
        </p:spPr>
        <p:txBody>
          <a:bodyPr/>
          <a:p/>
        </p:txBody>
      </p:sp>
      <p:sp>
        <p:nvSpPr>
          <p:cNvPr id="42" name="Text 4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3" name="Text 4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Numerical Calculation: Stage 1 &amp; 2</a:t>
            </a:r>
            <a:endParaRPr lang="en-US" sz="2600" dirty="0"/>
          </a:p>
        </p:txBody>
      </p:sp>
      <p:sp>
        <p:nvSpPr>
          <p:cNvPr id="4" name="Text 2"/>
          <p:cNvSpPr/>
          <p:nvPr/>
        </p:nvSpPr>
        <p:spPr>
          <a:xfrm>
            <a:off x="502920" y="118872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STAGE 1 · FOUR TRIVIAL 2-POINT BUTTERFLIES</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212080" cy="1463040"/>
        </p:xfrm>
        <a:graphic>
          <a:graphicData uri="http://schemas.openxmlformats.org/drawingml/2006/table">
            <a:tbl>
              <a:tblPr/>
              <a:tblGrid>
                <a:gridCol w="1280160"/>
                <a:gridCol w="640080"/>
                <a:gridCol w="640080"/>
                <a:gridCol w="457200"/>
                <a:gridCol w="640080"/>
                <a:gridCol w="64008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BFly</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 (x0,x4)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 (x2,x6)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7</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 (x1,x5)</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 (x3,x7)</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3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6" name="Text 3"/>
          <p:cNvSpPr/>
          <p:nvPr/>
        </p:nvSpPr>
        <p:spPr>
          <a:xfrm>
            <a:off x="502920" y="3063240"/>
            <a:ext cx="5212080" cy="50292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All values here are real since the twiddle factor is 1 in every Stage-1 butterfly. Complex values first appear in Stage 2.</a:t>
            </a:r>
            <a:endParaRPr lang="en-US" sz="1210" dirty="0"/>
          </a:p>
        </p:txBody>
      </p:sp>
      <p:sp>
        <p:nvSpPr>
          <p:cNvPr id="7" name="Text 4"/>
          <p:cNvSpPr/>
          <p:nvPr/>
        </p:nvSpPr>
        <p:spPr>
          <a:xfrm>
            <a:off x="6446520" y="118872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STAGE 2 · COMBINE INTO FOUR-POINT RESULTS</a:t>
            </a:r>
            <a:endParaRPr lang="en-US" sz="12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446520" y="1481328"/>
          <a:ext cx="4937760" cy="1463040"/>
        </p:xfrm>
        <a:graphic>
          <a:graphicData uri="http://schemas.openxmlformats.org/drawingml/2006/table">
            <a:tbl>
              <a:tblPr/>
              <a:tblGrid>
                <a:gridCol w="457200"/>
                <a:gridCol w="365760"/>
                <a:gridCol w="640080"/>
                <a:gridCol w="640080"/>
                <a:gridCol w="457200"/>
                <a:gridCol w="1188720"/>
                <a:gridCol w="11887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Grp</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A+WB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A-WB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A</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16</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A</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20</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067"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9" name="Text 5"/>
          <p:cNvSpPr/>
          <p:nvPr/>
        </p:nvSpPr>
        <p:spPr>
          <a:xfrm>
            <a:off x="6446520" y="3063240"/>
            <a:ext cx="4937760" cy="5943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Stage 2 outputs: E[0..3] = 16, -4+4j, -4, -4-4j.  O[0..3] = 20, -4+4j, -4, -4-4j.</a:t>
            </a:r>
            <a:endParaRPr lang="en-US" sz="1243" dirty="0"/>
          </a:p>
        </p:txBody>
      </p:sp>
      <p:sp>
        <p:nvSpPr>
          <p:cNvPr id="10" name="Shape 6"/>
          <p:cNvSpPr/>
          <p:nvPr/>
        </p:nvSpPr>
        <p:spPr>
          <a:xfrm>
            <a:off x="502920" y="3794760"/>
            <a:ext cx="11155680" cy="1280160"/>
          </a:xfrm>
          <a:prstGeom prst="roundRect">
            <a:avLst>
              <a:gd name="adj" fmla="val 4286"/>
            </a:avLst>
          </a:prstGeom>
          <a:solidFill>
            <a:srgbClr val="EAF1FB"/>
          </a:solidFill>
          <a:ln w="12700">
            <a:solidFill>
              <a:srgbClr val="D7DEE8"/>
            </a:solidFill>
            <a:prstDash val="solid"/>
          </a:ln>
        </p:spPr>
        <p:txBody>
          <a:bodyPr/>
          <a:p/>
        </p:txBody>
      </p:sp>
      <p:sp>
        <p:nvSpPr>
          <p:cNvPr id="11" name="Text 7"/>
          <p:cNvSpPr/>
          <p:nvPr/>
        </p:nvSpPr>
        <p:spPr>
          <a:xfrm>
            <a:off x="685800" y="3931920"/>
            <a:ext cx="10789920" cy="10058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W4^1 = -j is a trivial rotation: multiplying by -j swaps real and imaginary parts and negates one of them, so (-j)(-4) = 4j needs only a sign flip and a swap, not a general complex multiplier.</a:t>
            </a:r>
            <a:endParaRPr lang="en-US" sz="1353" dirty="0"/>
          </a:p>
        </p:txBody>
      </p:sp>
      <p:sp>
        <p:nvSpPr>
          <p:cNvPr id="12" name="Shape 8"/>
          <p:cNvSpPr/>
          <p:nvPr/>
        </p:nvSpPr>
        <p:spPr>
          <a:xfrm>
            <a:off x="502920" y="6473952"/>
            <a:ext cx="11155680" cy="27432"/>
          </a:xfrm>
          <a:prstGeom prst="rect">
            <a:avLst/>
          </a:prstGeom>
          <a:solidFill>
            <a:srgbClr val="D7DEE8"/>
          </a:solidFill>
          <a:ln/>
        </p:spPr>
        <p:txBody>
          <a:bodyPr/>
          <a:p/>
        </p:txBody>
      </p:sp>
      <p:sp>
        <p:nvSpPr>
          <p:cNvPr id="13" name="Shape 9"/>
          <p:cNvSpPr/>
          <p:nvPr/>
        </p:nvSpPr>
        <p:spPr>
          <a:xfrm>
            <a:off x="502920" y="6473952"/>
            <a:ext cx="6109063" cy="27432"/>
          </a:xfrm>
          <a:prstGeom prst="rect">
            <a:avLst/>
          </a:prstGeom>
          <a:solidFill>
            <a:srgbClr val="0E8388"/>
          </a:solidFill>
          <a:ln/>
        </p:spPr>
        <p:txBody>
          <a:bodyPr/>
          <a:p/>
        </p:txBody>
      </p:sp>
      <p:sp>
        <p:nvSpPr>
          <p:cNvPr id="14" name="Text 1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5" name="Text 1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DIT Numerical Calculation: Stage 3 &amp; Final</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1463040"/>
        </p:xfrm>
        <a:graphic>
          <a:graphicData uri="http://schemas.openxmlformats.org/drawingml/2006/table">
            <a:tbl>
              <a:tblPr/>
              <a:tblGrid>
                <a:gridCol w="548640"/>
                <a:gridCol w="1463040"/>
                <a:gridCol w="1463040"/>
                <a:gridCol w="2194560"/>
                <a:gridCol w="2651760"/>
                <a:gridCol w="28346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A=E[k]</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B=O[k]</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Twiddle W₈ᵏ</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X[k]=A+WB</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X[k+4]=A-WB</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16</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20</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36</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0.7071-0.7071j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-4+9.657j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-4-1.657j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-0.7071-0.7071j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-4+1.657j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-4-9.657j</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5" name="Text 2"/>
          <p:cNvSpPr/>
          <p:nvPr/>
        </p:nvSpPr>
        <p:spPr>
          <a:xfrm>
            <a:off x="502920" y="2926080"/>
            <a:ext cx="11155680" cy="50292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For k=1 and k=3, W8^k times B is a full complex multiplication, e.g. for k=1: (0.7071-0.7071j)(-4+4j) = 0 + j5.657. These are the only two genuine complex multiplications in the entire 8-point transform.</a:t>
            </a:r>
            <a:endParaRPr lang="en-US" sz="1320" dirty="0"/>
          </a:p>
        </p:txBody>
      </p:sp>
      <p:sp>
        <p:nvSpPr>
          <p:cNvPr id="6" name="Text 3"/>
          <p:cNvSpPr/>
          <p:nvPr/>
        </p:nvSpPr>
        <p:spPr>
          <a:xfrm>
            <a:off x="502920" y="3611880"/>
            <a:ext cx="111556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FINAL OUTPUTS X[0]..X[7], NATURAL ORDER (NO PERMUTATION NEEDED FOR DIT)</a:t>
            </a:r>
            <a:endParaRPr lang="en-US" sz="12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502920" y="3931920"/>
          <a:ext cx="11155680" cy="585216"/>
        </p:xfrm>
        <a:graphic>
          <a:graphicData uri="http://schemas.openxmlformats.org/drawingml/2006/table">
            <a:tbl>
              <a:tblPr/>
              <a:tblGrid>
                <a:gridCol w="1394460"/>
                <a:gridCol w="1394460"/>
                <a:gridCol w="1394460"/>
                <a:gridCol w="1394460"/>
                <a:gridCol w="1394460"/>
                <a:gridCol w="1394460"/>
                <a:gridCol w="1394460"/>
                <a:gridCol w="139446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X[0]</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X[1]</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X[2]</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X[3]</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X[5]</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X[6]</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X[7]</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0E8388"/>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36</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-4+9.657j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-4+1.657j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-4-1.657j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-4-4j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-4-9.657j</a:t>
                      </a:r>
                      <a:endParaRPr lang="en-US" sz="121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6473952"/>
            <a:ext cx="11155680" cy="27432"/>
          </a:xfrm>
          <a:prstGeom prst="rect">
            <a:avLst/>
          </a:prstGeom>
          <a:solidFill>
            <a:srgbClr val="D7DEE8"/>
          </a:solidFill>
          <a:ln/>
        </p:spPr>
        <p:txBody>
          <a:bodyPr/>
          <a:p/>
        </p:txBody>
      </p:sp>
      <p:sp>
        <p:nvSpPr>
          <p:cNvPr id="9" name="Shape 5"/>
          <p:cNvSpPr/>
          <p:nvPr/>
        </p:nvSpPr>
        <p:spPr>
          <a:xfrm>
            <a:off x="502920" y="6473952"/>
            <a:ext cx="6374674" cy="27432"/>
          </a:xfrm>
          <a:prstGeom prst="rect">
            <a:avLst/>
          </a:prstGeom>
          <a:solidFill>
            <a:srgbClr val="0E8388"/>
          </a:solidFill>
          <a:ln/>
        </p:spPr>
        <p:txBody>
          <a:bodyPr/>
          <a:p/>
        </p:txBody>
      </p:sp>
      <p:sp>
        <p:nvSpPr>
          <p:cNvPr id="10" name="Text 6"/>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1" name="Text 7"/>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3A · FFT8 WITH DIT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Verifying the DIT Result Against Direct DFT</a:t>
            </a:r>
            <a:endParaRPr lang="en-US" sz="2600" dirty="0"/>
          </a:p>
        </p:txBody>
      </p:sp>
      <p:sp>
        <p:nvSpPr>
          <p:cNvPr id="4" name="Shape 2"/>
          <p:cNvSpPr/>
          <p:nvPr/>
        </p:nvSpPr>
        <p:spPr>
          <a:xfrm>
            <a:off x="502920" y="1234440"/>
            <a:ext cx="5212080" cy="1234440"/>
          </a:xfrm>
          <a:prstGeom prst="roundRect">
            <a:avLst>
              <a:gd name="adj" fmla="val 4444"/>
            </a:avLst>
          </a:prstGeom>
          <a:solidFill>
            <a:srgbClr val="E4F3F2"/>
          </a:solidFill>
          <a:ln w="12700">
            <a:solidFill>
              <a:srgbClr val="9FD4D1"/>
            </a:solidFill>
            <a:prstDash val="solid"/>
          </a:ln>
        </p:spPr>
        <p:txBody>
          <a:bodyPr/>
          <a:p/>
        </p:txBody>
      </p:sp>
      <p:sp>
        <p:nvSpPr>
          <p:cNvPr id="5" name="Text 3"/>
          <p:cNvSpPr/>
          <p:nvPr/>
        </p:nvSpPr>
        <p:spPr>
          <a:xfrm>
            <a:off x="685800" y="1325880"/>
            <a:ext cx="4846320" cy="109728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Cross-check 1: X[0] must equal the sum of all samples.</a:t>
            </a:r>
            <a:endParaRPr lang="en-US" sz="1320" dirty="0"/>
          </a:p>
          <a:p>
            <a:pPr algn="l" indent="0" marL="0">
              <a:lnSpc>
                <a:spcPct val="118000"/>
              </a:lnSpc>
              <a:buNone/>
            </a:pPr>
            <a:endParaRPr lang="en-US" sz="1320"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X[0] = 1+2+3+4+5+6+7+8 = 36, matches the FFT result X[0]=36.</a:t>
            </a:r>
            <a:endParaRPr lang="en-US" sz="1320" dirty="0"/>
          </a:p>
        </p:txBody>
      </p:sp>
      <p:sp>
        <p:nvSpPr>
          <p:cNvPr id="6" name="Shape 4"/>
          <p:cNvSpPr/>
          <p:nvPr/>
        </p:nvSpPr>
        <p:spPr>
          <a:xfrm>
            <a:off x="502920" y="2606040"/>
            <a:ext cx="5212080" cy="1234440"/>
          </a:xfrm>
          <a:prstGeom prst="roundRect">
            <a:avLst>
              <a:gd name="adj" fmla="val 4444"/>
            </a:avLst>
          </a:prstGeom>
          <a:solidFill>
            <a:srgbClr val="FBF0E2"/>
          </a:solidFill>
          <a:ln w="12700">
            <a:solidFill>
              <a:srgbClr val="E7CDA0"/>
            </a:solidFill>
            <a:prstDash val="solid"/>
          </a:ln>
        </p:spPr>
        <p:txBody>
          <a:bodyPr/>
          <a:p/>
        </p:txBody>
      </p:sp>
      <p:sp>
        <p:nvSpPr>
          <p:cNvPr id="7" name="Text 5"/>
          <p:cNvSpPr/>
          <p:nvPr/>
        </p:nvSpPr>
        <p:spPr>
          <a:xfrm>
            <a:off x="685800" y="2697480"/>
            <a:ext cx="4846320" cy="109728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Cross-check 2: direct evaluation of X[1] from the DFT definition.</a:t>
            </a:r>
            <a:endParaRPr lang="en-US" sz="1320" dirty="0"/>
          </a:p>
          <a:p>
            <a:pPr algn="l" indent="0" marL="0">
              <a:lnSpc>
                <a:spcPct val="118000"/>
              </a:lnSpc>
              <a:buNone/>
            </a:pPr>
            <a:endParaRPr lang="en-US" sz="1320"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X[1] = sum of x[n] W8^n = -4 + j(4+4sqrt2) = -4+j9.657, matches the FFT result.</a:t>
            </a:r>
            <a:endParaRPr lang="en-US" sz="1320" dirty="0"/>
          </a:p>
        </p:txBody>
      </p:sp>
      <p:sp>
        <p:nvSpPr>
          <p:cNvPr id="8" name="Text 6"/>
          <p:cNvSpPr/>
          <p:nvPr/>
        </p:nvSpPr>
        <p:spPr>
          <a:xfrm>
            <a:off x="502920" y="402336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CROSS-CHECK 3 · CONJUGATE SYMMETRY (x[n] REAL)</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4297680"/>
          <a:ext cx="5212080" cy="1463040"/>
        </p:xfrm>
        <a:graphic>
          <a:graphicData uri="http://schemas.openxmlformats.org/drawingml/2006/table">
            <a:tbl>
              <a:tblPr/>
              <a:tblGrid>
                <a:gridCol w="1188720"/>
                <a:gridCol w="2286000"/>
                <a:gridCol w="173736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Pair</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Expected: X[N-k]=X[k]*</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FFT result</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X[7] vs X[1]</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conj(-4+9.657j)=-4-9.657j</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X[7]=-4-9.657j ✓</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X[6] vs X[2]</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conj(-4+4j)=-4-4j</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X[6]=-4-4j ✓</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X[5] vs X[3]</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conj(-4+1.657j)=-4-1.657j</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X[5]=-4-1.657j ✓</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X[4]</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must be purely real (Nyquist)</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X[4]=-4 ✓</a:t>
                      </a:r>
                      <a:endParaRPr lang="en-US" sz="107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10" name="Shape 7"/>
          <p:cNvSpPr/>
          <p:nvPr/>
        </p:nvSpPr>
        <p:spPr>
          <a:xfrm>
            <a:off x="6446520" y="1234440"/>
            <a:ext cx="4937760" cy="5120640"/>
          </a:xfrm>
          <a:prstGeom prst="roundRect">
            <a:avLst>
              <a:gd name="adj" fmla="val 1111"/>
            </a:avLst>
          </a:prstGeom>
          <a:solidFill>
            <a:srgbClr val="132A4A"/>
          </a:solidFill>
          <a:ln w="12700">
            <a:solidFill>
              <a:srgbClr val="132A4A"/>
            </a:solidFill>
            <a:prstDash val="solid"/>
          </a:ln>
        </p:spPr>
        <p:txBody>
          <a:bodyPr/>
          <a:p/>
        </p:txBody>
      </p:sp>
      <p:sp>
        <p:nvSpPr>
          <p:cNvPr id="11" name="Text 8"/>
          <p:cNvSpPr/>
          <p:nvPr/>
        </p:nvSpPr>
        <p:spPr>
          <a:xfrm>
            <a:off x="6675120" y="1463040"/>
            <a:ext cx="4480560" cy="4114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Every check agrees.</a:t>
            </a:r>
            <a:endParaRPr lang="en-US" sz="2000" dirty="0"/>
          </a:p>
        </p:txBody>
      </p:sp>
      <p:sp>
        <p:nvSpPr>
          <p:cNvPr id="12" name="Text 9"/>
          <p:cNvSpPr/>
          <p:nvPr/>
        </p:nvSpPr>
        <p:spPr>
          <a:xfrm>
            <a:off x="6675120" y="2011680"/>
            <a:ext cx="4480560" cy="4023360"/>
          </a:xfrm>
          <a:prstGeom prst="rect">
            <a:avLst/>
          </a:prstGeom>
          <a:noFill/>
          <a:ln/>
        </p:spPr>
        <p:txBody>
          <a:bodyPr wrap="square" rtlCol="0" anchor="t"/>
          <a:lstStyle/>
          <a:p>
            <a:pPr algn="l" indent="0" marL="0">
              <a:lnSpc>
                <a:spcPct val="118000"/>
              </a:lnSpc>
              <a:buNone/>
            </a:pPr>
            <a:r>
              <a:rPr lang="en-US" sz="1300" dirty="0">
                <a:solidFill>
                  <a:srgbClr val="EAF1FB"/>
                </a:solidFill>
                <a:latin typeface="Calibri" pitchFamily="34" charset="0"/>
                <a:ea typeface="Calibri" pitchFamily="34" charset="-122"/>
                <a:cs typeface="Calibri" pitchFamily="34" charset="-120"/>
              </a:rPr>
              <a:t>The 12-butterfly FFT computation and the 64-multiply direct DFT summation produce numerically identical results, as they must: the FFT is an algorithm for computing the DFT, not a different transform. Every intermediate value traced through the three stages, bit-reversal, and twiddle multiplications checks out against the brute-force definition.</a:t>
            </a:r>
            <a:endParaRPr lang="en-US" sz="1430" dirty="0"/>
          </a:p>
          <a:p>
            <a:pPr algn="l" indent="0" marL="0">
              <a:lnSpc>
                <a:spcPct val="118000"/>
              </a:lnSpc>
              <a:buNone/>
            </a:pPr>
            <a:endParaRPr lang="en-US" sz="1430" dirty="0"/>
          </a:p>
          <a:p>
            <a:pPr algn="l" indent="0" marL="0">
              <a:lnSpc>
                <a:spcPct val="118000"/>
              </a:lnSpc>
              <a:buNone/>
            </a:pPr>
            <a:r>
              <a:rPr lang="en-US" sz="1300" dirty="0">
                <a:solidFill>
                  <a:srgbClr val="EAF1FB"/>
                </a:solidFill>
                <a:latin typeface="Calibri" pitchFamily="34" charset="0"/>
                <a:ea typeface="Calibri" pitchFamily="34" charset="-122"/>
                <a:cs typeface="Calibri" pitchFamily="34" charset="-120"/>
              </a:rPr>
              <a:t>This is the confirmation that the entire radix-2 DIT derivation, from the split-by-parity algebra through the butterfly flow graph, is correct and can be trusted as the basis for a hardware implementation.</a:t>
            </a:r>
            <a:endParaRPr lang="en-US" sz="1430" dirty="0"/>
          </a:p>
        </p:txBody>
      </p:sp>
      <p:sp>
        <p:nvSpPr>
          <p:cNvPr id="13" name="Shape 10"/>
          <p:cNvSpPr/>
          <p:nvPr/>
        </p:nvSpPr>
        <p:spPr>
          <a:xfrm>
            <a:off x="502920" y="6473952"/>
            <a:ext cx="11155680" cy="27432"/>
          </a:xfrm>
          <a:prstGeom prst="rect">
            <a:avLst/>
          </a:prstGeom>
          <a:solidFill>
            <a:srgbClr val="D7DEE8"/>
          </a:solidFill>
          <a:ln/>
        </p:spPr>
        <p:txBody>
          <a:bodyPr/>
          <a:p/>
        </p:txBody>
      </p:sp>
      <p:sp>
        <p:nvSpPr>
          <p:cNvPr id="14" name="Shape 11"/>
          <p:cNvSpPr/>
          <p:nvPr/>
        </p:nvSpPr>
        <p:spPr>
          <a:xfrm>
            <a:off x="502920" y="6473952"/>
            <a:ext cx="6640286" cy="27432"/>
          </a:xfrm>
          <a:prstGeom prst="rect">
            <a:avLst/>
          </a:prstGeom>
          <a:solidFill>
            <a:srgbClr val="0E8388"/>
          </a:solidFill>
          <a:ln/>
        </p:spPr>
        <p:txBody>
          <a:bodyPr/>
          <a:p/>
        </p:txBody>
      </p:sp>
      <p:sp>
        <p:nvSpPr>
          <p:cNvPr id="15" name="Text 12"/>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6" name="Text 13"/>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(DIT)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3B · FFT8 WITH DIF</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Complete Flow Graph (DIF)</a:t>
            </a:r>
            <a:endParaRPr lang="en-US" sz="2600" dirty="0"/>
          </a:p>
        </p:txBody>
      </p:sp>
      <p:sp>
        <p:nvSpPr>
          <p:cNvPr id="4" name="Text 2"/>
          <p:cNvSpPr/>
          <p:nvPr/>
        </p:nvSpPr>
        <p:spPr>
          <a:xfrm>
            <a:off x="502920" y="1298448"/>
            <a:ext cx="1371600" cy="274320"/>
          </a:xfrm>
          <a:prstGeom prst="rect">
            <a:avLst/>
          </a:prstGeom>
          <a:noFill/>
          <a:ln/>
        </p:spPr>
        <p:txBody>
          <a:bodyPr wrap="square" lIns="0" tIns="0" rIns="0" bIns="0" rtlCol="0" anchor="ctr"/>
          <a:lstStyle/>
          <a:p>
            <a:pPr algn="l" indent="0" marL="0">
              <a:buNone/>
            </a:pPr>
            <a:r>
              <a:rPr lang="en-US" sz="1100" b="1" dirty="0">
                <a:solidFill>
                  <a:srgbClr val="5C6B7A"/>
                </a:solidFill>
                <a:latin typeface="Calibri" pitchFamily="34" charset="0"/>
                <a:ea typeface="Calibri" pitchFamily="34" charset="-122"/>
                <a:cs typeface="Calibri" pitchFamily="34" charset="-120"/>
              </a:rPr>
              <a:t>Natural-order input</a:t>
            </a:r>
            <a:endParaRPr lang="en-US" sz="1000" dirty="0"/>
          </a:p>
        </p:txBody>
      </p:sp>
      <p:sp>
        <p:nvSpPr>
          <p:cNvPr id="5" name="Text 3"/>
          <p:cNvSpPr/>
          <p:nvPr/>
        </p:nvSpPr>
        <p:spPr>
          <a:xfrm>
            <a:off x="226314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1</a:t>
            </a:r>
            <a:endParaRPr lang="en-US" sz="1300" dirty="0"/>
          </a:p>
        </p:txBody>
      </p:sp>
      <p:sp>
        <p:nvSpPr>
          <p:cNvPr id="6" name="Text 4"/>
          <p:cNvSpPr/>
          <p:nvPr/>
        </p:nvSpPr>
        <p:spPr>
          <a:xfrm>
            <a:off x="486918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2</a:t>
            </a:r>
            <a:endParaRPr lang="en-US" sz="1300" dirty="0"/>
          </a:p>
        </p:txBody>
      </p:sp>
      <p:sp>
        <p:nvSpPr>
          <p:cNvPr id="7" name="Text 5"/>
          <p:cNvSpPr/>
          <p:nvPr/>
        </p:nvSpPr>
        <p:spPr>
          <a:xfrm>
            <a:off x="7475220" y="1298448"/>
            <a:ext cx="1828800" cy="274320"/>
          </a:xfrm>
          <a:prstGeom prst="rect">
            <a:avLst/>
          </a:prstGeom>
          <a:noFill/>
          <a:ln/>
        </p:spPr>
        <p:txBody>
          <a:bodyPr wrap="square" lIns="0" tIns="0" rIns="0" bIns="0"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Stage 3</a:t>
            </a:r>
            <a:endParaRPr lang="en-US" sz="1300" dirty="0"/>
          </a:p>
        </p:txBody>
      </p:sp>
      <p:sp>
        <p:nvSpPr>
          <p:cNvPr id="8" name="Text 6"/>
          <p:cNvSpPr/>
          <p:nvPr/>
        </p:nvSpPr>
        <p:spPr>
          <a:xfrm>
            <a:off x="9921240" y="1298448"/>
            <a:ext cx="1920240" cy="274320"/>
          </a:xfrm>
          <a:prstGeom prst="rect">
            <a:avLst/>
          </a:prstGeom>
          <a:noFill/>
          <a:ln/>
        </p:spPr>
        <p:txBody>
          <a:bodyPr wrap="square" lIns="0" tIns="0" rIns="0" bIns="0" rtlCol="0" anchor="ctr"/>
          <a:lstStyle/>
          <a:p>
            <a:pPr algn="l" indent="0" marL="0">
              <a:buNone/>
            </a:pPr>
            <a:r>
              <a:rPr lang="en-US" sz="1100" b="1" dirty="0">
                <a:solidFill>
                  <a:srgbClr val="5C6B7A"/>
                </a:solidFill>
                <a:latin typeface="Calibri" pitchFamily="34" charset="0"/>
                <a:ea typeface="Calibri" pitchFamily="34" charset="-122"/>
                <a:cs typeface="Calibri" pitchFamily="34" charset="-120"/>
              </a:rPr>
              <a:t>Output (bit-reversed order)</a:t>
            </a:r>
            <a:endParaRPr lang="en-US" sz="1000" dirty="0"/>
          </a:p>
        </p:txBody>
      </p:sp>
      <p:sp>
        <p:nvSpPr>
          <p:cNvPr id="9" name="Shape 7"/>
          <p:cNvSpPr/>
          <p:nvPr/>
        </p:nvSpPr>
        <p:spPr>
          <a:xfrm>
            <a:off x="1874520" y="1828800"/>
            <a:ext cx="964692" cy="1028700"/>
          </a:xfrm>
          <a:prstGeom prst="line">
            <a:avLst/>
          </a:prstGeom>
          <a:noFill/>
          <a:ln w="19050">
            <a:solidFill>
              <a:srgbClr val="9FB0C8"/>
            </a:solidFill>
            <a:prstDash val="solid"/>
          </a:ln>
        </p:spPr>
        <p:txBody>
          <a:bodyPr/>
          <a:p/>
        </p:txBody>
      </p:sp>
      <p:sp>
        <p:nvSpPr>
          <p:cNvPr id="10" name="Shape 8"/>
          <p:cNvSpPr/>
          <p:nvPr/>
        </p:nvSpPr>
        <p:spPr>
          <a:xfrm flipV="1">
            <a:off x="1874520" y="2994660"/>
            <a:ext cx="964692" cy="1028700"/>
          </a:xfrm>
          <a:prstGeom prst="line">
            <a:avLst/>
          </a:prstGeom>
          <a:noFill/>
          <a:ln w="19050">
            <a:solidFill>
              <a:srgbClr val="9FB0C8"/>
            </a:solidFill>
            <a:prstDash val="solid"/>
          </a:ln>
        </p:spPr>
        <p:txBody>
          <a:bodyPr/>
          <a:p/>
        </p:txBody>
      </p:sp>
      <p:sp>
        <p:nvSpPr>
          <p:cNvPr id="11" name="Shape 9"/>
          <p:cNvSpPr/>
          <p:nvPr/>
        </p:nvSpPr>
        <p:spPr>
          <a:xfrm flipV="1">
            <a:off x="3515868" y="1828800"/>
            <a:ext cx="964692" cy="1028700"/>
          </a:xfrm>
          <a:prstGeom prst="line">
            <a:avLst/>
          </a:prstGeom>
          <a:noFill/>
          <a:ln w="19050">
            <a:solidFill>
              <a:srgbClr val="9FB0C8"/>
            </a:solidFill>
            <a:prstDash val="solid"/>
          </a:ln>
        </p:spPr>
        <p:txBody>
          <a:bodyPr/>
          <a:p/>
        </p:txBody>
      </p:sp>
      <p:sp>
        <p:nvSpPr>
          <p:cNvPr id="12" name="Shape 10"/>
          <p:cNvSpPr/>
          <p:nvPr/>
        </p:nvSpPr>
        <p:spPr>
          <a:xfrm>
            <a:off x="3515868" y="2994660"/>
            <a:ext cx="964692" cy="1028700"/>
          </a:xfrm>
          <a:prstGeom prst="line">
            <a:avLst/>
          </a:prstGeom>
          <a:noFill/>
          <a:ln w="19050">
            <a:solidFill>
              <a:srgbClr val="9FB0C8"/>
            </a:solidFill>
            <a:prstDash val="solid"/>
          </a:ln>
        </p:spPr>
        <p:txBody>
          <a:bodyPr/>
          <a:p/>
        </p:txBody>
      </p:sp>
      <p:sp>
        <p:nvSpPr>
          <p:cNvPr id="13" name="Shape 11"/>
          <p:cNvSpPr/>
          <p:nvPr/>
        </p:nvSpPr>
        <p:spPr>
          <a:xfrm>
            <a:off x="1874520" y="2377440"/>
            <a:ext cx="964692" cy="1028700"/>
          </a:xfrm>
          <a:prstGeom prst="line">
            <a:avLst/>
          </a:prstGeom>
          <a:noFill/>
          <a:ln w="19050">
            <a:solidFill>
              <a:srgbClr val="9FB0C8"/>
            </a:solidFill>
            <a:prstDash val="solid"/>
          </a:ln>
        </p:spPr>
        <p:txBody>
          <a:bodyPr/>
          <a:p/>
        </p:txBody>
      </p:sp>
      <p:sp>
        <p:nvSpPr>
          <p:cNvPr id="14" name="Shape 12"/>
          <p:cNvSpPr/>
          <p:nvPr/>
        </p:nvSpPr>
        <p:spPr>
          <a:xfrm flipV="1">
            <a:off x="1874520" y="3543300"/>
            <a:ext cx="964692" cy="1028700"/>
          </a:xfrm>
          <a:prstGeom prst="line">
            <a:avLst/>
          </a:prstGeom>
          <a:noFill/>
          <a:ln w="19050">
            <a:solidFill>
              <a:srgbClr val="9FB0C8"/>
            </a:solidFill>
            <a:prstDash val="solid"/>
          </a:ln>
        </p:spPr>
        <p:txBody>
          <a:bodyPr/>
          <a:p/>
        </p:txBody>
      </p:sp>
      <p:sp>
        <p:nvSpPr>
          <p:cNvPr id="15" name="Shape 13"/>
          <p:cNvSpPr/>
          <p:nvPr/>
        </p:nvSpPr>
        <p:spPr>
          <a:xfrm flipV="1">
            <a:off x="3515868" y="2377440"/>
            <a:ext cx="964692" cy="1028700"/>
          </a:xfrm>
          <a:prstGeom prst="line">
            <a:avLst/>
          </a:prstGeom>
          <a:noFill/>
          <a:ln w="19050">
            <a:solidFill>
              <a:srgbClr val="9FB0C8"/>
            </a:solidFill>
            <a:prstDash val="solid"/>
          </a:ln>
        </p:spPr>
        <p:txBody>
          <a:bodyPr/>
          <a:p/>
        </p:txBody>
      </p:sp>
      <p:sp>
        <p:nvSpPr>
          <p:cNvPr id="16" name="Shape 14"/>
          <p:cNvSpPr/>
          <p:nvPr/>
        </p:nvSpPr>
        <p:spPr>
          <a:xfrm>
            <a:off x="3515868" y="3543300"/>
            <a:ext cx="964692" cy="1028700"/>
          </a:xfrm>
          <a:prstGeom prst="line">
            <a:avLst/>
          </a:prstGeom>
          <a:noFill/>
          <a:ln w="19050">
            <a:solidFill>
              <a:srgbClr val="9FB0C8"/>
            </a:solidFill>
            <a:prstDash val="solid"/>
          </a:ln>
        </p:spPr>
        <p:txBody>
          <a:bodyPr/>
          <a:p/>
        </p:txBody>
      </p:sp>
      <p:sp>
        <p:nvSpPr>
          <p:cNvPr id="17" name="Shape 15"/>
          <p:cNvSpPr/>
          <p:nvPr/>
        </p:nvSpPr>
        <p:spPr>
          <a:xfrm>
            <a:off x="1874520" y="2926080"/>
            <a:ext cx="964692" cy="1028700"/>
          </a:xfrm>
          <a:prstGeom prst="line">
            <a:avLst/>
          </a:prstGeom>
          <a:noFill/>
          <a:ln w="19050">
            <a:solidFill>
              <a:srgbClr val="9FB0C8"/>
            </a:solidFill>
            <a:prstDash val="solid"/>
          </a:ln>
        </p:spPr>
        <p:txBody>
          <a:bodyPr/>
          <a:p/>
        </p:txBody>
      </p:sp>
      <p:sp>
        <p:nvSpPr>
          <p:cNvPr id="18" name="Shape 16"/>
          <p:cNvSpPr/>
          <p:nvPr/>
        </p:nvSpPr>
        <p:spPr>
          <a:xfrm flipV="1">
            <a:off x="1874520" y="4091940"/>
            <a:ext cx="964692" cy="1028700"/>
          </a:xfrm>
          <a:prstGeom prst="line">
            <a:avLst/>
          </a:prstGeom>
          <a:noFill/>
          <a:ln w="19050">
            <a:solidFill>
              <a:srgbClr val="9FB0C8"/>
            </a:solidFill>
            <a:prstDash val="solid"/>
          </a:ln>
        </p:spPr>
        <p:txBody>
          <a:bodyPr/>
          <a:p/>
        </p:txBody>
      </p:sp>
      <p:sp>
        <p:nvSpPr>
          <p:cNvPr id="19" name="Shape 17"/>
          <p:cNvSpPr/>
          <p:nvPr/>
        </p:nvSpPr>
        <p:spPr>
          <a:xfrm flipV="1">
            <a:off x="3515868" y="2926080"/>
            <a:ext cx="964692" cy="1028700"/>
          </a:xfrm>
          <a:prstGeom prst="line">
            <a:avLst/>
          </a:prstGeom>
          <a:noFill/>
          <a:ln w="19050">
            <a:solidFill>
              <a:srgbClr val="9FB0C8"/>
            </a:solidFill>
            <a:prstDash val="solid"/>
          </a:ln>
        </p:spPr>
        <p:txBody>
          <a:bodyPr/>
          <a:p/>
        </p:txBody>
      </p:sp>
      <p:sp>
        <p:nvSpPr>
          <p:cNvPr id="20" name="Shape 18"/>
          <p:cNvSpPr/>
          <p:nvPr/>
        </p:nvSpPr>
        <p:spPr>
          <a:xfrm>
            <a:off x="3515868" y="4091940"/>
            <a:ext cx="964692" cy="1028700"/>
          </a:xfrm>
          <a:prstGeom prst="line">
            <a:avLst/>
          </a:prstGeom>
          <a:noFill/>
          <a:ln w="19050">
            <a:solidFill>
              <a:srgbClr val="9FB0C8"/>
            </a:solidFill>
            <a:prstDash val="solid"/>
          </a:ln>
        </p:spPr>
        <p:txBody>
          <a:bodyPr/>
          <a:p/>
        </p:txBody>
      </p:sp>
      <p:sp>
        <p:nvSpPr>
          <p:cNvPr id="21" name="Shape 19"/>
          <p:cNvSpPr/>
          <p:nvPr/>
        </p:nvSpPr>
        <p:spPr>
          <a:xfrm>
            <a:off x="1874520" y="3474720"/>
            <a:ext cx="964692" cy="1028700"/>
          </a:xfrm>
          <a:prstGeom prst="line">
            <a:avLst/>
          </a:prstGeom>
          <a:noFill/>
          <a:ln w="19050">
            <a:solidFill>
              <a:srgbClr val="9FB0C8"/>
            </a:solidFill>
            <a:prstDash val="solid"/>
          </a:ln>
        </p:spPr>
        <p:txBody>
          <a:bodyPr/>
          <a:p/>
        </p:txBody>
      </p:sp>
      <p:sp>
        <p:nvSpPr>
          <p:cNvPr id="22" name="Shape 20"/>
          <p:cNvSpPr/>
          <p:nvPr/>
        </p:nvSpPr>
        <p:spPr>
          <a:xfrm flipV="1">
            <a:off x="1874520" y="4640580"/>
            <a:ext cx="964692" cy="1028700"/>
          </a:xfrm>
          <a:prstGeom prst="line">
            <a:avLst/>
          </a:prstGeom>
          <a:noFill/>
          <a:ln w="19050">
            <a:solidFill>
              <a:srgbClr val="9FB0C8"/>
            </a:solidFill>
            <a:prstDash val="solid"/>
          </a:ln>
        </p:spPr>
        <p:txBody>
          <a:bodyPr/>
          <a:p/>
        </p:txBody>
      </p:sp>
      <p:sp>
        <p:nvSpPr>
          <p:cNvPr id="23" name="Shape 21"/>
          <p:cNvSpPr/>
          <p:nvPr/>
        </p:nvSpPr>
        <p:spPr>
          <a:xfrm flipV="1">
            <a:off x="3515868" y="3474720"/>
            <a:ext cx="964692" cy="1028700"/>
          </a:xfrm>
          <a:prstGeom prst="line">
            <a:avLst/>
          </a:prstGeom>
          <a:noFill/>
          <a:ln w="19050">
            <a:solidFill>
              <a:srgbClr val="9FB0C8"/>
            </a:solidFill>
            <a:prstDash val="solid"/>
          </a:ln>
        </p:spPr>
        <p:txBody>
          <a:bodyPr/>
          <a:p/>
        </p:txBody>
      </p:sp>
      <p:sp>
        <p:nvSpPr>
          <p:cNvPr id="24" name="Shape 22"/>
          <p:cNvSpPr/>
          <p:nvPr/>
        </p:nvSpPr>
        <p:spPr>
          <a:xfrm>
            <a:off x="3515868" y="4640580"/>
            <a:ext cx="964692" cy="1028700"/>
          </a:xfrm>
          <a:prstGeom prst="line">
            <a:avLst/>
          </a:prstGeom>
          <a:noFill/>
          <a:ln w="19050">
            <a:solidFill>
              <a:srgbClr val="9FB0C8"/>
            </a:solidFill>
            <a:prstDash val="solid"/>
          </a:ln>
        </p:spPr>
        <p:txBody>
          <a:bodyPr/>
          <a:p/>
        </p:txBody>
      </p:sp>
      <p:sp>
        <p:nvSpPr>
          <p:cNvPr id="25" name="Shape 23"/>
          <p:cNvSpPr/>
          <p:nvPr/>
        </p:nvSpPr>
        <p:spPr>
          <a:xfrm>
            <a:off x="4480560" y="1828800"/>
            <a:ext cx="964692" cy="480060"/>
          </a:xfrm>
          <a:prstGeom prst="line">
            <a:avLst/>
          </a:prstGeom>
          <a:noFill/>
          <a:ln w="19050">
            <a:solidFill>
              <a:srgbClr val="9FB0C8"/>
            </a:solidFill>
            <a:prstDash val="solid"/>
          </a:ln>
        </p:spPr>
        <p:txBody>
          <a:bodyPr/>
          <a:p/>
        </p:txBody>
      </p:sp>
      <p:sp>
        <p:nvSpPr>
          <p:cNvPr id="26" name="Shape 24"/>
          <p:cNvSpPr/>
          <p:nvPr/>
        </p:nvSpPr>
        <p:spPr>
          <a:xfrm flipV="1">
            <a:off x="4480560" y="2446020"/>
            <a:ext cx="964692" cy="480060"/>
          </a:xfrm>
          <a:prstGeom prst="line">
            <a:avLst/>
          </a:prstGeom>
          <a:noFill/>
          <a:ln w="19050">
            <a:solidFill>
              <a:srgbClr val="9FB0C8"/>
            </a:solidFill>
            <a:prstDash val="solid"/>
          </a:ln>
        </p:spPr>
        <p:txBody>
          <a:bodyPr/>
          <a:p/>
        </p:txBody>
      </p:sp>
      <p:sp>
        <p:nvSpPr>
          <p:cNvPr id="27" name="Shape 25"/>
          <p:cNvSpPr/>
          <p:nvPr/>
        </p:nvSpPr>
        <p:spPr>
          <a:xfrm flipV="1">
            <a:off x="6121908" y="1828800"/>
            <a:ext cx="964692" cy="480060"/>
          </a:xfrm>
          <a:prstGeom prst="line">
            <a:avLst/>
          </a:prstGeom>
          <a:noFill/>
          <a:ln w="19050">
            <a:solidFill>
              <a:srgbClr val="9FB0C8"/>
            </a:solidFill>
            <a:prstDash val="solid"/>
          </a:ln>
        </p:spPr>
        <p:txBody>
          <a:bodyPr/>
          <a:p/>
        </p:txBody>
      </p:sp>
      <p:sp>
        <p:nvSpPr>
          <p:cNvPr id="28" name="Shape 26"/>
          <p:cNvSpPr/>
          <p:nvPr/>
        </p:nvSpPr>
        <p:spPr>
          <a:xfrm>
            <a:off x="6121908" y="2446020"/>
            <a:ext cx="964692" cy="480060"/>
          </a:xfrm>
          <a:prstGeom prst="line">
            <a:avLst/>
          </a:prstGeom>
          <a:noFill/>
          <a:ln w="19050">
            <a:solidFill>
              <a:srgbClr val="9FB0C8"/>
            </a:solidFill>
            <a:prstDash val="solid"/>
          </a:ln>
        </p:spPr>
        <p:txBody>
          <a:bodyPr/>
          <a:p/>
        </p:txBody>
      </p:sp>
      <p:sp>
        <p:nvSpPr>
          <p:cNvPr id="29" name="Shape 27"/>
          <p:cNvSpPr/>
          <p:nvPr/>
        </p:nvSpPr>
        <p:spPr>
          <a:xfrm>
            <a:off x="4480560" y="2377440"/>
            <a:ext cx="964692" cy="480060"/>
          </a:xfrm>
          <a:prstGeom prst="line">
            <a:avLst/>
          </a:prstGeom>
          <a:noFill/>
          <a:ln w="19050">
            <a:solidFill>
              <a:srgbClr val="9FB0C8"/>
            </a:solidFill>
            <a:prstDash val="solid"/>
          </a:ln>
        </p:spPr>
        <p:txBody>
          <a:bodyPr/>
          <a:p/>
        </p:txBody>
      </p:sp>
      <p:sp>
        <p:nvSpPr>
          <p:cNvPr id="30" name="Shape 28"/>
          <p:cNvSpPr/>
          <p:nvPr/>
        </p:nvSpPr>
        <p:spPr>
          <a:xfrm flipV="1">
            <a:off x="4480560" y="2994660"/>
            <a:ext cx="964692" cy="480060"/>
          </a:xfrm>
          <a:prstGeom prst="line">
            <a:avLst/>
          </a:prstGeom>
          <a:noFill/>
          <a:ln w="19050">
            <a:solidFill>
              <a:srgbClr val="9FB0C8"/>
            </a:solidFill>
            <a:prstDash val="solid"/>
          </a:ln>
        </p:spPr>
        <p:txBody>
          <a:bodyPr/>
          <a:p/>
        </p:txBody>
      </p:sp>
      <p:sp>
        <p:nvSpPr>
          <p:cNvPr id="31" name="Shape 29"/>
          <p:cNvSpPr/>
          <p:nvPr/>
        </p:nvSpPr>
        <p:spPr>
          <a:xfrm flipV="1">
            <a:off x="6121908" y="2377440"/>
            <a:ext cx="964692" cy="480060"/>
          </a:xfrm>
          <a:prstGeom prst="line">
            <a:avLst/>
          </a:prstGeom>
          <a:noFill/>
          <a:ln w="19050">
            <a:solidFill>
              <a:srgbClr val="9FB0C8"/>
            </a:solidFill>
            <a:prstDash val="solid"/>
          </a:ln>
        </p:spPr>
        <p:txBody>
          <a:bodyPr/>
          <a:p/>
        </p:txBody>
      </p:sp>
      <p:sp>
        <p:nvSpPr>
          <p:cNvPr id="32" name="Shape 30"/>
          <p:cNvSpPr/>
          <p:nvPr/>
        </p:nvSpPr>
        <p:spPr>
          <a:xfrm>
            <a:off x="6121908" y="2994660"/>
            <a:ext cx="964692" cy="480060"/>
          </a:xfrm>
          <a:prstGeom prst="line">
            <a:avLst/>
          </a:prstGeom>
          <a:noFill/>
          <a:ln w="19050">
            <a:solidFill>
              <a:srgbClr val="9FB0C8"/>
            </a:solidFill>
            <a:prstDash val="solid"/>
          </a:ln>
        </p:spPr>
        <p:txBody>
          <a:bodyPr/>
          <a:p/>
        </p:txBody>
      </p:sp>
      <p:sp>
        <p:nvSpPr>
          <p:cNvPr id="33" name="Shape 31"/>
          <p:cNvSpPr/>
          <p:nvPr/>
        </p:nvSpPr>
        <p:spPr>
          <a:xfrm>
            <a:off x="4480560" y="4023360"/>
            <a:ext cx="964692" cy="480060"/>
          </a:xfrm>
          <a:prstGeom prst="line">
            <a:avLst/>
          </a:prstGeom>
          <a:noFill/>
          <a:ln w="19050">
            <a:solidFill>
              <a:srgbClr val="9FB0C8"/>
            </a:solidFill>
            <a:prstDash val="solid"/>
          </a:ln>
        </p:spPr>
        <p:txBody>
          <a:bodyPr/>
          <a:p/>
        </p:txBody>
      </p:sp>
      <p:sp>
        <p:nvSpPr>
          <p:cNvPr id="34" name="Shape 32"/>
          <p:cNvSpPr/>
          <p:nvPr/>
        </p:nvSpPr>
        <p:spPr>
          <a:xfrm flipV="1">
            <a:off x="4480560" y="4640580"/>
            <a:ext cx="964692" cy="480060"/>
          </a:xfrm>
          <a:prstGeom prst="line">
            <a:avLst/>
          </a:prstGeom>
          <a:noFill/>
          <a:ln w="19050">
            <a:solidFill>
              <a:srgbClr val="9FB0C8"/>
            </a:solidFill>
            <a:prstDash val="solid"/>
          </a:ln>
        </p:spPr>
        <p:txBody>
          <a:bodyPr/>
          <a:p/>
        </p:txBody>
      </p:sp>
      <p:sp>
        <p:nvSpPr>
          <p:cNvPr id="35" name="Shape 33"/>
          <p:cNvSpPr/>
          <p:nvPr/>
        </p:nvSpPr>
        <p:spPr>
          <a:xfrm flipV="1">
            <a:off x="6121908" y="4023360"/>
            <a:ext cx="964692" cy="480060"/>
          </a:xfrm>
          <a:prstGeom prst="line">
            <a:avLst/>
          </a:prstGeom>
          <a:noFill/>
          <a:ln w="19050">
            <a:solidFill>
              <a:srgbClr val="9FB0C8"/>
            </a:solidFill>
            <a:prstDash val="solid"/>
          </a:ln>
        </p:spPr>
        <p:txBody>
          <a:bodyPr/>
          <a:p/>
        </p:txBody>
      </p:sp>
      <p:sp>
        <p:nvSpPr>
          <p:cNvPr id="36" name="Shape 34"/>
          <p:cNvSpPr/>
          <p:nvPr/>
        </p:nvSpPr>
        <p:spPr>
          <a:xfrm>
            <a:off x="6121908" y="4640580"/>
            <a:ext cx="964692" cy="480060"/>
          </a:xfrm>
          <a:prstGeom prst="line">
            <a:avLst/>
          </a:prstGeom>
          <a:noFill/>
          <a:ln w="19050">
            <a:solidFill>
              <a:srgbClr val="9FB0C8"/>
            </a:solidFill>
            <a:prstDash val="solid"/>
          </a:ln>
        </p:spPr>
        <p:txBody>
          <a:bodyPr/>
          <a:p/>
        </p:txBody>
      </p:sp>
      <p:sp>
        <p:nvSpPr>
          <p:cNvPr id="37" name="Shape 35"/>
          <p:cNvSpPr/>
          <p:nvPr/>
        </p:nvSpPr>
        <p:spPr>
          <a:xfrm>
            <a:off x="4480560" y="4572000"/>
            <a:ext cx="964692" cy="480060"/>
          </a:xfrm>
          <a:prstGeom prst="line">
            <a:avLst/>
          </a:prstGeom>
          <a:noFill/>
          <a:ln w="19050">
            <a:solidFill>
              <a:srgbClr val="9FB0C8"/>
            </a:solidFill>
            <a:prstDash val="solid"/>
          </a:ln>
        </p:spPr>
        <p:txBody>
          <a:bodyPr/>
          <a:p/>
        </p:txBody>
      </p:sp>
      <p:sp>
        <p:nvSpPr>
          <p:cNvPr id="38" name="Shape 36"/>
          <p:cNvSpPr/>
          <p:nvPr/>
        </p:nvSpPr>
        <p:spPr>
          <a:xfrm flipV="1">
            <a:off x="4480560" y="5189220"/>
            <a:ext cx="964692" cy="480060"/>
          </a:xfrm>
          <a:prstGeom prst="line">
            <a:avLst/>
          </a:prstGeom>
          <a:noFill/>
          <a:ln w="19050">
            <a:solidFill>
              <a:srgbClr val="9FB0C8"/>
            </a:solidFill>
            <a:prstDash val="solid"/>
          </a:ln>
        </p:spPr>
        <p:txBody>
          <a:bodyPr/>
          <a:p/>
        </p:txBody>
      </p:sp>
      <p:sp>
        <p:nvSpPr>
          <p:cNvPr id="39" name="Shape 37"/>
          <p:cNvSpPr/>
          <p:nvPr/>
        </p:nvSpPr>
        <p:spPr>
          <a:xfrm flipV="1">
            <a:off x="6121908" y="4572000"/>
            <a:ext cx="964692" cy="480060"/>
          </a:xfrm>
          <a:prstGeom prst="line">
            <a:avLst/>
          </a:prstGeom>
          <a:noFill/>
          <a:ln w="19050">
            <a:solidFill>
              <a:srgbClr val="9FB0C8"/>
            </a:solidFill>
            <a:prstDash val="solid"/>
          </a:ln>
        </p:spPr>
        <p:txBody>
          <a:bodyPr/>
          <a:p/>
        </p:txBody>
      </p:sp>
      <p:sp>
        <p:nvSpPr>
          <p:cNvPr id="40" name="Shape 38"/>
          <p:cNvSpPr/>
          <p:nvPr/>
        </p:nvSpPr>
        <p:spPr>
          <a:xfrm>
            <a:off x="6121908" y="5189220"/>
            <a:ext cx="964692" cy="480060"/>
          </a:xfrm>
          <a:prstGeom prst="line">
            <a:avLst/>
          </a:prstGeom>
          <a:noFill/>
          <a:ln w="19050">
            <a:solidFill>
              <a:srgbClr val="9FB0C8"/>
            </a:solidFill>
            <a:prstDash val="solid"/>
          </a:ln>
        </p:spPr>
        <p:txBody>
          <a:bodyPr/>
          <a:p/>
        </p:txBody>
      </p:sp>
      <p:sp>
        <p:nvSpPr>
          <p:cNvPr id="41" name="Shape 39"/>
          <p:cNvSpPr/>
          <p:nvPr/>
        </p:nvSpPr>
        <p:spPr>
          <a:xfrm>
            <a:off x="7086600" y="1828800"/>
            <a:ext cx="964692" cy="205740"/>
          </a:xfrm>
          <a:prstGeom prst="line">
            <a:avLst/>
          </a:prstGeom>
          <a:noFill/>
          <a:ln w="19050">
            <a:solidFill>
              <a:srgbClr val="9FB0C8"/>
            </a:solidFill>
            <a:prstDash val="solid"/>
          </a:ln>
        </p:spPr>
        <p:txBody>
          <a:bodyPr/>
          <a:p/>
        </p:txBody>
      </p:sp>
      <p:sp>
        <p:nvSpPr>
          <p:cNvPr id="42" name="Shape 40"/>
          <p:cNvSpPr/>
          <p:nvPr/>
        </p:nvSpPr>
        <p:spPr>
          <a:xfrm flipV="1">
            <a:off x="7086600" y="2171700"/>
            <a:ext cx="964692" cy="205740"/>
          </a:xfrm>
          <a:prstGeom prst="line">
            <a:avLst/>
          </a:prstGeom>
          <a:noFill/>
          <a:ln w="19050">
            <a:solidFill>
              <a:srgbClr val="9FB0C8"/>
            </a:solidFill>
            <a:prstDash val="solid"/>
          </a:ln>
        </p:spPr>
        <p:txBody>
          <a:bodyPr/>
          <a:p/>
        </p:txBody>
      </p:sp>
      <p:sp>
        <p:nvSpPr>
          <p:cNvPr id="43" name="Shape 41"/>
          <p:cNvSpPr/>
          <p:nvPr/>
        </p:nvSpPr>
        <p:spPr>
          <a:xfrm flipV="1">
            <a:off x="8727948" y="1828800"/>
            <a:ext cx="964692" cy="205740"/>
          </a:xfrm>
          <a:prstGeom prst="line">
            <a:avLst/>
          </a:prstGeom>
          <a:noFill/>
          <a:ln w="19050">
            <a:solidFill>
              <a:srgbClr val="9FB0C8"/>
            </a:solidFill>
            <a:prstDash val="solid"/>
          </a:ln>
        </p:spPr>
        <p:txBody>
          <a:bodyPr/>
          <a:p/>
        </p:txBody>
      </p:sp>
      <p:sp>
        <p:nvSpPr>
          <p:cNvPr id="44" name="Shape 42"/>
          <p:cNvSpPr/>
          <p:nvPr/>
        </p:nvSpPr>
        <p:spPr>
          <a:xfrm>
            <a:off x="8727948" y="2171700"/>
            <a:ext cx="964692" cy="205740"/>
          </a:xfrm>
          <a:prstGeom prst="line">
            <a:avLst/>
          </a:prstGeom>
          <a:noFill/>
          <a:ln w="19050">
            <a:solidFill>
              <a:srgbClr val="9FB0C8"/>
            </a:solidFill>
            <a:prstDash val="solid"/>
          </a:ln>
        </p:spPr>
        <p:txBody>
          <a:bodyPr/>
          <a:p/>
        </p:txBody>
      </p:sp>
      <p:sp>
        <p:nvSpPr>
          <p:cNvPr id="45" name="Shape 43"/>
          <p:cNvSpPr/>
          <p:nvPr/>
        </p:nvSpPr>
        <p:spPr>
          <a:xfrm>
            <a:off x="7086600" y="2926080"/>
            <a:ext cx="964692" cy="205740"/>
          </a:xfrm>
          <a:prstGeom prst="line">
            <a:avLst/>
          </a:prstGeom>
          <a:noFill/>
          <a:ln w="19050">
            <a:solidFill>
              <a:srgbClr val="9FB0C8"/>
            </a:solidFill>
            <a:prstDash val="solid"/>
          </a:ln>
        </p:spPr>
        <p:txBody>
          <a:bodyPr/>
          <a:p/>
        </p:txBody>
      </p:sp>
      <p:sp>
        <p:nvSpPr>
          <p:cNvPr id="46" name="Shape 44"/>
          <p:cNvSpPr/>
          <p:nvPr/>
        </p:nvSpPr>
        <p:spPr>
          <a:xfrm flipV="1">
            <a:off x="7086600" y="3268980"/>
            <a:ext cx="964692" cy="205740"/>
          </a:xfrm>
          <a:prstGeom prst="line">
            <a:avLst/>
          </a:prstGeom>
          <a:noFill/>
          <a:ln w="19050">
            <a:solidFill>
              <a:srgbClr val="9FB0C8"/>
            </a:solidFill>
            <a:prstDash val="solid"/>
          </a:ln>
        </p:spPr>
        <p:txBody>
          <a:bodyPr/>
          <a:p/>
        </p:txBody>
      </p:sp>
      <p:sp>
        <p:nvSpPr>
          <p:cNvPr id="47" name="Shape 45"/>
          <p:cNvSpPr/>
          <p:nvPr/>
        </p:nvSpPr>
        <p:spPr>
          <a:xfrm flipV="1">
            <a:off x="8727948" y="2926080"/>
            <a:ext cx="964692" cy="205740"/>
          </a:xfrm>
          <a:prstGeom prst="line">
            <a:avLst/>
          </a:prstGeom>
          <a:noFill/>
          <a:ln w="19050">
            <a:solidFill>
              <a:srgbClr val="9FB0C8"/>
            </a:solidFill>
            <a:prstDash val="solid"/>
          </a:ln>
        </p:spPr>
        <p:txBody>
          <a:bodyPr/>
          <a:p/>
        </p:txBody>
      </p:sp>
      <p:sp>
        <p:nvSpPr>
          <p:cNvPr id="48" name="Shape 46"/>
          <p:cNvSpPr/>
          <p:nvPr/>
        </p:nvSpPr>
        <p:spPr>
          <a:xfrm>
            <a:off x="8727948" y="3268980"/>
            <a:ext cx="964692" cy="205740"/>
          </a:xfrm>
          <a:prstGeom prst="line">
            <a:avLst/>
          </a:prstGeom>
          <a:noFill/>
          <a:ln w="19050">
            <a:solidFill>
              <a:srgbClr val="9FB0C8"/>
            </a:solidFill>
            <a:prstDash val="solid"/>
          </a:ln>
        </p:spPr>
        <p:txBody>
          <a:bodyPr/>
          <a:p/>
        </p:txBody>
      </p:sp>
      <p:sp>
        <p:nvSpPr>
          <p:cNvPr id="49" name="Shape 47"/>
          <p:cNvSpPr/>
          <p:nvPr/>
        </p:nvSpPr>
        <p:spPr>
          <a:xfrm>
            <a:off x="7086600" y="4023360"/>
            <a:ext cx="964692" cy="205740"/>
          </a:xfrm>
          <a:prstGeom prst="line">
            <a:avLst/>
          </a:prstGeom>
          <a:noFill/>
          <a:ln w="19050">
            <a:solidFill>
              <a:srgbClr val="9FB0C8"/>
            </a:solidFill>
            <a:prstDash val="solid"/>
          </a:ln>
        </p:spPr>
        <p:txBody>
          <a:bodyPr/>
          <a:p/>
        </p:txBody>
      </p:sp>
      <p:sp>
        <p:nvSpPr>
          <p:cNvPr id="50" name="Shape 48"/>
          <p:cNvSpPr/>
          <p:nvPr/>
        </p:nvSpPr>
        <p:spPr>
          <a:xfrm flipV="1">
            <a:off x="7086600" y="4366260"/>
            <a:ext cx="964692" cy="205740"/>
          </a:xfrm>
          <a:prstGeom prst="line">
            <a:avLst/>
          </a:prstGeom>
          <a:noFill/>
          <a:ln w="19050">
            <a:solidFill>
              <a:srgbClr val="9FB0C8"/>
            </a:solidFill>
            <a:prstDash val="solid"/>
          </a:ln>
        </p:spPr>
        <p:txBody>
          <a:bodyPr/>
          <a:p/>
        </p:txBody>
      </p:sp>
      <p:sp>
        <p:nvSpPr>
          <p:cNvPr id="51" name="Shape 49"/>
          <p:cNvSpPr/>
          <p:nvPr/>
        </p:nvSpPr>
        <p:spPr>
          <a:xfrm flipV="1">
            <a:off x="8727948" y="4023360"/>
            <a:ext cx="964692" cy="205740"/>
          </a:xfrm>
          <a:prstGeom prst="line">
            <a:avLst/>
          </a:prstGeom>
          <a:noFill/>
          <a:ln w="19050">
            <a:solidFill>
              <a:srgbClr val="9FB0C8"/>
            </a:solidFill>
            <a:prstDash val="solid"/>
          </a:ln>
        </p:spPr>
        <p:txBody>
          <a:bodyPr/>
          <a:p/>
        </p:txBody>
      </p:sp>
      <p:sp>
        <p:nvSpPr>
          <p:cNvPr id="52" name="Shape 50"/>
          <p:cNvSpPr/>
          <p:nvPr/>
        </p:nvSpPr>
        <p:spPr>
          <a:xfrm>
            <a:off x="8727948" y="4366260"/>
            <a:ext cx="964692" cy="205740"/>
          </a:xfrm>
          <a:prstGeom prst="line">
            <a:avLst/>
          </a:prstGeom>
          <a:noFill/>
          <a:ln w="19050">
            <a:solidFill>
              <a:srgbClr val="9FB0C8"/>
            </a:solidFill>
            <a:prstDash val="solid"/>
          </a:ln>
        </p:spPr>
        <p:txBody>
          <a:bodyPr/>
          <a:p/>
        </p:txBody>
      </p:sp>
      <p:sp>
        <p:nvSpPr>
          <p:cNvPr id="53" name="Shape 51"/>
          <p:cNvSpPr/>
          <p:nvPr/>
        </p:nvSpPr>
        <p:spPr>
          <a:xfrm>
            <a:off x="7086600" y="5120640"/>
            <a:ext cx="964692" cy="205740"/>
          </a:xfrm>
          <a:prstGeom prst="line">
            <a:avLst/>
          </a:prstGeom>
          <a:noFill/>
          <a:ln w="19050">
            <a:solidFill>
              <a:srgbClr val="9FB0C8"/>
            </a:solidFill>
            <a:prstDash val="solid"/>
          </a:ln>
        </p:spPr>
        <p:txBody>
          <a:bodyPr/>
          <a:p/>
        </p:txBody>
      </p:sp>
      <p:sp>
        <p:nvSpPr>
          <p:cNvPr id="54" name="Shape 52"/>
          <p:cNvSpPr/>
          <p:nvPr/>
        </p:nvSpPr>
        <p:spPr>
          <a:xfrm flipV="1">
            <a:off x="7086600" y="5463540"/>
            <a:ext cx="964692" cy="205740"/>
          </a:xfrm>
          <a:prstGeom prst="line">
            <a:avLst/>
          </a:prstGeom>
          <a:noFill/>
          <a:ln w="19050">
            <a:solidFill>
              <a:srgbClr val="9FB0C8"/>
            </a:solidFill>
            <a:prstDash val="solid"/>
          </a:ln>
        </p:spPr>
        <p:txBody>
          <a:bodyPr/>
          <a:p/>
        </p:txBody>
      </p:sp>
      <p:sp>
        <p:nvSpPr>
          <p:cNvPr id="55" name="Shape 53"/>
          <p:cNvSpPr/>
          <p:nvPr/>
        </p:nvSpPr>
        <p:spPr>
          <a:xfrm flipV="1">
            <a:off x="8727948" y="5120640"/>
            <a:ext cx="964692" cy="205740"/>
          </a:xfrm>
          <a:prstGeom prst="line">
            <a:avLst/>
          </a:prstGeom>
          <a:noFill/>
          <a:ln w="19050">
            <a:solidFill>
              <a:srgbClr val="9FB0C8"/>
            </a:solidFill>
            <a:prstDash val="solid"/>
          </a:ln>
        </p:spPr>
        <p:txBody>
          <a:bodyPr/>
          <a:p/>
        </p:txBody>
      </p:sp>
      <p:sp>
        <p:nvSpPr>
          <p:cNvPr id="56" name="Shape 54"/>
          <p:cNvSpPr/>
          <p:nvPr/>
        </p:nvSpPr>
        <p:spPr>
          <a:xfrm>
            <a:off x="8727948" y="5463540"/>
            <a:ext cx="964692" cy="205740"/>
          </a:xfrm>
          <a:prstGeom prst="line">
            <a:avLst/>
          </a:prstGeom>
          <a:noFill/>
          <a:ln w="19050">
            <a:solidFill>
              <a:srgbClr val="9FB0C8"/>
            </a:solidFill>
            <a:prstDash val="solid"/>
          </a:ln>
        </p:spPr>
        <p:txBody>
          <a:bodyPr/>
          <a:p/>
        </p:txBody>
      </p:sp>
      <p:sp>
        <p:nvSpPr>
          <p:cNvPr id="57" name="Shape 55"/>
          <p:cNvSpPr/>
          <p:nvPr/>
        </p:nvSpPr>
        <p:spPr>
          <a:xfrm>
            <a:off x="1824228" y="1778508"/>
            <a:ext cx="100584" cy="100584"/>
          </a:xfrm>
          <a:prstGeom prst="ellipse">
            <a:avLst/>
          </a:prstGeom>
          <a:solidFill>
            <a:srgbClr val="132A4A"/>
          </a:solidFill>
          <a:ln w="6350">
            <a:solidFill>
              <a:srgbClr val="132A4A"/>
            </a:solidFill>
            <a:prstDash val="solid"/>
          </a:ln>
        </p:spPr>
        <p:txBody>
          <a:bodyPr/>
          <a:p/>
        </p:txBody>
      </p:sp>
      <p:sp>
        <p:nvSpPr>
          <p:cNvPr id="58" name="Shape 56"/>
          <p:cNvSpPr/>
          <p:nvPr/>
        </p:nvSpPr>
        <p:spPr>
          <a:xfrm>
            <a:off x="1824228" y="2327148"/>
            <a:ext cx="100584" cy="100584"/>
          </a:xfrm>
          <a:prstGeom prst="ellipse">
            <a:avLst/>
          </a:prstGeom>
          <a:solidFill>
            <a:srgbClr val="132A4A"/>
          </a:solidFill>
          <a:ln w="6350">
            <a:solidFill>
              <a:srgbClr val="132A4A"/>
            </a:solidFill>
            <a:prstDash val="solid"/>
          </a:ln>
        </p:spPr>
        <p:txBody>
          <a:bodyPr/>
          <a:p/>
        </p:txBody>
      </p:sp>
      <p:sp>
        <p:nvSpPr>
          <p:cNvPr id="59" name="Shape 57"/>
          <p:cNvSpPr/>
          <p:nvPr/>
        </p:nvSpPr>
        <p:spPr>
          <a:xfrm>
            <a:off x="1824228" y="2875788"/>
            <a:ext cx="100584" cy="100584"/>
          </a:xfrm>
          <a:prstGeom prst="ellipse">
            <a:avLst/>
          </a:prstGeom>
          <a:solidFill>
            <a:srgbClr val="132A4A"/>
          </a:solidFill>
          <a:ln w="6350">
            <a:solidFill>
              <a:srgbClr val="132A4A"/>
            </a:solidFill>
            <a:prstDash val="solid"/>
          </a:ln>
        </p:spPr>
        <p:txBody>
          <a:bodyPr/>
          <a:p/>
        </p:txBody>
      </p:sp>
      <p:sp>
        <p:nvSpPr>
          <p:cNvPr id="60" name="Shape 58"/>
          <p:cNvSpPr/>
          <p:nvPr/>
        </p:nvSpPr>
        <p:spPr>
          <a:xfrm>
            <a:off x="1824228" y="3424428"/>
            <a:ext cx="100584" cy="100584"/>
          </a:xfrm>
          <a:prstGeom prst="ellipse">
            <a:avLst/>
          </a:prstGeom>
          <a:solidFill>
            <a:srgbClr val="132A4A"/>
          </a:solidFill>
          <a:ln w="6350">
            <a:solidFill>
              <a:srgbClr val="132A4A"/>
            </a:solidFill>
            <a:prstDash val="solid"/>
          </a:ln>
        </p:spPr>
        <p:txBody>
          <a:bodyPr/>
          <a:p/>
        </p:txBody>
      </p:sp>
      <p:sp>
        <p:nvSpPr>
          <p:cNvPr id="61" name="Shape 59"/>
          <p:cNvSpPr/>
          <p:nvPr/>
        </p:nvSpPr>
        <p:spPr>
          <a:xfrm>
            <a:off x="1824228" y="3973068"/>
            <a:ext cx="100584" cy="100584"/>
          </a:xfrm>
          <a:prstGeom prst="ellipse">
            <a:avLst/>
          </a:prstGeom>
          <a:solidFill>
            <a:srgbClr val="132A4A"/>
          </a:solidFill>
          <a:ln w="6350">
            <a:solidFill>
              <a:srgbClr val="132A4A"/>
            </a:solidFill>
            <a:prstDash val="solid"/>
          </a:ln>
        </p:spPr>
        <p:txBody>
          <a:bodyPr/>
          <a:p/>
        </p:txBody>
      </p:sp>
      <p:sp>
        <p:nvSpPr>
          <p:cNvPr id="62" name="Shape 60"/>
          <p:cNvSpPr/>
          <p:nvPr/>
        </p:nvSpPr>
        <p:spPr>
          <a:xfrm>
            <a:off x="1824228" y="4521708"/>
            <a:ext cx="100584" cy="100584"/>
          </a:xfrm>
          <a:prstGeom prst="ellipse">
            <a:avLst/>
          </a:prstGeom>
          <a:solidFill>
            <a:srgbClr val="132A4A"/>
          </a:solidFill>
          <a:ln w="6350">
            <a:solidFill>
              <a:srgbClr val="132A4A"/>
            </a:solidFill>
            <a:prstDash val="solid"/>
          </a:ln>
        </p:spPr>
        <p:txBody>
          <a:bodyPr/>
          <a:p/>
        </p:txBody>
      </p:sp>
      <p:sp>
        <p:nvSpPr>
          <p:cNvPr id="63" name="Shape 61"/>
          <p:cNvSpPr/>
          <p:nvPr/>
        </p:nvSpPr>
        <p:spPr>
          <a:xfrm>
            <a:off x="1824228" y="5070348"/>
            <a:ext cx="100584" cy="100584"/>
          </a:xfrm>
          <a:prstGeom prst="ellipse">
            <a:avLst/>
          </a:prstGeom>
          <a:solidFill>
            <a:srgbClr val="132A4A"/>
          </a:solidFill>
          <a:ln w="6350">
            <a:solidFill>
              <a:srgbClr val="132A4A"/>
            </a:solidFill>
            <a:prstDash val="solid"/>
          </a:ln>
        </p:spPr>
        <p:txBody>
          <a:bodyPr/>
          <a:p/>
        </p:txBody>
      </p:sp>
      <p:sp>
        <p:nvSpPr>
          <p:cNvPr id="64" name="Shape 62"/>
          <p:cNvSpPr/>
          <p:nvPr/>
        </p:nvSpPr>
        <p:spPr>
          <a:xfrm>
            <a:off x="1824228" y="5618988"/>
            <a:ext cx="100584" cy="100584"/>
          </a:xfrm>
          <a:prstGeom prst="ellipse">
            <a:avLst/>
          </a:prstGeom>
          <a:solidFill>
            <a:srgbClr val="132A4A"/>
          </a:solidFill>
          <a:ln w="6350">
            <a:solidFill>
              <a:srgbClr val="132A4A"/>
            </a:solidFill>
            <a:prstDash val="solid"/>
          </a:ln>
        </p:spPr>
        <p:txBody>
          <a:bodyPr/>
          <a:p/>
        </p:txBody>
      </p:sp>
      <p:sp>
        <p:nvSpPr>
          <p:cNvPr id="65" name="Shape 63"/>
          <p:cNvSpPr/>
          <p:nvPr/>
        </p:nvSpPr>
        <p:spPr>
          <a:xfrm>
            <a:off x="4430268" y="1778508"/>
            <a:ext cx="100584" cy="100584"/>
          </a:xfrm>
          <a:prstGeom prst="ellipse">
            <a:avLst/>
          </a:prstGeom>
          <a:solidFill>
            <a:srgbClr val="132A4A"/>
          </a:solidFill>
          <a:ln w="6350">
            <a:solidFill>
              <a:srgbClr val="132A4A"/>
            </a:solidFill>
            <a:prstDash val="solid"/>
          </a:ln>
        </p:spPr>
        <p:txBody>
          <a:bodyPr/>
          <a:p/>
        </p:txBody>
      </p:sp>
      <p:sp>
        <p:nvSpPr>
          <p:cNvPr id="66" name="Shape 64"/>
          <p:cNvSpPr/>
          <p:nvPr/>
        </p:nvSpPr>
        <p:spPr>
          <a:xfrm>
            <a:off x="4430268" y="2327148"/>
            <a:ext cx="100584" cy="100584"/>
          </a:xfrm>
          <a:prstGeom prst="ellipse">
            <a:avLst/>
          </a:prstGeom>
          <a:solidFill>
            <a:srgbClr val="132A4A"/>
          </a:solidFill>
          <a:ln w="6350">
            <a:solidFill>
              <a:srgbClr val="132A4A"/>
            </a:solidFill>
            <a:prstDash val="solid"/>
          </a:ln>
        </p:spPr>
        <p:txBody>
          <a:bodyPr/>
          <a:p/>
        </p:txBody>
      </p:sp>
      <p:sp>
        <p:nvSpPr>
          <p:cNvPr id="67" name="Shape 65"/>
          <p:cNvSpPr/>
          <p:nvPr/>
        </p:nvSpPr>
        <p:spPr>
          <a:xfrm>
            <a:off x="4430268" y="2875788"/>
            <a:ext cx="100584" cy="100584"/>
          </a:xfrm>
          <a:prstGeom prst="ellipse">
            <a:avLst/>
          </a:prstGeom>
          <a:solidFill>
            <a:srgbClr val="132A4A"/>
          </a:solidFill>
          <a:ln w="6350">
            <a:solidFill>
              <a:srgbClr val="132A4A"/>
            </a:solidFill>
            <a:prstDash val="solid"/>
          </a:ln>
        </p:spPr>
        <p:txBody>
          <a:bodyPr/>
          <a:p/>
        </p:txBody>
      </p:sp>
      <p:sp>
        <p:nvSpPr>
          <p:cNvPr id="68" name="Shape 66"/>
          <p:cNvSpPr/>
          <p:nvPr/>
        </p:nvSpPr>
        <p:spPr>
          <a:xfrm>
            <a:off x="4430268" y="3424428"/>
            <a:ext cx="100584" cy="100584"/>
          </a:xfrm>
          <a:prstGeom prst="ellipse">
            <a:avLst/>
          </a:prstGeom>
          <a:solidFill>
            <a:srgbClr val="132A4A"/>
          </a:solidFill>
          <a:ln w="6350">
            <a:solidFill>
              <a:srgbClr val="132A4A"/>
            </a:solidFill>
            <a:prstDash val="solid"/>
          </a:ln>
        </p:spPr>
        <p:txBody>
          <a:bodyPr/>
          <a:p/>
        </p:txBody>
      </p:sp>
      <p:sp>
        <p:nvSpPr>
          <p:cNvPr id="69" name="Shape 67"/>
          <p:cNvSpPr/>
          <p:nvPr/>
        </p:nvSpPr>
        <p:spPr>
          <a:xfrm>
            <a:off x="4430268" y="3973068"/>
            <a:ext cx="100584" cy="100584"/>
          </a:xfrm>
          <a:prstGeom prst="ellipse">
            <a:avLst/>
          </a:prstGeom>
          <a:solidFill>
            <a:srgbClr val="132A4A"/>
          </a:solidFill>
          <a:ln w="6350">
            <a:solidFill>
              <a:srgbClr val="132A4A"/>
            </a:solidFill>
            <a:prstDash val="solid"/>
          </a:ln>
        </p:spPr>
        <p:txBody>
          <a:bodyPr/>
          <a:p/>
        </p:txBody>
      </p:sp>
      <p:sp>
        <p:nvSpPr>
          <p:cNvPr id="70" name="Shape 68"/>
          <p:cNvSpPr/>
          <p:nvPr/>
        </p:nvSpPr>
        <p:spPr>
          <a:xfrm>
            <a:off x="4430268" y="4521708"/>
            <a:ext cx="100584" cy="100584"/>
          </a:xfrm>
          <a:prstGeom prst="ellipse">
            <a:avLst/>
          </a:prstGeom>
          <a:solidFill>
            <a:srgbClr val="132A4A"/>
          </a:solidFill>
          <a:ln w="6350">
            <a:solidFill>
              <a:srgbClr val="132A4A"/>
            </a:solidFill>
            <a:prstDash val="solid"/>
          </a:ln>
        </p:spPr>
        <p:txBody>
          <a:bodyPr/>
          <a:p/>
        </p:txBody>
      </p:sp>
      <p:sp>
        <p:nvSpPr>
          <p:cNvPr id="71" name="Shape 69"/>
          <p:cNvSpPr/>
          <p:nvPr/>
        </p:nvSpPr>
        <p:spPr>
          <a:xfrm>
            <a:off x="4430268" y="5070348"/>
            <a:ext cx="100584" cy="100584"/>
          </a:xfrm>
          <a:prstGeom prst="ellipse">
            <a:avLst/>
          </a:prstGeom>
          <a:solidFill>
            <a:srgbClr val="132A4A"/>
          </a:solidFill>
          <a:ln w="6350">
            <a:solidFill>
              <a:srgbClr val="132A4A"/>
            </a:solidFill>
            <a:prstDash val="solid"/>
          </a:ln>
        </p:spPr>
        <p:txBody>
          <a:bodyPr/>
          <a:p/>
        </p:txBody>
      </p:sp>
      <p:sp>
        <p:nvSpPr>
          <p:cNvPr id="72" name="Shape 70"/>
          <p:cNvSpPr/>
          <p:nvPr/>
        </p:nvSpPr>
        <p:spPr>
          <a:xfrm>
            <a:off x="4430268" y="5618988"/>
            <a:ext cx="100584" cy="100584"/>
          </a:xfrm>
          <a:prstGeom prst="ellipse">
            <a:avLst/>
          </a:prstGeom>
          <a:solidFill>
            <a:srgbClr val="132A4A"/>
          </a:solidFill>
          <a:ln w="6350">
            <a:solidFill>
              <a:srgbClr val="132A4A"/>
            </a:solidFill>
            <a:prstDash val="solid"/>
          </a:ln>
        </p:spPr>
        <p:txBody>
          <a:bodyPr/>
          <a:p/>
        </p:txBody>
      </p:sp>
      <p:sp>
        <p:nvSpPr>
          <p:cNvPr id="73" name="Shape 71"/>
          <p:cNvSpPr/>
          <p:nvPr/>
        </p:nvSpPr>
        <p:spPr>
          <a:xfrm>
            <a:off x="7036308" y="1778508"/>
            <a:ext cx="100584" cy="100584"/>
          </a:xfrm>
          <a:prstGeom prst="ellipse">
            <a:avLst/>
          </a:prstGeom>
          <a:solidFill>
            <a:srgbClr val="132A4A"/>
          </a:solidFill>
          <a:ln w="6350">
            <a:solidFill>
              <a:srgbClr val="132A4A"/>
            </a:solidFill>
            <a:prstDash val="solid"/>
          </a:ln>
        </p:spPr>
        <p:txBody>
          <a:bodyPr/>
          <a:p/>
        </p:txBody>
      </p:sp>
      <p:sp>
        <p:nvSpPr>
          <p:cNvPr id="74" name="Shape 72"/>
          <p:cNvSpPr/>
          <p:nvPr/>
        </p:nvSpPr>
        <p:spPr>
          <a:xfrm>
            <a:off x="7036308" y="2327148"/>
            <a:ext cx="100584" cy="100584"/>
          </a:xfrm>
          <a:prstGeom prst="ellipse">
            <a:avLst/>
          </a:prstGeom>
          <a:solidFill>
            <a:srgbClr val="132A4A"/>
          </a:solidFill>
          <a:ln w="6350">
            <a:solidFill>
              <a:srgbClr val="132A4A"/>
            </a:solidFill>
            <a:prstDash val="solid"/>
          </a:ln>
        </p:spPr>
        <p:txBody>
          <a:bodyPr/>
          <a:p/>
        </p:txBody>
      </p:sp>
      <p:sp>
        <p:nvSpPr>
          <p:cNvPr id="75" name="Shape 73"/>
          <p:cNvSpPr/>
          <p:nvPr/>
        </p:nvSpPr>
        <p:spPr>
          <a:xfrm>
            <a:off x="7036308" y="2875788"/>
            <a:ext cx="100584" cy="100584"/>
          </a:xfrm>
          <a:prstGeom prst="ellipse">
            <a:avLst/>
          </a:prstGeom>
          <a:solidFill>
            <a:srgbClr val="132A4A"/>
          </a:solidFill>
          <a:ln w="6350">
            <a:solidFill>
              <a:srgbClr val="132A4A"/>
            </a:solidFill>
            <a:prstDash val="solid"/>
          </a:ln>
        </p:spPr>
        <p:txBody>
          <a:bodyPr/>
          <a:p/>
        </p:txBody>
      </p:sp>
      <p:sp>
        <p:nvSpPr>
          <p:cNvPr id="76" name="Shape 74"/>
          <p:cNvSpPr/>
          <p:nvPr/>
        </p:nvSpPr>
        <p:spPr>
          <a:xfrm>
            <a:off x="7036308" y="3424428"/>
            <a:ext cx="100584" cy="100584"/>
          </a:xfrm>
          <a:prstGeom prst="ellipse">
            <a:avLst/>
          </a:prstGeom>
          <a:solidFill>
            <a:srgbClr val="132A4A"/>
          </a:solidFill>
          <a:ln w="6350">
            <a:solidFill>
              <a:srgbClr val="132A4A"/>
            </a:solidFill>
            <a:prstDash val="solid"/>
          </a:ln>
        </p:spPr>
        <p:txBody>
          <a:bodyPr/>
          <a:p/>
        </p:txBody>
      </p:sp>
      <p:sp>
        <p:nvSpPr>
          <p:cNvPr id="77" name="Shape 75"/>
          <p:cNvSpPr/>
          <p:nvPr/>
        </p:nvSpPr>
        <p:spPr>
          <a:xfrm>
            <a:off x="7036308" y="3973068"/>
            <a:ext cx="100584" cy="100584"/>
          </a:xfrm>
          <a:prstGeom prst="ellipse">
            <a:avLst/>
          </a:prstGeom>
          <a:solidFill>
            <a:srgbClr val="132A4A"/>
          </a:solidFill>
          <a:ln w="6350">
            <a:solidFill>
              <a:srgbClr val="132A4A"/>
            </a:solidFill>
            <a:prstDash val="solid"/>
          </a:ln>
        </p:spPr>
        <p:txBody>
          <a:bodyPr/>
          <a:p/>
        </p:txBody>
      </p:sp>
      <p:sp>
        <p:nvSpPr>
          <p:cNvPr id="78" name="Shape 76"/>
          <p:cNvSpPr/>
          <p:nvPr/>
        </p:nvSpPr>
        <p:spPr>
          <a:xfrm>
            <a:off x="7036308" y="4521708"/>
            <a:ext cx="100584" cy="100584"/>
          </a:xfrm>
          <a:prstGeom prst="ellipse">
            <a:avLst/>
          </a:prstGeom>
          <a:solidFill>
            <a:srgbClr val="132A4A"/>
          </a:solidFill>
          <a:ln w="6350">
            <a:solidFill>
              <a:srgbClr val="132A4A"/>
            </a:solidFill>
            <a:prstDash val="solid"/>
          </a:ln>
        </p:spPr>
        <p:txBody>
          <a:bodyPr/>
          <a:p/>
        </p:txBody>
      </p:sp>
      <p:sp>
        <p:nvSpPr>
          <p:cNvPr id="79" name="Shape 77"/>
          <p:cNvSpPr/>
          <p:nvPr/>
        </p:nvSpPr>
        <p:spPr>
          <a:xfrm>
            <a:off x="7036308" y="5070348"/>
            <a:ext cx="100584" cy="100584"/>
          </a:xfrm>
          <a:prstGeom prst="ellipse">
            <a:avLst/>
          </a:prstGeom>
          <a:solidFill>
            <a:srgbClr val="132A4A"/>
          </a:solidFill>
          <a:ln w="6350">
            <a:solidFill>
              <a:srgbClr val="132A4A"/>
            </a:solidFill>
            <a:prstDash val="solid"/>
          </a:ln>
        </p:spPr>
        <p:txBody>
          <a:bodyPr/>
          <a:p/>
        </p:txBody>
      </p:sp>
      <p:sp>
        <p:nvSpPr>
          <p:cNvPr id="80" name="Shape 78"/>
          <p:cNvSpPr/>
          <p:nvPr/>
        </p:nvSpPr>
        <p:spPr>
          <a:xfrm>
            <a:off x="7036308" y="5618988"/>
            <a:ext cx="100584" cy="100584"/>
          </a:xfrm>
          <a:prstGeom prst="ellipse">
            <a:avLst/>
          </a:prstGeom>
          <a:solidFill>
            <a:srgbClr val="132A4A"/>
          </a:solidFill>
          <a:ln w="6350">
            <a:solidFill>
              <a:srgbClr val="132A4A"/>
            </a:solidFill>
            <a:prstDash val="solid"/>
          </a:ln>
        </p:spPr>
        <p:txBody>
          <a:bodyPr/>
          <a:p/>
        </p:txBody>
      </p:sp>
      <p:sp>
        <p:nvSpPr>
          <p:cNvPr id="81" name="Shape 79"/>
          <p:cNvSpPr/>
          <p:nvPr/>
        </p:nvSpPr>
        <p:spPr>
          <a:xfrm>
            <a:off x="9642348" y="1778508"/>
            <a:ext cx="100584" cy="100584"/>
          </a:xfrm>
          <a:prstGeom prst="ellipse">
            <a:avLst/>
          </a:prstGeom>
          <a:solidFill>
            <a:srgbClr val="132A4A"/>
          </a:solidFill>
          <a:ln w="6350">
            <a:solidFill>
              <a:srgbClr val="132A4A"/>
            </a:solidFill>
            <a:prstDash val="solid"/>
          </a:ln>
        </p:spPr>
        <p:txBody>
          <a:bodyPr/>
          <a:p/>
        </p:txBody>
      </p:sp>
      <p:sp>
        <p:nvSpPr>
          <p:cNvPr id="82" name="Shape 80"/>
          <p:cNvSpPr/>
          <p:nvPr/>
        </p:nvSpPr>
        <p:spPr>
          <a:xfrm>
            <a:off x="9642348" y="2327148"/>
            <a:ext cx="100584" cy="100584"/>
          </a:xfrm>
          <a:prstGeom prst="ellipse">
            <a:avLst/>
          </a:prstGeom>
          <a:solidFill>
            <a:srgbClr val="132A4A"/>
          </a:solidFill>
          <a:ln w="6350">
            <a:solidFill>
              <a:srgbClr val="132A4A"/>
            </a:solidFill>
            <a:prstDash val="solid"/>
          </a:ln>
        </p:spPr>
        <p:txBody>
          <a:bodyPr/>
          <a:p/>
        </p:txBody>
      </p:sp>
      <p:sp>
        <p:nvSpPr>
          <p:cNvPr id="83" name="Shape 81"/>
          <p:cNvSpPr/>
          <p:nvPr/>
        </p:nvSpPr>
        <p:spPr>
          <a:xfrm>
            <a:off x="9642348" y="2875788"/>
            <a:ext cx="100584" cy="100584"/>
          </a:xfrm>
          <a:prstGeom prst="ellipse">
            <a:avLst/>
          </a:prstGeom>
          <a:solidFill>
            <a:srgbClr val="132A4A"/>
          </a:solidFill>
          <a:ln w="6350">
            <a:solidFill>
              <a:srgbClr val="132A4A"/>
            </a:solidFill>
            <a:prstDash val="solid"/>
          </a:ln>
        </p:spPr>
        <p:txBody>
          <a:bodyPr/>
          <a:p/>
        </p:txBody>
      </p:sp>
      <p:sp>
        <p:nvSpPr>
          <p:cNvPr id="84" name="Shape 82"/>
          <p:cNvSpPr/>
          <p:nvPr/>
        </p:nvSpPr>
        <p:spPr>
          <a:xfrm>
            <a:off x="9642348" y="3424428"/>
            <a:ext cx="100584" cy="100584"/>
          </a:xfrm>
          <a:prstGeom prst="ellipse">
            <a:avLst/>
          </a:prstGeom>
          <a:solidFill>
            <a:srgbClr val="132A4A"/>
          </a:solidFill>
          <a:ln w="6350">
            <a:solidFill>
              <a:srgbClr val="132A4A"/>
            </a:solidFill>
            <a:prstDash val="solid"/>
          </a:ln>
        </p:spPr>
        <p:txBody>
          <a:bodyPr/>
          <a:p/>
        </p:txBody>
      </p:sp>
      <p:sp>
        <p:nvSpPr>
          <p:cNvPr id="85" name="Shape 83"/>
          <p:cNvSpPr/>
          <p:nvPr/>
        </p:nvSpPr>
        <p:spPr>
          <a:xfrm>
            <a:off x="9642348" y="3973068"/>
            <a:ext cx="100584" cy="100584"/>
          </a:xfrm>
          <a:prstGeom prst="ellipse">
            <a:avLst/>
          </a:prstGeom>
          <a:solidFill>
            <a:srgbClr val="132A4A"/>
          </a:solidFill>
          <a:ln w="6350">
            <a:solidFill>
              <a:srgbClr val="132A4A"/>
            </a:solidFill>
            <a:prstDash val="solid"/>
          </a:ln>
        </p:spPr>
        <p:txBody>
          <a:bodyPr/>
          <a:p/>
        </p:txBody>
      </p:sp>
      <p:sp>
        <p:nvSpPr>
          <p:cNvPr id="86" name="Shape 84"/>
          <p:cNvSpPr/>
          <p:nvPr/>
        </p:nvSpPr>
        <p:spPr>
          <a:xfrm>
            <a:off x="9642348" y="4521708"/>
            <a:ext cx="100584" cy="100584"/>
          </a:xfrm>
          <a:prstGeom prst="ellipse">
            <a:avLst/>
          </a:prstGeom>
          <a:solidFill>
            <a:srgbClr val="132A4A"/>
          </a:solidFill>
          <a:ln w="6350">
            <a:solidFill>
              <a:srgbClr val="132A4A"/>
            </a:solidFill>
            <a:prstDash val="solid"/>
          </a:ln>
        </p:spPr>
        <p:txBody>
          <a:bodyPr/>
          <a:p/>
        </p:txBody>
      </p:sp>
      <p:sp>
        <p:nvSpPr>
          <p:cNvPr id="87" name="Shape 85"/>
          <p:cNvSpPr/>
          <p:nvPr/>
        </p:nvSpPr>
        <p:spPr>
          <a:xfrm>
            <a:off x="9642348" y="5070348"/>
            <a:ext cx="100584" cy="100584"/>
          </a:xfrm>
          <a:prstGeom prst="ellipse">
            <a:avLst/>
          </a:prstGeom>
          <a:solidFill>
            <a:srgbClr val="132A4A"/>
          </a:solidFill>
          <a:ln w="6350">
            <a:solidFill>
              <a:srgbClr val="132A4A"/>
            </a:solidFill>
            <a:prstDash val="solid"/>
          </a:ln>
        </p:spPr>
        <p:txBody>
          <a:bodyPr/>
          <a:p/>
        </p:txBody>
      </p:sp>
      <p:sp>
        <p:nvSpPr>
          <p:cNvPr id="88" name="Shape 86"/>
          <p:cNvSpPr/>
          <p:nvPr/>
        </p:nvSpPr>
        <p:spPr>
          <a:xfrm>
            <a:off x="9642348" y="5618988"/>
            <a:ext cx="100584" cy="100584"/>
          </a:xfrm>
          <a:prstGeom prst="ellipse">
            <a:avLst/>
          </a:prstGeom>
          <a:solidFill>
            <a:srgbClr val="132A4A"/>
          </a:solidFill>
          <a:ln w="6350">
            <a:solidFill>
              <a:srgbClr val="132A4A"/>
            </a:solidFill>
            <a:prstDash val="solid"/>
          </a:ln>
        </p:spPr>
        <p:txBody>
          <a:bodyPr/>
          <a:p/>
        </p:txBody>
      </p:sp>
      <p:sp>
        <p:nvSpPr>
          <p:cNvPr id="89" name="Shape 87"/>
          <p:cNvSpPr/>
          <p:nvPr/>
        </p:nvSpPr>
        <p:spPr>
          <a:xfrm>
            <a:off x="2839212" y="277977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0" name="Text 88"/>
          <p:cNvSpPr/>
          <p:nvPr/>
        </p:nvSpPr>
        <p:spPr>
          <a:xfrm>
            <a:off x="2839212" y="277977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1" name="Shape 89"/>
          <p:cNvSpPr/>
          <p:nvPr/>
        </p:nvSpPr>
        <p:spPr>
          <a:xfrm>
            <a:off x="2839212" y="3328416"/>
            <a:ext cx="676656" cy="292608"/>
          </a:xfrm>
          <a:prstGeom prst="roundRect">
            <a:avLst>
              <a:gd name="adj" fmla="val 15625"/>
            </a:avLst>
          </a:prstGeom>
          <a:solidFill>
            <a:srgbClr val="FFFFFF"/>
          </a:solidFill>
          <a:ln w="19050">
            <a:solidFill>
              <a:srgbClr val="D98324"/>
            </a:solidFill>
            <a:prstDash val="solid"/>
          </a:ln>
        </p:spPr>
        <p:txBody>
          <a:bodyPr/>
          <a:p/>
        </p:txBody>
      </p:sp>
      <p:sp>
        <p:nvSpPr>
          <p:cNvPr id="92" name="Text 90"/>
          <p:cNvSpPr/>
          <p:nvPr/>
        </p:nvSpPr>
        <p:spPr>
          <a:xfrm>
            <a:off x="2839212" y="332841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W8^1</a:t>
            </a:r>
            <a:endParaRPr lang="en-US" sz="1100" dirty="0"/>
          </a:p>
        </p:txBody>
      </p:sp>
      <p:sp>
        <p:nvSpPr>
          <p:cNvPr id="93" name="Shape 91"/>
          <p:cNvSpPr/>
          <p:nvPr/>
        </p:nvSpPr>
        <p:spPr>
          <a:xfrm>
            <a:off x="2839212" y="3877056"/>
            <a:ext cx="676656" cy="292608"/>
          </a:xfrm>
          <a:prstGeom prst="roundRect">
            <a:avLst>
              <a:gd name="adj" fmla="val 15625"/>
            </a:avLst>
          </a:prstGeom>
          <a:solidFill>
            <a:srgbClr val="FFFFFF"/>
          </a:solidFill>
          <a:ln w="19050">
            <a:solidFill>
              <a:srgbClr val="D98324"/>
            </a:solidFill>
            <a:prstDash val="solid"/>
          </a:ln>
        </p:spPr>
        <p:txBody>
          <a:bodyPr/>
          <a:p/>
        </p:txBody>
      </p:sp>
      <p:sp>
        <p:nvSpPr>
          <p:cNvPr id="94" name="Text 92"/>
          <p:cNvSpPr/>
          <p:nvPr/>
        </p:nvSpPr>
        <p:spPr>
          <a:xfrm>
            <a:off x="2839212" y="387705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95" name="Shape 93"/>
          <p:cNvSpPr/>
          <p:nvPr/>
        </p:nvSpPr>
        <p:spPr>
          <a:xfrm>
            <a:off x="2839212" y="4425696"/>
            <a:ext cx="676656" cy="292608"/>
          </a:xfrm>
          <a:prstGeom prst="roundRect">
            <a:avLst>
              <a:gd name="adj" fmla="val 15625"/>
            </a:avLst>
          </a:prstGeom>
          <a:solidFill>
            <a:srgbClr val="FFFFFF"/>
          </a:solidFill>
          <a:ln w="19050">
            <a:solidFill>
              <a:srgbClr val="D98324"/>
            </a:solidFill>
            <a:prstDash val="solid"/>
          </a:ln>
        </p:spPr>
        <p:txBody>
          <a:bodyPr/>
          <a:p/>
        </p:txBody>
      </p:sp>
      <p:sp>
        <p:nvSpPr>
          <p:cNvPr id="96" name="Text 94"/>
          <p:cNvSpPr/>
          <p:nvPr/>
        </p:nvSpPr>
        <p:spPr>
          <a:xfrm>
            <a:off x="2839212" y="442569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W8^3</a:t>
            </a:r>
            <a:endParaRPr lang="en-US" sz="1100" dirty="0"/>
          </a:p>
        </p:txBody>
      </p:sp>
      <p:sp>
        <p:nvSpPr>
          <p:cNvPr id="97" name="Shape 95"/>
          <p:cNvSpPr/>
          <p:nvPr/>
        </p:nvSpPr>
        <p:spPr>
          <a:xfrm>
            <a:off x="5445252" y="2231136"/>
            <a:ext cx="676656" cy="292608"/>
          </a:xfrm>
          <a:prstGeom prst="roundRect">
            <a:avLst>
              <a:gd name="adj" fmla="val 15625"/>
            </a:avLst>
          </a:prstGeom>
          <a:solidFill>
            <a:srgbClr val="FFFFFF"/>
          </a:solidFill>
          <a:ln w="19050">
            <a:solidFill>
              <a:srgbClr val="0E8388"/>
            </a:solidFill>
            <a:prstDash val="solid"/>
          </a:ln>
        </p:spPr>
        <p:txBody>
          <a:bodyPr/>
          <a:p/>
        </p:txBody>
      </p:sp>
      <p:sp>
        <p:nvSpPr>
          <p:cNvPr id="98" name="Text 96"/>
          <p:cNvSpPr/>
          <p:nvPr/>
        </p:nvSpPr>
        <p:spPr>
          <a:xfrm>
            <a:off x="5445252" y="223113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99" name="Shape 97"/>
          <p:cNvSpPr/>
          <p:nvPr/>
        </p:nvSpPr>
        <p:spPr>
          <a:xfrm>
            <a:off x="5445252" y="277977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00" name="Text 98"/>
          <p:cNvSpPr/>
          <p:nvPr/>
        </p:nvSpPr>
        <p:spPr>
          <a:xfrm>
            <a:off x="5445252" y="277977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101" name="Shape 99"/>
          <p:cNvSpPr/>
          <p:nvPr/>
        </p:nvSpPr>
        <p:spPr>
          <a:xfrm>
            <a:off x="5445252" y="442569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02" name="Text 100"/>
          <p:cNvSpPr/>
          <p:nvPr/>
        </p:nvSpPr>
        <p:spPr>
          <a:xfrm>
            <a:off x="5445252" y="442569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03" name="Shape 101"/>
          <p:cNvSpPr/>
          <p:nvPr/>
        </p:nvSpPr>
        <p:spPr>
          <a:xfrm>
            <a:off x="5445252" y="4974336"/>
            <a:ext cx="676656" cy="292608"/>
          </a:xfrm>
          <a:prstGeom prst="roundRect">
            <a:avLst>
              <a:gd name="adj" fmla="val 15625"/>
            </a:avLst>
          </a:prstGeom>
          <a:solidFill>
            <a:srgbClr val="FFFFFF"/>
          </a:solidFill>
          <a:ln w="19050">
            <a:solidFill>
              <a:srgbClr val="D98324"/>
            </a:solidFill>
            <a:prstDash val="solid"/>
          </a:ln>
        </p:spPr>
        <p:txBody>
          <a:bodyPr/>
          <a:p/>
        </p:txBody>
      </p:sp>
      <p:sp>
        <p:nvSpPr>
          <p:cNvPr id="104" name="Text 102"/>
          <p:cNvSpPr/>
          <p:nvPr/>
        </p:nvSpPr>
        <p:spPr>
          <a:xfrm>
            <a:off x="5445252" y="4974336"/>
            <a:ext cx="676656" cy="292608"/>
          </a:xfrm>
          <a:prstGeom prst="rect">
            <a:avLst/>
          </a:prstGeom>
          <a:noFill/>
          <a:ln/>
        </p:spPr>
        <p:txBody>
          <a:bodyPr wrap="square" lIns="0" tIns="0" rIns="0" bIns="0" rtlCol="0" anchor="ctr"/>
          <a:lstStyle/>
          <a:p>
            <a:pPr algn="ctr" indent="0" marL="0">
              <a:buNone/>
            </a:pPr>
            <a:r>
              <a:rPr lang="en-US" sz="1100" b="1" dirty="0">
                <a:solidFill>
                  <a:srgbClr val="D98324"/>
                </a:solidFill>
                <a:latin typeface="Consolas" pitchFamily="34" charset="0"/>
                <a:ea typeface="Consolas" pitchFamily="34" charset="-122"/>
                <a:cs typeface="Consolas" pitchFamily="34" charset="-120"/>
              </a:rPr>
              <a:t>-j</a:t>
            </a:r>
            <a:endParaRPr lang="en-US" sz="1100" dirty="0"/>
          </a:p>
        </p:txBody>
      </p:sp>
      <p:sp>
        <p:nvSpPr>
          <p:cNvPr id="105" name="Shape 103"/>
          <p:cNvSpPr/>
          <p:nvPr/>
        </p:nvSpPr>
        <p:spPr>
          <a:xfrm>
            <a:off x="8051292" y="195681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06" name="Text 104"/>
          <p:cNvSpPr/>
          <p:nvPr/>
        </p:nvSpPr>
        <p:spPr>
          <a:xfrm>
            <a:off x="8051292" y="195681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07" name="Shape 105"/>
          <p:cNvSpPr/>
          <p:nvPr/>
        </p:nvSpPr>
        <p:spPr>
          <a:xfrm>
            <a:off x="8051292" y="305409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08" name="Text 106"/>
          <p:cNvSpPr/>
          <p:nvPr/>
        </p:nvSpPr>
        <p:spPr>
          <a:xfrm>
            <a:off x="8051292" y="305409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09" name="Shape 107"/>
          <p:cNvSpPr/>
          <p:nvPr/>
        </p:nvSpPr>
        <p:spPr>
          <a:xfrm>
            <a:off x="8051292" y="415137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10" name="Text 108"/>
          <p:cNvSpPr/>
          <p:nvPr/>
        </p:nvSpPr>
        <p:spPr>
          <a:xfrm>
            <a:off x="8051292" y="415137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11" name="Shape 109"/>
          <p:cNvSpPr/>
          <p:nvPr/>
        </p:nvSpPr>
        <p:spPr>
          <a:xfrm>
            <a:off x="8051292" y="5248656"/>
            <a:ext cx="676656" cy="292608"/>
          </a:xfrm>
          <a:prstGeom prst="roundRect">
            <a:avLst>
              <a:gd name="adj" fmla="val 15625"/>
            </a:avLst>
          </a:prstGeom>
          <a:solidFill>
            <a:srgbClr val="FFFFFF"/>
          </a:solidFill>
          <a:ln w="19050">
            <a:solidFill>
              <a:srgbClr val="0E8388"/>
            </a:solidFill>
            <a:prstDash val="solid"/>
          </a:ln>
        </p:spPr>
        <p:txBody>
          <a:bodyPr/>
          <a:p/>
        </p:txBody>
      </p:sp>
      <p:sp>
        <p:nvSpPr>
          <p:cNvPr id="112" name="Text 110"/>
          <p:cNvSpPr/>
          <p:nvPr/>
        </p:nvSpPr>
        <p:spPr>
          <a:xfrm>
            <a:off x="8051292" y="5248656"/>
            <a:ext cx="676656" cy="292608"/>
          </a:xfrm>
          <a:prstGeom prst="rect">
            <a:avLst/>
          </a:prstGeom>
          <a:noFill/>
          <a:ln/>
        </p:spPr>
        <p:txBody>
          <a:bodyPr wrap="square" lIns="0" tIns="0" rIns="0" bIns="0" rtlCol="0" anchor="ctr"/>
          <a:lstStyle/>
          <a:p>
            <a:pPr algn="ctr" indent="0" marL="0">
              <a:buNone/>
            </a:pPr>
            <a:r>
              <a:rPr lang="en-US" sz="1100" b="1" dirty="0">
                <a:solidFill>
                  <a:srgbClr val="0E8388"/>
                </a:solidFill>
                <a:latin typeface="Consolas" pitchFamily="34" charset="0"/>
                <a:ea typeface="Consolas" pitchFamily="34" charset="-122"/>
                <a:cs typeface="Consolas" pitchFamily="34" charset="-120"/>
              </a:rPr>
              <a:t>1</a:t>
            </a:r>
            <a:endParaRPr lang="en-US" sz="1100" dirty="0"/>
          </a:p>
        </p:txBody>
      </p:sp>
      <p:sp>
        <p:nvSpPr>
          <p:cNvPr id="113" name="Text 111"/>
          <p:cNvSpPr/>
          <p:nvPr/>
        </p:nvSpPr>
        <p:spPr>
          <a:xfrm>
            <a:off x="502920" y="170078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x[0]=1</a:t>
            </a:r>
            <a:endParaRPr lang="en-US" sz="1150" dirty="0"/>
          </a:p>
        </p:txBody>
      </p:sp>
      <p:sp>
        <p:nvSpPr>
          <p:cNvPr id="114" name="Text 112"/>
          <p:cNvSpPr/>
          <p:nvPr/>
        </p:nvSpPr>
        <p:spPr>
          <a:xfrm>
            <a:off x="502920" y="224942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x[1]=2</a:t>
            </a:r>
            <a:endParaRPr lang="en-US" sz="1150" dirty="0"/>
          </a:p>
        </p:txBody>
      </p:sp>
      <p:sp>
        <p:nvSpPr>
          <p:cNvPr id="115" name="Text 113"/>
          <p:cNvSpPr/>
          <p:nvPr/>
        </p:nvSpPr>
        <p:spPr>
          <a:xfrm>
            <a:off x="502920" y="279806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x[2]=3</a:t>
            </a:r>
            <a:endParaRPr lang="en-US" sz="1150" dirty="0"/>
          </a:p>
        </p:txBody>
      </p:sp>
      <p:sp>
        <p:nvSpPr>
          <p:cNvPr id="116" name="Text 114"/>
          <p:cNvSpPr/>
          <p:nvPr/>
        </p:nvSpPr>
        <p:spPr>
          <a:xfrm>
            <a:off x="502920" y="334670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x[3]=4</a:t>
            </a:r>
            <a:endParaRPr lang="en-US" sz="1150" dirty="0"/>
          </a:p>
        </p:txBody>
      </p:sp>
      <p:sp>
        <p:nvSpPr>
          <p:cNvPr id="117" name="Text 115"/>
          <p:cNvSpPr/>
          <p:nvPr/>
        </p:nvSpPr>
        <p:spPr>
          <a:xfrm>
            <a:off x="502920" y="389534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x[4]=5</a:t>
            </a:r>
            <a:endParaRPr lang="en-US" sz="1150" dirty="0"/>
          </a:p>
        </p:txBody>
      </p:sp>
      <p:sp>
        <p:nvSpPr>
          <p:cNvPr id="118" name="Text 116"/>
          <p:cNvSpPr/>
          <p:nvPr/>
        </p:nvSpPr>
        <p:spPr>
          <a:xfrm>
            <a:off x="502920" y="444398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x[5]=6</a:t>
            </a:r>
            <a:endParaRPr lang="en-US" sz="1150" dirty="0"/>
          </a:p>
        </p:txBody>
      </p:sp>
      <p:sp>
        <p:nvSpPr>
          <p:cNvPr id="119" name="Text 117"/>
          <p:cNvSpPr/>
          <p:nvPr/>
        </p:nvSpPr>
        <p:spPr>
          <a:xfrm>
            <a:off x="502920" y="499262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x[6]=7</a:t>
            </a:r>
            <a:endParaRPr lang="en-US" sz="1150" dirty="0"/>
          </a:p>
        </p:txBody>
      </p:sp>
      <p:sp>
        <p:nvSpPr>
          <p:cNvPr id="120" name="Text 118"/>
          <p:cNvSpPr/>
          <p:nvPr/>
        </p:nvSpPr>
        <p:spPr>
          <a:xfrm>
            <a:off x="502920" y="5541264"/>
            <a:ext cx="1234440" cy="256032"/>
          </a:xfrm>
          <a:prstGeom prst="rect">
            <a:avLst/>
          </a:prstGeom>
          <a:noFill/>
          <a:ln/>
        </p:spPr>
        <p:txBody>
          <a:bodyPr wrap="square" lIns="0" tIns="0" rIns="0" bIns="0" rtlCol="0" anchor="ctr"/>
          <a:lstStyle/>
          <a:p>
            <a:pPr algn="r" indent="0" marL="0">
              <a:buNone/>
            </a:pPr>
            <a:r>
              <a:rPr lang="en-US" sz="1100" b="1" dirty="0">
                <a:solidFill>
                  <a:srgbClr val="132A4A"/>
                </a:solidFill>
                <a:latin typeface="Consolas" pitchFamily="34" charset="0"/>
                <a:ea typeface="Consolas" pitchFamily="34" charset="-122"/>
                <a:cs typeface="Consolas" pitchFamily="34" charset="-120"/>
              </a:rPr>
              <a:t>x[7]=8</a:t>
            </a:r>
            <a:endParaRPr lang="en-US" sz="1150" dirty="0"/>
          </a:p>
        </p:txBody>
      </p:sp>
      <p:sp>
        <p:nvSpPr>
          <p:cNvPr id="121" name="Shape 119"/>
          <p:cNvSpPr/>
          <p:nvPr/>
        </p:nvSpPr>
        <p:spPr>
          <a:xfrm>
            <a:off x="9966960" y="163677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2" name="Text 120"/>
          <p:cNvSpPr/>
          <p:nvPr/>
        </p:nvSpPr>
        <p:spPr>
          <a:xfrm>
            <a:off x="9966960" y="163677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X[0]</a:t>
            </a:r>
            <a:endParaRPr lang="en-US" sz="1200" dirty="0"/>
          </a:p>
        </p:txBody>
      </p:sp>
      <p:sp>
        <p:nvSpPr>
          <p:cNvPr id="123" name="Shape 121"/>
          <p:cNvSpPr/>
          <p:nvPr/>
        </p:nvSpPr>
        <p:spPr>
          <a:xfrm>
            <a:off x="9966960" y="218541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4" name="Text 122"/>
          <p:cNvSpPr/>
          <p:nvPr/>
        </p:nvSpPr>
        <p:spPr>
          <a:xfrm>
            <a:off x="9966960" y="218541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X[4]</a:t>
            </a:r>
            <a:endParaRPr lang="en-US" sz="1200" dirty="0"/>
          </a:p>
        </p:txBody>
      </p:sp>
      <p:sp>
        <p:nvSpPr>
          <p:cNvPr id="125" name="Shape 123"/>
          <p:cNvSpPr/>
          <p:nvPr/>
        </p:nvSpPr>
        <p:spPr>
          <a:xfrm>
            <a:off x="9966960" y="273405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6" name="Text 124"/>
          <p:cNvSpPr/>
          <p:nvPr/>
        </p:nvSpPr>
        <p:spPr>
          <a:xfrm>
            <a:off x="9966960" y="273405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X[2]</a:t>
            </a:r>
            <a:endParaRPr lang="en-US" sz="1200" dirty="0"/>
          </a:p>
        </p:txBody>
      </p:sp>
      <p:sp>
        <p:nvSpPr>
          <p:cNvPr id="127" name="Shape 125"/>
          <p:cNvSpPr/>
          <p:nvPr/>
        </p:nvSpPr>
        <p:spPr>
          <a:xfrm>
            <a:off x="9966960" y="328269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28" name="Text 126"/>
          <p:cNvSpPr/>
          <p:nvPr/>
        </p:nvSpPr>
        <p:spPr>
          <a:xfrm>
            <a:off x="9966960" y="328269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X[6]</a:t>
            </a:r>
            <a:endParaRPr lang="en-US" sz="1200" dirty="0"/>
          </a:p>
        </p:txBody>
      </p:sp>
      <p:sp>
        <p:nvSpPr>
          <p:cNvPr id="129" name="Shape 127"/>
          <p:cNvSpPr/>
          <p:nvPr/>
        </p:nvSpPr>
        <p:spPr>
          <a:xfrm>
            <a:off x="9966960" y="383133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0" name="Text 128"/>
          <p:cNvSpPr/>
          <p:nvPr/>
        </p:nvSpPr>
        <p:spPr>
          <a:xfrm>
            <a:off x="9966960" y="383133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X[1]</a:t>
            </a:r>
            <a:endParaRPr lang="en-US" sz="1200" dirty="0"/>
          </a:p>
        </p:txBody>
      </p:sp>
      <p:sp>
        <p:nvSpPr>
          <p:cNvPr id="131" name="Shape 129"/>
          <p:cNvSpPr/>
          <p:nvPr/>
        </p:nvSpPr>
        <p:spPr>
          <a:xfrm>
            <a:off x="9966960" y="437997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2" name="Text 130"/>
          <p:cNvSpPr/>
          <p:nvPr/>
        </p:nvSpPr>
        <p:spPr>
          <a:xfrm>
            <a:off x="9966960" y="437997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X[5]</a:t>
            </a:r>
            <a:endParaRPr lang="en-US" sz="1200" dirty="0"/>
          </a:p>
        </p:txBody>
      </p:sp>
      <p:sp>
        <p:nvSpPr>
          <p:cNvPr id="133" name="Shape 131"/>
          <p:cNvSpPr/>
          <p:nvPr/>
        </p:nvSpPr>
        <p:spPr>
          <a:xfrm>
            <a:off x="9966960" y="492861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4" name="Text 132"/>
          <p:cNvSpPr/>
          <p:nvPr/>
        </p:nvSpPr>
        <p:spPr>
          <a:xfrm>
            <a:off x="9966960" y="492861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X[3]</a:t>
            </a:r>
            <a:endParaRPr lang="en-US" sz="1200" dirty="0"/>
          </a:p>
        </p:txBody>
      </p:sp>
      <p:sp>
        <p:nvSpPr>
          <p:cNvPr id="135" name="Shape 133"/>
          <p:cNvSpPr/>
          <p:nvPr/>
        </p:nvSpPr>
        <p:spPr>
          <a:xfrm>
            <a:off x="9966960" y="5477256"/>
            <a:ext cx="1143000" cy="384048"/>
          </a:xfrm>
          <a:prstGeom prst="roundRect">
            <a:avLst>
              <a:gd name="adj" fmla="val 14286"/>
            </a:avLst>
          </a:prstGeom>
          <a:solidFill>
            <a:srgbClr val="EAF1FB"/>
          </a:solidFill>
          <a:ln w="12700">
            <a:solidFill>
              <a:srgbClr val="D7DEE8"/>
            </a:solidFill>
            <a:prstDash val="solid"/>
          </a:ln>
        </p:spPr>
        <p:txBody>
          <a:bodyPr/>
          <a:p/>
        </p:txBody>
      </p:sp>
      <p:sp>
        <p:nvSpPr>
          <p:cNvPr id="136" name="Text 134"/>
          <p:cNvSpPr/>
          <p:nvPr/>
        </p:nvSpPr>
        <p:spPr>
          <a:xfrm>
            <a:off x="9966960" y="5477256"/>
            <a:ext cx="1143000" cy="384048"/>
          </a:xfrm>
          <a:prstGeom prst="rect">
            <a:avLst/>
          </a:prstGeom>
          <a:noFill/>
          <a:ln/>
        </p:spPr>
        <p:txBody>
          <a:bodyPr wrap="square" lIns="0" tIns="0" rIns="0" bIns="0" rtlCol="0" anchor="ctr"/>
          <a:lstStyle/>
          <a:p>
            <a:pPr algn="ctr" indent="0" marL="0">
              <a:buNone/>
            </a:pPr>
            <a:r>
              <a:rPr lang="en-US" sz="1100" b="1" dirty="0">
                <a:solidFill>
                  <a:srgbClr val="132A4A"/>
                </a:solidFill>
                <a:latin typeface="Consolas" pitchFamily="34" charset="0"/>
                <a:ea typeface="Consolas" pitchFamily="34" charset="-122"/>
                <a:cs typeface="Consolas" pitchFamily="34" charset="-120"/>
              </a:rPr>
              <a:t>X[7]</a:t>
            </a:r>
            <a:endParaRPr lang="en-US" sz="1200" dirty="0"/>
          </a:p>
        </p:txBody>
      </p:sp>
      <p:sp>
        <p:nvSpPr>
          <p:cNvPr id="137" name="Text 135"/>
          <p:cNvSpPr/>
          <p:nvPr/>
        </p:nvSpPr>
        <p:spPr>
          <a:xfrm>
            <a:off x="502920" y="6053328"/>
            <a:ext cx="11155680" cy="411480"/>
          </a:xfrm>
          <a:prstGeom prst="rect">
            <a:avLst/>
          </a:prstGeom>
          <a:noFill/>
          <a:ln/>
        </p:spPr>
        <p:txBody>
          <a:bodyPr wrap="square" rtlCol="0" anchor="t"/>
          <a:lstStyle/>
          <a:p>
            <a:pPr algn="l" indent="0" marL="0">
              <a:lnSpc>
                <a:spcPct val="118000"/>
              </a:lnSpc>
              <a:buNone/>
            </a:pPr>
            <a:r>
              <a:rPr lang="en-US" sz="1100" i="1" dirty="0">
                <a:solidFill>
                  <a:srgbClr val="5C6B7A"/>
                </a:solidFill>
                <a:latin typeface="Calibri" pitchFamily="34" charset="0"/>
                <a:ea typeface="Calibri" pitchFamily="34" charset="-122"/>
                <a:cs typeface="Calibri" pitchFamily="34" charset="-120"/>
              </a:rPr>
              <a:t>The mirror image of the DIT graph: the span shrinks 4, 2, 1 and each twiddle multiplies the difference output. Outputs emerge in bit-reversed order.</a:t>
            </a:r>
            <a:endParaRPr lang="en-US" sz="1155" dirty="0"/>
          </a:p>
        </p:txBody>
      </p:sp>
      <p:sp>
        <p:nvSpPr>
          <p:cNvPr id="138" name="Shape 136"/>
          <p:cNvSpPr/>
          <p:nvPr/>
        </p:nvSpPr>
        <p:spPr>
          <a:xfrm>
            <a:off x="502920" y="6473952"/>
            <a:ext cx="11155680" cy="27432"/>
          </a:xfrm>
          <a:prstGeom prst="rect">
            <a:avLst/>
          </a:prstGeom>
          <a:solidFill>
            <a:srgbClr val="D7DEE8"/>
          </a:solidFill>
          <a:ln/>
        </p:spPr>
        <p:txBody>
          <a:bodyPr/>
          <a:p/>
        </p:txBody>
      </p:sp>
      <p:sp>
        <p:nvSpPr>
          <p:cNvPr id="139" name="Shape 137"/>
          <p:cNvSpPr/>
          <p:nvPr/>
        </p:nvSpPr>
        <p:spPr>
          <a:xfrm>
            <a:off x="502920" y="6473952"/>
            <a:ext cx="6905897" cy="27432"/>
          </a:xfrm>
          <a:prstGeom prst="rect">
            <a:avLst/>
          </a:prstGeom>
          <a:solidFill>
            <a:srgbClr val="0E8388"/>
          </a:solidFill>
          <a:ln/>
        </p:spPr>
        <p:txBody>
          <a:bodyPr/>
          <a:p/>
        </p:txBody>
      </p:sp>
      <p:sp>
        <p:nvSpPr>
          <p:cNvPr id="140" name="Text 138"/>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41" name="Text 139"/>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(DIF)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3B · FFT8 WITH DIF</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Worked Example, Repeated With DIF: Setup and Stage 1</a:t>
            </a:r>
            <a:endParaRPr lang="en-US" sz="2600" dirty="0"/>
          </a:p>
        </p:txBody>
      </p:sp>
      <p:sp>
        <p:nvSpPr>
          <p:cNvPr id="4" name="Text 2"/>
          <p:cNvSpPr/>
          <p:nvPr/>
        </p:nvSpPr>
        <p:spPr>
          <a:xfrm>
            <a:off x="502920" y="1188720"/>
            <a:ext cx="11155680" cy="5029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Same input as before, x[0..7] = 1,2,...,8, now fed to the DIF flow graph in natural order (no bit-reversal needed on input this time).</a:t>
            </a:r>
            <a:endParaRPr lang="en-US" sz="1408" dirty="0"/>
          </a:p>
        </p:txBody>
      </p:sp>
      <p:sp>
        <p:nvSpPr>
          <p:cNvPr id="5" name="Text 3"/>
          <p:cNvSpPr/>
          <p:nvPr/>
        </p:nvSpPr>
        <p:spPr>
          <a:xfrm>
            <a:off x="502920" y="178308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STAGE 1 · SPAN-4 BUTTERFLIES, TWIDDLE AFTER SUBTRACT</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2084832"/>
          <a:ext cx="11155680" cy="1463040"/>
        </p:xfrm>
        <a:graphic>
          <a:graphicData uri="http://schemas.openxmlformats.org/drawingml/2006/table">
            <a:tbl>
              <a:tblPr/>
              <a:tblGrid>
                <a:gridCol w="594360"/>
                <a:gridCol w="868680"/>
                <a:gridCol w="960120"/>
                <a:gridCol w="914400"/>
                <a:gridCol w="822960"/>
                <a:gridCol w="1691640"/>
                <a:gridCol w="16459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A=x[n]</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B=x[n+4]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 → p</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Tw W₈ⁿ</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(A-B)·Tw → q</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6</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0.707-0.707j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-2.828+2.828j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7</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10</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-0.707-0.707j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2.828+2.828j</a:t>
                      </a:r>
                      <a:endParaRPr lang="en-US" sz="1122"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7" name="Shape 4"/>
          <p:cNvSpPr/>
          <p:nvPr/>
        </p:nvSpPr>
        <p:spPr>
          <a:xfrm>
            <a:off x="502920" y="4160520"/>
            <a:ext cx="11155680" cy="1737360"/>
          </a:xfrm>
          <a:prstGeom prst="roundRect">
            <a:avLst>
              <a:gd name="adj" fmla="val 3158"/>
            </a:avLst>
          </a:prstGeom>
          <a:solidFill>
            <a:srgbClr val="EAF1FB"/>
          </a:solidFill>
          <a:ln w="12700">
            <a:solidFill>
              <a:srgbClr val="D7DEE8"/>
            </a:solidFill>
            <a:prstDash val="solid"/>
          </a:ln>
        </p:spPr>
        <p:txBody>
          <a:bodyPr/>
          <a:p/>
        </p:txBody>
      </p:sp>
      <p:sp>
        <p:nvSpPr>
          <p:cNvPr id="8" name="Text 5"/>
          <p:cNvSpPr/>
          <p:nvPr/>
        </p:nvSpPr>
        <p:spPr>
          <a:xfrm>
            <a:off x="731520" y="4297680"/>
            <a:ext cx="10698480" cy="14630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Notice the twiddle sits after the subtraction here, the mirror image of the DIT butterfly on slide 14. The sums p0..p3 = 6,8,10,12 feed a 4-point DIF sub-transform that will produce the even outputs X[0],X[4],X[2],X[6]. The twiddle-corrected differences q0..q3 = -4, -2.828+2.828j, 4j, 2.828+2.828j feed a second 4-point DIF sub-transform that will produce the odd outputs X[1],X[5],X[3],X[7].</a:t>
            </a:r>
            <a:endParaRPr lang="en-US" sz="1353" dirty="0"/>
          </a:p>
        </p:txBody>
      </p:sp>
      <p:sp>
        <p:nvSpPr>
          <p:cNvPr id="9" name="Shape 6"/>
          <p:cNvSpPr/>
          <p:nvPr/>
        </p:nvSpPr>
        <p:spPr>
          <a:xfrm>
            <a:off x="502920" y="6473952"/>
            <a:ext cx="11155680" cy="27432"/>
          </a:xfrm>
          <a:prstGeom prst="rect">
            <a:avLst/>
          </a:prstGeom>
          <a:solidFill>
            <a:srgbClr val="D7DEE8"/>
          </a:solidFill>
          <a:ln/>
        </p:spPr>
        <p:txBody>
          <a:bodyPr/>
          <a:p/>
        </p:txBody>
      </p:sp>
      <p:sp>
        <p:nvSpPr>
          <p:cNvPr id="10" name="Shape 7"/>
          <p:cNvSpPr/>
          <p:nvPr/>
        </p:nvSpPr>
        <p:spPr>
          <a:xfrm>
            <a:off x="502920" y="6473952"/>
            <a:ext cx="7171509" cy="27432"/>
          </a:xfrm>
          <a:prstGeom prst="rect">
            <a:avLst/>
          </a:prstGeom>
          <a:solidFill>
            <a:srgbClr val="0E8388"/>
          </a:solidFill>
          <a:ln/>
        </p:spPr>
        <p:txBody>
          <a:bodyPr/>
          <a:p/>
        </p:txBody>
      </p:sp>
      <p:sp>
        <p:nvSpPr>
          <p:cNvPr id="11" name="Text 8"/>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2" name="Text 9"/>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(DIF)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3B · FFT8 WITH DIF</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DIF Result: Stages 2 and 3, Same Output as DIT</a:t>
            </a:r>
            <a:endParaRPr lang="en-US" sz="2600" dirty="0"/>
          </a:p>
        </p:txBody>
      </p:sp>
      <p:sp>
        <p:nvSpPr>
          <p:cNvPr id="4" name="Text 2"/>
          <p:cNvSpPr/>
          <p:nvPr/>
        </p:nvSpPr>
        <p:spPr>
          <a:xfrm>
            <a:off x="502920" y="118872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TOP HALF (p0..p3) → EVEN OUTPUTS</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212080" cy="1463040"/>
        </p:xfrm>
        <a:graphic>
          <a:graphicData uri="http://schemas.openxmlformats.org/drawingml/2006/table">
            <a:tbl>
              <a:tblPr/>
              <a:tblGrid>
                <a:gridCol w="2286000"/>
                <a:gridCol w="1554480"/>
                <a:gridCol w="13716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 2 (span 2)</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 3 (span 1)</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r0=p0+p2=16, s0=(p0-p2)·1=-4</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X[0]=r0+r1=36</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X[0]=36</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r1=p1+p3=20, s1=(p1-p3)·(-j)=4j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X[4]=r0-r1=-4</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X[4]=-4</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X[2]=s0+s1=-4+4j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X[2]=-4+4j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X[6]=s0-s1=-4-4j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X[6]=-4-4j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6" name="Text 3"/>
          <p:cNvSpPr/>
          <p:nvPr/>
        </p:nvSpPr>
        <p:spPr>
          <a:xfrm>
            <a:off x="6446520" y="118872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BOTTOM HALF (q0..q3) → ODD OUTPUTS</a:t>
            </a:r>
            <a:endParaRPr lang="en-US" sz="12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446520" y="1481328"/>
          <a:ext cx="4937760" cy="1463040"/>
        </p:xfrm>
        <a:graphic>
          <a:graphicData uri="http://schemas.openxmlformats.org/drawingml/2006/table">
            <a:tbl>
              <a:tblPr/>
              <a:tblGrid>
                <a:gridCol w="2194560"/>
                <a:gridCol w="1463040"/>
                <a:gridCol w="128016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 2 (span 2)</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 3 (span 1)</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r0'=q0+q2=-4+4j, s0'=(q0-q2)·1=-4-4j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X[1]=r0'+r1'=-4+9.657j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X[1]=-4+9.657j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r1'=q1+q3=5.657j, s1'=(q1-q3)·(-j)=5.657j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X[5]=r0'-r1'=-4-1.657j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X[5]=-4-1.657j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X[3]=s0'+s1'=-4+1.657j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X[3]=-4+1.657j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X[7]=s0'-s1'=-4-9.657j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X[7]=-4-9.657j</a:t>
                      </a:r>
                      <a:endParaRPr lang="en-US" sz="102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8" name="Shape 4"/>
          <p:cNvSpPr/>
          <p:nvPr/>
        </p:nvSpPr>
        <p:spPr>
          <a:xfrm>
            <a:off x="502920" y="3840480"/>
            <a:ext cx="11155680" cy="2514600"/>
          </a:xfrm>
          <a:prstGeom prst="roundRect">
            <a:avLst>
              <a:gd name="adj" fmla="val 2182"/>
            </a:avLst>
          </a:prstGeom>
          <a:solidFill>
            <a:srgbClr val="132A4A"/>
          </a:solidFill>
          <a:ln w="12700">
            <a:solidFill>
              <a:srgbClr val="132A4A"/>
            </a:solidFill>
            <a:prstDash val="solid"/>
          </a:ln>
        </p:spPr>
        <p:txBody>
          <a:bodyPr/>
          <a:p/>
        </p:txBody>
      </p:sp>
      <p:sp>
        <p:nvSpPr>
          <p:cNvPr id="9" name="Text 5"/>
          <p:cNvSpPr/>
          <p:nvPr/>
        </p:nvSpPr>
        <p:spPr>
          <a:xfrm>
            <a:off x="731520" y="3931920"/>
            <a:ext cx="1069848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Same eight numbers, opposite path.</a:t>
            </a:r>
            <a:endParaRPr lang="en-US" sz="1700" dirty="0"/>
          </a:p>
        </p:txBody>
      </p:sp>
      <p:sp>
        <p:nvSpPr>
          <p:cNvPr id="10" name="Text 6"/>
          <p:cNvSpPr/>
          <p:nvPr/>
        </p:nvSpPr>
        <p:spPr>
          <a:xfrm>
            <a:off x="731520" y="4343400"/>
            <a:ext cx="10698480" cy="1965960"/>
          </a:xfrm>
          <a:prstGeom prst="rect">
            <a:avLst/>
          </a:prstGeom>
          <a:noFill/>
          <a:ln/>
        </p:spPr>
        <p:txBody>
          <a:bodyPr wrap="square" rtlCol="0" anchor="t"/>
          <a:lstStyle/>
          <a:p>
            <a:pPr algn="l" indent="0" marL="0">
              <a:lnSpc>
                <a:spcPct val="118000"/>
              </a:lnSpc>
              <a:buNone/>
            </a:pPr>
            <a:r>
              <a:rPr lang="en-US" sz="1300" dirty="0">
                <a:solidFill>
                  <a:srgbClr val="EAF1FB"/>
                </a:solidFill>
                <a:latin typeface="Calibri" pitchFamily="34" charset="0"/>
                <a:ea typeface="Calibri" pitchFamily="34" charset="-122"/>
                <a:cs typeface="Calibri" pitchFamily="34" charset="-120"/>
              </a:rPr>
              <a:t>These emerge in bit-reversed order, X[0],X[4],X[2],X[6],X[1],X[5],X[3],X[7] = 36, -4, -4+4j, -4-4j, -4+9.657j, -4-1.657j, -4+1.657j, -4-9.657j. Unscrambling with the same index permutation from the bit-reversal slide gives natural order X[0..7] = 36, -4+9.657j, -4+4j, -4+1.657j, -4, -4-1.657j, -4-4j, -4-9.657j, matching Section 3's DIT result value for value.</a:t>
            </a:r>
            <a:endParaRPr lang="en-US" sz="1353" dirty="0"/>
          </a:p>
          <a:p>
            <a:pPr algn="l" indent="0" marL="0">
              <a:lnSpc>
                <a:spcPct val="118000"/>
              </a:lnSpc>
              <a:buNone/>
            </a:pPr>
            <a:endParaRPr lang="en-US" sz="1353" dirty="0"/>
          </a:p>
          <a:p>
            <a:pPr algn="l" indent="0" marL="0">
              <a:lnSpc>
                <a:spcPct val="118000"/>
              </a:lnSpc>
              <a:buNone/>
            </a:pPr>
            <a:r>
              <a:rPr lang="en-US" sz="1300" dirty="0">
                <a:solidFill>
                  <a:srgbClr val="EAF1FB"/>
                </a:solidFill>
                <a:latin typeface="Calibri" pitchFamily="34" charset="0"/>
                <a:ea typeface="Calibri" pitchFamily="34" charset="-122"/>
                <a:cs typeface="Calibri" pitchFamily="34" charset="-120"/>
              </a:rPr>
              <a:t>The only bookkeeping difference: DIT needed the input bit-reversed and read the output in natural order; DIF took the input in natural order and produced the output in bit-reversed order, needing one unscramble step at the end instead of the start. Both use 12 butterflies, the same twiddle factors, and the same building blocks from Section 4.</a:t>
            </a:r>
            <a:endParaRPr lang="en-US" sz="1353" dirty="0"/>
          </a:p>
        </p:txBody>
      </p:sp>
      <p:sp>
        <p:nvSpPr>
          <p:cNvPr id="11" name="Shape 7"/>
          <p:cNvSpPr/>
          <p:nvPr/>
        </p:nvSpPr>
        <p:spPr>
          <a:xfrm>
            <a:off x="502920" y="6473952"/>
            <a:ext cx="11155680" cy="27432"/>
          </a:xfrm>
          <a:prstGeom prst="rect">
            <a:avLst/>
          </a:prstGeom>
          <a:solidFill>
            <a:srgbClr val="D7DEE8"/>
          </a:solidFill>
          <a:ln/>
        </p:spPr>
        <p:txBody>
          <a:bodyPr/>
          <a:p/>
        </p:txBody>
      </p:sp>
      <p:sp>
        <p:nvSpPr>
          <p:cNvPr id="12" name="Shape 8"/>
          <p:cNvSpPr/>
          <p:nvPr/>
        </p:nvSpPr>
        <p:spPr>
          <a:xfrm>
            <a:off x="502920" y="6473952"/>
            <a:ext cx="7437120" cy="27432"/>
          </a:xfrm>
          <a:prstGeom prst="rect">
            <a:avLst/>
          </a:prstGeom>
          <a:solidFill>
            <a:srgbClr val="0E8388"/>
          </a:solidFill>
          <a:ln/>
        </p:spPr>
        <p:txBody>
          <a:bodyPr/>
          <a:p/>
        </p:txBody>
      </p:sp>
      <p:sp>
        <p:nvSpPr>
          <p:cNvPr id="13" name="Text 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4" name="Text 1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(DIF)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3C · FFT8 OPERATION COUNT</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Operation Count for the 8-Point FFT (DIT and DIF)</a:t>
            </a:r>
            <a:endParaRPr lang="en-US" sz="2600" dirty="0"/>
          </a:p>
        </p:txBody>
      </p:sp>
      <p:sp>
        <p:nvSpPr>
          <p:cNvPr id="4" name="Shape 2"/>
          <p:cNvSpPr/>
          <p:nvPr/>
        </p:nvSpPr>
        <p:spPr>
          <a:xfrm>
            <a:off x="502920" y="1234440"/>
            <a:ext cx="5212080" cy="594360"/>
          </a:xfrm>
          <a:prstGeom prst="roundRect">
            <a:avLst>
              <a:gd name="adj" fmla="val 9231"/>
            </a:avLst>
          </a:prstGeom>
          <a:solidFill>
            <a:srgbClr val="132A4A"/>
          </a:solidFill>
          <a:ln w="12700">
            <a:solidFill>
              <a:srgbClr val="132A4A"/>
            </a:solidFill>
            <a:prstDash val="solid"/>
          </a:ln>
        </p:spPr>
        <p:txBody>
          <a:bodyPr/>
          <a:p/>
        </p:txBody>
      </p:sp>
      <p:sp>
        <p:nvSpPr>
          <p:cNvPr id="5" name="Text 3"/>
          <p:cNvSpPr/>
          <p:nvPr/>
        </p:nvSpPr>
        <p:spPr>
          <a:xfrm>
            <a:off x="502920" y="1234440"/>
            <a:ext cx="5212080" cy="5943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Total butterflies = (N/2) log</a:t>
            </a:r>
            <a:pPr algn="ctr" indent="0" marL="0">
              <a:buNone/>
            </a:pPr>
            <a:r>
              <a:rPr lang="en-US" sz="1300" b="1" baseline="-40000" dirty="0">
                <a:solidFill>
                  <a:srgbClr val="FFFFFF"/>
                </a:solidFill>
                <a:latin typeface="Cambria" pitchFamily="34" charset="0"/>
                <a:ea typeface="Cambria" pitchFamily="34" charset="-122"/>
                <a:cs typeface="Cambria" pitchFamily="34" charset="-120"/>
              </a:rPr>
              <a:t>2</a:t>
            </a:r>
            <a:pPr algn="ctr" indent="0" marL="0">
              <a:buNone/>
            </a:pPr>
            <a:r>
              <a:rPr lang="en-US" sz="1300" b="1" dirty="0">
                <a:solidFill>
                  <a:srgbClr val="FFFFFF"/>
                </a:solidFill>
                <a:latin typeface="Cambria" pitchFamily="34" charset="0"/>
                <a:ea typeface="Cambria" pitchFamily="34" charset="-122"/>
                <a:cs typeface="Cambria" pitchFamily="34" charset="-120"/>
              </a:rPr>
              <a:t>N</a:t>
            </a:r>
            <a:endParaRPr lang="en-US" sz="1500" dirty="0"/>
          </a:p>
        </p:txBody>
      </p:sp>
      <p:sp>
        <p:nvSpPr>
          <p:cNvPr id="6" name="Text 4"/>
          <p:cNvSpPr/>
          <p:nvPr/>
        </p:nvSpPr>
        <p:spPr>
          <a:xfrm>
            <a:off x="502920" y="2011680"/>
            <a:ext cx="5212080" cy="1554480"/>
          </a:xfrm>
          <a:prstGeom prst="rect">
            <a:avLst/>
          </a:prstGeom>
          <a:noFill/>
          <a:ln/>
        </p:spPr>
        <p:txBody>
          <a:bodyPr wrap="square" rtlCol="0" anchor="t"/>
          <a:lstStyle/>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Number of stages: log₂N. Butterflies per stage: N/2.</a:t>
            </a:r>
            <a:endParaRPr lang="en-US" sz="1353"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Each butterfly performs 1 complex multiply (forming B), 1 complex add, 1 complex subtract.</a:t>
            </a:r>
            <a:endParaRPr lang="en-US" sz="1353" dirty="0"/>
          </a:p>
          <a:p>
            <a:pPr algn="l" marL="228600" indent="-228600">
              <a:lnSpc>
                <a:spcPct val="112000"/>
              </a:lnSpc>
              <a:spcAft>
                <a:spcPts val="880"/>
              </a:spcAft>
              <a:buSzPct val="100000"/>
              <a:buChar char="●"/>
            </a:pPr>
            <a:r>
              <a:rPr lang="en-US" sz="1300" dirty="0">
                <a:solidFill>
                  <a:srgbClr val="16202E"/>
                </a:solidFill>
                <a:latin typeface="Calibri" pitchFamily="34" charset="0"/>
                <a:ea typeface="Calibri" pitchFamily="34" charset="-122"/>
                <a:cs typeface="Calibri" pitchFamily="34" charset="-120"/>
              </a:rPr>
              <a:t>Complex multiplications total: (N/2) log₂N. Additions/subtractions total: N log₂N.</a:t>
            </a:r>
            <a:endParaRPr lang="en-US" sz="1353"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3703320"/>
          <a:ext cx="5212080" cy="1755648"/>
        </p:xfrm>
        <a:graphic>
          <a:graphicData uri="http://schemas.openxmlformats.org/drawingml/2006/table">
            <a:tbl>
              <a:tblPr/>
              <a:tblGrid>
                <a:gridCol w="1737360"/>
                <a:gridCol w="1737360"/>
                <a:gridCol w="173736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Quantity</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Formula</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N=8 value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Stages</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log₂N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Butterflies/stage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Total butterflies</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(N/2)log₂N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Complex mult. (generic)</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(N/2)log₂N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Complex add/sub</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 log₂N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24</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8" name="Text 5"/>
          <p:cNvSpPr/>
          <p:nvPr/>
        </p:nvSpPr>
        <p:spPr>
          <a:xfrm>
            <a:off x="6446520" y="123444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TRIVIAL-TWIDDLE SAVINGS</a:t>
            </a:r>
            <a:endParaRPr lang="en-US" sz="1200" dirty="0"/>
          </a:p>
        </p:txBody>
      </p:sp>
      <p:sp>
        <p:nvSpPr>
          <p:cNvPr id="9" name="Shape 6"/>
          <p:cNvSpPr/>
          <p:nvPr/>
        </p:nvSpPr>
        <p:spPr>
          <a:xfrm>
            <a:off x="6446520" y="1536192"/>
            <a:ext cx="4937760" cy="4297680"/>
          </a:xfrm>
          <a:prstGeom prst="roundRect">
            <a:avLst>
              <a:gd name="adj" fmla="val 1277"/>
            </a:avLst>
          </a:prstGeom>
          <a:solidFill>
            <a:srgbClr val="EAF1FB"/>
          </a:solidFill>
          <a:ln w="12700">
            <a:solidFill>
              <a:srgbClr val="D7DEE8"/>
            </a:solidFill>
            <a:prstDash val="solid"/>
          </a:ln>
        </p:spPr>
        <p:txBody>
          <a:bodyPr/>
          <a:p/>
        </p:txBody>
      </p:sp>
      <p:sp>
        <p:nvSpPr>
          <p:cNvPr id="10" name="Text 7"/>
          <p:cNvSpPr/>
          <p:nvPr/>
        </p:nvSpPr>
        <p:spPr>
          <a:xfrm>
            <a:off x="6583680" y="1664208"/>
            <a:ext cx="4663440" cy="40233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Some twiddle factors are trivial. W_N^k = 1, -1, j, or -j needs no general complex multiplier, only sign flips and/or a swap of real and imaginary parts.</a:t>
            </a:r>
            <a:endParaRPr lang="en-US" sz="1353" dirty="0"/>
          </a:p>
          <a:p>
            <a:pPr algn="l" indent="0" marL="0">
              <a:lnSpc>
                <a:spcPct val="118000"/>
              </a:lnSpc>
              <a:buNone/>
            </a:pPr>
            <a:endParaRPr lang="en-US" sz="1353"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In the worked example: Stage 1 uses only W2^0=1 (4 trivial butterflies). Stage 2 uses only W4^0=1 and W4^1=-j (4 trivial butterflies). Stage 3 uses W8^0=1 and W8^2=-j (trivial) plus W8^1 and W8^3 (genuine).</a:t>
            </a:r>
            <a:endParaRPr lang="en-US" sz="1353" dirty="0"/>
          </a:p>
          <a:p>
            <a:pPr algn="l" indent="0" marL="0">
              <a:lnSpc>
                <a:spcPct val="118000"/>
              </a:lnSpc>
              <a:buNone/>
            </a:pPr>
            <a:endParaRPr lang="en-US" sz="1353"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Result: of the 12 generic complex multiplications counted for N=8, only 2 are genuine general complex multiplications, both in Stage 3 (k=1 and k=3). The other 10 reduce to sign flips and swaps. This is why real FFT implementations special-case trivial twiddle factors instead of running every butterfly through a full multiplier.</a:t>
            </a:r>
            <a:endParaRPr lang="en-US" sz="1353" dirty="0"/>
          </a:p>
        </p:txBody>
      </p:sp>
      <p:sp>
        <p:nvSpPr>
          <p:cNvPr id="11" name="Shape 8"/>
          <p:cNvSpPr/>
          <p:nvPr/>
        </p:nvSpPr>
        <p:spPr>
          <a:xfrm>
            <a:off x="502920" y="6473952"/>
            <a:ext cx="11155680" cy="27432"/>
          </a:xfrm>
          <a:prstGeom prst="rect">
            <a:avLst/>
          </a:prstGeom>
          <a:solidFill>
            <a:srgbClr val="D7DEE8"/>
          </a:solidFill>
          <a:ln/>
        </p:spPr>
        <p:txBody>
          <a:bodyPr/>
          <a:p/>
        </p:txBody>
      </p:sp>
      <p:sp>
        <p:nvSpPr>
          <p:cNvPr id="12" name="Shape 9"/>
          <p:cNvSpPr/>
          <p:nvPr/>
        </p:nvSpPr>
        <p:spPr>
          <a:xfrm>
            <a:off x="502920" y="6473952"/>
            <a:ext cx="7702731" cy="27432"/>
          </a:xfrm>
          <a:prstGeom prst="rect">
            <a:avLst/>
          </a:prstGeom>
          <a:solidFill>
            <a:srgbClr val="0E8388"/>
          </a:solidFill>
          <a:ln/>
        </p:spPr>
        <p:txBody>
          <a:bodyPr/>
          <a:p/>
        </p:txBody>
      </p:sp>
      <p:sp>
        <p:nvSpPr>
          <p:cNvPr id="13" name="Text 1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4" name="Text 1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FFT8 Operations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4 · FROM FFT MATHEMATICS TO HARDWARE</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How Every Equation Maps Onto the Flow Graph (DIT)</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2340864"/>
        </p:xfrm>
        <a:graphic>
          <a:graphicData uri="http://schemas.openxmlformats.org/drawingml/2006/table">
            <a:tbl>
              <a:tblPr/>
              <a:tblGrid>
                <a:gridCol w="2377440"/>
                <a:gridCol w="3383280"/>
                <a:gridCol w="539496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Math element</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Expression</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Flow-graph element</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DFT equation</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X[k] = sum x[n] W_N^(nk)</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The full graph, start to finish, for every k</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Even/odd split</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n = 2r or 2r+1</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The row a sample first enters, top or bottom half</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Smaller DFTs</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E[k], O[k]</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Sub-networks feeding each butterfly stage</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Twiddle multiply</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W_N^k · O[k]</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The multiplier symbol on the lower input wire</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Butterfly</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X[k]=A+B, X[k+N/2]=A-B</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The crossing wires plus the + and - nodes</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FFT stages</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log₂N columns</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Each vertical column of the graph, left to right</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Final samples</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X[0]..X[N-1]</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The right-hand edge of the graph, natural order</a:t>
                      </a:r>
                      <a:endParaRPr lang="en-US" sz="1243"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6473952"/>
            <a:ext cx="11155680" cy="27432"/>
          </a:xfrm>
          <a:prstGeom prst="rect">
            <a:avLst/>
          </a:prstGeom>
          <a:solidFill>
            <a:srgbClr val="D7DEE8"/>
          </a:solidFill>
          <a:ln/>
        </p:spPr>
        <p:txBody>
          <a:bodyPr/>
          <a:p/>
        </p:txBody>
      </p:sp>
      <p:sp>
        <p:nvSpPr>
          <p:cNvPr id="6" name="Shape 3"/>
          <p:cNvSpPr/>
          <p:nvPr/>
        </p:nvSpPr>
        <p:spPr>
          <a:xfrm>
            <a:off x="502920" y="6473952"/>
            <a:ext cx="7968343" cy="27432"/>
          </a:xfrm>
          <a:prstGeom prst="rect">
            <a:avLst/>
          </a:prstGeom>
          <a:solidFill>
            <a:srgbClr val="0E8388"/>
          </a:solidFill>
          <a:ln/>
        </p:spPr>
        <p:txBody>
          <a:bodyPr/>
          <a:p/>
        </p:txBody>
      </p:sp>
      <p:sp>
        <p:nvSpPr>
          <p:cNvPr id="7" name="Text 4"/>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8" name="Text 5"/>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Math to Hardware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4 · FROM FFT MATHEMATICS TO HARDWARE</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The Complex Multiplication Inside Every Butterfly</a:t>
            </a:r>
            <a:endParaRPr lang="en-US" sz="2600" dirty="0"/>
          </a:p>
        </p:txBody>
      </p:sp>
      <p:sp>
        <p:nvSpPr>
          <p:cNvPr id="4" name="Text 2"/>
          <p:cNvSpPr/>
          <p:nvPr/>
        </p:nvSpPr>
        <p:spPr>
          <a:xfrm>
            <a:off x="502920" y="1234440"/>
            <a:ext cx="52120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GENERAL COMPLEX MULTIPLICATION</a:t>
            </a:r>
            <a:endParaRPr lang="en-US" sz="1200" dirty="0"/>
          </a:p>
        </p:txBody>
      </p:sp>
      <p:sp>
        <p:nvSpPr>
          <p:cNvPr id="5" name="Shape 3"/>
          <p:cNvSpPr/>
          <p:nvPr/>
        </p:nvSpPr>
        <p:spPr>
          <a:xfrm>
            <a:off x="502920" y="1536192"/>
            <a:ext cx="5212080" cy="731520"/>
          </a:xfrm>
          <a:prstGeom prst="roundRect">
            <a:avLst>
              <a:gd name="adj" fmla="val 7500"/>
            </a:avLst>
          </a:prstGeom>
          <a:solidFill>
            <a:srgbClr val="132A4A"/>
          </a:solidFill>
          <a:ln w="12700">
            <a:solidFill>
              <a:srgbClr val="132A4A"/>
            </a:solidFill>
            <a:prstDash val="solid"/>
          </a:ln>
        </p:spPr>
        <p:txBody>
          <a:bodyPr/>
          <a:p/>
        </p:txBody>
      </p:sp>
      <p:sp>
        <p:nvSpPr>
          <p:cNvPr id="6" name="Text 4"/>
          <p:cNvSpPr/>
          <p:nvPr/>
        </p:nvSpPr>
        <p:spPr>
          <a:xfrm>
            <a:off x="502920" y="1536192"/>
            <a:ext cx="5212080" cy="7315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(a+jb)(c+jd) = (ac-bd) + j(ad+bc)</a:t>
            </a:r>
            <a:endParaRPr lang="en-US" sz="1500" dirty="0"/>
          </a:p>
        </p:txBody>
      </p:sp>
      <p:sp>
        <p:nvSpPr>
          <p:cNvPr id="7" name="Text 5"/>
          <p:cNvSpPr/>
          <p:nvPr/>
        </p:nvSpPr>
        <p:spPr>
          <a:xfrm>
            <a:off x="502920" y="2423160"/>
            <a:ext cx="5212080" cy="91440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4 real multiplications (ac, bd, ad, bc) and 2 real additions/subtractions. Applied to B = W_N^k O[k]: a,b are the real/imaginary parts of W_N^k; c,d are the real/imaginary parts of O[k].</a:t>
            </a:r>
            <a:endParaRPr lang="en-US" sz="1375" dirty="0"/>
          </a:p>
        </p:txBody>
      </p:sp>
      <p:sp>
        <p:nvSpPr>
          <p:cNvPr id="8" name="Shape 6"/>
          <p:cNvSpPr/>
          <p:nvPr/>
        </p:nvSpPr>
        <p:spPr>
          <a:xfrm>
            <a:off x="502920" y="3474720"/>
            <a:ext cx="5212080" cy="1737360"/>
          </a:xfrm>
          <a:prstGeom prst="roundRect">
            <a:avLst>
              <a:gd name="adj" fmla="val 3158"/>
            </a:avLst>
          </a:prstGeom>
          <a:solidFill>
            <a:srgbClr val="EAF1FB"/>
          </a:solidFill>
          <a:ln w="12700">
            <a:solidFill>
              <a:srgbClr val="D7DEE8"/>
            </a:solidFill>
            <a:prstDash val="solid"/>
          </a:ln>
        </p:spPr>
        <p:txBody>
          <a:bodyPr/>
          <a:p/>
        </p:txBody>
      </p:sp>
      <p:sp>
        <p:nvSpPr>
          <p:cNvPr id="9" name="Text 7"/>
          <p:cNvSpPr/>
          <p:nvPr/>
        </p:nvSpPr>
        <p:spPr>
          <a:xfrm>
            <a:off x="685800" y="3611880"/>
            <a:ext cx="4846320" cy="14630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A real adder costs far less silicon and latency than a real multiplier, so the multiply count, not the add count, usually dominates FFT hardware cost. This is exactly why trivial twiddle factors (1, -1, j, -j) are special-cased out of the multiply count in hardware.</a:t>
            </a:r>
            <a:endParaRPr lang="en-US" sz="1320" dirty="0"/>
          </a:p>
        </p:txBody>
      </p:sp>
      <p:sp>
        <p:nvSpPr>
          <p:cNvPr id="10" name="Text 8"/>
          <p:cNvSpPr/>
          <p:nvPr/>
        </p:nvSpPr>
        <p:spPr>
          <a:xfrm>
            <a:off x="6446520" y="1234440"/>
            <a:ext cx="493776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SPECIAL CASE: MULTIPLYING BY j</a:t>
            </a:r>
            <a:endParaRPr lang="en-US" sz="1200" dirty="0"/>
          </a:p>
        </p:txBody>
      </p:sp>
      <p:sp>
        <p:nvSpPr>
          <p:cNvPr id="11" name="Shape 9"/>
          <p:cNvSpPr/>
          <p:nvPr/>
        </p:nvSpPr>
        <p:spPr>
          <a:xfrm>
            <a:off x="6446520" y="1536192"/>
            <a:ext cx="4937760" cy="731520"/>
          </a:xfrm>
          <a:prstGeom prst="roundRect">
            <a:avLst>
              <a:gd name="adj" fmla="val 7500"/>
            </a:avLst>
          </a:prstGeom>
          <a:solidFill>
            <a:srgbClr val="0E8388"/>
          </a:solidFill>
          <a:ln w="12700">
            <a:solidFill>
              <a:srgbClr val="132A4A"/>
            </a:solidFill>
            <a:prstDash val="solid"/>
          </a:ln>
        </p:spPr>
        <p:txBody>
          <a:bodyPr/>
          <a:p/>
        </p:txBody>
      </p:sp>
      <p:sp>
        <p:nvSpPr>
          <p:cNvPr id="12" name="Text 10"/>
          <p:cNvSpPr/>
          <p:nvPr/>
        </p:nvSpPr>
        <p:spPr>
          <a:xfrm>
            <a:off x="6446520" y="1536192"/>
            <a:ext cx="4937760" cy="7315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j(a+jb) = ja + j</a:t>
            </a:r>
            <a:pPr algn="ctr" indent="0" marL="0">
              <a:buNone/>
            </a:pPr>
            <a:r>
              <a:rPr lang="en-US" sz="1300" b="1" baseline="30000" dirty="0">
                <a:solidFill>
                  <a:srgbClr val="FFFFFF"/>
                </a:solidFill>
                <a:latin typeface="Cambria" pitchFamily="34" charset="0"/>
                <a:ea typeface="Cambria" pitchFamily="34" charset="-122"/>
                <a:cs typeface="Cambria" pitchFamily="34" charset="-120"/>
              </a:rPr>
              <a:t>2</a:t>
            </a:r>
            <a:pPr algn="ctr" indent="0" marL="0">
              <a:buNone/>
            </a:pPr>
            <a:r>
              <a:rPr lang="en-US" sz="1300" b="1" dirty="0">
                <a:solidFill>
                  <a:srgbClr val="FFFFFF"/>
                </a:solidFill>
                <a:latin typeface="Cambria" pitchFamily="34" charset="0"/>
                <a:ea typeface="Cambria" pitchFamily="34" charset="-122"/>
                <a:cs typeface="Cambria" pitchFamily="34" charset="-120"/>
              </a:rPr>
              <a:t>b = -b + ja</a:t>
            </a:r>
            <a:endParaRPr lang="en-US" sz="1500" dirty="0"/>
          </a:p>
        </p:txBody>
      </p:sp>
      <p:sp>
        <p:nvSpPr>
          <p:cNvPr id="13" name="Shape 11"/>
          <p:cNvSpPr/>
          <p:nvPr/>
        </p:nvSpPr>
        <p:spPr>
          <a:xfrm>
            <a:off x="6446520" y="2423160"/>
            <a:ext cx="4937760" cy="2788920"/>
          </a:xfrm>
          <a:prstGeom prst="roundRect">
            <a:avLst>
              <a:gd name="adj" fmla="val 1967"/>
            </a:avLst>
          </a:prstGeom>
          <a:solidFill>
            <a:srgbClr val="FBF0E2"/>
          </a:solidFill>
          <a:ln w="12700">
            <a:solidFill>
              <a:srgbClr val="E7CDA0"/>
            </a:solidFill>
            <a:prstDash val="solid"/>
          </a:ln>
        </p:spPr>
        <p:txBody>
          <a:bodyPr/>
          <a:p/>
        </p:txBody>
      </p:sp>
      <p:sp>
        <p:nvSpPr>
          <p:cNvPr id="14" name="Text 12"/>
          <p:cNvSpPr/>
          <p:nvPr/>
        </p:nvSpPr>
        <p:spPr>
          <a:xfrm>
            <a:off x="6629400" y="2560320"/>
            <a:ext cx="4572000" cy="25603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Multiplying by j (or -j) only swaps the real and imaginary parts and flips one sign; multiplying by -1 only flips both signs. No real multiplier is needed at all, just wiring and a sign inversion.</a:t>
            </a:r>
            <a:endParaRPr lang="en-US" sz="1353" dirty="0"/>
          </a:p>
          <a:p>
            <a:pPr algn="l" indent="0" marL="0">
              <a:lnSpc>
                <a:spcPct val="118000"/>
              </a:lnSpc>
              <a:buNone/>
            </a:pPr>
            <a:endParaRPr lang="en-US" sz="1353" dirty="0"/>
          </a:p>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Hardware connection: an FPGA/ASIC butterfly processing element typically implements the general complex multiplier as 3 or 4 real multiplier blocks plus adders, but recognizes trivial twiddle factors in the control logic and bypasses the multiplier entirely for them.</a:t>
            </a:r>
            <a:endParaRPr lang="en-US" sz="1353" dirty="0"/>
          </a:p>
        </p:txBody>
      </p:sp>
      <p:sp>
        <p:nvSpPr>
          <p:cNvPr id="15" name="Shape 13"/>
          <p:cNvSpPr/>
          <p:nvPr/>
        </p:nvSpPr>
        <p:spPr>
          <a:xfrm>
            <a:off x="502920" y="6473952"/>
            <a:ext cx="11155680" cy="27432"/>
          </a:xfrm>
          <a:prstGeom prst="rect">
            <a:avLst/>
          </a:prstGeom>
          <a:solidFill>
            <a:srgbClr val="D7DEE8"/>
          </a:solidFill>
          <a:ln/>
        </p:spPr>
        <p:txBody>
          <a:bodyPr/>
          <a:p/>
        </p:txBody>
      </p:sp>
      <p:sp>
        <p:nvSpPr>
          <p:cNvPr id="16" name="Shape 14"/>
          <p:cNvSpPr/>
          <p:nvPr/>
        </p:nvSpPr>
        <p:spPr>
          <a:xfrm>
            <a:off x="502920" y="6473952"/>
            <a:ext cx="8233954" cy="27432"/>
          </a:xfrm>
          <a:prstGeom prst="rect">
            <a:avLst/>
          </a:prstGeom>
          <a:solidFill>
            <a:srgbClr val="0E8388"/>
          </a:solidFill>
          <a:ln/>
        </p:spPr>
        <p:txBody>
          <a:bodyPr/>
          <a:p/>
        </p:txBody>
      </p:sp>
      <p:sp>
        <p:nvSpPr>
          <p:cNvPr id="17" name="Text 15"/>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8" name="Text 16"/>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Math to Hardware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4 · FROM FFT MATHEMATICS TO HARDWARE</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Identifying the Hardware Building Blocks</a:t>
            </a:r>
            <a:endParaRPr lang="en-US" sz="2600" dirty="0"/>
          </a:p>
        </p:txBody>
      </p:sp>
      <p:sp>
        <p:nvSpPr>
          <p:cNvPr id="4" name="Shape 2"/>
          <p:cNvSpPr/>
          <p:nvPr/>
        </p:nvSpPr>
        <p:spPr>
          <a:xfrm>
            <a:off x="502920" y="128016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5" name="Text 3"/>
          <p:cNvSpPr/>
          <p:nvPr/>
        </p:nvSpPr>
        <p:spPr>
          <a:xfrm>
            <a:off x="685800" y="138988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Complex multipliers</a:t>
            </a:r>
            <a:endParaRPr lang="en-US" sz="1300" dirty="0"/>
          </a:p>
        </p:txBody>
      </p:sp>
      <p:sp>
        <p:nvSpPr>
          <p:cNvPr id="6" name="Text 4"/>
          <p:cNvSpPr/>
          <p:nvPr/>
        </p:nvSpPr>
        <p:spPr>
          <a:xfrm>
            <a:off x="685800" y="173736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Implement B = W_N^k O[k]; the most area/power-costly block, so trivial twiddles bypass them.</a:t>
            </a:r>
            <a:endParaRPr lang="en-US" sz="1243" dirty="0"/>
          </a:p>
        </p:txBody>
      </p:sp>
      <p:sp>
        <p:nvSpPr>
          <p:cNvPr id="7" name="Shape 5"/>
          <p:cNvSpPr/>
          <p:nvPr/>
        </p:nvSpPr>
        <p:spPr>
          <a:xfrm>
            <a:off x="6217920" y="128016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8" name="Text 6"/>
          <p:cNvSpPr/>
          <p:nvPr/>
        </p:nvSpPr>
        <p:spPr>
          <a:xfrm>
            <a:off x="6400800" y="138988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Complex adders</a:t>
            </a:r>
            <a:endParaRPr lang="en-US" sz="1300" dirty="0"/>
          </a:p>
        </p:txBody>
      </p:sp>
      <p:sp>
        <p:nvSpPr>
          <p:cNvPr id="9" name="Text 7"/>
          <p:cNvSpPr/>
          <p:nvPr/>
        </p:nvSpPr>
        <p:spPr>
          <a:xfrm>
            <a:off x="6400800" y="173736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Form A+B and A-B; cheap, and needed twice as often as multipliers.</a:t>
            </a:r>
            <a:endParaRPr lang="en-US" sz="1243" dirty="0"/>
          </a:p>
        </p:txBody>
      </p:sp>
      <p:sp>
        <p:nvSpPr>
          <p:cNvPr id="10" name="Shape 8"/>
          <p:cNvSpPr/>
          <p:nvPr/>
        </p:nvSpPr>
        <p:spPr>
          <a:xfrm>
            <a:off x="502920" y="283464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11" name="Text 9"/>
          <p:cNvSpPr/>
          <p:nvPr/>
        </p:nvSpPr>
        <p:spPr>
          <a:xfrm>
            <a:off x="685800" y="294436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Registers / delay lines</a:t>
            </a:r>
            <a:endParaRPr lang="en-US" sz="1300" dirty="0"/>
          </a:p>
        </p:txBody>
      </p:sp>
      <p:sp>
        <p:nvSpPr>
          <p:cNvPr id="12" name="Text 10"/>
          <p:cNvSpPr/>
          <p:nvPr/>
        </p:nvSpPr>
        <p:spPr>
          <a:xfrm>
            <a:off x="685800" y="329184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Hold intermediate butterfly outputs between stages in pipelined or streaming designs.</a:t>
            </a:r>
            <a:endParaRPr lang="en-US" sz="1243" dirty="0"/>
          </a:p>
        </p:txBody>
      </p:sp>
      <p:sp>
        <p:nvSpPr>
          <p:cNvPr id="13" name="Shape 11"/>
          <p:cNvSpPr/>
          <p:nvPr/>
        </p:nvSpPr>
        <p:spPr>
          <a:xfrm>
            <a:off x="6217920" y="283464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14" name="Text 12"/>
          <p:cNvSpPr/>
          <p:nvPr/>
        </p:nvSpPr>
        <p:spPr>
          <a:xfrm>
            <a:off x="6400800" y="294436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Memory (input/working RAM)</a:t>
            </a:r>
            <a:endParaRPr lang="en-US" sz="1300" dirty="0"/>
          </a:p>
        </p:txBody>
      </p:sp>
      <p:sp>
        <p:nvSpPr>
          <p:cNvPr id="15" name="Text 13"/>
          <p:cNvSpPr/>
          <p:nvPr/>
        </p:nvSpPr>
        <p:spPr>
          <a:xfrm>
            <a:off x="6400800" y="329184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Stores samples between stages; in-place butterfly computation minimizes memory needed.</a:t>
            </a:r>
            <a:endParaRPr lang="en-US" sz="1243" dirty="0"/>
          </a:p>
        </p:txBody>
      </p:sp>
      <p:sp>
        <p:nvSpPr>
          <p:cNvPr id="16" name="Shape 14"/>
          <p:cNvSpPr/>
          <p:nvPr/>
        </p:nvSpPr>
        <p:spPr>
          <a:xfrm>
            <a:off x="502920" y="438912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17" name="Text 15"/>
          <p:cNvSpPr/>
          <p:nvPr/>
        </p:nvSpPr>
        <p:spPr>
          <a:xfrm>
            <a:off x="685800" y="449884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Address generation / bit-reversal unit</a:t>
            </a:r>
            <a:endParaRPr lang="en-US" sz="1300" dirty="0"/>
          </a:p>
        </p:txBody>
      </p:sp>
      <p:sp>
        <p:nvSpPr>
          <p:cNvPr id="18" name="Text 16"/>
          <p:cNvSpPr/>
          <p:nvPr/>
        </p:nvSpPr>
        <p:spPr>
          <a:xfrm>
            <a:off x="685800" y="484632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Produces the bit-reversed read/write addresses, often a small counter with reversed bit wiring.</a:t>
            </a:r>
            <a:endParaRPr lang="en-US" sz="1243" dirty="0"/>
          </a:p>
        </p:txBody>
      </p:sp>
      <p:sp>
        <p:nvSpPr>
          <p:cNvPr id="19" name="Shape 17"/>
          <p:cNvSpPr/>
          <p:nvPr/>
        </p:nvSpPr>
        <p:spPr>
          <a:xfrm>
            <a:off x="6217920" y="4389120"/>
            <a:ext cx="5440680" cy="1417320"/>
          </a:xfrm>
          <a:prstGeom prst="roundRect">
            <a:avLst>
              <a:gd name="adj" fmla="val 3871"/>
            </a:avLst>
          </a:prstGeom>
          <a:solidFill>
            <a:srgbClr val="EAF1FB"/>
          </a:solidFill>
          <a:ln w="12700">
            <a:solidFill>
              <a:srgbClr val="D7DEE8"/>
            </a:solidFill>
            <a:prstDash val="solid"/>
          </a:ln>
        </p:spPr>
        <p:txBody>
          <a:bodyPr/>
          <a:p/>
        </p:txBody>
      </p:sp>
      <p:sp>
        <p:nvSpPr>
          <p:cNvPr id="20" name="Text 18"/>
          <p:cNvSpPr/>
          <p:nvPr/>
        </p:nvSpPr>
        <p:spPr>
          <a:xfrm>
            <a:off x="6400800" y="4498848"/>
            <a:ext cx="5074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Twiddle-factor ROM</a:t>
            </a:r>
            <a:endParaRPr lang="en-US" sz="1300" dirty="0"/>
          </a:p>
        </p:txBody>
      </p:sp>
      <p:sp>
        <p:nvSpPr>
          <p:cNvPr id="21" name="Text 19"/>
          <p:cNvSpPr/>
          <p:nvPr/>
        </p:nvSpPr>
        <p:spPr>
          <a:xfrm>
            <a:off x="6400800" y="4846320"/>
            <a:ext cx="5074920" cy="82296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Stores precomputed W_N^k values; symmetry allows storing only a quarter-circle.</a:t>
            </a:r>
            <a:endParaRPr lang="en-US" sz="1243" dirty="0"/>
          </a:p>
        </p:txBody>
      </p:sp>
      <p:sp>
        <p:nvSpPr>
          <p:cNvPr id="22" name="Shape 20"/>
          <p:cNvSpPr/>
          <p:nvPr/>
        </p:nvSpPr>
        <p:spPr>
          <a:xfrm>
            <a:off x="502920" y="6473952"/>
            <a:ext cx="11155680" cy="27432"/>
          </a:xfrm>
          <a:prstGeom prst="rect">
            <a:avLst/>
          </a:prstGeom>
          <a:solidFill>
            <a:srgbClr val="D7DEE8"/>
          </a:solidFill>
          <a:ln/>
        </p:spPr>
        <p:txBody>
          <a:bodyPr/>
          <a:p/>
        </p:txBody>
      </p:sp>
      <p:sp>
        <p:nvSpPr>
          <p:cNvPr id="23" name="Shape 21"/>
          <p:cNvSpPr/>
          <p:nvPr/>
        </p:nvSpPr>
        <p:spPr>
          <a:xfrm>
            <a:off x="502920" y="6473952"/>
            <a:ext cx="8499566" cy="27432"/>
          </a:xfrm>
          <a:prstGeom prst="rect">
            <a:avLst/>
          </a:prstGeom>
          <a:solidFill>
            <a:srgbClr val="0E8388"/>
          </a:solidFill>
          <a:ln/>
        </p:spPr>
        <p:txBody>
          <a:bodyPr/>
          <a:p/>
        </p:txBody>
      </p:sp>
      <p:sp>
        <p:nvSpPr>
          <p:cNvPr id="24" name="Text 22"/>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5" name="Text 23"/>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Math to Hardware     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4 · FROM FFT MATHEMATICS TO HARDWARE</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Mapping Every Math Operation to RTL Hardware</a:t>
            </a:r>
            <a:endParaRPr lang="en-US" sz="2600" dirty="0"/>
          </a:p>
        </p:txBody>
      </p:sp>
      <p:sp>
        <p:nvSpPr>
          <p:cNvPr id="4" name="Text 2"/>
          <p:cNvSpPr/>
          <p:nvPr/>
        </p:nvSpPr>
        <p:spPr>
          <a:xfrm>
            <a:off x="502920" y="1234440"/>
            <a:ext cx="11155680" cy="274320"/>
          </a:xfrm>
          <a:prstGeom prst="rect">
            <a:avLst/>
          </a:prstGeom>
          <a:noFill/>
          <a:ln/>
        </p:spPr>
        <p:txBody>
          <a:bodyPr wrap="square" rtlCol="0" anchor="ctr"/>
          <a:lstStyle/>
          <a:p>
            <a:pPr algn="l" indent="0" marL="0">
              <a:buNone/>
            </a:pPr>
            <a:r>
              <a:rPr lang="en-US" sz="1100" b="1" dirty="0">
                <a:solidFill>
                  <a:srgbClr val="0E8388"/>
                </a:solidFill>
                <a:latin typeface="Calibri" pitchFamily="34" charset="0"/>
                <a:ea typeface="Calibri" pitchFamily="34" charset="-122"/>
                <a:cs typeface="Calibri" pitchFamily="34" charset="-120"/>
              </a:rPr>
              <a:t>CONCEPTUAL HARDWARE DATAPATH</a:t>
            </a:r>
            <a:endParaRPr lang="en-US" sz="1200" dirty="0"/>
          </a:p>
        </p:txBody>
      </p:sp>
      <p:sp>
        <p:nvSpPr>
          <p:cNvPr id="5" name="Shape 3"/>
          <p:cNvSpPr/>
          <p:nvPr/>
        </p:nvSpPr>
        <p:spPr>
          <a:xfrm>
            <a:off x="502920" y="1554480"/>
            <a:ext cx="1975104" cy="868680"/>
          </a:xfrm>
          <a:prstGeom prst="roundRect">
            <a:avLst>
              <a:gd name="adj" fmla="val 6316"/>
            </a:avLst>
          </a:prstGeom>
          <a:solidFill>
            <a:srgbClr val="EAF1FB"/>
          </a:solidFill>
          <a:ln w="12700">
            <a:solidFill>
              <a:srgbClr val="D7DEE8"/>
            </a:solidFill>
            <a:prstDash val="solid"/>
          </a:ln>
        </p:spPr>
        <p:txBody>
          <a:bodyPr/>
          <a:p/>
        </p:txBody>
      </p:sp>
      <p:sp>
        <p:nvSpPr>
          <p:cNvPr id="6" name="Text 4"/>
          <p:cNvSpPr/>
          <p:nvPr/>
        </p:nvSpPr>
        <p:spPr>
          <a:xfrm>
            <a:off x="548640" y="1554480"/>
            <a:ext cx="1883664" cy="86868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Input</a:t>
            </a:r>
            <a:endParaRPr lang="en-US" sz="1050" dirty="0"/>
          </a:p>
          <a:p>
            <a:pPr algn="ctr" indent="0" marL="0">
              <a:buNone/>
            </a:pPr>
            <a:r>
              <a:rPr lang="en-US" sz="1100" b="1" dirty="0">
                <a:solidFill>
                  <a:srgbClr val="132A4A"/>
                </a:solidFill>
                <a:latin typeface="Calibri" pitchFamily="34" charset="0"/>
                <a:ea typeface="Calibri" pitchFamily="34" charset="-122"/>
                <a:cs typeface="Calibri" pitchFamily="34" charset="-120"/>
              </a:rPr>
              <a:t>Memory</a:t>
            </a:r>
            <a:endParaRPr lang="en-US" sz="1050" dirty="0"/>
          </a:p>
        </p:txBody>
      </p:sp>
      <p:sp>
        <p:nvSpPr>
          <p:cNvPr id="7" name="Shape 5"/>
          <p:cNvSpPr/>
          <p:nvPr/>
        </p:nvSpPr>
        <p:spPr>
          <a:xfrm>
            <a:off x="2505456" y="1984248"/>
            <a:ext cx="265176" cy="0"/>
          </a:xfrm>
          <a:prstGeom prst="line">
            <a:avLst/>
          </a:prstGeom>
          <a:noFill/>
          <a:ln w="25400">
            <a:solidFill>
              <a:srgbClr val="0E8388"/>
            </a:solidFill>
            <a:prstDash val="solid"/>
            <a:tailEnd type="triangle"/>
          </a:ln>
        </p:spPr>
        <p:txBody>
          <a:bodyPr/>
          <a:p/>
        </p:txBody>
      </p:sp>
      <p:sp>
        <p:nvSpPr>
          <p:cNvPr id="8" name="Shape 6"/>
          <p:cNvSpPr/>
          <p:nvPr/>
        </p:nvSpPr>
        <p:spPr>
          <a:xfrm>
            <a:off x="2798064" y="1554480"/>
            <a:ext cx="1975104" cy="868680"/>
          </a:xfrm>
          <a:prstGeom prst="roundRect">
            <a:avLst>
              <a:gd name="adj" fmla="val 6316"/>
            </a:avLst>
          </a:prstGeom>
          <a:solidFill>
            <a:srgbClr val="EAF1FB"/>
          </a:solidFill>
          <a:ln w="12700">
            <a:solidFill>
              <a:srgbClr val="D7DEE8"/>
            </a:solidFill>
            <a:prstDash val="solid"/>
          </a:ln>
        </p:spPr>
        <p:txBody>
          <a:bodyPr/>
          <a:p/>
        </p:txBody>
      </p:sp>
      <p:sp>
        <p:nvSpPr>
          <p:cNvPr id="9" name="Text 7"/>
          <p:cNvSpPr/>
          <p:nvPr/>
        </p:nvSpPr>
        <p:spPr>
          <a:xfrm>
            <a:off x="2843784" y="1554480"/>
            <a:ext cx="1883664" cy="86868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Bit-Reversal /</a:t>
            </a:r>
            <a:endParaRPr lang="en-US" sz="1050" dirty="0"/>
          </a:p>
          <a:p>
            <a:pPr algn="ctr" indent="0" marL="0">
              <a:buNone/>
            </a:pPr>
            <a:r>
              <a:rPr lang="en-US" sz="1100" b="1" dirty="0">
                <a:solidFill>
                  <a:srgbClr val="132A4A"/>
                </a:solidFill>
                <a:latin typeface="Calibri" pitchFamily="34" charset="0"/>
                <a:ea typeface="Calibri" pitchFamily="34" charset="-122"/>
                <a:cs typeface="Calibri" pitchFamily="34" charset="-120"/>
              </a:rPr>
              <a:t>Address Gen</a:t>
            </a:r>
            <a:endParaRPr lang="en-US" sz="1050" dirty="0"/>
          </a:p>
        </p:txBody>
      </p:sp>
      <p:sp>
        <p:nvSpPr>
          <p:cNvPr id="10" name="Shape 8"/>
          <p:cNvSpPr/>
          <p:nvPr/>
        </p:nvSpPr>
        <p:spPr>
          <a:xfrm>
            <a:off x="4800600" y="1984248"/>
            <a:ext cx="265176" cy="0"/>
          </a:xfrm>
          <a:prstGeom prst="line">
            <a:avLst/>
          </a:prstGeom>
          <a:noFill/>
          <a:ln w="25400">
            <a:solidFill>
              <a:srgbClr val="0E8388"/>
            </a:solidFill>
            <a:prstDash val="solid"/>
            <a:tailEnd type="triangle"/>
          </a:ln>
        </p:spPr>
        <p:txBody>
          <a:bodyPr/>
          <a:p/>
        </p:txBody>
      </p:sp>
      <p:sp>
        <p:nvSpPr>
          <p:cNvPr id="11" name="Shape 9"/>
          <p:cNvSpPr/>
          <p:nvPr/>
        </p:nvSpPr>
        <p:spPr>
          <a:xfrm>
            <a:off x="5093208" y="1554480"/>
            <a:ext cx="1975104" cy="868680"/>
          </a:xfrm>
          <a:prstGeom prst="roundRect">
            <a:avLst>
              <a:gd name="adj" fmla="val 6316"/>
            </a:avLst>
          </a:prstGeom>
          <a:solidFill>
            <a:srgbClr val="132A4A"/>
          </a:solidFill>
          <a:ln w="12700">
            <a:solidFill>
              <a:srgbClr val="D7DEE8"/>
            </a:solidFill>
            <a:prstDash val="solid"/>
          </a:ln>
        </p:spPr>
        <p:txBody>
          <a:bodyPr/>
          <a:p/>
        </p:txBody>
      </p:sp>
      <p:sp>
        <p:nvSpPr>
          <p:cNvPr id="12" name="Text 10"/>
          <p:cNvSpPr/>
          <p:nvPr/>
        </p:nvSpPr>
        <p:spPr>
          <a:xfrm>
            <a:off x="5138928" y="1554480"/>
            <a:ext cx="1883664" cy="868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Butterfly</a:t>
            </a:r>
            <a:endParaRPr lang="en-US" sz="1050" dirty="0"/>
          </a:p>
          <a:p>
            <a:pPr algn="ctr" indent="0" marL="0">
              <a:buNone/>
            </a:pPr>
            <a:r>
              <a:rPr lang="en-US" sz="1100" b="1" dirty="0">
                <a:solidFill>
                  <a:srgbClr val="FFFFFF"/>
                </a:solidFill>
                <a:latin typeface="Calibri" pitchFamily="34" charset="0"/>
                <a:ea typeface="Calibri" pitchFamily="34" charset="-122"/>
                <a:cs typeface="Calibri" pitchFamily="34" charset="-120"/>
              </a:rPr>
              <a:t>Processing Elem.</a:t>
            </a:r>
            <a:endParaRPr lang="en-US" sz="1050" dirty="0"/>
          </a:p>
        </p:txBody>
      </p:sp>
      <p:sp>
        <p:nvSpPr>
          <p:cNvPr id="13" name="Shape 11"/>
          <p:cNvSpPr/>
          <p:nvPr/>
        </p:nvSpPr>
        <p:spPr>
          <a:xfrm>
            <a:off x="7095744" y="1984248"/>
            <a:ext cx="265176" cy="0"/>
          </a:xfrm>
          <a:prstGeom prst="line">
            <a:avLst/>
          </a:prstGeom>
          <a:noFill/>
          <a:ln w="25400">
            <a:solidFill>
              <a:srgbClr val="0E8388"/>
            </a:solidFill>
            <a:prstDash val="solid"/>
            <a:tailEnd type="triangle"/>
          </a:ln>
        </p:spPr>
        <p:txBody>
          <a:bodyPr/>
          <a:p/>
        </p:txBody>
      </p:sp>
      <p:sp>
        <p:nvSpPr>
          <p:cNvPr id="14" name="Shape 12"/>
          <p:cNvSpPr/>
          <p:nvPr/>
        </p:nvSpPr>
        <p:spPr>
          <a:xfrm>
            <a:off x="7388352" y="1554480"/>
            <a:ext cx="1975104" cy="868680"/>
          </a:xfrm>
          <a:prstGeom prst="roundRect">
            <a:avLst>
              <a:gd name="adj" fmla="val 6316"/>
            </a:avLst>
          </a:prstGeom>
          <a:solidFill>
            <a:srgbClr val="EAF1FB"/>
          </a:solidFill>
          <a:ln w="12700">
            <a:solidFill>
              <a:srgbClr val="D7DEE8"/>
            </a:solidFill>
            <a:prstDash val="solid"/>
          </a:ln>
        </p:spPr>
        <p:txBody>
          <a:bodyPr/>
          <a:p/>
        </p:txBody>
      </p:sp>
      <p:sp>
        <p:nvSpPr>
          <p:cNvPr id="15" name="Text 13"/>
          <p:cNvSpPr/>
          <p:nvPr/>
        </p:nvSpPr>
        <p:spPr>
          <a:xfrm>
            <a:off x="7434072" y="1554480"/>
            <a:ext cx="1883664" cy="86868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Twiddle ROM +</a:t>
            </a:r>
            <a:endParaRPr lang="en-US" sz="1050" dirty="0"/>
          </a:p>
          <a:p>
            <a:pPr algn="ctr" indent="0" marL="0">
              <a:buNone/>
            </a:pPr>
            <a:r>
              <a:rPr lang="en-US" sz="1100" b="1" dirty="0">
                <a:solidFill>
                  <a:srgbClr val="132A4A"/>
                </a:solidFill>
                <a:latin typeface="Calibri" pitchFamily="34" charset="0"/>
                <a:ea typeface="Calibri" pitchFamily="34" charset="-122"/>
                <a:cs typeface="Calibri" pitchFamily="34" charset="-120"/>
              </a:rPr>
              <a:t>Complex Mult.</a:t>
            </a:r>
            <a:endParaRPr lang="en-US" sz="1050" dirty="0"/>
          </a:p>
        </p:txBody>
      </p:sp>
      <p:sp>
        <p:nvSpPr>
          <p:cNvPr id="16" name="Shape 14"/>
          <p:cNvSpPr/>
          <p:nvPr/>
        </p:nvSpPr>
        <p:spPr>
          <a:xfrm>
            <a:off x="9390888" y="1984248"/>
            <a:ext cx="265176" cy="0"/>
          </a:xfrm>
          <a:prstGeom prst="line">
            <a:avLst/>
          </a:prstGeom>
          <a:noFill/>
          <a:ln w="25400">
            <a:solidFill>
              <a:srgbClr val="0E8388"/>
            </a:solidFill>
            <a:prstDash val="solid"/>
            <a:tailEnd type="triangle"/>
          </a:ln>
        </p:spPr>
        <p:txBody>
          <a:bodyPr/>
          <a:p/>
        </p:txBody>
      </p:sp>
      <p:sp>
        <p:nvSpPr>
          <p:cNvPr id="17" name="Shape 15"/>
          <p:cNvSpPr/>
          <p:nvPr/>
        </p:nvSpPr>
        <p:spPr>
          <a:xfrm>
            <a:off x="9683496" y="1554480"/>
            <a:ext cx="1975104" cy="868680"/>
          </a:xfrm>
          <a:prstGeom prst="roundRect">
            <a:avLst>
              <a:gd name="adj" fmla="val 6316"/>
            </a:avLst>
          </a:prstGeom>
          <a:solidFill>
            <a:srgbClr val="EAF1FB"/>
          </a:solidFill>
          <a:ln w="12700">
            <a:solidFill>
              <a:srgbClr val="D7DEE8"/>
            </a:solidFill>
            <a:prstDash val="solid"/>
          </a:ln>
        </p:spPr>
        <p:txBody>
          <a:bodyPr/>
          <a:p/>
        </p:txBody>
      </p:sp>
      <p:sp>
        <p:nvSpPr>
          <p:cNvPr id="18" name="Text 16"/>
          <p:cNvSpPr/>
          <p:nvPr/>
        </p:nvSpPr>
        <p:spPr>
          <a:xfrm>
            <a:off x="9729216" y="1554480"/>
            <a:ext cx="1883664" cy="868680"/>
          </a:xfrm>
          <a:prstGeom prst="rect">
            <a:avLst/>
          </a:prstGeom>
          <a:noFill/>
          <a:ln/>
        </p:spPr>
        <p:txBody>
          <a:bodyPr wrap="square" rtlCol="0" anchor="ctr"/>
          <a:lstStyle/>
          <a:p>
            <a:pPr algn="ctr" indent="0" marL="0">
              <a:buNone/>
            </a:pPr>
            <a:r>
              <a:rPr lang="en-US" sz="1100" b="1" dirty="0">
                <a:solidFill>
                  <a:srgbClr val="132A4A"/>
                </a:solidFill>
                <a:latin typeface="Calibri" pitchFamily="34" charset="0"/>
                <a:ea typeface="Calibri" pitchFamily="34" charset="-122"/>
                <a:cs typeface="Calibri" pitchFamily="34" charset="-120"/>
              </a:rPr>
              <a:t>FFT</a:t>
            </a:r>
            <a:endParaRPr lang="en-US" sz="1050" dirty="0"/>
          </a:p>
          <a:p>
            <a:pPr algn="ctr" indent="0" marL="0">
              <a:buNone/>
            </a:pPr>
            <a:r>
              <a:rPr lang="en-US" sz="1100" b="1" dirty="0">
                <a:solidFill>
                  <a:srgbClr val="132A4A"/>
                </a:solidFill>
                <a:latin typeface="Calibri" pitchFamily="34" charset="0"/>
                <a:ea typeface="Calibri" pitchFamily="34" charset="-122"/>
                <a:cs typeface="Calibri" pitchFamily="34" charset="-120"/>
              </a:rPr>
              <a:t>Output</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11155680" cy="1755648"/>
        </p:xfrm>
        <a:graphic>
          <a:graphicData uri="http://schemas.openxmlformats.org/drawingml/2006/table">
            <a:tbl>
              <a:tblPr/>
              <a:tblGrid>
                <a:gridCol w="4389120"/>
                <a:gridCol w="676656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Equation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RTL / hardware mapping</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X[k] = sum x[n] W_N^(nk)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Overall datapath, top to bottom of this diagram</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A = E[k], B = W_N^k O[k]</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Register/wire A; complex multiplier + twiddle ROM produce B</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X_top = A+B, X_bot = A-B</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Complex adder / subtractor pair inside the butterfly PE</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Bit-reversed index (DIT input, DIF output)</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Address generation unit driving RAM read/write</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log₂N stages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Either N/2 PEs pipelined (streaming) or 1 PE reused N/2 log₂N times (burst)</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20" name="Text 17"/>
          <p:cNvSpPr/>
          <p:nvPr/>
        </p:nvSpPr>
        <p:spPr>
          <a:xfrm>
            <a:off x="502920" y="5760720"/>
            <a:ext cx="11155680" cy="45720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This deck stays at the conceptual RTL-mapping level; vendor FFT IP cores add configuration for streaming width, radix mixing, and scaling on top of the same underlying algorithm.</a:t>
            </a:r>
            <a:endParaRPr lang="en-US" sz="1210" dirty="0"/>
          </a:p>
        </p:txBody>
      </p:sp>
      <p:sp>
        <p:nvSpPr>
          <p:cNvPr id="21" name="Shape 18"/>
          <p:cNvSpPr/>
          <p:nvPr/>
        </p:nvSpPr>
        <p:spPr>
          <a:xfrm>
            <a:off x="502920" y="6473952"/>
            <a:ext cx="11155680" cy="27432"/>
          </a:xfrm>
          <a:prstGeom prst="rect">
            <a:avLst/>
          </a:prstGeom>
          <a:solidFill>
            <a:srgbClr val="D7DEE8"/>
          </a:solidFill>
          <a:ln/>
        </p:spPr>
        <p:txBody>
          <a:bodyPr/>
          <a:p/>
        </p:txBody>
      </p:sp>
      <p:sp>
        <p:nvSpPr>
          <p:cNvPr id="22" name="Shape 19"/>
          <p:cNvSpPr/>
          <p:nvPr/>
        </p:nvSpPr>
        <p:spPr>
          <a:xfrm>
            <a:off x="502920" y="6473952"/>
            <a:ext cx="8765177" cy="27432"/>
          </a:xfrm>
          <a:prstGeom prst="rect">
            <a:avLst/>
          </a:prstGeom>
          <a:solidFill>
            <a:srgbClr val="0E8388"/>
          </a:solidFill>
          <a:ln/>
        </p:spPr>
        <p:txBody>
          <a:bodyPr/>
          <a:p/>
        </p:txBody>
      </p:sp>
      <p:sp>
        <p:nvSpPr>
          <p:cNvPr id="23" name="Text 20"/>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4" name="Text 21"/>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Math to Hardware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Scaling the Design: From FFT8 to FFT32</a:t>
            </a:r>
            <a:endParaRPr lang="en-US" sz="2600" dirty="0"/>
          </a:p>
        </p:txBody>
      </p:sp>
      <p:sp>
        <p:nvSpPr>
          <p:cNvPr id="4" name="Text 2"/>
          <p:cNvSpPr/>
          <p:nvPr/>
        </p:nvSpPr>
        <p:spPr>
          <a:xfrm>
            <a:off x="502920" y="1188720"/>
            <a:ext cx="11155680" cy="5029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Every equation, symmetry, and hardware block from Sections 2 to 4 carries over unchanged. Only N changes, from 8 to 32, which changes the stage count, twiddle set, and butterfly count.</a:t>
            </a:r>
            <a:endParaRPr lang="en-US" sz="143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55680" cy="1755648"/>
        </p:xfrm>
        <a:graphic>
          <a:graphicData uri="http://schemas.openxmlformats.org/drawingml/2006/table">
            <a:tbl>
              <a:tblPr/>
              <a:tblGrid>
                <a:gridCol w="2788920"/>
                <a:gridCol w="2788920"/>
                <a:gridCol w="2788920"/>
                <a:gridCol w="27889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Quantity</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Formula</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N=8</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N=32</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Stages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log₂N</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Butterflies / stage</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16</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Total butterflies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 log₂N</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12</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80</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Distinct twiddle factors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N/2 (by symmetry)</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16</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Genuine complex mults</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roughly (N/2)log₂N minus trivial</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34</a:t>
                      </a:r>
                      <a:endParaRPr lang="en-US" sz="1320"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160520"/>
            <a:ext cx="11155680" cy="1737360"/>
          </a:xfrm>
          <a:prstGeom prst="roundRect">
            <a:avLst>
              <a:gd name="adj" fmla="val 3158"/>
            </a:avLst>
          </a:prstGeom>
          <a:solidFill>
            <a:srgbClr val="E4F3F2"/>
          </a:solidFill>
          <a:ln w="12700">
            <a:solidFill>
              <a:srgbClr val="9FD4D1"/>
            </a:solidFill>
            <a:prstDash val="solid"/>
          </a:ln>
        </p:spPr>
        <p:txBody>
          <a:bodyPr/>
          <a:p/>
        </p:txBody>
      </p:sp>
      <p:sp>
        <p:nvSpPr>
          <p:cNvPr id="7" name="Text 4"/>
          <p:cNvSpPr/>
          <p:nvPr/>
        </p:nvSpPr>
        <p:spPr>
          <a:xfrm>
            <a:off x="731520" y="4297680"/>
            <a:ext cx="10698480" cy="146304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N=32 is still a power of 2 (2^5), so the same radix-2 decimation recursion (DIT or DIF) applies: 32 -&gt; 16+16 -&gt; ... -&gt; thirty-two trivial 1-point DFTs, five levels deep. The bit-reversal permutation now reverses 5-bit indices instead of 3-bit indices, and the flow graph gains two more columns of butterflies, each still with N/2 = 16 butterflies. The design decisions that matter at this larger size are fixed-point word length, bit growth across five stages instead of three, and which RTL architecture to build, covered on the following slides.</a:t>
            </a:r>
            <a:endParaRPr lang="en-US" sz="1375" dirty="0"/>
          </a:p>
        </p:txBody>
      </p:sp>
      <p:sp>
        <p:nvSpPr>
          <p:cNvPr id="8" name="Shape 5"/>
          <p:cNvSpPr/>
          <p:nvPr/>
        </p:nvSpPr>
        <p:spPr>
          <a:xfrm>
            <a:off x="502920" y="6473952"/>
            <a:ext cx="11155680" cy="27432"/>
          </a:xfrm>
          <a:prstGeom prst="rect">
            <a:avLst/>
          </a:prstGeom>
          <a:solidFill>
            <a:srgbClr val="D7DEE8"/>
          </a:solidFill>
          <a:ln/>
        </p:spPr>
        <p:txBody>
          <a:bodyPr/>
          <a:p/>
        </p:txBody>
      </p:sp>
      <p:sp>
        <p:nvSpPr>
          <p:cNvPr id="9" name="Shape 6"/>
          <p:cNvSpPr/>
          <p:nvPr/>
        </p:nvSpPr>
        <p:spPr>
          <a:xfrm>
            <a:off x="502920" y="6473952"/>
            <a:ext cx="9030789" cy="27432"/>
          </a:xfrm>
          <a:prstGeom prst="rect">
            <a:avLst/>
          </a:prstGeom>
          <a:solidFill>
            <a:srgbClr val="0E8388"/>
          </a:solidFill>
          <a:ln/>
        </p:spPr>
        <p:txBody>
          <a:bodyPr/>
          <a:p/>
        </p:txBody>
      </p:sp>
      <p:sp>
        <p:nvSpPr>
          <p:cNvPr id="10" name="Text 7"/>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1" name="Text 8"/>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Fixed-Point Representation for FFT32</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1755648"/>
        </p:xfrm>
        <a:graphic>
          <a:graphicData uri="http://schemas.openxmlformats.org/drawingml/2006/table">
            <a:tbl>
              <a:tblPr/>
              <a:tblGrid>
                <a:gridCol w="2743200"/>
                <a:gridCol w="841248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Concern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means for FFT32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Quantization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Input samples and W32 twiddle values are stored with a finite number of bits, introducing small rounding errors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Dynamic range</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Signal magnitude can grow across all 5 stages; word length must cover the largest value that can occur</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Bit growth</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Each complex addition can grow the required word length by up to 1 bit, across 5 stages instead of 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Overflow</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If word length is not grown or scaled, sums wrap around and corrupt the result</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Rounding / saturation</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After each multiply, results are rounded or truncated back to a fixed word length</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526280"/>
            <a:ext cx="11155680" cy="1417320"/>
          </a:xfrm>
          <a:prstGeom prst="roundRect">
            <a:avLst>
              <a:gd name="adj" fmla="val 3871"/>
            </a:avLst>
          </a:prstGeom>
          <a:solidFill>
            <a:srgbClr val="132A4A"/>
          </a:solidFill>
          <a:ln w="12700">
            <a:solidFill>
              <a:srgbClr val="132A4A"/>
            </a:solidFill>
            <a:prstDash val="solid"/>
          </a:ln>
        </p:spPr>
        <p:txBody>
          <a:bodyPr/>
          <a:p/>
        </p:txBody>
      </p:sp>
      <p:sp>
        <p:nvSpPr>
          <p:cNvPr id="6" name="Text 3"/>
          <p:cNvSpPr/>
          <p:nvPr/>
        </p:nvSpPr>
        <p:spPr>
          <a:xfrm>
            <a:off x="731520" y="4663440"/>
            <a:ext cx="10698480" cy="1188720"/>
          </a:xfrm>
          <a:prstGeom prst="rect">
            <a:avLst/>
          </a:prstGeom>
          <a:noFill/>
          <a:ln/>
        </p:spPr>
        <p:txBody>
          <a:bodyPr wrap="square" rtlCol="0" anchor="ctr"/>
          <a:lstStyle/>
          <a:p>
            <a:pPr indent="0" marL="0">
              <a:lnSpc>
                <a:spcPct val="125000"/>
              </a:lnSpc>
              <a:buNone/>
            </a:pPr>
            <a:r>
              <a:rPr lang="en-US" sz="1300" b="1" dirty="0">
                <a:solidFill>
                  <a:srgbClr val="9FD4D1"/>
                </a:solidFill>
              </a:rPr>
              <a:t>A common FFT32 choice:  </a:t>
            </a:r>
            <a:pPr indent="0" marL="0">
              <a:lnSpc>
                <a:spcPct val="125000"/>
              </a:lnSpc>
              <a:buNone/>
            </a:pPr>
            <a:r>
              <a:rPr lang="en-US" sz="1300" dirty="0">
                <a:solidFill>
                  <a:srgbClr val="FFFFFF"/>
                </a:solidFill>
              </a:rPr>
              <a:t>16-bit fixed-point, Q1.15 format (1 sign bit, 15 fractional bits), inputs pre-scaled to fit in [-1, 1). Twiddle ROM stores W32 values in the same Q1.15 format.</a:t>
            </a:r>
            <a:endParaRPr lang="en-US" sz="1300" dirty="0"/>
          </a:p>
        </p:txBody>
      </p:sp>
      <p:sp>
        <p:nvSpPr>
          <p:cNvPr id="7" name="Shape 4"/>
          <p:cNvSpPr/>
          <p:nvPr/>
        </p:nvSpPr>
        <p:spPr>
          <a:xfrm>
            <a:off x="502920" y="6473952"/>
            <a:ext cx="11155680" cy="27432"/>
          </a:xfrm>
          <a:prstGeom prst="rect">
            <a:avLst/>
          </a:prstGeom>
          <a:solidFill>
            <a:srgbClr val="D7DEE8"/>
          </a:solidFill>
          <a:ln/>
        </p:spPr>
        <p:txBody>
          <a:bodyPr/>
          <a:p/>
        </p:txBody>
      </p:sp>
      <p:sp>
        <p:nvSpPr>
          <p:cNvPr id="8" name="Shape 5"/>
          <p:cNvSpPr/>
          <p:nvPr/>
        </p:nvSpPr>
        <p:spPr>
          <a:xfrm>
            <a:off x="502920" y="6473952"/>
            <a:ext cx="9296400" cy="27432"/>
          </a:xfrm>
          <a:prstGeom prst="rect">
            <a:avLst/>
          </a:prstGeom>
          <a:solidFill>
            <a:srgbClr val="0E8388"/>
          </a:solidFill>
          <a:ln/>
        </p:spPr>
        <p:txBody>
          <a:bodyPr/>
          <a:p/>
        </p:txBody>
      </p:sp>
      <p:sp>
        <p:nvSpPr>
          <p:cNvPr id="9" name="Text 6"/>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0" name="Text 7"/>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Bit Growth Across the 5 Stages</a:t>
            </a:r>
            <a:endParaRPr lang="en-US" sz="2600" dirty="0"/>
          </a:p>
        </p:txBody>
      </p:sp>
      <p:sp>
        <p:nvSpPr>
          <p:cNvPr id="4" name="Shape 2"/>
          <p:cNvSpPr/>
          <p:nvPr/>
        </p:nvSpPr>
        <p:spPr>
          <a:xfrm>
            <a:off x="502920" y="1234440"/>
            <a:ext cx="5212080" cy="777240"/>
          </a:xfrm>
          <a:prstGeom prst="roundRect">
            <a:avLst>
              <a:gd name="adj" fmla="val 7059"/>
            </a:avLst>
          </a:prstGeom>
          <a:solidFill>
            <a:srgbClr val="132A4A"/>
          </a:solidFill>
          <a:ln w="12700">
            <a:solidFill>
              <a:srgbClr val="132A4A"/>
            </a:solidFill>
            <a:prstDash val="solid"/>
          </a:ln>
        </p:spPr>
        <p:txBody>
          <a:bodyPr/>
          <a:p/>
        </p:txBody>
      </p:sp>
      <p:sp>
        <p:nvSpPr>
          <p:cNvPr id="5" name="Text 3"/>
          <p:cNvSpPr/>
          <p:nvPr/>
        </p:nvSpPr>
        <p:spPr>
          <a:xfrm>
            <a:off x="502920" y="1234440"/>
            <a:ext cx="5212080" cy="7772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 b ∈ [-2</a:t>
            </a:r>
            <a:pPr algn="ctr" indent="0" marL="0">
              <a:buNone/>
            </a:pPr>
            <a:r>
              <a:rPr lang="en-US" sz="1300" b="1" baseline="30000" dirty="0">
                <a:solidFill>
                  <a:srgbClr val="FFFFFF"/>
                </a:solidFill>
                <a:latin typeface="Cambria" pitchFamily="34" charset="0"/>
                <a:ea typeface="Cambria" pitchFamily="34" charset="-122"/>
                <a:cs typeface="Cambria" pitchFamily="34" charset="-120"/>
              </a:rPr>
              <a:t>15</a:t>
            </a:r>
            <a:pPr algn="ctr" indent="0" marL="0">
              <a:buNone/>
            </a:pPr>
            <a:r>
              <a:rPr lang="en-US" sz="1300" b="1" dirty="0">
                <a:solidFill>
                  <a:srgbClr val="FFFFFF"/>
                </a:solidFill>
                <a:latin typeface="Cambria" pitchFamily="34" charset="0"/>
                <a:ea typeface="Cambria" pitchFamily="34" charset="-122"/>
                <a:cs typeface="Cambria" pitchFamily="34" charset="-120"/>
              </a:rPr>
              <a:t>, 2</a:t>
            </a:r>
            <a:pPr algn="ctr" indent="0" marL="0">
              <a:buNone/>
            </a:pPr>
            <a:r>
              <a:rPr lang="en-US" sz="1300" b="1" baseline="30000" dirty="0">
                <a:solidFill>
                  <a:srgbClr val="FFFFFF"/>
                </a:solidFill>
                <a:latin typeface="Cambria" pitchFamily="34" charset="0"/>
                <a:ea typeface="Cambria" pitchFamily="34" charset="-122"/>
                <a:cs typeface="Cambria" pitchFamily="34" charset="-120"/>
              </a:rPr>
              <a:t>15</a:t>
            </a:r>
            <a:pPr algn="ctr" indent="0" marL="0">
              <a:buNone/>
            </a:pPr>
            <a:r>
              <a:rPr lang="en-US" sz="1300" b="1" dirty="0">
                <a:solidFill>
                  <a:srgbClr val="FFFFFF"/>
                </a:solidFill>
                <a:latin typeface="Cambria" pitchFamily="34" charset="0"/>
                <a:ea typeface="Cambria" pitchFamily="34" charset="-122"/>
                <a:cs typeface="Cambria" pitchFamily="34" charset="-120"/>
              </a:rPr>
              <a:t>-1]  →  a+b needs 17 bits</a:t>
            </a:r>
            <a:endParaRPr lang="en-US" sz="1500" dirty="0"/>
          </a:p>
        </p:txBody>
      </p:sp>
      <p:sp>
        <p:nvSpPr>
          <p:cNvPr id="6" name="Text 4"/>
          <p:cNvSpPr/>
          <p:nvPr/>
        </p:nvSpPr>
        <p:spPr>
          <a:xfrm>
            <a:off x="502920" y="2148840"/>
            <a:ext cx="5212080" cy="731520"/>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Every butterfly addition can add 1 bit of headroom in the worst case. Left unmanaged, this accumulates across all 5 stages of FFT32.</a:t>
            </a:r>
            <a:endParaRPr lang="en-US" sz="1375"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3063240"/>
          <a:ext cx="5212080" cy="1755648"/>
        </p:xfrm>
        <a:graphic>
          <a:graphicData uri="http://schemas.openxmlformats.org/drawingml/2006/table">
            <a:tbl>
              <a:tblPr/>
              <a:tblGrid>
                <a:gridCol w="1737360"/>
                <a:gridCol w="1737360"/>
                <a:gridCol w="173736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Input width</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Worst-case output width</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16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17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17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18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3</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18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19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4</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19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20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5</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20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202E"/>
                          </a:solidFill>
                          <a:latin typeface="Calibri" pitchFamily="34" charset="0"/>
                          <a:ea typeface="Calibri" pitchFamily="34" charset="-122"/>
                          <a:cs typeface="Calibri" pitchFamily="34" charset="-120"/>
                        </a:rPr>
                        <a:t>21 bits</a:t>
                      </a:r>
                      <a:endParaRPr lang="en-US" sz="1265"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8" name="Shape 5"/>
          <p:cNvSpPr/>
          <p:nvPr/>
        </p:nvSpPr>
        <p:spPr>
          <a:xfrm>
            <a:off x="6446520" y="1234440"/>
            <a:ext cx="4937760" cy="5029200"/>
          </a:xfrm>
          <a:prstGeom prst="roundRect">
            <a:avLst>
              <a:gd name="adj" fmla="val 1111"/>
            </a:avLst>
          </a:prstGeom>
          <a:solidFill>
            <a:srgbClr val="FFFFFF"/>
          </a:solidFill>
          <a:ln w="12700">
            <a:solidFill>
              <a:srgbClr val="D7DEE8"/>
            </a:solidFill>
            <a:prstDash val="solid"/>
          </a:ln>
        </p:spPr>
        <p:txBody>
          <a:bodyPr/>
          <a:p/>
        </p:txBody>
      </p:sp>
      <p:graphicFrame>
        <p:nvGraphicFramePr>
          <p:cNvPr id="9" name="Chart 0" descr=""/>
          <p:cNvGraphicFramePr/>
          <p:nvPr/>
        </p:nvGraphicFramePr>
        <p:xfrm>
          <a:off x="6537960" y="1280160"/>
          <a:ext cx="4754880" cy="214884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6629400" y="3520440"/>
            <a:ext cx="4572000" cy="2697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Without scaling, an FFT32 datapath sized purely for worst-case growth needs up to 5 extra guard bits beyond the input width, 21 bits instead of 16.</a:t>
            </a:r>
            <a:endParaRPr lang="en-US" sz="1100" dirty="0"/>
          </a:p>
          <a:p>
            <a:pPr algn="l" indent="0" marL="0">
              <a:lnSpc>
                <a:spcPct val="118000"/>
              </a:lnSpc>
              <a:buNone/>
            </a:pPr>
            <a:endParaRPr lang="en-US" sz="1100" dirty="0"/>
          </a:p>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This is rarely implemented directly: real signals almost never hit the worst case at every stage simultaneously, and 5 extra bits of multiplier and adder width is expensive in area and power.</a:t>
            </a:r>
            <a:endParaRPr lang="en-US" sz="1100" dirty="0"/>
          </a:p>
          <a:p>
            <a:pPr algn="l" indent="0" marL="0">
              <a:lnSpc>
                <a:spcPct val="118000"/>
              </a:lnSpc>
              <a:buNone/>
            </a:pPr>
            <a:endParaRPr lang="en-US" sz="1100" dirty="0"/>
          </a:p>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The scaling strategies on the next slide (block scaling, stage scaling, saturation, guard bits) are exactly how real FFT32 RTL designs avoid paying for this worst-case width at every stage while still guaranteeing no overflow.</a:t>
            </a:r>
            <a:endParaRPr lang="en-US" sz="1100" dirty="0"/>
          </a:p>
        </p:txBody>
      </p:sp>
      <p:sp>
        <p:nvSpPr>
          <p:cNvPr id="11" name="Shape 7"/>
          <p:cNvSpPr/>
          <p:nvPr/>
        </p:nvSpPr>
        <p:spPr>
          <a:xfrm>
            <a:off x="502920" y="6473952"/>
            <a:ext cx="11155680" cy="27432"/>
          </a:xfrm>
          <a:prstGeom prst="rect">
            <a:avLst/>
          </a:prstGeom>
          <a:solidFill>
            <a:srgbClr val="D7DEE8"/>
          </a:solidFill>
          <a:ln/>
        </p:spPr>
        <p:txBody>
          <a:bodyPr/>
          <a:p/>
        </p:txBody>
      </p:sp>
      <p:sp>
        <p:nvSpPr>
          <p:cNvPr id="12" name="Shape 8"/>
          <p:cNvSpPr/>
          <p:nvPr/>
        </p:nvSpPr>
        <p:spPr>
          <a:xfrm>
            <a:off x="502920" y="6473952"/>
            <a:ext cx="9562011" cy="27432"/>
          </a:xfrm>
          <a:prstGeom prst="rect">
            <a:avLst/>
          </a:prstGeom>
          <a:solidFill>
            <a:srgbClr val="0E8388"/>
          </a:solidFill>
          <a:ln/>
        </p:spPr>
        <p:txBody>
          <a:bodyPr/>
          <a:p/>
        </p:txBody>
      </p:sp>
      <p:sp>
        <p:nvSpPr>
          <p:cNvPr id="13" name="Text 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4" name="Text 1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Scaling Strategies for FFT32</a:t>
            </a:r>
            <a:endParaRPr lang="en-US" sz="2600" dirty="0"/>
          </a:p>
        </p:txBody>
      </p:sp>
      <p:sp>
        <p:nvSpPr>
          <p:cNvPr id="4" name="Shape 2"/>
          <p:cNvSpPr/>
          <p:nvPr/>
        </p:nvSpPr>
        <p:spPr>
          <a:xfrm>
            <a:off x="502920" y="1280160"/>
            <a:ext cx="11155680" cy="1170432"/>
          </a:xfrm>
          <a:prstGeom prst="roundRect">
            <a:avLst>
              <a:gd name="adj" fmla="val 4688"/>
            </a:avLst>
          </a:prstGeom>
          <a:solidFill>
            <a:srgbClr val="EAF1FB"/>
          </a:solidFill>
          <a:ln w="12700">
            <a:solidFill>
              <a:srgbClr val="D7DEE8"/>
            </a:solidFill>
            <a:prstDash val="solid"/>
          </a:ln>
        </p:spPr>
        <p:txBody>
          <a:bodyPr/>
          <a:p/>
        </p:txBody>
      </p:sp>
      <p:sp>
        <p:nvSpPr>
          <p:cNvPr id="5" name="Text 3"/>
          <p:cNvSpPr/>
          <p:nvPr/>
        </p:nvSpPr>
        <p:spPr>
          <a:xfrm>
            <a:off x="685800" y="1389888"/>
            <a:ext cx="10789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Block scaling</a:t>
            </a:r>
            <a:endParaRPr lang="en-US" sz="1300" dirty="0"/>
          </a:p>
        </p:txBody>
      </p:sp>
      <p:sp>
        <p:nvSpPr>
          <p:cNvPr id="6" name="Text 4"/>
          <p:cNvSpPr/>
          <p:nvPr/>
        </p:nvSpPr>
        <p:spPr>
          <a:xfrm>
            <a:off x="685800" y="1719072"/>
            <a:ext cx="10789920" cy="621792"/>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Scale the whole 32-point data block once, before or after the transform. Simple to control, but needs a full pass to find the scale factor.</a:t>
            </a:r>
            <a:endParaRPr lang="en-US" sz="1298" dirty="0"/>
          </a:p>
        </p:txBody>
      </p:sp>
      <p:sp>
        <p:nvSpPr>
          <p:cNvPr id="7" name="Shape 5"/>
          <p:cNvSpPr/>
          <p:nvPr/>
        </p:nvSpPr>
        <p:spPr>
          <a:xfrm>
            <a:off x="502920" y="2578608"/>
            <a:ext cx="11155680" cy="1170432"/>
          </a:xfrm>
          <a:prstGeom prst="roundRect">
            <a:avLst>
              <a:gd name="adj" fmla="val 4688"/>
            </a:avLst>
          </a:prstGeom>
          <a:solidFill>
            <a:srgbClr val="EAF1FB"/>
          </a:solidFill>
          <a:ln w="12700">
            <a:solidFill>
              <a:srgbClr val="D7DEE8"/>
            </a:solidFill>
            <a:prstDash val="solid"/>
          </a:ln>
        </p:spPr>
        <p:txBody>
          <a:bodyPr/>
          <a:p/>
        </p:txBody>
      </p:sp>
      <p:sp>
        <p:nvSpPr>
          <p:cNvPr id="8" name="Text 6"/>
          <p:cNvSpPr/>
          <p:nvPr/>
        </p:nvSpPr>
        <p:spPr>
          <a:xfrm>
            <a:off x="685800" y="2688336"/>
            <a:ext cx="10789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Stage scaling (block floating-point)</a:t>
            </a:r>
            <a:endParaRPr lang="en-US" sz="1300" dirty="0"/>
          </a:p>
        </p:txBody>
      </p:sp>
      <p:sp>
        <p:nvSpPr>
          <p:cNvPr id="9" name="Text 7"/>
          <p:cNvSpPr/>
          <p:nvPr/>
        </p:nvSpPr>
        <p:spPr>
          <a:xfrm>
            <a:off x="685800" y="3017520"/>
            <a:ext cx="10789920" cy="621792"/>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Divide by 2, a free right-shift, after every stage to bound growth. Common choice for FFT32: keeps word length constant at 16 bits across all 5 stages.</a:t>
            </a:r>
            <a:endParaRPr lang="en-US" sz="1298" dirty="0"/>
          </a:p>
        </p:txBody>
      </p:sp>
      <p:sp>
        <p:nvSpPr>
          <p:cNvPr id="10" name="Shape 8"/>
          <p:cNvSpPr/>
          <p:nvPr/>
        </p:nvSpPr>
        <p:spPr>
          <a:xfrm>
            <a:off x="502920" y="3877056"/>
            <a:ext cx="11155680" cy="1170432"/>
          </a:xfrm>
          <a:prstGeom prst="roundRect">
            <a:avLst>
              <a:gd name="adj" fmla="val 4688"/>
            </a:avLst>
          </a:prstGeom>
          <a:solidFill>
            <a:srgbClr val="EAF1FB"/>
          </a:solidFill>
          <a:ln w="12700">
            <a:solidFill>
              <a:srgbClr val="D7DEE8"/>
            </a:solidFill>
            <a:prstDash val="solid"/>
          </a:ln>
        </p:spPr>
        <p:txBody>
          <a:bodyPr/>
          <a:p/>
        </p:txBody>
      </p:sp>
      <p:sp>
        <p:nvSpPr>
          <p:cNvPr id="11" name="Text 9"/>
          <p:cNvSpPr/>
          <p:nvPr/>
        </p:nvSpPr>
        <p:spPr>
          <a:xfrm>
            <a:off x="685800" y="3986784"/>
            <a:ext cx="10789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Saturation</a:t>
            </a:r>
            <a:endParaRPr lang="en-US" sz="1300" dirty="0"/>
          </a:p>
        </p:txBody>
      </p:sp>
      <p:sp>
        <p:nvSpPr>
          <p:cNvPr id="12" name="Text 10"/>
          <p:cNvSpPr/>
          <p:nvPr/>
        </p:nvSpPr>
        <p:spPr>
          <a:xfrm>
            <a:off x="685800" y="4315968"/>
            <a:ext cx="10789920" cy="621792"/>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Clip rather than wrap on overflow, trading a bounded error for guaranteed stability. Used as a safety net alongside scaling.</a:t>
            </a:r>
            <a:endParaRPr lang="en-US" sz="1298" dirty="0"/>
          </a:p>
        </p:txBody>
      </p:sp>
      <p:sp>
        <p:nvSpPr>
          <p:cNvPr id="13" name="Shape 11"/>
          <p:cNvSpPr/>
          <p:nvPr/>
        </p:nvSpPr>
        <p:spPr>
          <a:xfrm>
            <a:off x="502920" y="5175504"/>
            <a:ext cx="11155680" cy="1170432"/>
          </a:xfrm>
          <a:prstGeom prst="roundRect">
            <a:avLst>
              <a:gd name="adj" fmla="val 4688"/>
            </a:avLst>
          </a:prstGeom>
          <a:solidFill>
            <a:srgbClr val="EAF1FB"/>
          </a:solidFill>
          <a:ln w="12700">
            <a:solidFill>
              <a:srgbClr val="D7DEE8"/>
            </a:solidFill>
            <a:prstDash val="solid"/>
          </a:ln>
        </p:spPr>
        <p:txBody>
          <a:bodyPr/>
          <a:p/>
        </p:txBody>
      </p:sp>
      <p:sp>
        <p:nvSpPr>
          <p:cNvPr id="14" name="Text 12"/>
          <p:cNvSpPr/>
          <p:nvPr/>
        </p:nvSpPr>
        <p:spPr>
          <a:xfrm>
            <a:off x="685800" y="5285232"/>
            <a:ext cx="10789920" cy="320040"/>
          </a:xfrm>
          <a:prstGeom prst="rect">
            <a:avLst/>
          </a:prstGeom>
          <a:noFill/>
          <a:ln/>
        </p:spPr>
        <p:txBody>
          <a:bodyPr wrap="square" rtlCol="0" anchor="ctr"/>
          <a:lstStyle/>
          <a:p>
            <a:pPr indent="0" marL="0">
              <a:buNone/>
            </a:pPr>
            <a:r>
              <a:rPr lang="en-US" sz="1100" b="1" dirty="0">
                <a:solidFill>
                  <a:srgbClr val="0E8388"/>
                </a:solidFill>
                <a:latin typeface="Calibri" pitchFamily="34" charset="0"/>
                <a:ea typeface="Calibri" pitchFamily="34" charset="-122"/>
                <a:cs typeface="Calibri" pitchFamily="34" charset="-120"/>
              </a:rPr>
              <a:t>Guard bits</a:t>
            </a:r>
            <a:endParaRPr lang="en-US" sz="1300" dirty="0"/>
          </a:p>
        </p:txBody>
      </p:sp>
      <p:sp>
        <p:nvSpPr>
          <p:cNvPr id="15" name="Text 13"/>
          <p:cNvSpPr/>
          <p:nvPr/>
        </p:nvSpPr>
        <p:spPr>
          <a:xfrm>
            <a:off x="685800" y="5614416"/>
            <a:ext cx="10789920" cy="621792"/>
          </a:xfrm>
          <a:prstGeom prst="rect">
            <a:avLst/>
          </a:prstGeom>
          <a:noFill/>
          <a:ln/>
        </p:spPr>
        <p:txBody>
          <a:bodyPr wrap="square" rtlCol="0" anchor="t"/>
          <a:lstStyle/>
          <a:p>
            <a:pPr algn="l" indent="0" marL="0">
              <a:lnSpc>
                <a:spcPct val="118000"/>
              </a:lnSpc>
              <a:buNone/>
            </a:pPr>
            <a:r>
              <a:rPr lang="en-US" sz="1300" dirty="0">
                <a:solidFill>
                  <a:srgbClr val="16202E"/>
                </a:solidFill>
                <a:latin typeface="Calibri" pitchFamily="34" charset="0"/>
                <a:ea typeface="Calibri" pitchFamily="34" charset="-122"/>
                <a:cs typeface="Calibri" pitchFamily="34" charset="-120"/>
              </a:rPr>
              <a:t>Carry a few extra fractional/integer bits through the pipeline and truncate only at the end. Trades area for accuracy without per-stage rescaling.</a:t>
            </a:r>
            <a:endParaRPr lang="en-US" sz="1298" dirty="0"/>
          </a:p>
        </p:txBody>
      </p:sp>
      <p:sp>
        <p:nvSpPr>
          <p:cNvPr id="16" name="Shape 14"/>
          <p:cNvSpPr/>
          <p:nvPr/>
        </p:nvSpPr>
        <p:spPr>
          <a:xfrm>
            <a:off x="502920" y="6473952"/>
            <a:ext cx="11155680" cy="27432"/>
          </a:xfrm>
          <a:prstGeom prst="rect">
            <a:avLst/>
          </a:prstGeom>
          <a:solidFill>
            <a:srgbClr val="D7DEE8"/>
          </a:solidFill>
          <a:ln/>
        </p:spPr>
        <p:txBody>
          <a:bodyPr/>
          <a:p/>
        </p:txBody>
      </p:sp>
      <p:sp>
        <p:nvSpPr>
          <p:cNvPr id="17" name="Shape 15"/>
          <p:cNvSpPr/>
          <p:nvPr/>
        </p:nvSpPr>
        <p:spPr>
          <a:xfrm>
            <a:off x="502920" y="6473952"/>
            <a:ext cx="9827623" cy="27432"/>
          </a:xfrm>
          <a:prstGeom prst="rect">
            <a:avLst/>
          </a:prstGeom>
          <a:solidFill>
            <a:srgbClr val="0E8388"/>
          </a:solidFill>
          <a:ln/>
        </p:spPr>
        <p:txBody>
          <a:bodyPr/>
          <a:p/>
        </p:txBody>
      </p:sp>
      <p:sp>
        <p:nvSpPr>
          <p:cNvPr id="18" name="Text 16"/>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19" name="Text 17"/>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RTL Architecture Options for FFT32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1463040"/>
        </p:xfrm>
        <a:graphic>
          <a:graphicData uri="http://schemas.openxmlformats.org/drawingml/2006/table">
            <a:tbl>
              <a:tblPr/>
              <a:tblGrid>
                <a:gridCol w="2743200"/>
                <a:gridCol w="3931920"/>
                <a:gridCol w="1554480"/>
                <a:gridCol w="292608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Architecture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Idea</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Area</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Throughput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Memory-based (burst)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 butterfly PE reused for all 5 stages, RAM holds intermediate data</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Smallest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Slowest, N/2 log₂N cycles per frame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Single-path Delay Feedback (SDF)</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 PE per stage, feedback shift registers reorder data in place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Small-medium</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 sample in per cycle, steady pipeline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Multi-path Delay Commutator (MDC)</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Multiple parallel data paths, each with its own PE per stage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Medium-large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Multiple samples in per cycle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Fully parallel / streaming array</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One PE per butterfly in the entire flow graph, no reuse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Largest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Highest, full flow graph computed every cycle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5" name="Text 2"/>
          <p:cNvSpPr/>
          <p:nvPr/>
        </p:nvSpPr>
        <p:spPr>
          <a:xfrm>
            <a:off x="502920" y="4434840"/>
            <a:ext cx="11155680" cy="1371600"/>
          </a:xfrm>
          <a:prstGeom prst="rect">
            <a:avLst/>
          </a:prstGeom>
          <a:noFill/>
          <a:ln/>
        </p:spPr>
        <p:txBody>
          <a:bodyPr wrap="square" rtlCol="0" anchor="t"/>
          <a:lstStyle/>
          <a:p>
            <a:pPr algn="l" indent="0" marL="0">
              <a:lnSpc>
                <a:spcPct val="118000"/>
              </a:lnSpc>
              <a:buNone/>
            </a:pPr>
            <a:r>
              <a:rPr lang="en-US" sz="1300" i="1" dirty="0">
                <a:solidFill>
                  <a:srgbClr val="5C6B7A"/>
                </a:solidFill>
                <a:latin typeface="Calibri" pitchFamily="34" charset="0"/>
                <a:ea typeface="Calibri" pitchFamily="34" charset="-122"/>
                <a:cs typeface="Calibri" pitchFamily="34" charset="-120"/>
              </a:rPr>
              <a:t>For a 32-point transform, SDF is the most common choice in FPGA designs: it needs only log₂N = 5 butterfly processing elements and N-1 = 31 delay registers total, far less memory than a fully parallel array, while still accepting one new sample every clock cycle. Memory-based (burst) designs trade that throughput for the smallest possible area, useful when the FFT is not the timing bottleneck.</a:t>
            </a:r>
            <a:endParaRPr lang="en-US" sz="1353" dirty="0"/>
          </a:p>
        </p:txBody>
      </p:sp>
      <p:sp>
        <p:nvSpPr>
          <p:cNvPr id="6" name="Shape 3"/>
          <p:cNvSpPr/>
          <p:nvPr/>
        </p:nvSpPr>
        <p:spPr>
          <a:xfrm>
            <a:off x="502920" y="6473952"/>
            <a:ext cx="11155680" cy="27432"/>
          </a:xfrm>
          <a:prstGeom prst="rect">
            <a:avLst/>
          </a:prstGeom>
          <a:solidFill>
            <a:srgbClr val="D7DEE8"/>
          </a:solidFill>
          <a:ln/>
        </p:spPr>
        <p:txBody>
          <a:bodyPr/>
          <a:p/>
        </p:txBody>
      </p:sp>
      <p:sp>
        <p:nvSpPr>
          <p:cNvPr id="7" name="Shape 4"/>
          <p:cNvSpPr/>
          <p:nvPr/>
        </p:nvSpPr>
        <p:spPr>
          <a:xfrm>
            <a:off x="502920" y="6473952"/>
            <a:ext cx="10093234" cy="27432"/>
          </a:xfrm>
          <a:prstGeom prst="rect">
            <a:avLst/>
          </a:prstGeom>
          <a:solidFill>
            <a:srgbClr val="0E8388"/>
          </a:solidFill>
          <a:ln/>
        </p:spPr>
        <p:txBody>
          <a:bodyPr/>
          <a:p/>
        </p:txBody>
      </p:sp>
      <p:sp>
        <p:nvSpPr>
          <p:cNvPr id="8" name="Text 5"/>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9" name="Text 6"/>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SECTION 5 · FFT32 RTL DESIGN</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Summary: FFT32 RTL Design Choices</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2048256"/>
        </p:xfrm>
        <a:graphic>
          <a:graphicData uri="http://schemas.openxmlformats.org/drawingml/2006/table">
            <a:tbl>
              <a:tblPr/>
              <a:tblGrid>
                <a:gridCol w="2377440"/>
                <a:gridCol w="4206240"/>
                <a:gridCol w="457200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Design decision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Recommended choice for FFT32</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32A4A"/>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Transform size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N=32 (2^5), 5 stages</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Power of 2 required for radix-2 decomposition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Number format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16-bit fixed-point, Q1.15</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Balances precision against multiplier/adder area</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Bit growth handling</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Stage scaling (divide by 2 per stage)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Keeps word length constant at 16 bits, free right-shift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Overflow protection</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Saturation, as a safety net</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Bounds error instead of silent wraparound</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RTL architecture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Single-path Delay Feedback (SDF)</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One sample per cycle with only 5 PEs and 31 registers</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Twiddle storage</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ROM, quarter-circle only, 16 entries</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Symmetry cuts storage to 1/4 with sign/swap logic</a:t>
                      </a:r>
                      <a:endParaRPr lang="en-US" sz="1188" dirty="0">
                        <a:latin typeface="Calibri" charset="0"/>
                        <a:ea typeface="Calibri" charset="0"/>
                        <a:cs typeface="Calibri" charset="0"/>
                      </a:endParaRPr>
                    </a:p>
                  </a:txBody>
                  <a:tcPr marL="91440" marR="91440" marT="27432" marB="27432"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5F8FC"/>
                    </a:solidFill>
                  </a:tcPr>
                </a:tc>
              </a:tr>
            </a:tbl>
          </a:graphicData>
        </a:graphic>
      </p:graphicFrame>
      <p:sp>
        <p:nvSpPr>
          <p:cNvPr id="5" name="Shape 2"/>
          <p:cNvSpPr/>
          <p:nvPr/>
        </p:nvSpPr>
        <p:spPr>
          <a:xfrm>
            <a:off x="502920" y="6473952"/>
            <a:ext cx="11155680" cy="27432"/>
          </a:xfrm>
          <a:prstGeom prst="rect">
            <a:avLst/>
          </a:prstGeom>
          <a:solidFill>
            <a:srgbClr val="D7DEE8"/>
          </a:solidFill>
          <a:ln/>
        </p:spPr>
        <p:txBody>
          <a:bodyPr/>
          <a:p/>
        </p:txBody>
      </p:sp>
      <p:sp>
        <p:nvSpPr>
          <p:cNvPr id="6" name="Shape 3"/>
          <p:cNvSpPr/>
          <p:nvPr/>
        </p:nvSpPr>
        <p:spPr>
          <a:xfrm>
            <a:off x="502920" y="6473952"/>
            <a:ext cx="10358846" cy="27432"/>
          </a:xfrm>
          <a:prstGeom prst="rect">
            <a:avLst/>
          </a:prstGeom>
          <a:solidFill>
            <a:srgbClr val="0E8388"/>
          </a:solidFill>
          <a:ln/>
        </p:spPr>
        <p:txBody>
          <a:bodyPr/>
          <a:p/>
        </p:txBody>
      </p:sp>
      <p:sp>
        <p:nvSpPr>
          <p:cNvPr id="7" name="Text 4"/>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8" name="Text 5"/>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FFT32 RTL Design     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CLOSING · TROUBLESHOOTING</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Common Mistakes When Implementing Radix-2 FFT</a:t>
            </a:r>
            <a:endParaRPr lang="en-US" sz="2600" dirty="0"/>
          </a:p>
        </p:txBody>
      </p:sp>
      <p:sp>
        <p:nvSpPr>
          <p:cNvPr id="4" name="Shape 2"/>
          <p:cNvSpPr/>
          <p:nvPr/>
        </p:nvSpPr>
        <p:spPr>
          <a:xfrm>
            <a:off x="502920" y="1207008"/>
            <a:ext cx="11155680" cy="777240"/>
          </a:xfrm>
          <a:prstGeom prst="roundRect">
            <a:avLst>
              <a:gd name="adj" fmla="val 7059"/>
            </a:avLst>
          </a:prstGeom>
          <a:solidFill>
            <a:srgbClr val="EAF1FB"/>
          </a:solidFill>
          <a:ln w="12700">
            <a:solidFill>
              <a:srgbClr val="D7DEE8"/>
            </a:solidFill>
            <a:prstDash val="solid"/>
          </a:ln>
        </p:spPr>
        <p:txBody>
          <a:bodyPr/>
          <a:p/>
        </p:txBody>
      </p:sp>
      <p:sp>
        <p:nvSpPr>
          <p:cNvPr id="5" name="Text 3"/>
          <p:cNvSpPr/>
          <p:nvPr/>
        </p:nvSpPr>
        <p:spPr>
          <a:xfrm>
            <a:off x="685800" y="1261872"/>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Forgetting bit-reversal (DIT input, DIF output)</a:t>
            </a:r>
            <a:endParaRPr lang="en-US" sz="1250" dirty="0"/>
          </a:p>
        </p:txBody>
      </p:sp>
      <p:sp>
        <p:nvSpPr>
          <p:cNvPr id="6" name="Text 4"/>
          <p:cNvSpPr/>
          <p:nvPr/>
        </p:nvSpPr>
        <p:spPr>
          <a:xfrm>
            <a:off x="685800" y="1517904"/>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DIT needs the input bit-reversed before the stages; DIF delivers bit-reversed output that must be unscrambled. Skipping either gives scrambled results.</a:t>
            </a:r>
            <a:endParaRPr lang="en-US" sz="1188" dirty="0"/>
          </a:p>
        </p:txBody>
      </p:sp>
      <p:sp>
        <p:nvSpPr>
          <p:cNvPr id="7" name="Shape 5"/>
          <p:cNvSpPr/>
          <p:nvPr/>
        </p:nvSpPr>
        <p:spPr>
          <a:xfrm>
            <a:off x="502920" y="2057400"/>
            <a:ext cx="11155680" cy="777240"/>
          </a:xfrm>
          <a:prstGeom prst="roundRect">
            <a:avLst>
              <a:gd name="adj" fmla="val 7059"/>
            </a:avLst>
          </a:prstGeom>
          <a:solidFill>
            <a:srgbClr val="EAF1FB"/>
          </a:solidFill>
          <a:ln w="12700">
            <a:solidFill>
              <a:srgbClr val="D7DEE8"/>
            </a:solidFill>
            <a:prstDash val="solid"/>
          </a:ln>
        </p:spPr>
        <p:txBody>
          <a:bodyPr/>
          <a:p/>
        </p:txBody>
      </p:sp>
      <p:sp>
        <p:nvSpPr>
          <p:cNvPr id="8" name="Text 6"/>
          <p:cNvSpPr/>
          <p:nvPr/>
        </p:nvSpPr>
        <p:spPr>
          <a:xfrm>
            <a:off x="685800" y="2112264"/>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Wrong sign in the twiddle exponent</a:t>
            </a:r>
            <a:endParaRPr lang="en-US" sz="1250" dirty="0"/>
          </a:p>
        </p:txBody>
      </p:sp>
      <p:sp>
        <p:nvSpPr>
          <p:cNvPr id="9" name="Text 7"/>
          <p:cNvSpPr/>
          <p:nvPr/>
        </p:nvSpPr>
        <p:spPr>
          <a:xfrm>
            <a:off x="685800" y="2368296"/>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Using e^(+j2πk/N) instead of e^(-j2πk/N) flips the spectrum and breaks conjugate symmetry checks.</a:t>
            </a:r>
            <a:endParaRPr lang="en-US" sz="1188" dirty="0"/>
          </a:p>
        </p:txBody>
      </p:sp>
      <p:sp>
        <p:nvSpPr>
          <p:cNvPr id="10" name="Shape 8"/>
          <p:cNvSpPr/>
          <p:nvPr/>
        </p:nvSpPr>
        <p:spPr>
          <a:xfrm>
            <a:off x="502920" y="2907792"/>
            <a:ext cx="11155680" cy="777240"/>
          </a:xfrm>
          <a:prstGeom prst="roundRect">
            <a:avLst>
              <a:gd name="adj" fmla="val 7059"/>
            </a:avLst>
          </a:prstGeom>
          <a:solidFill>
            <a:srgbClr val="EAF1FB"/>
          </a:solidFill>
          <a:ln w="12700">
            <a:solidFill>
              <a:srgbClr val="D7DEE8"/>
            </a:solidFill>
            <a:prstDash val="solid"/>
          </a:ln>
        </p:spPr>
        <p:txBody>
          <a:bodyPr/>
          <a:p/>
        </p:txBody>
      </p:sp>
      <p:sp>
        <p:nvSpPr>
          <p:cNvPr id="11" name="Text 9"/>
          <p:cNvSpPr/>
          <p:nvPr/>
        </p:nvSpPr>
        <p:spPr>
          <a:xfrm>
            <a:off x="685800" y="2962656"/>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Using N/2-point twiddles at the wrong stage</a:t>
            </a:r>
            <a:endParaRPr lang="en-US" sz="1250" dirty="0"/>
          </a:p>
        </p:txBody>
      </p:sp>
      <p:sp>
        <p:nvSpPr>
          <p:cNvPr id="12" name="Text 10"/>
          <p:cNvSpPr/>
          <p:nvPr/>
        </p:nvSpPr>
        <p:spPr>
          <a:xfrm>
            <a:off x="685800" y="3218688"/>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Stage s should use W_(2^s), not W_N, for its twiddle factors; mixing these up gives incorrect intermediate results.</a:t>
            </a:r>
            <a:endParaRPr lang="en-US" sz="1188" dirty="0"/>
          </a:p>
        </p:txBody>
      </p:sp>
      <p:sp>
        <p:nvSpPr>
          <p:cNvPr id="13" name="Shape 11"/>
          <p:cNvSpPr/>
          <p:nvPr/>
        </p:nvSpPr>
        <p:spPr>
          <a:xfrm>
            <a:off x="502920" y="3758184"/>
            <a:ext cx="11155680" cy="777240"/>
          </a:xfrm>
          <a:prstGeom prst="roundRect">
            <a:avLst>
              <a:gd name="adj" fmla="val 7059"/>
            </a:avLst>
          </a:prstGeom>
          <a:solidFill>
            <a:srgbClr val="EAF1FB"/>
          </a:solidFill>
          <a:ln w="12700">
            <a:solidFill>
              <a:srgbClr val="D7DEE8"/>
            </a:solidFill>
            <a:prstDash val="solid"/>
          </a:ln>
        </p:spPr>
        <p:txBody>
          <a:bodyPr/>
          <a:p/>
        </p:txBody>
      </p:sp>
      <p:sp>
        <p:nvSpPr>
          <p:cNvPr id="14" name="Text 12"/>
          <p:cNvSpPr/>
          <p:nvPr/>
        </p:nvSpPr>
        <p:spPr>
          <a:xfrm>
            <a:off x="685800" y="3813048"/>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Ignoring bit growth</a:t>
            </a:r>
            <a:endParaRPr lang="en-US" sz="1250" dirty="0"/>
          </a:p>
        </p:txBody>
      </p:sp>
      <p:sp>
        <p:nvSpPr>
          <p:cNvPr id="15" name="Text 13"/>
          <p:cNvSpPr/>
          <p:nvPr/>
        </p:nvSpPr>
        <p:spPr>
          <a:xfrm>
            <a:off x="685800" y="4069080"/>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Fixed word length with no scaling silently overflows on realistic inputs; verify headroom or add scaling.</a:t>
            </a:r>
            <a:endParaRPr lang="en-US" sz="1188" dirty="0"/>
          </a:p>
        </p:txBody>
      </p:sp>
      <p:sp>
        <p:nvSpPr>
          <p:cNvPr id="16" name="Shape 14"/>
          <p:cNvSpPr/>
          <p:nvPr/>
        </p:nvSpPr>
        <p:spPr>
          <a:xfrm>
            <a:off x="502920" y="4608576"/>
            <a:ext cx="11155680" cy="777240"/>
          </a:xfrm>
          <a:prstGeom prst="roundRect">
            <a:avLst>
              <a:gd name="adj" fmla="val 7059"/>
            </a:avLst>
          </a:prstGeom>
          <a:solidFill>
            <a:srgbClr val="EAF1FB"/>
          </a:solidFill>
          <a:ln w="12700">
            <a:solidFill>
              <a:srgbClr val="D7DEE8"/>
            </a:solidFill>
            <a:prstDash val="solid"/>
          </a:ln>
        </p:spPr>
        <p:txBody>
          <a:bodyPr/>
          <a:p/>
        </p:txBody>
      </p:sp>
      <p:sp>
        <p:nvSpPr>
          <p:cNvPr id="17" name="Text 15"/>
          <p:cNvSpPr/>
          <p:nvPr/>
        </p:nvSpPr>
        <p:spPr>
          <a:xfrm>
            <a:off x="685800" y="4663440"/>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Skipping trivial-twiddle special cases</a:t>
            </a:r>
            <a:endParaRPr lang="en-US" sz="1250" dirty="0"/>
          </a:p>
        </p:txBody>
      </p:sp>
      <p:sp>
        <p:nvSpPr>
          <p:cNvPr id="18" name="Text 16"/>
          <p:cNvSpPr/>
          <p:nvPr/>
        </p:nvSpPr>
        <p:spPr>
          <a:xfrm>
            <a:off x="685800" y="4919472"/>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Running W=1, -1, j, -j through a full complex multiplier wastes area/power and can introduce needless rounding error.</a:t>
            </a:r>
            <a:endParaRPr lang="en-US" sz="1188" dirty="0"/>
          </a:p>
        </p:txBody>
      </p:sp>
      <p:sp>
        <p:nvSpPr>
          <p:cNvPr id="19" name="Shape 17"/>
          <p:cNvSpPr/>
          <p:nvPr/>
        </p:nvSpPr>
        <p:spPr>
          <a:xfrm>
            <a:off x="502920" y="5458968"/>
            <a:ext cx="11155680" cy="777240"/>
          </a:xfrm>
          <a:prstGeom prst="roundRect">
            <a:avLst>
              <a:gd name="adj" fmla="val 7059"/>
            </a:avLst>
          </a:prstGeom>
          <a:solidFill>
            <a:srgbClr val="EAF1FB"/>
          </a:solidFill>
          <a:ln w="12700">
            <a:solidFill>
              <a:srgbClr val="D7DEE8"/>
            </a:solidFill>
            <a:prstDash val="solid"/>
          </a:ln>
        </p:spPr>
        <p:txBody>
          <a:bodyPr/>
          <a:p/>
        </p:txBody>
      </p:sp>
      <p:sp>
        <p:nvSpPr>
          <p:cNvPr id="20" name="Text 18"/>
          <p:cNvSpPr/>
          <p:nvPr/>
        </p:nvSpPr>
        <p:spPr>
          <a:xfrm>
            <a:off x="685800" y="5513832"/>
            <a:ext cx="10789920" cy="256032"/>
          </a:xfrm>
          <a:prstGeom prst="rect">
            <a:avLst/>
          </a:prstGeom>
          <a:noFill/>
          <a:ln/>
        </p:spPr>
        <p:txBody>
          <a:bodyPr wrap="square" rtlCol="0" anchor="ctr"/>
          <a:lstStyle/>
          <a:p>
            <a:pPr indent="0" marL="0">
              <a:buNone/>
            </a:pPr>
            <a:r>
              <a:rPr lang="en-US" sz="1100" b="1" dirty="0">
                <a:solidFill>
                  <a:srgbClr val="D98324"/>
                </a:solidFill>
                <a:latin typeface="Calibri" pitchFamily="34" charset="0"/>
                <a:ea typeface="Calibri" pitchFamily="34" charset="-122"/>
                <a:cs typeface="Calibri" pitchFamily="34" charset="-120"/>
              </a:rPr>
              <a:t>Confusing DIT with DIF</a:t>
            </a:r>
            <a:endParaRPr lang="en-US" sz="1250" dirty="0"/>
          </a:p>
        </p:txBody>
      </p:sp>
      <p:sp>
        <p:nvSpPr>
          <p:cNvPr id="21" name="Text 19"/>
          <p:cNvSpPr/>
          <p:nvPr/>
        </p:nvSpPr>
        <p:spPr>
          <a:xfrm>
            <a:off x="685800" y="5769864"/>
            <a:ext cx="10789920" cy="411480"/>
          </a:xfrm>
          <a:prstGeom prst="rect">
            <a:avLst/>
          </a:prstGeom>
          <a:noFill/>
          <a:ln/>
        </p:spPr>
        <p:txBody>
          <a:bodyPr wrap="square" rtlCol="0" anchor="t"/>
          <a:lstStyle/>
          <a:p>
            <a:pPr algn="l" indent="0" marL="0">
              <a:lnSpc>
                <a:spcPct val="118000"/>
              </a:lnSpc>
              <a:buNone/>
            </a:pPr>
            <a:r>
              <a:rPr lang="en-US" sz="1100" dirty="0">
                <a:solidFill>
                  <a:srgbClr val="16202E"/>
                </a:solidFill>
                <a:latin typeface="Calibri" pitchFamily="34" charset="0"/>
                <a:ea typeface="Calibri" pitchFamily="34" charset="-122"/>
                <a:cs typeface="Calibri" pitchFamily="34" charset="-120"/>
              </a:rPr>
              <a:t>Decimation-in-time splits by time-index parity with bit-reversed input and natural output; decimation-in-frequency is the reverse. Mixing the two stage structures gives incorrect wiring; the twiddle sits before the add/subtract in DIT and after it in DIF.</a:t>
            </a:r>
            <a:endParaRPr lang="en-US" sz="1188" dirty="0"/>
          </a:p>
        </p:txBody>
      </p:sp>
      <p:sp>
        <p:nvSpPr>
          <p:cNvPr id="22" name="Shape 20"/>
          <p:cNvSpPr/>
          <p:nvPr/>
        </p:nvSpPr>
        <p:spPr>
          <a:xfrm>
            <a:off x="502920" y="6473952"/>
            <a:ext cx="11155680" cy="27432"/>
          </a:xfrm>
          <a:prstGeom prst="rect">
            <a:avLst/>
          </a:prstGeom>
          <a:solidFill>
            <a:srgbClr val="D7DEE8"/>
          </a:solidFill>
          <a:ln/>
        </p:spPr>
        <p:txBody>
          <a:bodyPr/>
          <a:p/>
        </p:txBody>
      </p:sp>
      <p:sp>
        <p:nvSpPr>
          <p:cNvPr id="23" name="Shape 21"/>
          <p:cNvSpPr/>
          <p:nvPr/>
        </p:nvSpPr>
        <p:spPr>
          <a:xfrm>
            <a:off x="502920" y="6473952"/>
            <a:ext cx="10624457" cy="27432"/>
          </a:xfrm>
          <a:prstGeom prst="rect">
            <a:avLst/>
          </a:prstGeom>
          <a:solidFill>
            <a:srgbClr val="0E8388"/>
          </a:solidFill>
          <a:ln/>
        </p:spPr>
        <p:txBody>
          <a:bodyPr/>
          <a:p/>
        </p:txBody>
      </p:sp>
      <p:sp>
        <p:nvSpPr>
          <p:cNvPr id="24" name="Text 22"/>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5" name="Text 23"/>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Closing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32A4A"/>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CLOSING · SUMMARY</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Final Mental Model</a:t>
            </a:r>
            <a:endParaRPr lang="en-US" sz="2600" dirty="0"/>
          </a:p>
        </p:txBody>
      </p:sp>
      <p:sp>
        <p:nvSpPr>
          <p:cNvPr id="4" name="Shape 2"/>
          <p:cNvSpPr/>
          <p:nvPr/>
        </p:nvSpPr>
        <p:spPr>
          <a:xfrm>
            <a:off x="0" y="0"/>
            <a:ext cx="12191695" cy="6858000"/>
          </a:xfrm>
          <a:prstGeom prst="rect">
            <a:avLst/>
          </a:prstGeom>
          <a:solidFill>
            <a:srgbClr val="132A4A"/>
          </a:solidFill>
          <a:ln/>
        </p:spPr>
        <p:txBody>
          <a:bodyPr/>
          <a:p/>
        </p:txBody>
      </p:sp>
      <p:sp>
        <p:nvSpPr>
          <p:cNvPr id="5" name="Text 3"/>
          <p:cNvSpPr/>
          <p:nvPr/>
        </p:nvSpPr>
        <p:spPr>
          <a:xfrm>
            <a:off x="502920" y="274320"/>
            <a:ext cx="11155680" cy="274320"/>
          </a:xfrm>
          <a:prstGeom prst="rect">
            <a:avLst/>
          </a:prstGeom>
          <a:noFill/>
          <a:ln/>
        </p:spPr>
        <p:txBody>
          <a:bodyPr wrap="square" rtlCol="0" anchor="ctr"/>
          <a:lstStyle/>
          <a:p>
            <a:pPr indent="0" marL="0">
              <a:buNone/>
            </a:pPr>
            <a:r>
              <a:rPr lang="en-US" sz="1100" b="1" spc="200" kern="0" dirty="0">
                <a:solidFill>
                  <a:srgbClr val="9FD4D1"/>
                </a:solidFill>
                <a:latin typeface="Calibri" pitchFamily="34" charset="0"/>
                <a:ea typeface="Calibri" pitchFamily="34" charset="-122"/>
                <a:cs typeface="Calibri" pitchFamily="34" charset="-120"/>
              </a:rPr>
              <a:t>CLOSING · SUMMARY</a:t>
            </a:r>
            <a:endParaRPr lang="en-US" sz="1150" dirty="0"/>
          </a:p>
        </p:txBody>
      </p:sp>
      <p:sp>
        <p:nvSpPr>
          <p:cNvPr id="6" name="Text 4"/>
          <p:cNvSpPr/>
          <p:nvPr/>
        </p:nvSpPr>
        <p:spPr>
          <a:xfrm>
            <a:off x="502920" y="530352"/>
            <a:ext cx="11155680" cy="585216"/>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Final Mental Model</a:t>
            </a:r>
            <a:endParaRPr lang="en-US" sz="2600" dirty="0"/>
          </a:p>
        </p:txBody>
      </p:sp>
      <p:sp>
        <p:nvSpPr>
          <p:cNvPr id="7" name="Shape 5"/>
          <p:cNvSpPr/>
          <p:nvPr/>
        </p:nvSpPr>
        <p:spPr>
          <a:xfrm>
            <a:off x="502920" y="1371600"/>
            <a:ext cx="4206240" cy="457200"/>
          </a:xfrm>
          <a:prstGeom prst="roundRect">
            <a:avLst>
              <a:gd name="adj" fmla="val 12000"/>
            </a:avLst>
          </a:prstGeom>
          <a:solidFill>
            <a:srgbClr val="2F5C8A"/>
          </a:solidFill>
          <a:ln w="12700">
            <a:solidFill>
              <a:srgbClr val="2F5C8A"/>
            </a:solidFill>
            <a:prstDash val="solid"/>
          </a:ln>
        </p:spPr>
        <p:txBody>
          <a:bodyPr/>
          <a:p/>
        </p:txBody>
      </p:sp>
      <p:sp>
        <p:nvSpPr>
          <p:cNvPr id="8" name="Text 6"/>
          <p:cNvSpPr/>
          <p:nvPr/>
        </p:nvSpPr>
        <p:spPr>
          <a:xfrm>
            <a:off x="502920" y="1371600"/>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N-point DFT</a:t>
            </a:r>
            <a:endParaRPr lang="en-US" sz="1250" dirty="0"/>
          </a:p>
        </p:txBody>
      </p:sp>
      <p:sp>
        <p:nvSpPr>
          <p:cNvPr id="9" name="Text 7"/>
          <p:cNvSpPr/>
          <p:nvPr/>
        </p:nvSpPr>
        <p:spPr>
          <a:xfrm>
            <a:off x="2423160" y="1828800"/>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10" name="Shape 8"/>
          <p:cNvSpPr/>
          <p:nvPr/>
        </p:nvSpPr>
        <p:spPr>
          <a:xfrm>
            <a:off x="502920" y="1979676"/>
            <a:ext cx="4206240" cy="457200"/>
          </a:xfrm>
          <a:prstGeom prst="roundRect">
            <a:avLst>
              <a:gd name="adj" fmla="val 12000"/>
            </a:avLst>
          </a:prstGeom>
          <a:solidFill>
            <a:srgbClr val="2F5C8A"/>
          </a:solidFill>
          <a:ln w="12700">
            <a:solidFill>
              <a:srgbClr val="2F5C8A"/>
            </a:solidFill>
            <a:prstDash val="solid"/>
          </a:ln>
        </p:spPr>
        <p:txBody>
          <a:bodyPr/>
          <a:p/>
        </p:txBody>
      </p:sp>
      <p:sp>
        <p:nvSpPr>
          <p:cNvPr id="11" name="Text 9"/>
          <p:cNvSpPr/>
          <p:nvPr/>
        </p:nvSpPr>
        <p:spPr>
          <a:xfrm>
            <a:off x="502920" y="1979676"/>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Split by parity</a:t>
            </a:r>
            <a:endParaRPr lang="en-US" sz="1250" dirty="0"/>
          </a:p>
        </p:txBody>
      </p:sp>
      <p:sp>
        <p:nvSpPr>
          <p:cNvPr id="12" name="Text 10"/>
          <p:cNvSpPr/>
          <p:nvPr/>
        </p:nvSpPr>
        <p:spPr>
          <a:xfrm>
            <a:off x="2423160" y="2436876"/>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13" name="Shape 11"/>
          <p:cNvSpPr/>
          <p:nvPr/>
        </p:nvSpPr>
        <p:spPr>
          <a:xfrm>
            <a:off x="502920" y="2587752"/>
            <a:ext cx="4206240" cy="457200"/>
          </a:xfrm>
          <a:prstGeom prst="roundRect">
            <a:avLst>
              <a:gd name="adj" fmla="val 12000"/>
            </a:avLst>
          </a:prstGeom>
          <a:solidFill>
            <a:srgbClr val="2F5C8A"/>
          </a:solidFill>
          <a:ln w="12700">
            <a:solidFill>
              <a:srgbClr val="2F5C8A"/>
            </a:solidFill>
            <a:prstDash val="solid"/>
          </a:ln>
        </p:spPr>
        <p:txBody>
          <a:bodyPr/>
          <a:p/>
        </p:txBody>
      </p:sp>
      <p:sp>
        <p:nvSpPr>
          <p:cNvPr id="14" name="Text 12"/>
          <p:cNvSpPr/>
          <p:nvPr/>
        </p:nvSpPr>
        <p:spPr>
          <a:xfrm>
            <a:off x="502920" y="2587752"/>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Even + Odd DFTs</a:t>
            </a:r>
            <a:endParaRPr lang="en-US" sz="1250" dirty="0"/>
          </a:p>
        </p:txBody>
      </p:sp>
      <p:sp>
        <p:nvSpPr>
          <p:cNvPr id="15" name="Text 13"/>
          <p:cNvSpPr/>
          <p:nvPr/>
        </p:nvSpPr>
        <p:spPr>
          <a:xfrm>
            <a:off x="2423160" y="3044952"/>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16" name="Shape 14"/>
          <p:cNvSpPr/>
          <p:nvPr/>
        </p:nvSpPr>
        <p:spPr>
          <a:xfrm>
            <a:off x="502920" y="3195828"/>
            <a:ext cx="4206240" cy="457200"/>
          </a:xfrm>
          <a:prstGeom prst="roundRect">
            <a:avLst>
              <a:gd name="adj" fmla="val 12000"/>
            </a:avLst>
          </a:prstGeom>
          <a:solidFill>
            <a:srgbClr val="2F5C8A"/>
          </a:solidFill>
          <a:ln w="12700">
            <a:solidFill>
              <a:srgbClr val="2F5C8A"/>
            </a:solidFill>
            <a:prstDash val="solid"/>
          </a:ln>
        </p:spPr>
        <p:txBody>
          <a:bodyPr/>
          <a:p/>
        </p:txBody>
      </p:sp>
      <p:sp>
        <p:nvSpPr>
          <p:cNvPr id="17" name="Text 15"/>
          <p:cNvSpPr/>
          <p:nvPr/>
        </p:nvSpPr>
        <p:spPr>
          <a:xfrm>
            <a:off x="502920" y="3195828"/>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Twiddle factor</a:t>
            </a:r>
            <a:endParaRPr lang="en-US" sz="1250" dirty="0"/>
          </a:p>
        </p:txBody>
      </p:sp>
      <p:sp>
        <p:nvSpPr>
          <p:cNvPr id="18" name="Text 16"/>
          <p:cNvSpPr/>
          <p:nvPr/>
        </p:nvSpPr>
        <p:spPr>
          <a:xfrm>
            <a:off x="2423160" y="3653028"/>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19" name="Shape 17"/>
          <p:cNvSpPr/>
          <p:nvPr/>
        </p:nvSpPr>
        <p:spPr>
          <a:xfrm>
            <a:off x="502920" y="3803904"/>
            <a:ext cx="4206240" cy="457200"/>
          </a:xfrm>
          <a:prstGeom prst="roundRect">
            <a:avLst>
              <a:gd name="adj" fmla="val 12000"/>
            </a:avLst>
          </a:prstGeom>
          <a:solidFill>
            <a:srgbClr val="2F5C8A"/>
          </a:solidFill>
          <a:ln w="12700">
            <a:solidFill>
              <a:srgbClr val="2F5C8A"/>
            </a:solidFill>
            <a:prstDash val="solid"/>
          </a:ln>
        </p:spPr>
        <p:txBody>
          <a:bodyPr/>
          <a:p/>
        </p:txBody>
      </p:sp>
      <p:sp>
        <p:nvSpPr>
          <p:cNvPr id="20" name="Text 18"/>
          <p:cNvSpPr/>
          <p:nvPr/>
        </p:nvSpPr>
        <p:spPr>
          <a:xfrm>
            <a:off x="502920" y="3803904"/>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Butterfly</a:t>
            </a:r>
            <a:endParaRPr lang="en-US" sz="1250" dirty="0"/>
          </a:p>
        </p:txBody>
      </p:sp>
      <p:sp>
        <p:nvSpPr>
          <p:cNvPr id="21" name="Text 19"/>
          <p:cNvSpPr/>
          <p:nvPr/>
        </p:nvSpPr>
        <p:spPr>
          <a:xfrm>
            <a:off x="2423160" y="4261104"/>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22" name="Shape 20"/>
          <p:cNvSpPr/>
          <p:nvPr/>
        </p:nvSpPr>
        <p:spPr>
          <a:xfrm>
            <a:off x="502920" y="4411980"/>
            <a:ext cx="4206240" cy="457200"/>
          </a:xfrm>
          <a:prstGeom prst="roundRect">
            <a:avLst>
              <a:gd name="adj" fmla="val 12000"/>
            </a:avLst>
          </a:prstGeom>
          <a:solidFill>
            <a:srgbClr val="2F5C8A"/>
          </a:solidFill>
          <a:ln w="12700">
            <a:solidFill>
              <a:srgbClr val="2F5C8A"/>
            </a:solidFill>
            <a:prstDash val="solid"/>
          </a:ln>
        </p:spPr>
        <p:txBody>
          <a:bodyPr/>
          <a:p/>
        </p:txBody>
      </p:sp>
      <p:sp>
        <p:nvSpPr>
          <p:cNvPr id="23" name="Text 21"/>
          <p:cNvSpPr/>
          <p:nvPr/>
        </p:nvSpPr>
        <p:spPr>
          <a:xfrm>
            <a:off x="502920" y="4411980"/>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log₂N stages</a:t>
            </a:r>
            <a:endParaRPr lang="en-US" sz="1250" dirty="0"/>
          </a:p>
        </p:txBody>
      </p:sp>
      <p:sp>
        <p:nvSpPr>
          <p:cNvPr id="24" name="Text 22"/>
          <p:cNvSpPr/>
          <p:nvPr/>
        </p:nvSpPr>
        <p:spPr>
          <a:xfrm>
            <a:off x="2423160" y="4869180"/>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25" name="Shape 23"/>
          <p:cNvSpPr/>
          <p:nvPr/>
        </p:nvSpPr>
        <p:spPr>
          <a:xfrm>
            <a:off x="502920" y="5020056"/>
            <a:ext cx="4206240" cy="457200"/>
          </a:xfrm>
          <a:prstGeom prst="roundRect">
            <a:avLst>
              <a:gd name="adj" fmla="val 12000"/>
            </a:avLst>
          </a:prstGeom>
          <a:solidFill>
            <a:srgbClr val="2F5C8A"/>
          </a:solidFill>
          <a:ln w="12700">
            <a:solidFill>
              <a:srgbClr val="2F5C8A"/>
            </a:solidFill>
            <a:prstDash val="solid"/>
          </a:ln>
        </p:spPr>
        <p:txBody>
          <a:bodyPr/>
          <a:p/>
        </p:txBody>
      </p:sp>
      <p:sp>
        <p:nvSpPr>
          <p:cNvPr id="26" name="Text 24"/>
          <p:cNvSpPr/>
          <p:nvPr/>
        </p:nvSpPr>
        <p:spPr>
          <a:xfrm>
            <a:off x="502920" y="5020056"/>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Bit-reversal</a:t>
            </a:r>
            <a:endParaRPr lang="en-US" sz="1250" dirty="0"/>
          </a:p>
        </p:txBody>
      </p:sp>
      <p:sp>
        <p:nvSpPr>
          <p:cNvPr id="27" name="Text 25"/>
          <p:cNvSpPr/>
          <p:nvPr/>
        </p:nvSpPr>
        <p:spPr>
          <a:xfrm>
            <a:off x="2423160" y="5477256"/>
            <a:ext cx="365760" cy="146304"/>
          </a:xfrm>
          <a:prstGeom prst="rect">
            <a:avLst/>
          </a:prstGeom>
          <a:noFill/>
          <a:ln/>
        </p:spPr>
        <p:txBody>
          <a:bodyPr wrap="square" rtlCol="0" anchor="ctr"/>
          <a:lstStyle/>
          <a:p>
            <a:pPr algn="ctr" indent="0" marL="0">
              <a:buNone/>
            </a:pPr>
            <a:r>
              <a:rPr lang="en-US" sz="1100" dirty="0">
                <a:solidFill>
                  <a:srgbClr val="9FD4D1"/>
                </a:solidFill>
              </a:rPr>
              <a:t>↓</a:t>
            </a:r>
            <a:endParaRPr lang="en-US" sz="1100" dirty="0"/>
          </a:p>
        </p:txBody>
      </p:sp>
      <p:sp>
        <p:nvSpPr>
          <p:cNvPr id="28" name="Shape 26"/>
          <p:cNvSpPr/>
          <p:nvPr/>
        </p:nvSpPr>
        <p:spPr>
          <a:xfrm>
            <a:off x="502920" y="5628132"/>
            <a:ext cx="4206240" cy="457200"/>
          </a:xfrm>
          <a:prstGeom prst="roundRect">
            <a:avLst>
              <a:gd name="adj" fmla="val 12000"/>
            </a:avLst>
          </a:prstGeom>
          <a:solidFill>
            <a:srgbClr val="2F5C8A"/>
          </a:solidFill>
          <a:ln w="12700">
            <a:solidFill>
              <a:srgbClr val="2F5C8A"/>
            </a:solidFill>
            <a:prstDash val="solid"/>
          </a:ln>
        </p:spPr>
        <p:txBody>
          <a:bodyPr/>
          <a:p/>
        </p:txBody>
      </p:sp>
      <p:sp>
        <p:nvSpPr>
          <p:cNvPr id="29" name="Text 27"/>
          <p:cNvSpPr/>
          <p:nvPr/>
        </p:nvSpPr>
        <p:spPr>
          <a:xfrm>
            <a:off x="502920" y="5628132"/>
            <a:ext cx="4206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X[k], natural order</a:t>
            </a:r>
            <a:endParaRPr lang="en-US" sz="1250" dirty="0"/>
          </a:p>
        </p:txBody>
      </p:sp>
      <p:sp>
        <p:nvSpPr>
          <p:cNvPr id="30" name="Text 28"/>
          <p:cNvSpPr/>
          <p:nvPr/>
        </p:nvSpPr>
        <p:spPr>
          <a:xfrm>
            <a:off x="5486400" y="1417320"/>
            <a:ext cx="6126480" cy="274320"/>
          </a:xfrm>
          <a:prstGeom prst="rect">
            <a:avLst/>
          </a:prstGeom>
          <a:noFill/>
          <a:ln/>
        </p:spPr>
        <p:txBody>
          <a:bodyPr wrap="square" rtlCol="0" anchor="ctr"/>
          <a:lstStyle/>
          <a:p>
            <a:pPr algn="l" indent="0" marL="0">
              <a:buNone/>
            </a:pPr>
            <a:r>
              <a:rPr lang="en-US" sz="1100" b="1" dirty="0">
                <a:solidFill>
                  <a:srgbClr val="9FD4D1"/>
                </a:solidFill>
                <a:latin typeface="Calibri" pitchFamily="34" charset="0"/>
                <a:ea typeface="Calibri" pitchFamily="34" charset="-122"/>
                <a:cs typeface="Calibri" pitchFamily="34" charset="-120"/>
              </a:rPr>
              <a:t>EQUATIONS TO REMEMBER</a:t>
            </a:r>
            <a:endParaRPr lang="en-US" sz="1200" dirty="0"/>
          </a:p>
        </p:txBody>
      </p:sp>
      <p:sp>
        <p:nvSpPr>
          <p:cNvPr id="31" name="Shape 29"/>
          <p:cNvSpPr/>
          <p:nvPr/>
        </p:nvSpPr>
        <p:spPr>
          <a:xfrm>
            <a:off x="5486400" y="1737360"/>
            <a:ext cx="6126480" cy="594360"/>
          </a:xfrm>
          <a:prstGeom prst="roundRect">
            <a:avLst>
              <a:gd name="adj" fmla="val 9231"/>
            </a:avLst>
          </a:prstGeom>
          <a:solidFill>
            <a:srgbClr val="0E8388"/>
          </a:solidFill>
          <a:ln w="12700">
            <a:solidFill>
              <a:srgbClr val="132A4A"/>
            </a:solidFill>
            <a:prstDash val="solid"/>
          </a:ln>
        </p:spPr>
        <p:txBody>
          <a:bodyPr/>
          <a:p/>
        </p:txBody>
      </p:sp>
      <p:sp>
        <p:nvSpPr>
          <p:cNvPr id="32" name="Text 30"/>
          <p:cNvSpPr/>
          <p:nvPr/>
        </p:nvSpPr>
        <p:spPr>
          <a:xfrm>
            <a:off x="5486400" y="1737360"/>
            <a:ext cx="6126480" cy="5943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e</a:t>
            </a:r>
            <a:pPr algn="ctr" indent="0" marL="0">
              <a:buNone/>
            </a:pPr>
            <a:r>
              <a:rPr lang="en-US" sz="1300" b="1" baseline="30000" dirty="0">
                <a:solidFill>
                  <a:srgbClr val="FFFFFF"/>
                </a:solidFill>
                <a:latin typeface="Cambria" pitchFamily="34" charset="0"/>
                <a:ea typeface="Cambria" pitchFamily="34" charset="-122"/>
                <a:cs typeface="Cambria" pitchFamily="34" charset="-120"/>
              </a:rPr>
              <a:t>-j2πk/N</a:t>
            </a:r>
            <a:endParaRPr lang="en-US" sz="1500" dirty="0"/>
          </a:p>
        </p:txBody>
      </p:sp>
      <p:sp>
        <p:nvSpPr>
          <p:cNvPr id="33" name="Shape 31"/>
          <p:cNvSpPr/>
          <p:nvPr/>
        </p:nvSpPr>
        <p:spPr>
          <a:xfrm>
            <a:off x="5486400" y="2423160"/>
            <a:ext cx="6126480" cy="594360"/>
          </a:xfrm>
          <a:prstGeom prst="roundRect">
            <a:avLst>
              <a:gd name="adj" fmla="val 9231"/>
            </a:avLst>
          </a:prstGeom>
          <a:solidFill>
            <a:srgbClr val="2F5C8A"/>
          </a:solidFill>
          <a:ln w="12700">
            <a:solidFill>
              <a:srgbClr val="132A4A"/>
            </a:solidFill>
            <a:prstDash val="solid"/>
          </a:ln>
        </p:spPr>
        <p:txBody>
          <a:bodyPr/>
          <a:p/>
        </p:txBody>
      </p:sp>
      <p:sp>
        <p:nvSpPr>
          <p:cNvPr id="34" name="Text 32"/>
          <p:cNvSpPr/>
          <p:nvPr/>
        </p:nvSpPr>
        <p:spPr>
          <a:xfrm>
            <a:off x="5486400" y="2423160"/>
            <a:ext cx="6126480" cy="5943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pPr algn="ctr" indent="0" marL="0">
              <a:buNone/>
            </a:pPr>
            <a:r>
              <a:rPr lang="en-US" sz="1600" b="1" baseline="-40000" dirty="0">
                <a:solidFill>
                  <a:srgbClr val="FFFFFF"/>
                </a:solidFill>
                <a:latin typeface="Cambria" pitchFamily="34" charset="0"/>
                <a:ea typeface="Cambria" pitchFamily="34" charset="-122"/>
                <a:cs typeface="Cambria" pitchFamily="34" charset="-120"/>
              </a:rPr>
              <a:t>k</a:t>
            </a:r>
            <a:pPr algn="ctr" indent="0" marL="0">
              <a:buNone/>
            </a:pPr>
            <a:r>
              <a:rPr lang="en-US" sz="1600" b="1" dirty="0">
                <a:solidFill>
                  <a:srgbClr val="FFFFFF"/>
                </a:solidFill>
                <a:latin typeface="Cambria" pitchFamily="34" charset="0"/>
                <a:ea typeface="Cambria" pitchFamily="34" charset="-122"/>
                <a:cs typeface="Cambria" pitchFamily="34" charset="-120"/>
              </a:rPr>
              <a:t> = E</a:t>
            </a:r>
            <a:pPr algn="ctr" indent="0" marL="0">
              <a:buNone/>
            </a:pPr>
            <a:r>
              <a:rPr lang="en-US" sz="1600" b="1" baseline="-40000" dirty="0">
                <a:solidFill>
                  <a:srgbClr val="FFFFFF"/>
                </a:solidFill>
                <a:latin typeface="Cambria" pitchFamily="34" charset="0"/>
                <a:ea typeface="Cambria" pitchFamily="34" charset="-122"/>
                <a:cs typeface="Cambria" pitchFamily="34" charset="-120"/>
              </a:rPr>
              <a:t>k</a:t>
            </a:r>
            <a:pPr algn="ctr" indent="0" marL="0">
              <a:buNone/>
            </a:pPr>
            <a:r>
              <a:rPr lang="en-US" sz="1600" b="1" dirty="0">
                <a:solidFill>
                  <a:srgbClr val="FFFFFF"/>
                </a:solidFill>
                <a:latin typeface="Cambria" pitchFamily="34" charset="0"/>
                <a:ea typeface="Cambria" pitchFamily="34" charset="-122"/>
                <a:cs typeface="Cambria" pitchFamily="34" charset="-120"/>
              </a:rPr>
              <a:t> + W</a:t>
            </a:r>
            <a:pPr algn="ctr" indent="0" marL="0">
              <a:buNone/>
            </a:pPr>
            <a:r>
              <a:rPr lang="en-US" sz="1600" b="1" baseline="-40000" dirty="0">
                <a:solidFill>
                  <a:srgbClr val="FFFFFF"/>
                </a:solidFill>
                <a:latin typeface="Cambria" pitchFamily="34" charset="0"/>
                <a:ea typeface="Cambria" pitchFamily="34" charset="-122"/>
                <a:cs typeface="Cambria" pitchFamily="34" charset="-120"/>
              </a:rPr>
              <a:t>N</a:t>
            </a:r>
            <a:pPr algn="ctr" indent="0" marL="0">
              <a:buNone/>
            </a:pPr>
            <a:r>
              <a:rPr lang="en-US" sz="1600" b="1" baseline="30000" dirty="0">
                <a:solidFill>
                  <a:srgbClr val="FFFFFF"/>
                </a:solidFill>
                <a:latin typeface="Cambria" pitchFamily="34" charset="0"/>
                <a:ea typeface="Cambria" pitchFamily="34" charset="-122"/>
                <a:cs typeface="Cambria" pitchFamily="34" charset="-120"/>
              </a:rPr>
              <a:t>k</a:t>
            </a:r>
            <a:pPr algn="ctr" indent="0" marL="0">
              <a:buNone/>
            </a:pPr>
            <a:r>
              <a:rPr lang="en-US" sz="1600" b="1" dirty="0">
                <a:solidFill>
                  <a:srgbClr val="FFFFFF"/>
                </a:solidFill>
                <a:latin typeface="Cambria" pitchFamily="34" charset="0"/>
                <a:ea typeface="Cambria" pitchFamily="34" charset="-122"/>
                <a:cs typeface="Cambria" pitchFamily="34" charset="-120"/>
              </a:rPr>
              <a:t> O</a:t>
            </a:r>
            <a:pPr algn="ctr" indent="0" marL="0">
              <a:buNone/>
            </a:pPr>
            <a:r>
              <a:rPr lang="en-US" sz="1600" b="1" baseline="-40000" dirty="0">
                <a:solidFill>
                  <a:srgbClr val="FFFFFF"/>
                </a:solidFill>
                <a:latin typeface="Cambria" pitchFamily="34" charset="0"/>
                <a:ea typeface="Cambria" pitchFamily="34" charset="-122"/>
                <a:cs typeface="Cambria" pitchFamily="34" charset="-120"/>
              </a:rPr>
              <a:t>k</a:t>
            </a:r>
            <a:endParaRPr lang="en-US" sz="1600" dirty="0"/>
          </a:p>
        </p:txBody>
      </p:sp>
      <p:sp>
        <p:nvSpPr>
          <p:cNvPr id="35" name="Shape 33"/>
          <p:cNvSpPr/>
          <p:nvPr/>
        </p:nvSpPr>
        <p:spPr>
          <a:xfrm>
            <a:off x="5486400" y="3108960"/>
            <a:ext cx="6126480" cy="594360"/>
          </a:xfrm>
          <a:prstGeom prst="roundRect">
            <a:avLst>
              <a:gd name="adj" fmla="val 9231"/>
            </a:avLst>
          </a:prstGeom>
          <a:solidFill>
            <a:srgbClr val="2F5C8A"/>
          </a:solidFill>
          <a:ln w="12700">
            <a:solidFill>
              <a:srgbClr val="132A4A"/>
            </a:solidFill>
            <a:prstDash val="solid"/>
          </a:ln>
        </p:spPr>
        <p:txBody>
          <a:bodyPr/>
          <a:p/>
        </p:txBody>
      </p:sp>
      <p:sp>
        <p:nvSpPr>
          <p:cNvPr id="36" name="Text 34"/>
          <p:cNvSpPr/>
          <p:nvPr/>
        </p:nvSpPr>
        <p:spPr>
          <a:xfrm>
            <a:off x="5486400" y="3108960"/>
            <a:ext cx="6126480" cy="5943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X</a:t>
            </a:r>
            <a:pPr algn="ctr" indent="0" marL="0">
              <a:buNone/>
            </a:pPr>
            <a:r>
              <a:rPr lang="en-US" sz="1300" b="1" baseline="-40000" dirty="0">
                <a:solidFill>
                  <a:srgbClr val="FFFFFF"/>
                </a:solidFill>
                <a:latin typeface="Cambria" pitchFamily="34" charset="0"/>
                <a:ea typeface="Cambria" pitchFamily="34" charset="-122"/>
                <a:cs typeface="Cambria" pitchFamily="34" charset="-120"/>
              </a:rPr>
              <a:t>k+N/2</a:t>
            </a:r>
            <a:pPr algn="ctr" indent="0" marL="0">
              <a:buNone/>
            </a:pPr>
            <a:r>
              <a:rPr lang="en-US" sz="1300" b="1" dirty="0">
                <a:solidFill>
                  <a:srgbClr val="FFFFFF"/>
                </a:solidFill>
                <a:latin typeface="Cambria" pitchFamily="34" charset="0"/>
                <a:ea typeface="Cambria" pitchFamily="34" charset="-122"/>
                <a:cs typeface="Cambria" pitchFamily="34" charset="-120"/>
              </a:rPr>
              <a:t> = E</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 W</a:t>
            </a:r>
            <a:pPr algn="ctr" indent="0" marL="0">
              <a:buNone/>
            </a:pPr>
            <a:r>
              <a:rPr lang="en-US" sz="1300" b="1" baseline="-40000" dirty="0">
                <a:solidFill>
                  <a:srgbClr val="FFFFFF"/>
                </a:solidFill>
                <a:latin typeface="Cambria" pitchFamily="34" charset="0"/>
                <a:ea typeface="Cambria" pitchFamily="34" charset="-122"/>
                <a:cs typeface="Cambria" pitchFamily="34" charset="-120"/>
              </a:rPr>
              <a:t>N</a:t>
            </a:r>
            <a:pPr algn="ctr" indent="0" marL="0">
              <a:buNone/>
            </a:pPr>
            <a:r>
              <a:rPr lang="en-US" sz="1300" b="1" baseline="30000" dirty="0">
                <a:solidFill>
                  <a:srgbClr val="FFFFFF"/>
                </a:solidFill>
                <a:latin typeface="Cambria" pitchFamily="34" charset="0"/>
                <a:ea typeface="Cambria" pitchFamily="34" charset="-122"/>
                <a:cs typeface="Cambria" pitchFamily="34" charset="-120"/>
              </a:rPr>
              <a:t>k</a:t>
            </a:r>
            <a:pPr algn="ctr" indent="0" marL="0">
              <a:buNone/>
            </a:pPr>
            <a:r>
              <a:rPr lang="en-US" sz="1300" b="1" dirty="0">
                <a:solidFill>
                  <a:srgbClr val="FFFFFF"/>
                </a:solidFill>
                <a:latin typeface="Cambria" pitchFamily="34" charset="0"/>
                <a:ea typeface="Cambria" pitchFamily="34" charset="-122"/>
                <a:cs typeface="Cambria" pitchFamily="34" charset="-120"/>
              </a:rPr>
              <a:t> O</a:t>
            </a:r>
            <a:pPr algn="ctr" indent="0" marL="0">
              <a:buNone/>
            </a:pPr>
            <a:r>
              <a:rPr lang="en-US" sz="1300" b="1" baseline="-40000" dirty="0">
                <a:solidFill>
                  <a:srgbClr val="FFFFFF"/>
                </a:solidFill>
                <a:latin typeface="Cambria" pitchFamily="34" charset="0"/>
                <a:ea typeface="Cambria" pitchFamily="34" charset="-122"/>
                <a:cs typeface="Cambria" pitchFamily="34" charset="-120"/>
              </a:rPr>
              <a:t>k</a:t>
            </a:r>
            <a:endParaRPr lang="en-US" sz="1500" dirty="0"/>
          </a:p>
        </p:txBody>
      </p:sp>
      <p:sp>
        <p:nvSpPr>
          <p:cNvPr id="37" name="Shape 35"/>
          <p:cNvSpPr/>
          <p:nvPr/>
        </p:nvSpPr>
        <p:spPr>
          <a:xfrm>
            <a:off x="5486400" y="3931920"/>
            <a:ext cx="6126480" cy="2331720"/>
          </a:xfrm>
          <a:prstGeom prst="roundRect">
            <a:avLst>
              <a:gd name="adj" fmla="val 2353"/>
            </a:avLst>
          </a:prstGeom>
          <a:solidFill>
            <a:srgbClr val="1B3A63"/>
          </a:solidFill>
          <a:ln w="12700">
            <a:solidFill>
              <a:srgbClr val="2F5C8A"/>
            </a:solidFill>
            <a:prstDash val="solid"/>
          </a:ln>
        </p:spPr>
        <p:txBody>
          <a:bodyPr/>
          <a:p/>
        </p:txBody>
      </p:sp>
      <p:sp>
        <p:nvSpPr>
          <p:cNvPr id="38" name="Text 36"/>
          <p:cNvSpPr/>
          <p:nvPr/>
        </p:nvSpPr>
        <p:spPr>
          <a:xfrm>
            <a:off x="5715000" y="4069080"/>
            <a:ext cx="5669280" cy="2103120"/>
          </a:xfrm>
          <a:prstGeom prst="rect">
            <a:avLst/>
          </a:prstGeom>
          <a:noFill/>
          <a:ln/>
        </p:spPr>
        <p:txBody>
          <a:bodyPr wrap="square" rtlCol="0" anchor="t"/>
          <a:lstStyle/>
          <a:p>
            <a:pPr indent="0" marL="0">
              <a:lnSpc>
                <a:spcPct val="120000"/>
              </a:lnSpc>
              <a:buNone/>
            </a:pPr>
            <a:r>
              <a:rPr lang="en-US" sz="1300" b="1" dirty="0">
                <a:solidFill>
                  <a:srgbClr val="FFFFFF"/>
                </a:solidFill>
              </a:rPr>
              <a:t>Stages = log₂N
Butterflies/stage = N/2
Total butterflies = (N/2)log₂N
Radix: pieces per split step, 2 for radix-2.
Decimation-in-time: split the input by time-index parity. Decimation-in-frequency: split the output by parity, twiddle after the subtract.
Butterfly: one twiddle multiply, one add, one subtract, reused across every stage.</a:t>
            </a:r>
            <a:pPr indent="0" marL="0">
              <a:lnSpc>
                <a:spcPct val="120000"/>
              </a:lnSpc>
              <a:buNone/>
            </a:pPr>
            <a:r>
              <a:rPr lang="en-US" sz="1300" dirty="0">
                <a:solidFill>
                  <a:srgbClr val="EAF1FB"/>
                </a:solidFill>
              </a:rPr>
              <a:t/>
            </a:r>
            <a:pPr indent="0" marL="0">
              <a:lnSpc>
                <a:spcPct val="120000"/>
              </a:lnSpc>
              <a:buNone/>
            </a:pPr>
            <a:r>
              <a:rPr lang="en-US" sz="1300" dirty="0">
                <a:solidFill>
                  <a:srgbClr val="EAF1FB"/>
                </a:solidFill>
              </a:rPr>
              <a:t/>
            </a:r>
            <a:pPr indent="0" marL="0">
              <a:lnSpc>
                <a:spcPct val="120000"/>
              </a:lnSpc>
              <a:buNone/>
            </a:pPr>
            <a:r>
              <a:rPr lang="en-US" sz="1300" dirty="0">
                <a:solidFill>
                  <a:srgbClr val="EAF1FB"/>
                </a:solidFill>
              </a:rPr>
              <a:t/>
            </a:r>
            <a:pPr indent="0" marL="0">
              <a:lnSpc>
                <a:spcPct val="120000"/>
              </a:lnSpc>
              <a:buNone/>
            </a:pPr>
            <a:r>
              <a:rPr lang="en-US" sz="1300" dirty="0">
                <a:solidFill>
                  <a:srgbClr val="EAF1FB"/>
                </a:solidFill>
              </a:rPr>
              <a:t/>
            </a:r>
            <a:pPr indent="0" marL="0">
              <a:lnSpc>
                <a:spcPct val="120000"/>
              </a:lnSpc>
              <a:buNone/>
            </a:pPr>
            <a:r>
              <a:rPr lang="en-US" sz="1300" dirty="0">
                <a:solidFill>
                  <a:srgbClr val="EAF1FB"/>
                </a:solidFill>
              </a:rPr>
              <a:t/>
            </a:r>
            <a:endParaRPr lang="en-US" sz="1300" dirty="0"/>
          </a:p>
        </p:txBody>
      </p:sp>
      <p:sp>
        <p:nvSpPr>
          <p:cNvPr id="39" name="Shape 37"/>
          <p:cNvSpPr/>
          <p:nvPr/>
        </p:nvSpPr>
        <p:spPr>
          <a:xfrm>
            <a:off x="502920" y="6473952"/>
            <a:ext cx="11155680" cy="27432"/>
          </a:xfrm>
          <a:prstGeom prst="rect">
            <a:avLst/>
          </a:prstGeom>
          <a:solidFill>
            <a:srgbClr val="D7DEE8"/>
          </a:solidFill>
          <a:ln/>
        </p:spPr>
        <p:txBody>
          <a:bodyPr/>
          <a:p/>
        </p:txBody>
      </p:sp>
      <p:sp>
        <p:nvSpPr>
          <p:cNvPr id="40" name="Shape 38"/>
          <p:cNvSpPr/>
          <p:nvPr/>
        </p:nvSpPr>
        <p:spPr>
          <a:xfrm>
            <a:off x="502920" y="6473952"/>
            <a:ext cx="10890069" cy="27432"/>
          </a:xfrm>
          <a:prstGeom prst="rect">
            <a:avLst/>
          </a:prstGeom>
          <a:solidFill>
            <a:srgbClr val="0E8388"/>
          </a:solidFill>
          <a:ln/>
        </p:spPr>
        <p:txBody>
          <a:bodyPr/>
          <a:p/>
        </p:txBody>
      </p:sp>
      <p:sp>
        <p:nvSpPr>
          <p:cNvPr id="41" name="Text 39"/>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42" name="Text 40"/>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Closing     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rtlCol="0" anchor="ctr"/>
          <a:lstStyle/>
          <a:p>
            <a:pPr algn="l" indent="0" marL="0">
              <a:buNone/>
            </a:pPr>
            <a:r>
              <a:rPr lang="en-US" sz="1150" b="1" spc="200" kern="0" dirty="0">
                <a:solidFill>
                  <a:srgbClr val="0E8388"/>
                </a:solidFill>
                <a:latin typeface="Calibri" pitchFamily="34" charset="0"/>
                <a:ea typeface="Calibri" pitchFamily="34" charset="-122"/>
                <a:cs typeface="Calibri" pitchFamily="34" charset="-120"/>
              </a:rPr>
              <a:t>CLOSING · REFERENCES</a:t>
            </a:r>
            <a:endParaRPr lang="en-US" sz="1150" dirty="0"/>
          </a:p>
        </p:txBody>
      </p:sp>
      <p:sp>
        <p:nvSpPr>
          <p:cNvPr id="3" name="Text 1"/>
          <p:cNvSpPr/>
          <p:nvPr/>
        </p:nvSpPr>
        <p:spPr>
          <a:xfrm>
            <a:off x="502920" y="530352"/>
            <a:ext cx="11155680" cy="585216"/>
          </a:xfrm>
          <a:prstGeom prst="rect">
            <a:avLst/>
          </a:prstGeom>
          <a:noFill/>
          <a:ln/>
        </p:spPr>
        <p:txBody>
          <a:bodyPr wrap="square" rtlCol="0" anchor="t"/>
          <a:lstStyle/>
          <a:p>
            <a:pPr algn="l" indent="0" marL="0">
              <a:buNone/>
            </a:pPr>
            <a:r>
              <a:rPr lang="en-US" sz="2600" b="1" dirty="0">
                <a:solidFill>
                  <a:srgbClr val="132A4A"/>
                </a:solidFill>
                <a:latin typeface="Cambria" pitchFamily="34" charset="0"/>
                <a:ea typeface="Cambria" pitchFamily="34" charset="-122"/>
                <a:cs typeface="Cambria" pitchFamily="34" charset="-120"/>
              </a:rPr>
              <a:t>Sources for Further Study</a:t>
            </a:r>
            <a:endParaRPr lang="en-US" sz="2600" dirty="0"/>
          </a:p>
        </p:txBody>
      </p:sp>
      <p:sp>
        <p:nvSpPr>
          <p:cNvPr id="4" name="Text 2"/>
          <p:cNvSpPr/>
          <p:nvPr/>
        </p:nvSpPr>
        <p:spPr>
          <a:xfrm>
            <a:off x="502920" y="1371600"/>
            <a:ext cx="11155680" cy="292608"/>
          </a:xfrm>
          <a:prstGeom prst="rect">
            <a:avLst/>
          </a:prstGeom>
          <a:noFill/>
          <a:ln/>
        </p:spPr>
        <p:txBody>
          <a:bodyPr wrap="square" rtlCol="0" anchor="ctr"/>
          <a:lstStyle/>
          <a:p>
            <a:pPr indent="0" marL="0">
              <a:buNone/>
            </a:pPr>
            <a:r>
              <a:rPr lang="en-US" sz="1100" b="1" dirty="0">
                <a:solidFill>
                  <a:srgbClr val="132A4A"/>
                </a:solidFill>
                <a:latin typeface="Calibri" pitchFamily="34" charset="0"/>
                <a:ea typeface="Calibri" pitchFamily="34" charset="-122"/>
                <a:cs typeface="Calibri" pitchFamily="34" charset="-120"/>
              </a:rPr>
              <a:t>A. V. Oppenheim and R. W. Schafer</a:t>
            </a:r>
            <a:endParaRPr lang="en-US" sz="1350" dirty="0"/>
          </a:p>
        </p:txBody>
      </p:sp>
      <p:sp>
        <p:nvSpPr>
          <p:cNvPr id="5" name="Text 3"/>
          <p:cNvSpPr/>
          <p:nvPr/>
        </p:nvSpPr>
        <p:spPr>
          <a:xfrm>
            <a:off x="502920" y="1682496"/>
            <a:ext cx="11155680" cy="274320"/>
          </a:xfrm>
          <a:prstGeom prst="rect">
            <a:avLst/>
          </a:prstGeom>
          <a:noFill/>
          <a:ln/>
        </p:spPr>
        <p:txBody>
          <a:bodyPr wrap="square" rtlCol="0" anchor="ctr"/>
          <a:lstStyle/>
          <a:p>
            <a:pPr indent="0" marL="0">
              <a:buNone/>
            </a:pPr>
            <a:r>
              <a:rPr lang="en-US" sz="1100" i="1" dirty="0">
                <a:solidFill>
                  <a:srgbClr val="0E8388"/>
                </a:solidFill>
                <a:latin typeface="Calibri" pitchFamily="34" charset="0"/>
                <a:ea typeface="Calibri" pitchFamily="34" charset="-122"/>
                <a:cs typeface="Calibri" pitchFamily="34" charset="-120"/>
              </a:rPr>
              <a:t>Discrete-Time Signal Processing</a:t>
            </a:r>
            <a:endParaRPr lang="en-US" sz="1250" dirty="0"/>
          </a:p>
        </p:txBody>
      </p:sp>
      <p:sp>
        <p:nvSpPr>
          <p:cNvPr id="6" name="Text 4"/>
          <p:cNvSpPr/>
          <p:nvPr/>
        </p:nvSpPr>
        <p:spPr>
          <a:xfrm>
            <a:off x="502920" y="1975104"/>
            <a:ext cx="11155680" cy="411480"/>
          </a:xfrm>
          <a:prstGeom prst="rect">
            <a:avLst/>
          </a:prstGeom>
          <a:noFill/>
          <a:ln/>
        </p:spPr>
        <p:txBody>
          <a:bodyPr wrap="square" rtlCol="0" anchor="t"/>
          <a:lstStyle/>
          <a:p>
            <a:pPr algn="l" indent="0" marL="0">
              <a:lnSpc>
                <a:spcPct val="118000"/>
              </a:lnSpc>
              <a:buNone/>
            </a:pPr>
            <a:r>
              <a:rPr lang="en-US" sz="1100" dirty="0">
                <a:solidFill>
                  <a:srgbClr val="5C6B7A"/>
                </a:solidFill>
                <a:latin typeface="Calibri" pitchFamily="34" charset="0"/>
                <a:ea typeface="Calibri" pitchFamily="34" charset="-122"/>
                <a:cs typeface="Calibri" pitchFamily="34" charset="-120"/>
              </a:rPr>
              <a:t>The standard graduate reference for the DFT, the FFT derivation, and decimation-in-time and decimation-in-frequency structures.</a:t>
            </a:r>
            <a:endParaRPr lang="en-US" sz="1265" dirty="0"/>
          </a:p>
        </p:txBody>
      </p:sp>
      <p:sp>
        <p:nvSpPr>
          <p:cNvPr id="7" name="Text 5"/>
          <p:cNvSpPr/>
          <p:nvPr/>
        </p:nvSpPr>
        <p:spPr>
          <a:xfrm>
            <a:off x="502920" y="2514600"/>
            <a:ext cx="11155680" cy="292608"/>
          </a:xfrm>
          <a:prstGeom prst="rect">
            <a:avLst/>
          </a:prstGeom>
          <a:noFill/>
          <a:ln/>
        </p:spPr>
        <p:txBody>
          <a:bodyPr wrap="square" rtlCol="0" anchor="ctr"/>
          <a:lstStyle/>
          <a:p>
            <a:pPr indent="0" marL="0">
              <a:buNone/>
            </a:pPr>
            <a:r>
              <a:rPr lang="en-US" sz="1100" b="1" dirty="0">
                <a:solidFill>
                  <a:srgbClr val="132A4A"/>
                </a:solidFill>
                <a:latin typeface="Calibri" pitchFamily="34" charset="0"/>
                <a:ea typeface="Calibri" pitchFamily="34" charset="-122"/>
                <a:cs typeface="Calibri" pitchFamily="34" charset="-120"/>
              </a:rPr>
              <a:t>J. G. Proakis and D. G. Manolakis</a:t>
            </a:r>
            <a:endParaRPr lang="en-US" sz="1350" dirty="0"/>
          </a:p>
        </p:txBody>
      </p:sp>
      <p:sp>
        <p:nvSpPr>
          <p:cNvPr id="8" name="Text 6"/>
          <p:cNvSpPr/>
          <p:nvPr/>
        </p:nvSpPr>
        <p:spPr>
          <a:xfrm>
            <a:off x="502920" y="2825496"/>
            <a:ext cx="11155680" cy="274320"/>
          </a:xfrm>
          <a:prstGeom prst="rect">
            <a:avLst/>
          </a:prstGeom>
          <a:noFill/>
          <a:ln/>
        </p:spPr>
        <p:txBody>
          <a:bodyPr wrap="square" rtlCol="0" anchor="ctr"/>
          <a:lstStyle/>
          <a:p>
            <a:pPr indent="0" marL="0">
              <a:buNone/>
            </a:pPr>
            <a:r>
              <a:rPr lang="en-US" sz="1100" i="1" dirty="0">
                <a:solidFill>
                  <a:srgbClr val="0E8388"/>
                </a:solidFill>
                <a:latin typeface="Calibri" pitchFamily="34" charset="0"/>
                <a:ea typeface="Calibri" pitchFamily="34" charset="-122"/>
                <a:cs typeface="Calibri" pitchFamily="34" charset="-120"/>
              </a:rPr>
              <a:t>Digital Signal Processing: Principles, Algorithms, and Applications</a:t>
            </a:r>
            <a:endParaRPr lang="en-US" sz="1250" dirty="0"/>
          </a:p>
        </p:txBody>
      </p:sp>
      <p:sp>
        <p:nvSpPr>
          <p:cNvPr id="9" name="Text 7"/>
          <p:cNvSpPr/>
          <p:nvPr/>
        </p:nvSpPr>
        <p:spPr>
          <a:xfrm>
            <a:off x="502920" y="3118104"/>
            <a:ext cx="11155680" cy="411480"/>
          </a:xfrm>
          <a:prstGeom prst="rect">
            <a:avLst/>
          </a:prstGeom>
          <a:noFill/>
          <a:ln/>
        </p:spPr>
        <p:txBody>
          <a:bodyPr wrap="square" rtlCol="0" anchor="t"/>
          <a:lstStyle/>
          <a:p>
            <a:pPr algn="l" indent="0" marL="0">
              <a:lnSpc>
                <a:spcPct val="118000"/>
              </a:lnSpc>
              <a:buNone/>
            </a:pPr>
            <a:r>
              <a:rPr lang="en-US" sz="1100" dirty="0">
                <a:solidFill>
                  <a:srgbClr val="5C6B7A"/>
                </a:solidFill>
                <a:latin typeface="Calibri" pitchFamily="34" charset="0"/>
                <a:ea typeface="Calibri" pitchFamily="34" charset="-122"/>
                <a:cs typeface="Calibri" pitchFamily="34" charset="-120"/>
              </a:rPr>
              <a:t>Detailed treatment of FFT algorithms, operation counts, and fixed-point implementation issues.</a:t>
            </a:r>
            <a:endParaRPr lang="en-US" sz="1265" dirty="0"/>
          </a:p>
        </p:txBody>
      </p:sp>
      <p:sp>
        <p:nvSpPr>
          <p:cNvPr id="10" name="Text 8"/>
          <p:cNvSpPr/>
          <p:nvPr/>
        </p:nvSpPr>
        <p:spPr>
          <a:xfrm>
            <a:off x="502920" y="3657600"/>
            <a:ext cx="11155680" cy="292608"/>
          </a:xfrm>
          <a:prstGeom prst="rect">
            <a:avLst/>
          </a:prstGeom>
          <a:noFill/>
          <a:ln/>
        </p:spPr>
        <p:txBody>
          <a:bodyPr wrap="square" rtlCol="0" anchor="ctr"/>
          <a:lstStyle/>
          <a:p>
            <a:pPr indent="0" marL="0">
              <a:buNone/>
            </a:pPr>
            <a:r>
              <a:rPr lang="en-US" sz="1100" b="1" dirty="0">
                <a:solidFill>
                  <a:srgbClr val="132A4A"/>
                </a:solidFill>
                <a:latin typeface="Calibri" pitchFamily="34" charset="0"/>
                <a:ea typeface="Calibri" pitchFamily="34" charset="-122"/>
                <a:cs typeface="Calibri" pitchFamily="34" charset="-120"/>
              </a:rPr>
              <a:t>Xilinx / AMD and Intel FPGA documentation</a:t>
            </a:r>
            <a:endParaRPr lang="en-US" sz="1350" dirty="0"/>
          </a:p>
        </p:txBody>
      </p:sp>
      <p:sp>
        <p:nvSpPr>
          <p:cNvPr id="11" name="Text 9"/>
          <p:cNvSpPr/>
          <p:nvPr/>
        </p:nvSpPr>
        <p:spPr>
          <a:xfrm>
            <a:off x="502920" y="3968496"/>
            <a:ext cx="11155680" cy="274320"/>
          </a:xfrm>
          <a:prstGeom prst="rect">
            <a:avLst/>
          </a:prstGeom>
          <a:noFill/>
          <a:ln/>
        </p:spPr>
        <p:txBody>
          <a:bodyPr wrap="square" rtlCol="0" anchor="ctr"/>
          <a:lstStyle/>
          <a:p>
            <a:pPr indent="0" marL="0">
              <a:buNone/>
            </a:pPr>
            <a:r>
              <a:rPr lang="en-US" sz="1100" i="1" dirty="0">
                <a:solidFill>
                  <a:srgbClr val="0E8388"/>
                </a:solidFill>
                <a:latin typeface="Calibri" pitchFamily="34" charset="0"/>
                <a:ea typeface="Calibri" pitchFamily="34" charset="-122"/>
                <a:cs typeface="Calibri" pitchFamily="34" charset="-120"/>
              </a:rPr>
              <a:t>Vendor FFT IP core user guides</a:t>
            </a:r>
            <a:endParaRPr lang="en-US" sz="1250" dirty="0"/>
          </a:p>
        </p:txBody>
      </p:sp>
      <p:sp>
        <p:nvSpPr>
          <p:cNvPr id="12" name="Text 10"/>
          <p:cNvSpPr/>
          <p:nvPr/>
        </p:nvSpPr>
        <p:spPr>
          <a:xfrm>
            <a:off x="502920" y="4261104"/>
            <a:ext cx="11155680" cy="411480"/>
          </a:xfrm>
          <a:prstGeom prst="rect">
            <a:avLst/>
          </a:prstGeom>
          <a:noFill/>
          <a:ln/>
        </p:spPr>
        <p:txBody>
          <a:bodyPr wrap="square" rtlCol="0" anchor="t"/>
          <a:lstStyle/>
          <a:p>
            <a:pPr algn="l" indent="0" marL="0">
              <a:lnSpc>
                <a:spcPct val="118000"/>
              </a:lnSpc>
              <a:buNone/>
            </a:pPr>
            <a:r>
              <a:rPr lang="en-US" sz="1100" dirty="0">
                <a:solidFill>
                  <a:srgbClr val="5C6B7A"/>
                </a:solidFill>
                <a:latin typeface="Calibri" pitchFamily="34" charset="0"/>
                <a:ea typeface="Calibri" pitchFamily="34" charset="-122"/>
                <a:cs typeface="Calibri" pitchFamily="34" charset="-120"/>
              </a:rPr>
              <a:t>Reference documentation for streaming, burst, SDF and MDC FFT architectures actually shipped in FPGA IP.</a:t>
            </a:r>
            <a:endParaRPr lang="en-US" sz="1265" dirty="0"/>
          </a:p>
        </p:txBody>
      </p:sp>
      <p:sp>
        <p:nvSpPr>
          <p:cNvPr id="13" name="Text 11"/>
          <p:cNvSpPr/>
          <p:nvPr/>
        </p:nvSpPr>
        <p:spPr>
          <a:xfrm>
            <a:off x="502920" y="4800600"/>
            <a:ext cx="11155680" cy="292608"/>
          </a:xfrm>
          <a:prstGeom prst="rect">
            <a:avLst/>
          </a:prstGeom>
          <a:noFill/>
          <a:ln/>
        </p:spPr>
        <p:txBody>
          <a:bodyPr wrap="square" rtlCol="0" anchor="ctr"/>
          <a:lstStyle/>
          <a:p>
            <a:pPr indent="0" marL="0">
              <a:buNone/>
            </a:pPr>
            <a:r>
              <a:rPr lang="en-US" sz="1100" b="1" dirty="0">
                <a:solidFill>
                  <a:srgbClr val="132A4A"/>
                </a:solidFill>
                <a:latin typeface="Calibri" pitchFamily="34" charset="0"/>
                <a:ea typeface="Calibri" pitchFamily="34" charset="-122"/>
                <a:cs typeface="Calibri" pitchFamily="34" charset="-120"/>
              </a:rPr>
              <a:t>J. W. Cooley and J. W. Tukey (1965)</a:t>
            </a:r>
            <a:endParaRPr lang="en-US" sz="1350" dirty="0"/>
          </a:p>
        </p:txBody>
      </p:sp>
      <p:sp>
        <p:nvSpPr>
          <p:cNvPr id="14" name="Text 12"/>
          <p:cNvSpPr/>
          <p:nvPr/>
        </p:nvSpPr>
        <p:spPr>
          <a:xfrm>
            <a:off x="502920" y="5111496"/>
            <a:ext cx="11155680" cy="274320"/>
          </a:xfrm>
          <a:prstGeom prst="rect">
            <a:avLst/>
          </a:prstGeom>
          <a:noFill/>
          <a:ln/>
        </p:spPr>
        <p:txBody>
          <a:bodyPr wrap="square" rtlCol="0" anchor="ctr"/>
          <a:lstStyle/>
          <a:p>
            <a:pPr indent="0" marL="0">
              <a:buNone/>
            </a:pPr>
            <a:r>
              <a:rPr lang="en-US" sz="1100" i="1" dirty="0">
                <a:solidFill>
                  <a:srgbClr val="0E8388"/>
                </a:solidFill>
                <a:latin typeface="Calibri" pitchFamily="34" charset="0"/>
                <a:ea typeface="Calibri" pitchFamily="34" charset="-122"/>
                <a:cs typeface="Calibri" pitchFamily="34" charset="-120"/>
              </a:rPr>
              <a:t>An Algorithm for the Machine Calculation of Complex Fourier Series, Mathematics of Computation</a:t>
            </a:r>
            <a:endParaRPr lang="en-US" sz="1250" dirty="0"/>
          </a:p>
        </p:txBody>
      </p:sp>
      <p:sp>
        <p:nvSpPr>
          <p:cNvPr id="15" name="Text 13"/>
          <p:cNvSpPr/>
          <p:nvPr/>
        </p:nvSpPr>
        <p:spPr>
          <a:xfrm>
            <a:off x="502920" y="5404104"/>
            <a:ext cx="11155680" cy="411480"/>
          </a:xfrm>
          <a:prstGeom prst="rect">
            <a:avLst/>
          </a:prstGeom>
          <a:noFill/>
          <a:ln/>
        </p:spPr>
        <p:txBody>
          <a:bodyPr wrap="square" rtlCol="0" anchor="t"/>
          <a:lstStyle/>
          <a:p>
            <a:pPr algn="l" indent="0" marL="0">
              <a:lnSpc>
                <a:spcPct val="118000"/>
              </a:lnSpc>
              <a:buNone/>
            </a:pPr>
            <a:r>
              <a:rPr lang="en-US" sz="1100" dirty="0">
                <a:solidFill>
                  <a:srgbClr val="5C6B7A"/>
                </a:solidFill>
                <a:latin typeface="Calibri" pitchFamily="34" charset="0"/>
                <a:ea typeface="Calibri" pitchFamily="34" charset="-122"/>
                <a:cs typeface="Calibri" pitchFamily="34" charset="-120"/>
              </a:rPr>
              <a:t>The original paper describing the fast algorithm underlying every radix-2 FFT derivation shown in this deck.</a:t>
            </a:r>
            <a:endParaRPr lang="en-US" sz="1265" dirty="0"/>
          </a:p>
        </p:txBody>
      </p:sp>
      <p:sp>
        <p:nvSpPr>
          <p:cNvPr id="16" name="Shape 14"/>
          <p:cNvSpPr/>
          <p:nvPr/>
        </p:nvSpPr>
        <p:spPr>
          <a:xfrm>
            <a:off x="502920" y="5989320"/>
            <a:ext cx="11155680" cy="548640"/>
          </a:xfrm>
          <a:prstGeom prst="roundRect">
            <a:avLst>
              <a:gd name="adj" fmla="val 10000"/>
            </a:avLst>
          </a:prstGeom>
          <a:solidFill>
            <a:srgbClr val="EAF1FB"/>
          </a:solidFill>
          <a:ln w="12700">
            <a:solidFill>
              <a:srgbClr val="D7DEE8"/>
            </a:solidFill>
            <a:prstDash val="solid"/>
          </a:ln>
        </p:spPr>
        <p:txBody>
          <a:bodyPr/>
          <a:p/>
        </p:txBody>
      </p:sp>
      <p:sp>
        <p:nvSpPr>
          <p:cNvPr id="17" name="Text 15"/>
          <p:cNvSpPr/>
          <p:nvPr/>
        </p:nvSpPr>
        <p:spPr>
          <a:xfrm>
            <a:off x="685800" y="6080760"/>
            <a:ext cx="10789920" cy="365760"/>
          </a:xfrm>
          <a:prstGeom prst="rect">
            <a:avLst/>
          </a:prstGeom>
          <a:noFill/>
          <a:ln/>
        </p:spPr>
        <p:txBody>
          <a:bodyPr wrap="square" rtlCol="0" anchor="t"/>
          <a:lstStyle/>
          <a:p>
            <a:pPr algn="l" indent="0" marL="0">
              <a:lnSpc>
                <a:spcPct val="118000"/>
              </a:lnSpc>
              <a:buNone/>
            </a:pPr>
            <a:r>
              <a:rPr lang="en-US" sz="1100" i="1" dirty="0">
                <a:solidFill>
                  <a:srgbClr val="5C6B7A"/>
                </a:solidFill>
                <a:latin typeface="Calibri" pitchFamily="34" charset="0"/>
                <a:ea typeface="Calibri" pitchFamily="34" charset="-122"/>
                <a:cs typeface="Calibri" pitchFamily="34" charset="-120"/>
              </a:rPr>
              <a:t>This deck is a self-contained study notebook derived from these standard references, worked through in full for N=8 and extended to a 32-point RTL design.</a:t>
            </a:r>
            <a:endParaRPr lang="en-US" sz="1210" dirty="0"/>
          </a:p>
        </p:txBody>
      </p:sp>
      <p:sp>
        <p:nvSpPr>
          <p:cNvPr id="18" name="Shape 16"/>
          <p:cNvSpPr/>
          <p:nvPr/>
        </p:nvSpPr>
        <p:spPr>
          <a:xfrm>
            <a:off x="502920" y="6473952"/>
            <a:ext cx="11155680" cy="27432"/>
          </a:xfrm>
          <a:prstGeom prst="rect">
            <a:avLst/>
          </a:prstGeom>
          <a:solidFill>
            <a:srgbClr val="D7DEE8"/>
          </a:solidFill>
          <a:ln/>
        </p:spPr>
        <p:txBody>
          <a:bodyPr/>
          <a:p/>
        </p:txBody>
      </p:sp>
      <p:sp>
        <p:nvSpPr>
          <p:cNvPr id="19" name="Shape 17"/>
          <p:cNvSpPr/>
          <p:nvPr/>
        </p:nvSpPr>
        <p:spPr>
          <a:xfrm>
            <a:off x="502920" y="6473952"/>
            <a:ext cx="11155680" cy="27432"/>
          </a:xfrm>
          <a:prstGeom prst="rect">
            <a:avLst/>
          </a:prstGeom>
          <a:solidFill>
            <a:srgbClr val="0E8388"/>
          </a:solidFill>
          <a:ln/>
        </p:spPr>
        <p:txBody>
          <a:bodyPr/>
          <a:p/>
        </p:txBody>
      </p:sp>
      <p:sp>
        <p:nvSpPr>
          <p:cNvPr id="20" name="Text 18"/>
          <p:cNvSpPr/>
          <p:nvPr/>
        </p:nvSpPr>
        <p:spPr>
          <a:xfrm>
            <a:off x="502920" y="6528816"/>
            <a:ext cx="5943600" cy="237744"/>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Radix-2 FFT: DIT and DIF</a:t>
            </a:r>
            <a:endParaRPr lang="en-US" sz="900" dirty="0"/>
          </a:p>
        </p:txBody>
      </p:sp>
      <p:sp>
        <p:nvSpPr>
          <p:cNvPr id="21" name="Text 19"/>
          <p:cNvSpPr/>
          <p:nvPr/>
        </p:nvSpPr>
        <p:spPr>
          <a:xfrm>
            <a:off x="7116775" y="6528816"/>
            <a:ext cx="4572000" cy="237744"/>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Closing     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2026-09-28T03:37:12Z</dcterms:created>
  <dcterms:modified xsi:type="dcterms:W3CDTF">2026-09-28T03:37:12Z</dcterms:modified>
</cp:coreProperties>
</file>