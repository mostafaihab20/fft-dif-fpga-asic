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9.xml" ContentType="application/vnd.openxmlformats-officedocument.presentationml.notesSlide+xml"/>
  <Override PartName="/ppt/notesSlides/notesSlide12.xml" ContentType="application/vnd.openxmlformats-officedocument.presentationml.notesSlide+xml"/>
  <Override PartName="/ppt/notesSlides/notesSlide28.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3.xml" ContentType="application/vnd.openxmlformats-officedocument.presentationml.notesSlide+xml"/>
  <Override PartName="/ppt/notesSlides/notesSlide18.xml" ContentType="application/vnd.openxmlformats-officedocument.presentationml.notesSlide+xml"/>
  <Override PartName="/ppt/notesSlides/notesSlide22.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rts/style2.xml" ContentType="application/vnd.ms-office.chartstyle+xml"/>
  <Override PartName="/ppt/charts/chart1.xml" ContentType="application/vnd.openxmlformats-officedocument.drawingml.chart+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charts/colors2.xml" ContentType="application/vnd.ms-office.chartcolorstyle+xml"/>
  <Override PartName="/ppt/theme/theme1.xml" ContentType="application/vnd.openxmlformats-officedocument.theme+xml"/>
  <Override PartName="/ppt/theme/theme2.xml" ContentType="application/vnd.openxmlformats-officedocument.theme+xml"/>
  <Override PartName="/ppt/presentation.xml" ContentType="application/vnd.openxmlformats-officedocument.presentationml.presentation.main+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0.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42.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presProps" Target="presProps.xml"/>
</Relationships>
</file>

<file path=ppt/charts/_rels/chart1.xml.rels><?xml version="1.0" encoding="UTF-8"?>
<Relationships xmlns="http://schemas.openxmlformats.org/package/2006/relationships"><Relationship Id="rId1" Type="http://schemas.microsoft.com/office/2011/relationships/chartStyle" Target="style1.xml"/><Relationship Id="rId2" Type="http://schemas.microsoft.com/office/2011/relationships/chartColorStyle" Target="colors1.xml"/>
</Relationships>
</file>

<file path=ppt/charts/_rels/chart2.xml.rels><?xml version="1.0" encoding="UTF-8"?>
<Relationships xmlns="http://schemas.openxmlformats.org/package/2006/relationships"><Relationship Id="rId1" Type="http://schemas.microsoft.com/office/2011/relationships/chartStyle" Target="style2.xml"/><Relationship Id="rId2" Type="http://schemas.microsoft.com/office/2011/relationships/chartColorStyle" Target="colors2.xml"/>
</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200" b="0" u="none" strike="noStrike">
                <a:solidFill>
                  <a:srgbClr val="132A4A"/>
                </a:solidFill>
                <a:uFillTx/>
                <a:latin typeface="Calibri"/>
              </a:rPr>
              <a:t>Operations needed vs transform size N</a:t>
            </a:r>
          </a:p>
        </c:rich>
      </c:tx>
      <c:overlay val="0"/>
      <c:spPr>
        <a:noFill/>
        <a:ln w="0">
          <a:noFill/>
        </a:ln>
      </c:spPr>
    </c:title>
    <c:autoTitleDeleted val="0"/>
    <c:plotArea>
      <c:barChart>
        <c:barDir val="col"/>
        <c:grouping val="clustered"/>
        <c:varyColors val="0"/>
        <c:ser>
          <c:idx val="0"/>
          <c:order val="0"/>
          <c:tx>
            <c:strRef>
              <c:f>label 0</c:f>
              <c:strCache>
                <c:ptCount val="1"/>
                <c:pt idx="0">
                  <c:v>Direct DFT: N²</c:v>
                </c:pt>
              </c:strCache>
            </c:strRef>
          </c:tx>
          <c:spPr>
            <a:solidFill>
              <a:srgbClr val="D98324"/>
            </a:solidFill>
            <a:ln w="0">
              <a:noFill/>
            </a:ln>
          </c:spPr>
          <c:invertIfNegative val="0"/>
          <c:dLbls>
            <c:numFmt formatCode="#,##0" sourceLinked="0"/>
            <c:txPr>
              <a:bodyPr wrap="square"/>
              <a:lstStyle/>
              <a:p>
                <a:pPr>
                  <a:defRPr sz="850" b="0" u="none" strike="noStrike">
                    <a:solidFill>
                      <a:srgbClr val="000000"/>
                    </a:solidFill>
                    <a:uFillTx/>
                    <a:latin typeface="Arial"/>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5"/>
                <c:pt idx="0">
                  <c:v>4</c:v>
                </c:pt>
                <c:pt idx="1">
                  <c:v>8</c:v>
                </c:pt>
                <c:pt idx="2">
                  <c:v>16</c:v>
                </c:pt>
                <c:pt idx="3">
                  <c:v>32</c:v>
                </c:pt>
                <c:pt idx="4">
                  <c:v>64</c:v>
                </c:pt>
              </c:strCache>
            </c:strRef>
          </c:cat>
          <c:val>
            <c:numRef>
              <c:f>0</c:f>
              <c:numCache>
                <c:formatCode>General</c:formatCode>
                <c:ptCount val="5"/>
                <c:pt idx="0">
                  <c:v>16</c:v>
                </c:pt>
                <c:pt idx="1">
                  <c:v>64</c:v>
                </c:pt>
                <c:pt idx="2">
                  <c:v>256</c:v>
                </c:pt>
                <c:pt idx="3">
                  <c:v>1024</c:v>
                </c:pt>
                <c:pt idx="4">
                  <c:v>4096</c:v>
                </c:pt>
              </c:numCache>
            </c:numRef>
          </c:val>
        </c:ser>
        <c:ser>
          <c:idx val="1"/>
          <c:order val="1"/>
          <c:tx>
            <c:strRef>
              <c:f>label 1</c:f>
              <c:strCache>
                <c:ptCount val="1"/>
                <c:pt idx="0">
                  <c:v>Radix-2 FFT: (N/2)log2 N</c:v>
                </c:pt>
              </c:strCache>
            </c:strRef>
          </c:tx>
          <c:spPr>
            <a:solidFill>
              <a:srgbClr val="0E8388"/>
            </a:solidFill>
            <a:ln w="0">
              <a:noFill/>
            </a:ln>
          </c:spPr>
          <c:invertIfNegative val="0"/>
          <c:dLbls>
            <c:numFmt formatCode="#,##0" sourceLinked="0"/>
            <c:txPr>
              <a:bodyPr wrap="square"/>
              <a:lstStyle/>
              <a:p>
                <a:pPr>
                  <a:defRPr sz="850" b="0" u="none" strike="noStrike">
                    <a:solidFill>
                      <a:srgbClr val="000000"/>
                    </a:solidFill>
                    <a:uFillTx/>
                    <a:latin typeface="Arial"/>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5"/>
                <c:pt idx="0">
                  <c:v>4</c:v>
                </c:pt>
                <c:pt idx="1">
                  <c:v>8</c:v>
                </c:pt>
                <c:pt idx="2">
                  <c:v>16</c:v>
                </c:pt>
                <c:pt idx="3">
                  <c:v>32</c:v>
                </c:pt>
                <c:pt idx="4">
                  <c:v>64</c:v>
                </c:pt>
              </c:strCache>
            </c:strRef>
          </c:cat>
          <c:val>
            <c:numRef>
              <c:f>1</c:f>
              <c:numCache>
                <c:formatCode>General</c:formatCode>
                <c:ptCount val="5"/>
                <c:pt idx="0">
                  <c:v>4</c:v>
                </c:pt>
                <c:pt idx="1">
                  <c:v>12</c:v>
                </c:pt>
                <c:pt idx="2">
                  <c:v>32</c:v>
                </c:pt>
                <c:pt idx="3">
                  <c:v>80</c:v>
                </c:pt>
                <c:pt idx="4">
                  <c:v>192</c:v>
                </c:pt>
              </c:numCache>
            </c:numRef>
          </c:val>
        </c:ser>
        <c:gapWidth val="45"/>
        <c:overlap val="0"/>
        <c:axId val="54851901"/>
        <c:axId val="20542102"/>
      </c:barChart>
      <c:catAx>
        <c:axId val="54851901"/>
        <c:scaling>
          <c:orientation val="minMax"/>
        </c:scaling>
        <c:delete val="0"/>
        <c:axPos val="b"/>
        <c:title>
          <c:tx>
            <c:rich>
              <a:bodyPr rot="0"/>
              <a:lstStyle/>
              <a:p>
                <a:pPr>
                  <a:defRPr sz="1300" b="0" u="none" strike="noStrike">
                    <a:solidFill>
                      <a:srgbClr val="000000"/>
                    </a:solidFill>
                    <a:uFillTx/>
                    <a:latin typeface="Arial"/>
                  </a:defRPr>
                </a:pPr>
                <a:r>
                  <a:rPr sz="1000" b="0" u="none" strike="noStrike">
                    <a:solidFill>
                      <a:srgbClr val="5C6B7A"/>
                    </a:solidFill>
                    <a:uFillTx/>
                    <a:latin typeface="Arial"/>
                  </a:rPr>
                  <a:t>N</a:t>
                </a:r>
              </a:p>
            </c:rich>
          </c:tx>
          <c:overlay val="0"/>
          <c:spPr>
            <a:noFill/>
            <a:ln w="0">
              <a:noFill/>
            </a:ln>
          </c:spPr>
        </c:title>
        <c:numFmt formatCode="General" sourceLinked="0"/>
        <c:majorTickMark val="out"/>
        <c:minorTickMark val="none"/>
        <c:tickLblPos val="low"/>
        <c:spPr>
          <a:ln w="12600">
            <a:solidFill>
              <a:srgbClr val="888888"/>
            </a:solidFill>
            <a:round/>
          </a:ln>
        </c:spPr>
        <c:txPr>
          <a:bodyPr/>
          <a:lstStyle/>
          <a:p>
            <a:pPr>
              <a:defRPr sz="1100" b="0" u="none" strike="noStrike">
                <a:solidFill>
                  <a:srgbClr val="000000"/>
                </a:solidFill>
                <a:uFillTx/>
                <a:latin typeface="Calibri"/>
              </a:defRPr>
            </a:pPr>
          </a:p>
        </c:txPr>
        <c:crossAx val="20542102"/>
        <c:crosses val="autoZero"/>
        <c:auto val="1"/>
        <c:lblAlgn val="ctr"/>
        <c:lblOffset val="100"/>
        <c:noMultiLvlLbl val="0"/>
      </c:catAx>
      <c:valAx>
        <c:axId val="20542102"/>
        <c:scaling>
          <c:orientation val="minMax"/>
        </c:scaling>
        <c:delete val="0"/>
        <c:axPos val="l"/>
        <c:majorGridlines>
          <c:spPr>
            <a:ln w="6480">
              <a:solidFill>
                <a:srgbClr val="E2E8F0"/>
              </a:solidFill>
              <a:round/>
            </a:ln>
          </c:spPr>
        </c:majorGridlines>
        <c:numFmt formatCode="General" sourceLinked="0"/>
        <c:majorTickMark val="out"/>
        <c:minorTickMark val="none"/>
        <c:tickLblPos val="nextTo"/>
        <c:spPr>
          <a:ln w="12600">
            <a:solidFill>
              <a:srgbClr val="888888"/>
            </a:solidFill>
            <a:round/>
          </a:ln>
        </c:spPr>
        <c:txPr>
          <a:bodyPr/>
          <a:lstStyle/>
          <a:p>
            <a:pPr>
              <a:defRPr sz="900" b="0" u="none" strike="noStrike">
                <a:solidFill>
                  <a:srgbClr val="000000"/>
                </a:solidFill>
                <a:uFillTx/>
                <a:latin typeface="Calibri"/>
              </a:defRPr>
            </a:pPr>
          </a:p>
        </c:txPr>
        <c:crossAx val="54851901"/>
        <c:crosses val="autoZero"/>
        <c:crossBetween val="between"/>
      </c:valAx>
      <c:spPr>
        <a:noFill/>
        <a:ln w="0">
          <a:noFill/>
        </a:ln>
      </c:spPr>
    </c:plotArea>
    <c:legend>
      <c:legendPos val="b"/>
      <c:overlay val="0"/>
      <c:spPr>
        <a:noFill/>
        <a:ln w="0">
          <a:noFill/>
        </a:ln>
      </c:spPr>
      <c:txPr>
        <a:bodyPr/>
        <a:lstStyle/>
        <a:p>
          <a:pPr>
            <a:defRPr sz="1050" b="0" u="none" strike="noStrike">
              <a:solidFill>
                <a:srgbClr val="000000"/>
              </a:solidFill>
              <a:uFillTx/>
              <a:latin typeface="Calibri"/>
            </a:defRPr>
          </a:pPr>
        </a:p>
      </c:txPr>
    </c:legend>
    <c:plotVisOnly val="1"/>
    <c:dispBlanksAs val="span"/>
  </c:chart>
  <c:spPr>
    <a:noFill/>
    <a:ln w="0">
      <a:noFill/>
    </a:ln>
  </c:spPr>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100" b="0" u="none" strike="noStrike">
                <a:solidFill>
                  <a:srgbClr val="132A4A"/>
                </a:solidFill>
                <a:uFillTx/>
                <a:latin typeface="Arial"/>
              </a:rPr>
              <a:t>Word length needed (bits) after each stage</a:t>
            </a:r>
          </a:p>
        </c:rich>
      </c:tx>
      <c:overlay val="0"/>
      <c:spPr>
        <a:noFill/>
        <a:ln w="0">
          <a:noFill/>
        </a:ln>
      </c:spPr>
    </c:title>
    <c:autoTitleDeleted val="0"/>
    <c:plotArea>
      <c:barChart>
        <c:barDir val="col"/>
        <c:grouping val="stacked"/>
        <c:varyColors val="0"/>
        <c:ser>
          <c:idx val="0"/>
          <c:order val="0"/>
          <c:tx>
            <c:strRef>
              <c:f>label 0</c:f>
              <c:strCache>
                <c:ptCount val="1"/>
                <c:pt idx="0">
                  <c:v>Input width (16 bits)</c:v>
                </c:pt>
              </c:strCache>
            </c:strRef>
          </c:tx>
          <c:spPr>
            <a:solidFill>
              <a:srgbClr val="2F5C8A"/>
            </a:solidFill>
            <a:ln w="0">
              <a:noFill/>
            </a:ln>
          </c:spPr>
          <c:invertIfNegative val="0"/>
          <c:dLbls>
            <c:txPr>
              <a:bodyPr wrap="square"/>
              <a:lstStyle/>
              <a:p>
                <a:pPr>
                  <a:defRPr sz="1200" b="0" u="none" strike="noStrike">
                    <a:solidFill>
                      <a:srgbClr val="000000"/>
                    </a:solidFill>
                    <a:uFillTx/>
                    <a:latin typeface="Arial"/>
                  </a:defRPr>
                </a:pPr>
              </a:p>
            </c:txPr>
            <c:dLblPos val="ctr"/>
            <c:showLegendKey val="0"/>
            <c:showVal val="0"/>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6"/>
                <c:pt idx="0">
                  <c:v>In</c:v>
                </c:pt>
                <c:pt idx="1">
                  <c:v>S1</c:v>
                </c:pt>
                <c:pt idx="2">
                  <c:v>S2</c:v>
                </c:pt>
                <c:pt idx="3">
                  <c:v>S3</c:v>
                </c:pt>
                <c:pt idx="4">
                  <c:v>S4</c:v>
                </c:pt>
                <c:pt idx="5">
                  <c:v>S5</c:v>
                </c:pt>
              </c:strCache>
            </c:strRef>
          </c:cat>
          <c:val>
            <c:numRef>
              <c:f>0</c:f>
              <c:numCache>
                <c:formatCode>General</c:formatCode>
                <c:ptCount val="6"/>
                <c:pt idx="0">
                  <c:v>16</c:v>
                </c:pt>
                <c:pt idx="1">
                  <c:v>16</c:v>
                </c:pt>
                <c:pt idx="2">
                  <c:v>16</c:v>
                </c:pt>
                <c:pt idx="3">
                  <c:v>16</c:v>
                </c:pt>
                <c:pt idx="4">
                  <c:v>16</c:v>
                </c:pt>
                <c:pt idx="5">
                  <c:v>16</c:v>
                </c:pt>
              </c:numCache>
            </c:numRef>
          </c:val>
        </c:ser>
        <c:ser>
          <c:idx val="1"/>
          <c:order val="1"/>
          <c:tx>
            <c:strRef>
              <c:f>label 1</c:f>
              <c:strCache>
                <c:ptCount val="1"/>
                <c:pt idx="0">
                  <c:v>Worst-case growth bits</c:v>
                </c:pt>
              </c:strCache>
            </c:strRef>
          </c:tx>
          <c:spPr>
            <a:solidFill>
              <a:srgbClr val="D98324"/>
            </a:solidFill>
            <a:ln w="0">
              <a:noFill/>
            </a:ln>
          </c:spPr>
          <c:invertIfNegative val="0"/>
          <c:dLbls>
            <c:txPr>
              <a:bodyPr wrap="square"/>
              <a:lstStyle/>
              <a:p>
                <a:pPr>
                  <a:defRPr sz="1200" b="0" u="none" strike="noStrike">
                    <a:solidFill>
                      <a:srgbClr val="000000"/>
                    </a:solidFill>
                    <a:uFillTx/>
                    <a:latin typeface="Arial"/>
                  </a:defRPr>
                </a:pPr>
              </a:p>
            </c:txPr>
            <c:dLblPos val="ctr"/>
            <c:showLegendKey val="0"/>
            <c:showVal val="0"/>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6"/>
                <c:pt idx="0">
                  <c:v>In</c:v>
                </c:pt>
                <c:pt idx="1">
                  <c:v>S1</c:v>
                </c:pt>
                <c:pt idx="2">
                  <c:v>S2</c:v>
                </c:pt>
                <c:pt idx="3">
                  <c:v>S3</c:v>
                </c:pt>
                <c:pt idx="4">
                  <c:v>S4</c:v>
                </c:pt>
                <c:pt idx="5">
                  <c:v>S5</c:v>
                </c:pt>
              </c:strCache>
            </c:strRef>
          </c:cat>
          <c:val>
            <c:numRef>
              <c:f>1</c:f>
              <c:numCache>
                <c:formatCode>General</c:formatCode>
                <c:ptCount val="6"/>
                <c:pt idx="0">
                  <c:v>0</c:v>
                </c:pt>
                <c:pt idx="1">
                  <c:v>1</c:v>
                </c:pt>
                <c:pt idx="2">
                  <c:v>2</c:v>
                </c:pt>
                <c:pt idx="3">
                  <c:v>3</c:v>
                </c:pt>
                <c:pt idx="4">
                  <c:v>4</c:v>
                </c:pt>
                <c:pt idx="5">
                  <c:v>5</c:v>
                </c:pt>
              </c:numCache>
            </c:numRef>
          </c:val>
        </c:ser>
        <c:gapWidth val="50"/>
        <c:overlap val="100"/>
        <c:axId val="82035306"/>
        <c:axId val="46172013"/>
      </c:barChart>
      <c:catAx>
        <c:axId val="82035306"/>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sz="1000" b="0" u="none" strike="noStrike">
                <a:solidFill>
                  <a:srgbClr val="000000"/>
                </a:solidFill>
                <a:uFillTx/>
                <a:latin typeface="Arial"/>
              </a:defRPr>
            </a:pPr>
          </a:p>
        </c:txPr>
        <c:crossAx val="46172013"/>
        <c:crosses val="autoZero"/>
        <c:auto val="1"/>
        <c:lblAlgn val="ctr"/>
        <c:lblOffset val="100"/>
        <c:noMultiLvlLbl val="0"/>
      </c:catAx>
      <c:valAx>
        <c:axId val="46172013"/>
        <c:scaling>
          <c:orientation val="minMax"/>
          <c:max val="22"/>
          <c:min val="0"/>
        </c:scaling>
        <c:delete val="0"/>
        <c:axPos val="l"/>
        <c:majorGridlines>
          <c:spPr>
            <a:ln w="6480">
              <a:solidFill>
                <a:srgbClr val="E2E8F0"/>
              </a:solidFill>
              <a:round/>
            </a:ln>
          </c:spPr>
        </c:majorGridlines>
        <c:numFmt formatCode="General" sourceLinked="0"/>
        <c:majorTickMark val="out"/>
        <c:minorTickMark val="none"/>
        <c:tickLblPos val="nextTo"/>
        <c:spPr>
          <a:ln w="12600">
            <a:solidFill>
              <a:srgbClr val="888888"/>
            </a:solidFill>
            <a:round/>
          </a:ln>
        </c:spPr>
        <c:txPr>
          <a:bodyPr/>
          <a:lstStyle/>
          <a:p>
            <a:pPr>
              <a:defRPr sz="900" b="0" u="none" strike="noStrike">
                <a:solidFill>
                  <a:srgbClr val="000000"/>
                </a:solidFill>
                <a:uFillTx/>
                <a:latin typeface="Arial"/>
              </a:defRPr>
            </a:pPr>
          </a:p>
        </c:txPr>
        <c:crossAx val="82035306"/>
        <c:crosses val="autoZero"/>
        <c:crossBetween val="between"/>
      </c:valAx>
      <c:spPr>
        <a:noFill/>
        <a:ln w="0">
          <a:noFill/>
        </a:ln>
      </c:spPr>
    </c:plotArea>
    <c:legend>
      <c:legendPos val="b"/>
      <c:overlay val="0"/>
      <c:spPr>
        <a:noFill/>
        <a:ln w="0">
          <a:noFill/>
        </a:ln>
      </c:spPr>
      <c:txPr>
        <a:bodyPr/>
        <a:lstStyle/>
        <a:p>
          <a:pPr>
            <a:defRPr sz="1000" b="0" u="none" strike="noStrike">
              <a:solidFill>
                <a:srgbClr val="000000"/>
              </a:solidFill>
              <a:uFillTx/>
              <a:latin typeface="Calibri"/>
            </a:defRPr>
          </a:pPr>
        </a:p>
      </c:txPr>
    </c:legend>
    <c:plotVisOnly val="1"/>
    <c:dispBlanksAs val="span"/>
  </c:chart>
  <c:spPr>
    <a:noFill/>
    <a:ln w="0">
      <a:noFill/>
    </a:ln>
  </c:spPr>
</c:chartSpace>
</file>

<file path=ppt/charts/colors1.xml><?xml version="1.0" encoding="utf-8"?>
<cs:colorStyle xmlns:cs="http://schemas.microsoft.com/office/drawing/2012/chartStyle" xmlns:a="http://schemas.openxmlformats.org/drawingml/2006/main" meth="cycle" id="10">
  <a:schemeClr val="accent1"/>
</cs:colorStyle>
</file>

<file path=ppt/charts/colors2.xml><?xml version="1.0" encoding="utf-8"?>
<cs:colorStyle xmlns:cs="http://schemas.microsoft.com/office/drawing/2012/chartStyle" xmlns:a="http://schemas.openxmlformats.org/drawingml/2006/main" meth="cycle" id="10">
  <a:schemeClr val="accent1"/>
</cs:colorStyle>
</file>

<file path=ppt/charts/style1.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charts/style2.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5"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37D443B2-057C-4B57-8363-E9BC57EDB576}"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8" name="PlaceHolder 1"/>
          <p:cNvSpPr>
            <a:spLocks noGrp="1"/>
          </p:cNvSpPr>
          <p:nvPr>
            <p:ph type="sldImg"/>
          </p:nvPr>
        </p:nvSpPr>
        <p:spPr>
          <a:xfrm>
            <a:off x="685800" y="1143000"/>
            <a:ext cx="5486040" cy="3085920"/>
          </a:xfrm>
          <a:prstGeom prst="rect">
            <a:avLst/>
          </a:prstGeom>
          <a:ln w="0">
            <a:noFill/>
          </a:ln>
        </p:spPr>
      </p:sp>
      <p:sp>
        <p:nvSpPr>
          <p:cNvPr id="121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20"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72C7EBC-BF4A-417A-A8FD-1E724838FDE6}"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1" name="PlaceHolder 1"/>
          <p:cNvSpPr>
            <a:spLocks noGrp="1"/>
          </p:cNvSpPr>
          <p:nvPr>
            <p:ph type="sldImg"/>
          </p:nvPr>
        </p:nvSpPr>
        <p:spPr>
          <a:xfrm>
            <a:off x="685800" y="1143000"/>
            <a:ext cx="5486040" cy="3085920"/>
          </a:xfrm>
          <a:prstGeom prst="rect">
            <a:avLst/>
          </a:prstGeom>
          <a:ln w="0">
            <a:noFill/>
          </a:ln>
        </p:spPr>
      </p:sp>
      <p:sp>
        <p:nvSpPr>
          <p:cNvPr id="122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23"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41F1A71-BE2E-422A-9D04-D6AB7FFE6567}"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4" name="PlaceHolder 1"/>
          <p:cNvSpPr>
            <a:spLocks noGrp="1"/>
          </p:cNvSpPr>
          <p:nvPr>
            <p:ph type="sldImg"/>
          </p:nvPr>
        </p:nvSpPr>
        <p:spPr>
          <a:xfrm>
            <a:off x="685800" y="1143000"/>
            <a:ext cx="5486040" cy="3085920"/>
          </a:xfrm>
          <a:prstGeom prst="rect">
            <a:avLst/>
          </a:prstGeom>
          <a:ln w="0">
            <a:noFill/>
          </a:ln>
        </p:spPr>
      </p:sp>
      <p:sp>
        <p:nvSpPr>
          <p:cNvPr id="122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26"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3EB648D-3AEB-479E-9C91-18BD673EB6E7}"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7" name="PlaceHolder 1"/>
          <p:cNvSpPr>
            <a:spLocks noGrp="1"/>
          </p:cNvSpPr>
          <p:nvPr>
            <p:ph type="sldImg"/>
          </p:nvPr>
        </p:nvSpPr>
        <p:spPr>
          <a:xfrm>
            <a:off x="685800" y="1143000"/>
            <a:ext cx="5486040" cy="3085920"/>
          </a:xfrm>
          <a:prstGeom prst="rect">
            <a:avLst/>
          </a:prstGeom>
          <a:ln w="0">
            <a:noFill/>
          </a:ln>
        </p:spPr>
      </p:sp>
      <p:sp>
        <p:nvSpPr>
          <p:cNvPr id="122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29"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F1C3BC5-6AE2-4815-9530-9C0FB9BBEEA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0" name="PlaceHolder 1"/>
          <p:cNvSpPr>
            <a:spLocks noGrp="1"/>
          </p:cNvSpPr>
          <p:nvPr>
            <p:ph type="sldImg"/>
          </p:nvPr>
        </p:nvSpPr>
        <p:spPr>
          <a:xfrm>
            <a:off x="685800" y="1143000"/>
            <a:ext cx="5486040" cy="3085920"/>
          </a:xfrm>
          <a:prstGeom prst="rect">
            <a:avLst/>
          </a:prstGeom>
          <a:ln w="0">
            <a:noFill/>
          </a:ln>
        </p:spPr>
      </p:sp>
      <p:sp>
        <p:nvSpPr>
          <p:cNvPr id="123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32"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FE14885-1DA4-4ABF-997D-FFB259D88B4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3" name="PlaceHolder 1"/>
          <p:cNvSpPr>
            <a:spLocks noGrp="1"/>
          </p:cNvSpPr>
          <p:nvPr>
            <p:ph type="sldImg"/>
          </p:nvPr>
        </p:nvSpPr>
        <p:spPr>
          <a:xfrm>
            <a:off x="685800" y="1143000"/>
            <a:ext cx="5486040" cy="3085920"/>
          </a:xfrm>
          <a:prstGeom prst="rect">
            <a:avLst/>
          </a:prstGeom>
          <a:ln w="0">
            <a:noFill/>
          </a:ln>
        </p:spPr>
      </p:sp>
      <p:sp>
        <p:nvSpPr>
          <p:cNvPr id="123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35"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1022125-B802-4FD9-BD64-5EACD55E4AE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6" name="PlaceHolder 1"/>
          <p:cNvSpPr>
            <a:spLocks noGrp="1"/>
          </p:cNvSpPr>
          <p:nvPr>
            <p:ph type="sldImg"/>
          </p:nvPr>
        </p:nvSpPr>
        <p:spPr>
          <a:xfrm>
            <a:off x="685800" y="1143000"/>
            <a:ext cx="5486040" cy="3085920"/>
          </a:xfrm>
          <a:prstGeom prst="rect">
            <a:avLst/>
          </a:prstGeom>
          <a:ln w="0">
            <a:noFill/>
          </a:ln>
        </p:spPr>
      </p:sp>
      <p:sp>
        <p:nvSpPr>
          <p:cNvPr id="123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38"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0642D30-349C-46B8-95B6-A6BE8D0D31D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9" name="PlaceHolder 1"/>
          <p:cNvSpPr>
            <a:spLocks noGrp="1"/>
          </p:cNvSpPr>
          <p:nvPr>
            <p:ph type="sldImg"/>
          </p:nvPr>
        </p:nvSpPr>
        <p:spPr>
          <a:xfrm>
            <a:off x="685800" y="1143000"/>
            <a:ext cx="5486040" cy="3085920"/>
          </a:xfrm>
          <a:prstGeom prst="rect">
            <a:avLst/>
          </a:prstGeom>
          <a:ln w="0">
            <a:noFill/>
          </a:ln>
        </p:spPr>
      </p:sp>
      <p:sp>
        <p:nvSpPr>
          <p:cNvPr id="124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41"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CDA6E5A-5DC0-4AA0-BEA8-4C3425DCE00F}"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2" name="PlaceHolder 1"/>
          <p:cNvSpPr>
            <a:spLocks noGrp="1"/>
          </p:cNvSpPr>
          <p:nvPr>
            <p:ph type="sldImg"/>
          </p:nvPr>
        </p:nvSpPr>
        <p:spPr>
          <a:xfrm>
            <a:off x="685800" y="1143000"/>
            <a:ext cx="5486040" cy="3085920"/>
          </a:xfrm>
          <a:prstGeom prst="rect">
            <a:avLst/>
          </a:prstGeom>
          <a:ln w="0">
            <a:noFill/>
          </a:ln>
        </p:spPr>
      </p:sp>
      <p:sp>
        <p:nvSpPr>
          <p:cNvPr id="124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44"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0794D69-6B99-41D2-9F27-0CDED37FDF0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5" name="PlaceHolder 1"/>
          <p:cNvSpPr>
            <a:spLocks noGrp="1"/>
          </p:cNvSpPr>
          <p:nvPr>
            <p:ph type="sldImg"/>
          </p:nvPr>
        </p:nvSpPr>
        <p:spPr>
          <a:xfrm>
            <a:off x="685800" y="1143000"/>
            <a:ext cx="5486040" cy="3085920"/>
          </a:xfrm>
          <a:prstGeom prst="rect">
            <a:avLst/>
          </a:prstGeom>
          <a:ln w="0">
            <a:noFill/>
          </a:ln>
        </p:spPr>
      </p:sp>
      <p:sp>
        <p:nvSpPr>
          <p:cNvPr id="124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47"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38AC2D9-C32D-4401-B859-E9A31D0CE0D2}"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8" name="PlaceHolder 1"/>
          <p:cNvSpPr>
            <a:spLocks noGrp="1"/>
          </p:cNvSpPr>
          <p:nvPr>
            <p:ph type="sldImg"/>
          </p:nvPr>
        </p:nvSpPr>
        <p:spPr>
          <a:xfrm>
            <a:off x="685800" y="1143000"/>
            <a:ext cx="5486040" cy="3085920"/>
          </a:xfrm>
          <a:prstGeom prst="rect">
            <a:avLst/>
          </a:prstGeom>
          <a:ln w="0">
            <a:noFill/>
          </a:ln>
        </p:spPr>
      </p:sp>
      <p:sp>
        <p:nvSpPr>
          <p:cNvPr id="124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50"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1263B1A-9D43-420E-B01A-8921375E6139}"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1" name="PlaceHolder 1"/>
          <p:cNvSpPr>
            <a:spLocks noGrp="1"/>
          </p:cNvSpPr>
          <p:nvPr>
            <p:ph type="sldImg"/>
          </p:nvPr>
        </p:nvSpPr>
        <p:spPr>
          <a:xfrm>
            <a:off x="685800" y="1143000"/>
            <a:ext cx="5486040" cy="3085920"/>
          </a:xfrm>
          <a:prstGeom prst="rect">
            <a:avLst/>
          </a:prstGeom>
          <a:ln w="0">
            <a:noFill/>
          </a:ln>
        </p:spPr>
      </p:sp>
      <p:sp>
        <p:nvSpPr>
          <p:cNvPr id="125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53"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55F80F7-8AD8-4B6B-94E6-C7369A86F037}"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4" name="PlaceHolder 1"/>
          <p:cNvSpPr>
            <a:spLocks noGrp="1"/>
          </p:cNvSpPr>
          <p:nvPr>
            <p:ph type="sldImg"/>
          </p:nvPr>
        </p:nvSpPr>
        <p:spPr>
          <a:xfrm>
            <a:off x="685800" y="1143000"/>
            <a:ext cx="5486040" cy="3085920"/>
          </a:xfrm>
          <a:prstGeom prst="rect">
            <a:avLst/>
          </a:prstGeom>
          <a:ln w="0">
            <a:noFill/>
          </a:ln>
        </p:spPr>
      </p:sp>
      <p:sp>
        <p:nvSpPr>
          <p:cNvPr id="125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56"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138072C-B229-4E8B-9CF9-6F209E7307B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7" name="PlaceHolder 1"/>
          <p:cNvSpPr>
            <a:spLocks noGrp="1"/>
          </p:cNvSpPr>
          <p:nvPr>
            <p:ph type="sldImg"/>
          </p:nvPr>
        </p:nvSpPr>
        <p:spPr>
          <a:xfrm>
            <a:off x="685800" y="1143000"/>
            <a:ext cx="5486040" cy="3085920"/>
          </a:xfrm>
          <a:prstGeom prst="rect">
            <a:avLst/>
          </a:prstGeom>
          <a:ln w="0">
            <a:noFill/>
          </a:ln>
        </p:spPr>
      </p:sp>
      <p:sp>
        <p:nvSpPr>
          <p:cNvPr id="125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59"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E50CDF9-036B-4035-A7A5-D384B7E92388}"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0" name="PlaceHolder 1"/>
          <p:cNvSpPr>
            <a:spLocks noGrp="1"/>
          </p:cNvSpPr>
          <p:nvPr>
            <p:ph type="sldImg"/>
          </p:nvPr>
        </p:nvSpPr>
        <p:spPr>
          <a:xfrm>
            <a:off x="685800" y="1143000"/>
            <a:ext cx="5486040" cy="3085920"/>
          </a:xfrm>
          <a:prstGeom prst="rect">
            <a:avLst/>
          </a:prstGeom>
          <a:ln w="0">
            <a:noFill/>
          </a:ln>
        </p:spPr>
      </p:sp>
      <p:sp>
        <p:nvSpPr>
          <p:cNvPr id="126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62"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A9B1622-A4FF-4156-81BD-AA188EC132D2}"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3" name="PlaceHolder 1"/>
          <p:cNvSpPr>
            <a:spLocks noGrp="1"/>
          </p:cNvSpPr>
          <p:nvPr>
            <p:ph type="sldImg"/>
          </p:nvPr>
        </p:nvSpPr>
        <p:spPr>
          <a:xfrm>
            <a:off x="685800" y="1143000"/>
            <a:ext cx="5486040" cy="3085920"/>
          </a:xfrm>
          <a:prstGeom prst="rect">
            <a:avLst/>
          </a:prstGeom>
          <a:ln w="0">
            <a:noFill/>
          </a:ln>
        </p:spPr>
      </p:sp>
      <p:sp>
        <p:nvSpPr>
          <p:cNvPr id="126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65"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D4959AF-88E5-49BD-BF8C-68C10FE16F0F}"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6" name="PlaceHolder 1"/>
          <p:cNvSpPr>
            <a:spLocks noGrp="1"/>
          </p:cNvSpPr>
          <p:nvPr>
            <p:ph type="sldImg"/>
          </p:nvPr>
        </p:nvSpPr>
        <p:spPr>
          <a:xfrm>
            <a:off x="685800" y="1143000"/>
            <a:ext cx="5486040" cy="3085920"/>
          </a:xfrm>
          <a:prstGeom prst="rect">
            <a:avLst/>
          </a:prstGeom>
          <a:ln w="0">
            <a:noFill/>
          </a:ln>
        </p:spPr>
      </p:sp>
      <p:sp>
        <p:nvSpPr>
          <p:cNvPr id="126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68"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67ED035-121F-46BF-A96E-C47C51D1BE8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9" name="PlaceHolder 1"/>
          <p:cNvSpPr>
            <a:spLocks noGrp="1"/>
          </p:cNvSpPr>
          <p:nvPr>
            <p:ph type="sldImg"/>
          </p:nvPr>
        </p:nvSpPr>
        <p:spPr>
          <a:xfrm>
            <a:off x="685800" y="1143000"/>
            <a:ext cx="5486040" cy="3085920"/>
          </a:xfrm>
          <a:prstGeom prst="rect">
            <a:avLst/>
          </a:prstGeom>
          <a:ln w="0">
            <a:noFill/>
          </a:ln>
        </p:spPr>
      </p:sp>
      <p:sp>
        <p:nvSpPr>
          <p:cNvPr id="127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71"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FDFF1FB-0C4C-4C10-92B8-100DAAEBB12C}"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2" name="PlaceHolder 1"/>
          <p:cNvSpPr>
            <a:spLocks noGrp="1"/>
          </p:cNvSpPr>
          <p:nvPr>
            <p:ph type="sldImg"/>
          </p:nvPr>
        </p:nvSpPr>
        <p:spPr>
          <a:xfrm>
            <a:off x="685800" y="1143000"/>
            <a:ext cx="5486040" cy="3085920"/>
          </a:xfrm>
          <a:prstGeom prst="rect">
            <a:avLst/>
          </a:prstGeom>
          <a:ln w="0">
            <a:noFill/>
          </a:ln>
        </p:spPr>
      </p:sp>
      <p:sp>
        <p:nvSpPr>
          <p:cNvPr id="127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74"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44D1567-7946-4E3F-B186-787A9E2AB07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5" name="PlaceHolder 1"/>
          <p:cNvSpPr>
            <a:spLocks noGrp="1"/>
          </p:cNvSpPr>
          <p:nvPr>
            <p:ph type="sldImg"/>
          </p:nvPr>
        </p:nvSpPr>
        <p:spPr>
          <a:xfrm>
            <a:off x="685800" y="1143000"/>
            <a:ext cx="5486040" cy="3085920"/>
          </a:xfrm>
          <a:prstGeom prst="rect">
            <a:avLst/>
          </a:prstGeom>
          <a:ln w="0">
            <a:noFill/>
          </a:ln>
        </p:spPr>
      </p:sp>
      <p:sp>
        <p:nvSpPr>
          <p:cNvPr id="127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77"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2910896-0B06-4F96-B44C-2B66CDA0B76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8" name="PlaceHolder 1"/>
          <p:cNvSpPr>
            <a:spLocks noGrp="1"/>
          </p:cNvSpPr>
          <p:nvPr>
            <p:ph type="sldImg"/>
          </p:nvPr>
        </p:nvSpPr>
        <p:spPr>
          <a:xfrm>
            <a:off x="685800" y="1143000"/>
            <a:ext cx="5486040" cy="3085920"/>
          </a:xfrm>
          <a:prstGeom prst="rect">
            <a:avLst/>
          </a:prstGeom>
          <a:ln w="0">
            <a:noFill/>
          </a:ln>
        </p:spPr>
      </p:sp>
      <p:sp>
        <p:nvSpPr>
          <p:cNvPr id="127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80"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650188D-9014-483B-971D-C1BCE4F7908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1" name="PlaceHolder 1"/>
          <p:cNvSpPr>
            <a:spLocks noGrp="1"/>
          </p:cNvSpPr>
          <p:nvPr>
            <p:ph type="sldImg"/>
          </p:nvPr>
        </p:nvSpPr>
        <p:spPr>
          <a:xfrm>
            <a:off x="685800" y="1143000"/>
            <a:ext cx="5486040" cy="3085920"/>
          </a:xfrm>
          <a:prstGeom prst="rect">
            <a:avLst/>
          </a:prstGeom>
          <a:ln w="0">
            <a:noFill/>
          </a:ln>
        </p:spPr>
      </p:sp>
      <p:sp>
        <p:nvSpPr>
          <p:cNvPr id="128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83"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FFF90E6-BE10-40E4-A596-B10E7479124A}"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4" name="PlaceHolder 1"/>
          <p:cNvSpPr>
            <a:spLocks noGrp="1"/>
          </p:cNvSpPr>
          <p:nvPr>
            <p:ph type="sldImg"/>
          </p:nvPr>
        </p:nvSpPr>
        <p:spPr>
          <a:xfrm>
            <a:off x="685800" y="1143000"/>
            <a:ext cx="5486040" cy="3085920"/>
          </a:xfrm>
          <a:prstGeom prst="rect">
            <a:avLst/>
          </a:prstGeom>
          <a:ln w="0">
            <a:noFill/>
          </a:ln>
        </p:spPr>
      </p:sp>
      <p:sp>
        <p:nvSpPr>
          <p:cNvPr id="128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86"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4A78110-645F-471E-8615-74569BBE5E6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7" name="PlaceHolder 1"/>
          <p:cNvSpPr>
            <a:spLocks noGrp="1"/>
          </p:cNvSpPr>
          <p:nvPr>
            <p:ph type="sldImg"/>
          </p:nvPr>
        </p:nvSpPr>
        <p:spPr>
          <a:xfrm>
            <a:off x="685800" y="1143000"/>
            <a:ext cx="5486040" cy="3085920"/>
          </a:xfrm>
          <a:prstGeom prst="rect">
            <a:avLst/>
          </a:prstGeom>
          <a:ln w="0">
            <a:noFill/>
          </a:ln>
        </p:spPr>
      </p:sp>
      <p:sp>
        <p:nvSpPr>
          <p:cNvPr id="128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89"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7A91E34-80B1-4EDB-A440-F7284998123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0" name="PlaceHolder 1"/>
          <p:cNvSpPr>
            <a:spLocks noGrp="1"/>
          </p:cNvSpPr>
          <p:nvPr>
            <p:ph type="sldImg"/>
          </p:nvPr>
        </p:nvSpPr>
        <p:spPr>
          <a:xfrm>
            <a:off x="685800" y="1143000"/>
            <a:ext cx="5486040" cy="3085920"/>
          </a:xfrm>
          <a:prstGeom prst="rect">
            <a:avLst/>
          </a:prstGeom>
          <a:ln w="0">
            <a:noFill/>
          </a:ln>
        </p:spPr>
      </p:sp>
      <p:sp>
        <p:nvSpPr>
          <p:cNvPr id="129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92" name="PlaceHolder 3"/>
          <p:cNvSpPr>
            <a:spLocks noGrp="1"/>
          </p:cNvSpPr>
          <p:nvPr>
            <p:ph type="sldNum" idx="2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11A7E92-9784-4B68-BD50-51E8C2DE1C9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3" name="PlaceHolder 1"/>
          <p:cNvSpPr>
            <a:spLocks noGrp="1"/>
          </p:cNvSpPr>
          <p:nvPr>
            <p:ph type="sldImg"/>
          </p:nvPr>
        </p:nvSpPr>
        <p:spPr>
          <a:xfrm>
            <a:off x="685800" y="1143000"/>
            <a:ext cx="5486040" cy="3085920"/>
          </a:xfrm>
          <a:prstGeom prst="rect">
            <a:avLst/>
          </a:prstGeom>
          <a:ln w="0">
            <a:noFill/>
          </a:ln>
        </p:spPr>
      </p:sp>
      <p:sp>
        <p:nvSpPr>
          <p:cNvPr id="129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95" name="PlaceHolder 3"/>
          <p:cNvSpPr>
            <a:spLocks noGrp="1"/>
          </p:cNvSpPr>
          <p:nvPr>
            <p:ph type="sldNum" idx="2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E055E67-E9E9-4605-AE21-80AAF42FAB8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6" name="PlaceHolder 1"/>
          <p:cNvSpPr>
            <a:spLocks noGrp="1"/>
          </p:cNvSpPr>
          <p:nvPr>
            <p:ph type="sldImg"/>
          </p:nvPr>
        </p:nvSpPr>
        <p:spPr>
          <a:xfrm>
            <a:off x="685800" y="1143000"/>
            <a:ext cx="5486040" cy="3085920"/>
          </a:xfrm>
          <a:prstGeom prst="rect">
            <a:avLst/>
          </a:prstGeom>
          <a:ln w="0">
            <a:noFill/>
          </a:ln>
        </p:spPr>
      </p:sp>
      <p:sp>
        <p:nvSpPr>
          <p:cNvPr id="129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98" name="PlaceHolder 3"/>
          <p:cNvSpPr>
            <a:spLocks noGrp="1"/>
          </p:cNvSpPr>
          <p:nvPr>
            <p:ph type="sldNum" idx="3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7C4E835-45BA-4DA6-A568-69514EE3279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9" name="PlaceHolder 1"/>
          <p:cNvSpPr>
            <a:spLocks noGrp="1"/>
          </p:cNvSpPr>
          <p:nvPr>
            <p:ph type="sldImg"/>
          </p:nvPr>
        </p:nvSpPr>
        <p:spPr>
          <a:xfrm>
            <a:off x="685800" y="1143000"/>
            <a:ext cx="5486040" cy="3085920"/>
          </a:xfrm>
          <a:prstGeom prst="rect">
            <a:avLst/>
          </a:prstGeom>
          <a:ln w="0">
            <a:noFill/>
          </a:ln>
        </p:spPr>
      </p:sp>
      <p:sp>
        <p:nvSpPr>
          <p:cNvPr id="130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01" name="PlaceHolder 3"/>
          <p:cNvSpPr>
            <a:spLocks noGrp="1"/>
          </p:cNvSpPr>
          <p:nvPr>
            <p:ph type="sldNum" idx="3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64AC355-2111-4AC4-8A83-9E016325DFB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2" name="PlaceHolder 1"/>
          <p:cNvSpPr>
            <a:spLocks noGrp="1"/>
          </p:cNvSpPr>
          <p:nvPr>
            <p:ph type="sldImg"/>
          </p:nvPr>
        </p:nvSpPr>
        <p:spPr>
          <a:xfrm>
            <a:off x="685800" y="1143000"/>
            <a:ext cx="5486040" cy="3085920"/>
          </a:xfrm>
          <a:prstGeom prst="rect">
            <a:avLst/>
          </a:prstGeom>
          <a:ln w="0">
            <a:noFill/>
          </a:ln>
        </p:spPr>
      </p:sp>
      <p:sp>
        <p:nvSpPr>
          <p:cNvPr id="130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04" name="PlaceHolder 3"/>
          <p:cNvSpPr>
            <a:spLocks noGrp="1"/>
          </p:cNvSpPr>
          <p:nvPr>
            <p:ph type="sldNum" idx="3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AB4BF0E-34BD-4E4C-822A-B8D6D3C410D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5" name="PlaceHolder 1"/>
          <p:cNvSpPr>
            <a:spLocks noGrp="1"/>
          </p:cNvSpPr>
          <p:nvPr>
            <p:ph type="sldImg"/>
          </p:nvPr>
        </p:nvSpPr>
        <p:spPr>
          <a:xfrm>
            <a:off x="685800" y="1143000"/>
            <a:ext cx="5486040" cy="3085920"/>
          </a:xfrm>
          <a:prstGeom prst="rect">
            <a:avLst/>
          </a:prstGeom>
          <a:ln w="0">
            <a:noFill/>
          </a:ln>
        </p:spPr>
      </p:sp>
      <p:sp>
        <p:nvSpPr>
          <p:cNvPr id="130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07" name="PlaceHolder 3"/>
          <p:cNvSpPr>
            <a:spLocks noGrp="1"/>
          </p:cNvSpPr>
          <p:nvPr>
            <p:ph type="sldNum" idx="3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1D73869-215E-4C12-8068-1DC458FAB27E}"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8" name="PlaceHolder 1"/>
          <p:cNvSpPr>
            <a:spLocks noGrp="1"/>
          </p:cNvSpPr>
          <p:nvPr>
            <p:ph type="sldImg"/>
          </p:nvPr>
        </p:nvSpPr>
        <p:spPr>
          <a:xfrm>
            <a:off x="685800" y="1143000"/>
            <a:ext cx="5486040" cy="3085920"/>
          </a:xfrm>
          <a:prstGeom prst="rect">
            <a:avLst/>
          </a:prstGeom>
          <a:ln w="0">
            <a:noFill/>
          </a:ln>
        </p:spPr>
      </p:sp>
      <p:sp>
        <p:nvSpPr>
          <p:cNvPr id="130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10" name="PlaceHolder 3"/>
          <p:cNvSpPr>
            <a:spLocks noGrp="1"/>
          </p:cNvSpPr>
          <p:nvPr>
            <p:ph type="sldNum" idx="3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3614F3E-E65C-4718-AA2B-220E0A96375D}"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1" name="PlaceHolder 1"/>
          <p:cNvSpPr>
            <a:spLocks noGrp="1"/>
          </p:cNvSpPr>
          <p:nvPr>
            <p:ph type="sldImg"/>
          </p:nvPr>
        </p:nvSpPr>
        <p:spPr>
          <a:xfrm>
            <a:off x="685800" y="1143000"/>
            <a:ext cx="5486040" cy="3085920"/>
          </a:xfrm>
          <a:prstGeom prst="rect">
            <a:avLst/>
          </a:prstGeom>
          <a:ln w="0">
            <a:noFill/>
          </a:ln>
        </p:spPr>
      </p:sp>
      <p:sp>
        <p:nvSpPr>
          <p:cNvPr id="131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13" name="PlaceHolder 3"/>
          <p:cNvSpPr>
            <a:spLocks noGrp="1"/>
          </p:cNvSpPr>
          <p:nvPr>
            <p:ph type="sldNum" idx="3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FBA4CC9-DA6F-4BA6-BF72-FAFC3C86E44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4" name="PlaceHolder 1"/>
          <p:cNvSpPr>
            <a:spLocks noGrp="1"/>
          </p:cNvSpPr>
          <p:nvPr>
            <p:ph type="sldImg"/>
          </p:nvPr>
        </p:nvSpPr>
        <p:spPr>
          <a:xfrm>
            <a:off x="685800" y="1143000"/>
            <a:ext cx="5486040" cy="3085920"/>
          </a:xfrm>
          <a:prstGeom prst="rect">
            <a:avLst/>
          </a:prstGeom>
          <a:ln w="0">
            <a:noFill/>
          </a:ln>
        </p:spPr>
      </p:sp>
      <p:sp>
        <p:nvSpPr>
          <p:cNvPr id="131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16" name="PlaceHolder 3"/>
          <p:cNvSpPr>
            <a:spLocks noGrp="1"/>
          </p:cNvSpPr>
          <p:nvPr>
            <p:ph type="sldNum" idx="3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C830E03-BB2E-4513-9FB0-B4A5A73E2F9B}"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7" name="PlaceHolder 1"/>
          <p:cNvSpPr>
            <a:spLocks noGrp="1"/>
          </p:cNvSpPr>
          <p:nvPr>
            <p:ph type="sldImg"/>
          </p:nvPr>
        </p:nvSpPr>
        <p:spPr>
          <a:xfrm>
            <a:off x="685800" y="1143000"/>
            <a:ext cx="5486040" cy="3085920"/>
          </a:xfrm>
          <a:prstGeom prst="rect">
            <a:avLst/>
          </a:prstGeom>
          <a:ln w="0">
            <a:noFill/>
          </a:ln>
        </p:spPr>
      </p:sp>
      <p:sp>
        <p:nvSpPr>
          <p:cNvPr id="131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19"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F7F8D9E-79A8-4FE9-BAF2-9BA995D1812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0" name="PlaceHolder 1"/>
          <p:cNvSpPr>
            <a:spLocks noGrp="1"/>
          </p:cNvSpPr>
          <p:nvPr>
            <p:ph type="sldImg"/>
          </p:nvPr>
        </p:nvSpPr>
        <p:spPr>
          <a:xfrm>
            <a:off x="685800" y="1143000"/>
            <a:ext cx="5486040" cy="3085920"/>
          </a:xfrm>
          <a:prstGeom prst="rect">
            <a:avLst/>
          </a:prstGeom>
          <a:ln w="0">
            <a:noFill/>
          </a:ln>
        </p:spPr>
      </p:sp>
      <p:sp>
        <p:nvSpPr>
          <p:cNvPr id="132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22"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B1114A9-60F3-4BB9-8E1B-7C4095BE160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3" name="PlaceHolder 1"/>
          <p:cNvSpPr>
            <a:spLocks noGrp="1"/>
          </p:cNvSpPr>
          <p:nvPr>
            <p:ph type="sldImg"/>
          </p:nvPr>
        </p:nvSpPr>
        <p:spPr>
          <a:xfrm>
            <a:off x="685800" y="1143000"/>
            <a:ext cx="5486040" cy="3085920"/>
          </a:xfrm>
          <a:prstGeom prst="rect">
            <a:avLst/>
          </a:prstGeom>
          <a:ln w="0">
            <a:noFill/>
          </a:ln>
        </p:spPr>
      </p:sp>
      <p:sp>
        <p:nvSpPr>
          <p:cNvPr id="132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25"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C51B2E7-D509-4DEF-AC68-A2B9CF2282C5}"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6" name="PlaceHolder 1"/>
          <p:cNvSpPr>
            <a:spLocks noGrp="1"/>
          </p:cNvSpPr>
          <p:nvPr>
            <p:ph type="sldImg"/>
          </p:nvPr>
        </p:nvSpPr>
        <p:spPr>
          <a:xfrm>
            <a:off x="685800" y="1143000"/>
            <a:ext cx="5486040" cy="3085920"/>
          </a:xfrm>
          <a:prstGeom prst="rect">
            <a:avLst/>
          </a:prstGeom>
          <a:ln w="0">
            <a:noFill/>
          </a:ln>
        </p:spPr>
      </p:sp>
      <p:sp>
        <p:nvSpPr>
          <p:cNvPr id="132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28"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4E58210-66A7-472B-9E4E-E9473C1C2B4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9" name="PlaceHolder 1"/>
          <p:cNvSpPr>
            <a:spLocks noGrp="1"/>
          </p:cNvSpPr>
          <p:nvPr>
            <p:ph type="sldImg"/>
          </p:nvPr>
        </p:nvSpPr>
        <p:spPr>
          <a:xfrm>
            <a:off x="685800" y="1143000"/>
            <a:ext cx="5486040" cy="3085920"/>
          </a:xfrm>
          <a:prstGeom prst="rect">
            <a:avLst/>
          </a:prstGeom>
          <a:ln w="0">
            <a:noFill/>
          </a:ln>
        </p:spPr>
      </p:sp>
      <p:sp>
        <p:nvSpPr>
          <p:cNvPr id="133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31"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BAF4EBB-FC64-46C8-A056-AA830824C22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2" name="PlaceHolder 1"/>
          <p:cNvSpPr>
            <a:spLocks noGrp="1"/>
          </p:cNvSpPr>
          <p:nvPr>
            <p:ph type="sldImg"/>
          </p:nvPr>
        </p:nvSpPr>
        <p:spPr>
          <a:xfrm>
            <a:off x="685800" y="1143000"/>
            <a:ext cx="5486040" cy="3085920"/>
          </a:xfrm>
          <a:prstGeom prst="rect">
            <a:avLst/>
          </a:prstGeom>
          <a:ln w="0">
            <a:noFill/>
          </a:ln>
        </p:spPr>
      </p:sp>
      <p:sp>
        <p:nvSpPr>
          <p:cNvPr id="133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34"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A82B975-6540-4BB4-A80F-378068D22EB5}"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5" name="PlaceHolder 1"/>
          <p:cNvSpPr>
            <a:spLocks noGrp="1"/>
          </p:cNvSpPr>
          <p:nvPr>
            <p:ph type="sldImg"/>
          </p:nvPr>
        </p:nvSpPr>
        <p:spPr>
          <a:xfrm>
            <a:off x="685800" y="1143000"/>
            <a:ext cx="5486040" cy="3085920"/>
          </a:xfrm>
          <a:prstGeom prst="rect">
            <a:avLst/>
          </a:prstGeom>
          <a:ln w="0">
            <a:noFill/>
          </a:ln>
        </p:spPr>
      </p:sp>
      <p:sp>
        <p:nvSpPr>
          <p:cNvPr id="133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37"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0EFC96D-63D4-431F-87C1-5E343939F10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8" name="PlaceHolder 1"/>
          <p:cNvSpPr>
            <a:spLocks noGrp="1"/>
          </p:cNvSpPr>
          <p:nvPr>
            <p:ph type="sldImg"/>
          </p:nvPr>
        </p:nvSpPr>
        <p:spPr>
          <a:xfrm>
            <a:off x="685800" y="1143000"/>
            <a:ext cx="5486040" cy="3085920"/>
          </a:xfrm>
          <a:prstGeom prst="rect">
            <a:avLst/>
          </a:prstGeom>
          <a:ln w="0">
            <a:noFill/>
          </a:ln>
        </p:spPr>
      </p:sp>
      <p:sp>
        <p:nvSpPr>
          <p:cNvPr id="133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40" name="PlaceHolder 3"/>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6217CF1-8B23-43D5-AC5F-4E99EE66E3F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1" name="PlaceHolder 1"/>
          <p:cNvSpPr>
            <a:spLocks noGrp="1"/>
          </p:cNvSpPr>
          <p:nvPr>
            <p:ph type="sldImg"/>
          </p:nvPr>
        </p:nvSpPr>
        <p:spPr>
          <a:xfrm>
            <a:off x="685800" y="1143000"/>
            <a:ext cx="5486040" cy="3085920"/>
          </a:xfrm>
          <a:prstGeom prst="rect">
            <a:avLst/>
          </a:prstGeom>
          <a:ln w="0">
            <a:noFill/>
          </a:ln>
        </p:spPr>
      </p:sp>
      <p:sp>
        <p:nvSpPr>
          <p:cNvPr id="134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43" name="PlaceHolder 3"/>
          <p:cNvSpPr>
            <a:spLocks noGrp="1"/>
          </p:cNvSpPr>
          <p:nvPr>
            <p:ph type="sldNum" idx="4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DFEFA92-BBBD-4BCB-BB02-A894CA26304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32A4A"/>
        </a:solidFill>
      </p:bgPr>
    </p:bg>
    <p:spTree>
      <p:nvGrpSpPr>
        <p:cNvPr id="1" name=""/>
        <p:cNvGrpSpPr/>
        <p:nvPr/>
      </p:nvGrpSpPr>
      <p:grpSpPr>
        <a:xfrm>
          <a:off x="0" y="0"/>
          <a:ext cx="0" cy="0"/>
          <a:chOff x="0" y="0"/>
          <a:chExt cx="0" cy="0"/>
        </a:xfrm>
      </p:grpSpPr>
      <p:sp>
        <p:nvSpPr>
          <p:cNvPr id="10" name="Text 0"/>
          <p:cNvSpPr/>
          <p:nvPr/>
        </p:nvSpPr>
        <p:spPr>
          <a:xfrm>
            <a:off x="502920" y="2331720"/>
            <a:ext cx="1115532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pc="249" strike="noStrike">
                <a:solidFill>
                  <a:srgbClr val="9FD4D1"/>
                </a:solidFill>
                <a:effectLst/>
                <a:uFillTx/>
                <a:latin typeface="Calibri"/>
                <a:ea typeface="Calibri"/>
              </a:rPr>
              <a:t>DIGITAL SIGNAL PROCESSING</a:t>
            </a:r>
            <a:endParaRPr lang="en-US" sz="1300" b="0" u="none" strike="noStrike">
              <a:solidFill>
                <a:srgbClr val="FFFFFF"/>
              </a:solidFill>
              <a:effectLst/>
              <a:uFillTx/>
              <a:latin typeface="Arial"/>
            </a:endParaRPr>
          </a:p>
        </p:txBody>
      </p:sp>
      <p:sp>
        <p:nvSpPr>
          <p:cNvPr id="11" name="Text 1"/>
          <p:cNvSpPr/>
          <p:nvPr/>
        </p:nvSpPr>
        <p:spPr>
          <a:xfrm>
            <a:off x="502920" y="2697480"/>
            <a:ext cx="11155320" cy="10054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200" b="1" u="none" strike="noStrike">
                <a:solidFill>
                  <a:srgbClr val="FFFFFF"/>
                </a:solidFill>
                <a:effectLst/>
                <a:uFillTx/>
                <a:latin typeface="Cambria"/>
                <a:ea typeface="Cambria"/>
              </a:rPr>
              <a:t>Radix-2 FFT</a:t>
            </a:r>
            <a:endParaRPr lang="en-US" sz="4200" b="0" u="none" strike="noStrike">
              <a:solidFill>
                <a:srgbClr val="FFFFFF"/>
              </a:solidFill>
              <a:effectLst/>
              <a:uFillTx/>
              <a:latin typeface="Arial"/>
            </a:endParaRPr>
          </a:p>
        </p:txBody>
      </p:sp>
      <p:sp>
        <p:nvSpPr>
          <p:cNvPr id="12" name="Shape 3"/>
          <p:cNvSpPr/>
          <p:nvPr/>
        </p:nvSpPr>
        <p:spPr>
          <a:xfrm>
            <a:off x="457200" y="3657240"/>
            <a:ext cx="2971800" cy="360"/>
          </a:xfrm>
          <a:prstGeom prst="line">
            <a:avLst/>
          </a:prstGeom>
          <a:ln w="31750">
            <a:solidFill>
              <a:srgbClr val="0E838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13" name="Text 4"/>
          <p:cNvSpPr/>
          <p:nvPr/>
        </p:nvSpPr>
        <p:spPr>
          <a:xfrm>
            <a:off x="502920" y="6035040"/>
            <a:ext cx="1115532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0" i="1" u="none" strike="noStrike">
                <a:solidFill>
                  <a:srgbClr val="5C6B7A"/>
                </a:solidFill>
                <a:effectLst/>
                <a:uFillTx/>
                <a:latin typeface="Calibri"/>
                <a:ea typeface="Calibri"/>
              </a:rPr>
              <a:t>Eng. Mostafa Ihab</a:t>
            </a:r>
            <a:endParaRPr lang="en-US" sz="11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14"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1 · WHY FFT?</a:t>
            </a:r>
            <a:endParaRPr lang="en-US" sz="1150" b="0" u="none" strike="noStrike">
              <a:solidFill>
                <a:srgbClr val="000000"/>
              </a:solidFill>
              <a:effectLst/>
              <a:uFillTx/>
              <a:latin typeface="Arial"/>
            </a:endParaRPr>
          </a:p>
        </p:txBody>
      </p:sp>
      <p:sp>
        <p:nvSpPr>
          <p:cNvPr id="15"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The N-Point Discrete Fourier Transform</a:t>
            </a:r>
            <a:endParaRPr lang="en-US" sz="2600" b="0" u="none" strike="noStrike">
              <a:solidFill>
                <a:srgbClr val="000000"/>
              </a:solidFill>
              <a:effectLst/>
              <a:uFillTx/>
              <a:latin typeface="Arial"/>
            </a:endParaRPr>
          </a:p>
        </p:txBody>
      </p:sp>
      <p:sp>
        <p:nvSpPr>
          <p:cNvPr id="16" name="Shape 2"/>
          <p:cNvSpPr/>
          <p:nvPr/>
        </p:nvSpPr>
        <p:spPr>
          <a:xfrm>
            <a:off x="502920" y="1234440"/>
            <a:ext cx="5394600" cy="914040"/>
          </a:xfrm>
          <a:prstGeom prst="roundRect">
            <a:avLst>
              <a:gd name="adj" fmla="val 6000"/>
            </a:avLst>
          </a:prstGeom>
          <a:solidFill>
            <a:srgbClr val="132A4A"/>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7" name="Text 3"/>
          <p:cNvSpPr/>
          <p:nvPr/>
        </p:nvSpPr>
        <p:spPr>
          <a:xfrm>
            <a:off x="502920" y="1234440"/>
            <a:ext cx="5394600" cy="914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200" b="1" u="none" strike="noStrike">
                <a:solidFill>
                  <a:srgbClr val="FFFFFF"/>
                </a:solidFill>
                <a:effectLst/>
                <a:uFillTx/>
                <a:latin typeface="Cambria"/>
                <a:ea typeface="Cambria"/>
              </a:rPr>
              <a:t>X</a:t>
            </a:r>
            <a:r>
              <a:rPr lang="en-US" sz="2200" b="1" u="none" strike="noStrike" baseline="-40000">
                <a:solidFill>
                  <a:srgbClr val="FFFFFF"/>
                </a:solidFill>
                <a:effectLst/>
                <a:uFillTx/>
                <a:latin typeface="Cambria"/>
                <a:ea typeface="Cambria"/>
              </a:rPr>
              <a:t>k</a:t>
            </a:r>
            <a:r>
              <a:rPr lang="en-US" sz="2200" b="1" u="none" strike="noStrike">
                <a:solidFill>
                  <a:srgbClr val="FFFFFF"/>
                </a:solidFill>
                <a:effectLst/>
                <a:uFillTx/>
                <a:latin typeface="Cambria"/>
                <a:ea typeface="Cambria"/>
              </a:rPr>
              <a:t>  =  </a:t>
            </a:r>
            <a:r>
              <a:rPr lang="en-US" sz="3000" b="1" u="none" strike="noStrike">
                <a:solidFill>
                  <a:srgbClr val="FFFFFF"/>
                </a:solidFill>
                <a:effectLst/>
                <a:uFillTx/>
                <a:latin typeface="Cambria"/>
                <a:ea typeface="Cambria"/>
              </a:rPr>
              <a:t>Σ</a:t>
            </a:r>
            <a:r>
              <a:rPr lang="en-US" sz="2200" b="1" u="none" strike="noStrike" baseline="-40000">
                <a:solidFill>
                  <a:srgbClr val="FFFFFF"/>
                </a:solidFill>
                <a:effectLst/>
                <a:uFillTx/>
                <a:latin typeface="Cambria"/>
                <a:ea typeface="Cambria"/>
              </a:rPr>
              <a:t>n=0</a:t>
            </a:r>
            <a:r>
              <a:rPr lang="en-US" sz="2200" b="1" u="none" strike="noStrike" baseline="30000">
                <a:solidFill>
                  <a:srgbClr val="FFFFFF"/>
                </a:solidFill>
                <a:effectLst/>
                <a:uFillTx/>
                <a:latin typeface="Cambria"/>
                <a:ea typeface="Cambria"/>
              </a:rPr>
              <a:t>N-1</a:t>
            </a:r>
            <a:r>
              <a:rPr lang="en-US" sz="2200" b="1" u="none" strike="noStrike">
                <a:solidFill>
                  <a:srgbClr val="FFFFFF"/>
                </a:solidFill>
                <a:effectLst/>
                <a:uFillTx/>
                <a:latin typeface="Cambria"/>
                <a:ea typeface="Cambria"/>
              </a:rPr>
              <a:t>  x</a:t>
            </a:r>
            <a:r>
              <a:rPr lang="en-US" sz="2200" b="1" u="none" strike="noStrike" baseline="-40000">
                <a:solidFill>
                  <a:srgbClr val="FFFFFF"/>
                </a:solidFill>
                <a:effectLst/>
                <a:uFillTx/>
                <a:latin typeface="Cambria"/>
                <a:ea typeface="Cambria"/>
              </a:rPr>
              <a:t>n</a:t>
            </a:r>
            <a:r>
              <a:rPr lang="en-US" sz="2200" b="1" u="none" strike="noStrike">
                <a:solidFill>
                  <a:srgbClr val="FFFFFF"/>
                </a:solidFill>
                <a:effectLst/>
                <a:uFillTx/>
                <a:latin typeface="Cambria"/>
                <a:ea typeface="Cambria"/>
              </a:rPr>
              <a:t> W</a:t>
            </a:r>
            <a:r>
              <a:rPr lang="en-US" sz="2200" b="1" u="none" strike="noStrike" baseline="-40000">
                <a:solidFill>
                  <a:srgbClr val="FFFFFF"/>
                </a:solidFill>
                <a:effectLst/>
                <a:uFillTx/>
                <a:latin typeface="Cambria"/>
                <a:ea typeface="Cambria"/>
              </a:rPr>
              <a:t>N</a:t>
            </a:r>
            <a:r>
              <a:rPr lang="en-US" sz="2200" b="1" u="none" strike="noStrike" baseline="30000">
                <a:solidFill>
                  <a:srgbClr val="FFFFFF"/>
                </a:solidFill>
                <a:effectLst/>
                <a:uFillTx/>
                <a:latin typeface="Cambria"/>
                <a:ea typeface="Cambria"/>
              </a:rPr>
              <a:t>nk</a:t>
            </a:r>
            <a:endParaRPr lang="en-US" sz="2200" b="0" u="none" strike="noStrike">
              <a:solidFill>
                <a:srgbClr val="000000"/>
              </a:solidFill>
              <a:effectLst/>
              <a:uFillTx/>
              <a:latin typeface="Arial"/>
            </a:endParaRPr>
          </a:p>
        </p:txBody>
      </p:sp>
      <p:sp>
        <p:nvSpPr>
          <p:cNvPr id="18" name="Shape 4"/>
          <p:cNvSpPr/>
          <p:nvPr/>
        </p:nvSpPr>
        <p:spPr>
          <a:xfrm>
            <a:off x="502920" y="2286000"/>
            <a:ext cx="5394600" cy="685440"/>
          </a:xfrm>
          <a:prstGeom prst="roundRect">
            <a:avLst>
              <a:gd name="adj" fmla="val 8000"/>
            </a:avLst>
          </a:prstGeom>
          <a:solidFill>
            <a:srgbClr val="0E8388"/>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9" name="Text 5"/>
          <p:cNvSpPr/>
          <p:nvPr/>
        </p:nvSpPr>
        <p:spPr>
          <a:xfrm>
            <a:off x="502920" y="2286000"/>
            <a:ext cx="5394600" cy="6854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1" u="none" strike="noStrike">
                <a:solidFill>
                  <a:srgbClr val="FFFFFF"/>
                </a:solidFill>
                <a:effectLst/>
                <a:uFillTx/>
                <a:latin typeface="Cambria"/>
                <a:ea typeface="Cambria"/>
              </a:rPr>
              <a:t>W</a:t>
            </a:r>
            <a:r>
              <a:rPr lang="en-US" sz="2000" b="1" u="none" strike="noStrike" baseline="-40000">
                <a:solidFill>
                  <a:srgbClr val="FFFFFF"/>
                </a:solidFill>
                <a:effectLst/>
                <a:uFillTx/>
                <a:latin typeface="Cambria"/>
                <a:ea typeface="Cambria"/>
              </a:rPr>
              <a:t>N</a:t>
            </a:r>
            <a:r>
              <a:rPr lang="en-US" sz="2000" b="1" u="none" strike="noStrike">
                <a:solidFill>
                  <a:srgbClr val="FFFFFF"/>
                </a:solidFill>
                <a:effectLst/>
                <a:uFillTx/>
                <a:latin typeface="Cambria"/>
                <a:ea typeface="Cambria"/>
              </a:rPr>
              <a:t>  =  e</a:t>
            </a:r>
            <a:r>
              <a:rPr lang="en-US" sz="2000" b="1" u="none" strike="noStrike" baseline="30000">
                <a:solidFill>
                  <a:srgbClr val="FFFFFF"/>
                </a:solidFill>
                <a:effectLst/>
                <a:uFillTx/>
                <a:latin typeface="Cambria"/>
                <a:ea typeface="Cambria"/>
              </a:rPr>
              <a:t>-j2π/N</a:t>
            </a:r>
            <a:endParaRPr lang="en-US" sz="2000" b="0" u="none" strike="noStrike">
              <a:solidFill>
                <a:srgbClr val="000000"/>
              </a:solidFill>
              <a:effectLst/>
              <a:uFillTx/>
              <a:latin typeface="Arial"/>
            </a:endParaRPr>
          </a:p>
        </p:txBody>
      </p:sp>
      <p:sp>
        <p:nvSpPr>
          <p:cNvPr id="20" name="Text 6"/>
          <p:cNvSpPr/>
          <p:nvPr/>
        </p:nvSpPr>
        <p:spPr>
          <a:xfrm>
            <a:off x="502920" y="3154680"/>
            <a:ext cx="5394600" cy="237708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W_N is the twiddle factor: a complex number of magnitude 1 that rotates a phasor by angle 2 pi over N in the clockwise direction. Each term x[n] times W_N^(nk) is a single complex multiply-add, and X[k] sums N of them.</a:t>
            </a:r>
            <a:endParaRPr lang="en-US" sz="1300" b="0" u="none" strike="noStrike">
              <a:solidFill>
                <a:srgbClr val="000000"/>
              </a:solidFill>
              <a:effectLst/>
              <a:uFillTx/>
              <a:latin typeface="Arial"/>
            </a:endParaRPr>
          </a:p>
        </p:txBody>
      </p:sp>
      <p:graphicFrame>
        <p:nvGraphicFramePr>
          <p:cNvPr id="21" name="Table 0"/>
          <p:cNvGraphicFramePr/>
          <p:nvPr/>
        </p:nvGraphicFramePr>
        <p:xfrm>
          <a:off x="6172200" y="1234440"/>
          <a:ext cx="5257440" cy="1462680"/>
        </p:xfrm>
        <a:graphic>
          <a:graphicData uri="http://schemas.openxmlformats.org/drawingml/2006/table">
            <a:tbl>
              <a:tblPr/>
              <a:tblGrid>
                <a:gridCol w="1188720"/>
                <a:gridCol w="4069080"/>
              </a:tblGrid>
              <a:tr h="292320">
                <a:tc>
                  <a:txBody>
                    <a:bodyPr tIns="27360" bIns="27360" anchor="ctr">
                      <a:noAutofit/>
                    </a:bodyPr>
                    <a:p>
                      <a:pPr defTabSz="914400">
                        <a:lnSpc>
                          <a:spcPct val="100000"/>
                        </a:lnSpc>
                        <a:tabLst>
                          <a:tab pos="0" algn="l"/>
                        </a:tabLst>
                      </a:pPr>
                      <a:r>
                        <a:rPr lang="en-US" sz="1100" b="1" u="none" strike="noStrike">
                          <a:solidFill>
                            <a:srgbClr val="FFFFFF"/>
                          </a:solidFill>
                          <a:effectLst/>
                          <a:uFillTx/>
                          <a:latin typeface="Calibri"/>
                          <a:ea typeface="Calibri"/>
                        </a:rPr>
                        <a:t>Symbol</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defTabSz="914400">
                        <a:lnSpc>
                          <a:spcPct val="100000"/>
                        </a:lnSpc>
                        <a:tabLst>
                          <a:tab pos="0" algn="l"/>
                        </a:tabLst>
                      </a:pPr>
                      <a:r>
                        <a:rPr lang="en-US" sz="1100" b="1" u="none" strike="noStrike">
                          <a:solidFill>
                            <a:srgbClr val="FFFFFF"/>
                          </a:solidFill>
                          <a:effectLst/>
                          <a:uFillTx/>
                          <a:latin typeface="Calibri"/>
                          <a:ea typeface="Calibri"/>
                        </a:rPr>
                        <a:t>Meaning</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292320">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x[n]</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n-th time-domain input sample, n = 0 ... N-1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X[k]</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k-th frequency-domain output sample, k = 0 ... N-1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r h="292320">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N</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Transform length: number of samples and frequency bins</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W_N</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Twiddle factor e^(-j2 pi/N): a unit-magnitude rotation</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bl>
          </a:graphicData>
        </a:graphic>
      </p:graphicFrame>
      <p:sp>
        <p:nvSpPr>
          <p:cNvPr id="22" name="Shape 7"/>
          <p:cNvSpPr/>
          <p:nvPr/>
        </p:nvSpPr>
        <p:spPr>
          <a:xfrm>
            <a:off x="502920" y="4572000"/>
            <a:ext cx="3520080" cy="1508400"/>
          </a:xfrm>
          <a:prstGeom prst="roundRect">
            <a:avLst>
              <a:gd name="adj" fmla="val 3636"/>
            </a:avLst>
          </a:prstGeom>
          <a:solidFill>
            <a:srgbClr val="FFFFFF"/>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3" name="Shape 8"/>
          <p:cNvSpPr/>
          <p:nvPr/>
        </p:nvSpPr>
        <p:spPr>
          <a:xfrm>
            <a:off x="502920" y="4572000"/>
            <a:ext cx="82080" cy="1508400"/>
          </a:xfrm>
          <a:prstGeom prst="rect">
            <a:avLst/>
          </a:prstGeom>
          <a:solidFill>
            <a:srgbClr val="132A4A"/>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4" name="Text 9"/>
          <p:cNvSpPr/>
          <p:nvPr/>
        </p:nvSpPr>
        <p:spPr>
          <a:xfrm>
            <a:off x="777240" y="4681800"/>
            <a:ext cx="30171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132A4A"/>
                </a:solidFill>
                <a:effectLst/>
                <a:uFillTx/>
                <a:latin typeface="Calibri"/>
                <a:ea typeface="Calibri"/>
              </a:rPr>
              <a:t>INPUT</a:t>
            </a:r>
            <a:endParaRPr lang="en-US" sz="1100" b="0" u="none" strike="noStrike">
              <a:solidFill>
                <a:srgbClr val="000000"/>
              </a:solidFill>
              <a:effectLst/>
              <a:uFillTx/>
              <a:latin typeface="Arial"/>
            </a:endParaRPr>
          </a:p>
        </p:txBody>
      </p:sp>
      <p:sp>
        <p:nvSpPr>
          <p:cNvPr id="25" name="Text 10"/>
          <p:cNvSpPr/>
          <p:nvPr/>
        </p:nvSpPr>
        <p:spPr>
          <a:xfrm>
            <a:off x="777240" y="4983480"/>
            <a:ext cx="301716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132A4A"/>
                </a:solidFill>
                <a:effectLst/>
                <a:uFillTx/>
                <a:latin typeface="Consolas"/>
                <a:ea typeface="Consolas"/>
              </a:rPr>
              <a:t>x[n]</a:t>
            </a:r>
            <a:endParaRPr lang="en-US" sz="2000" b="0" u="none" strike="noStrike">
              <a:solidFill>
                <a:srgbClr val="000000"/>
              </a:solidFill>
              <a:effectLst/>
              <a:uFillTx/>
              <a:latin typeface="Arial"/>
            </a:endParaRPr>
          </a:p>
        </p:txBody>
      </p:sp>
      <p:sp>
        <p:nvSpPr>
          <p:cNvPr id="26" name="Text 11"/>
          <p:cNvSpPr/>
          <p:nvPr/>
        </p:nvSpPr>
        <p:spPr>
          <a:xfrm>
            <a:off x="777240" y="5486400"/>
            <a:ext cx="310860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5C6B7A"/>
                </a:solidFill>
                <a:effectLst/>
                <a:uFillTx/>
                <a:latin typeface="Calibri"/>
                <a:ea typeface="Calibri"/>
              </a:rPr>
              <a:t>N time-domain samples</a:t>
            </a:r>
            <a:endParaRPr lang="en-US" sz="1300" b="0" u="none" strike="noStrike">
              <a:solidFill>
                <a:srgbClr val="000000"/>
              </a:solidFill>
              <a:effectLst/>
              <a:uFillTx/>
              <a:latin typeface="Arial"/>
            </a:endParaRPr>
          </a:p>
        </p:txBody>
      </p:sp>
      <p:sp>
        <p:nvSpPr>
          <p:cNvPr id="27" name="Shape 12"/>
          <p:cNvSpPr/>
          <p:nvPr/>
        </p:nvSpPr>
        <p:spPr>
          <a:xfrm>
            <a:off x="4069080" y="5321520"/>
            <a:ext cx="182880" cy="360"/>
          </a:xfrm>
          <a:prstGeom prst="line">
            <a:avLst/>
          </a:prstGeom>
          <a:ln w="25400">
            <a:solidFill>
              <a:srgbClr val="5C6B7A"/>
            </a:solidFill>
            <a:round/>
            <a:tailEnd len="med" type="triangle" w="me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28" name="Shape 13"/>
          <p:cNvSpPr/>
          <p:nvPr/>
        </p:nvSpPr>
        <p:spPr>
          <a:xfrm>
            <a:off x="4270320" y="4572000"/>
            <a:ext cx="3520080" cy="1508400"/>
          </a:xfrm>
          <a:prstGeom prst="roundRect">
            <a:avLst>
              <a:gd name="adj" fmla="val 3636"/>
            </a:avLst>
          </a:prstGeom>
          <a:solidFill>
            <a:srgbClr val="FFFFFF"/>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9" name="Shape 14"/>
          <p:cNvSpPr/>
          <p:nvPr/>
        </p:nvSpPr>
        <p:spPr>
          <a:xfrm>
            <a:off x="4270320" y="4572000"/>
            <a:ext cx="82080" cy="1508400"/>
          </a:xfrm>
          <a:prstGeom prst="rect">
            <a:avLst/>
          </a:prstGeom>
          <a:solidFill>
            <a:srgbClr val="0E8388"/>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0" name="Text 15"/>
          <p:cNvSpPr/>
          <p:nvPr/>
        </p:nvSpPr>
        <p:spPr>
          <a:xfrm>
            <a:off x="4544640" y="4681800"/>
            <a:ext cx="30171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0E8388"/>
                </a:solidFill>
                <a:effectLst/>
                <a:uFillTx/>
                <a:latin typeface="Calibri"/>
                <a:ea typeface="Calibri"/>
              </a:rPr>
              <a:t>KERNEL</a:t>
            </a:r>
            <a:endParaRPr lang="en-US" sz="1100" b="0" u="none" strike="noStrike">
              <a:solidFill>
                <a:srgbClr val="000000"/>
              </a:solidFill>
              <a:effectLst/>
              <a:uFillTx/>
              <a:latin typeface="Arial"/>
            </a:endParaRPr>
          </a:p>
        </p:txBody>
      </p:sp>
      <p:sp>
        <p:nvSpPr>
          <p:cNvPr id="31" name="Text 16"/>
          <p:cNvSpPr/>
          <p:nvPr/>
        </p:nvSpPr>
        <p:spPr>
          <a:xfrm>
            <a:off x="4544640" y="4983480"/>
            <a:ext cx="301716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132A4A"/>
                </a:solidFill>
                <a:effectLst/>
                <a:uFillTx/>
                <a:latin typeface="Consolas"/>
                <a:ea typeface="Consolas"/>
              </a:rPr>
              <a:t>W_N^(nk)</a:t>
            </a:r>
            <a:endParaRPr lang="en-US" sz="2000" b="0" u="none" strike="noStrike">
              <a:solidFill>
                <a:srgbClr val="000000"/>
              </a:solidFill>
              <a:effectLst/>
              <a:uFillTx/>
              <a:latin typeface="Arial"/>
            </a:endParaRPr>
          </a:p>
        </p:txBody>
      </p:sp>
      <p:sp>
        <p:nvSpPr>
          <p:cNvPr id="32" name="Text 17"/>
          <p:cNvSpPr/>
          <p:nvPr/>
        </p:nvSpPr>
        <p:spPr>
          <a:xfrm>
            <a:off x="4544640" y="5486400"/>
            <a:ext cx="310860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5C6B7A"/>
                </a:solidFill>
                <a:effectLst/>
                <a:uFillTx/>
                <a:latin typeface="Calibri"/>
                <a:ea typeface="Calibri"/>
              </a:rPr>
              <a:t>one unit-circle rotation per (n,k) pair</a:t>
            </a:r>
            <a:endParaRPr lang="en-US" sz="1300" b="0" u="none" strike="noStrike">
              <a:solidFill>
                <a:srgbClr val="000000"/>
              </a:solidFill>
              <a:effectLst/>
              <a:uFillTx/>
              <a:latin typeface="Arial"/>
            </a:endParaRPr>
          </a:p>
        </p:txBody>
      </p:sp>
      <p:sp>
        <p:nvSpPr>
          <p:cNvPr id="33" name="Shape 18"/>
          <p:cNvSpPr/>
          <p:nvPr/>
        </p:nvSpPr>
        <p:spPr>
          <a:xfrm>
            <a:off x="7836120" y="5321520"/>
            <a:ext cx="182880" cy="360"/>
          </a:xfrm>
          <a:prstGeom prst="line">
            <a:avLst/>
          </a:prstGeom>
          <a:ln w="25400">
            <a:solidFill>
              <a:srgbClr val="5C6B7A"/>
            </a:solidFill>
            <a:round/>
            <a:tailEnd len="med" type="triangle" w="me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34" name="Shape 19"/>
          <p:cNvSpPr/>
          <p:nvPr/>
        </p:nvSpPr>
        <p:spPr>
          <a:xfrm>
            <a:off x="8037720" y="4572000"/>
            <a:ext cx="3520080" cy="1508400"/>
          </a:xfrm>
          <a:prstGeom prst="roundRect">
            <a:avLst>
              <a:gd name="adj" fmla="val 3636"/>
            </a:avLst>
          </a:prstGeom>
          <a:solidFill>
            <a:srgbClr val="FFFFFF"/>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5" name="Shape 20"/>
          <p:cNvSpPr/>
          <p:nvPr/>
        </p:nvSpPr>
        <p:spPr>
          <a:xfrm>
            <a:off x="8037720" y="4572000"/>
            <a:ext cx="82080" cy="1508400"/>
          </a:xfrm>
          <a:prstGeom prst="rect">
            <a:avLst/>
          </a:prstGeom>
          <a:solidFill>
            <a:srgbClr val="D98324"/>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6" name="Text 21"/>
          <p:cNvSpPr/>
          <p:nvPr/>
        </p:nvSpPr>
        <p:spPr>
          <a:xfrm>
            <a:off x="8312040" y="4681800"/>
            <a:ext cx="30171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D98324"/>
                </a:solidFill>
                <a:effectLst/>
                <a:uFillTx/>
                <a:latin typeface="Calibri"/>
                <a:ea typeface="Calibri"/>
              </a:rPr>
              <a:t>OUTPUT</a:t>
            </a:r>
            <a:endParaRPr lang="en-US" sz="1100" b="0" u="none" strike="noStrike">
              <a:solidFill>
                <a:srgbClr val="000000"/>
              </a:solidFill>
              <a:effectLst/>
              <a:uFillTx/>
              <a:latin typeface="Arial"/>
            </a:endParaRPr>
          </a:p>
        </p:txBody>
      </p:sp>
      <p:sp>
        <p:nvSpPr>
          <p:cNvPr id="37" name="Text 22"/>
          <p:cNvSpPr/>
          <p:nvPr/>
        </p:nvSpPr>
        <p:spPr>
          <a:xfrm>
            <a:off x="8312040" y="4983480"/>
            <a:ext cx="301716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132A4A"/>
                </a:solidFill>
                <a:effectLst/>
                <a:uFillTx/>
                <a:latin typeface="Consolas"/>
                <a:ea typeface="Consolas"/>
              </a:rPr>
              <a:t>X[k]</a:t>
            </a:r>
            <a:endParaRPr lang="en-US" sz="2000" b="0" u="none" strike="noStrike">
              <a:solidFill>
                <a:srgbClr val="000000"/>
              </a:solidFill>
              <a:effectLst/>
              <a:uFillTx/>
              <a:latin typeface="Arial"/>
            </a:endParaRPr>
          </a:p>
        </p:txBody>
      </p:sp>
      <p:sp>
        <p:nvSpPr>
          <p:cNvPr id="38" name="Text 23"/>
          <p:cNvSpPr/>
          <p:nvPr/>
        </p:nvSpPr>
        <p:spPr>
          <a:xfrm>
            <a:off x="8312040" y="5486400"/>
            <a:ext cx="310860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5C6B7A"/>
                </a:solidFill>
                <a:effectLst/>
                <a:uFillTx/>
                <a:latin typeface="Calibri"/>
                <a:ea typeface="Calibri"/>
              </a:rPr>
              <a:t>N frequency-domain bins</a:t>
            </a:r>
            <a:endParaRPr lang="en-US" sz="1300" b="0" u="none" strike="noStrike">
              <a:solidFill>
                <a:srgbClr val="000000"/>
              </a:solidFill>
              <a:effectLst/>
              <a:uFillTx/>
              <a:latin typeface="Arial"/>
            </a:endParaRPr>
          </a:p>
        </p:txBody>
      </p:sp>
      <p:sp>
        <p:nvSpPr>
          <p:cNvPr id="39" name="Shape 24"/>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40" name="Shape 25"/>
          <p:cNvSpPr/>
          <p:nvPr/>
        </p:nvSpPr>
        <p:spPr>
          <a:xfrm>
            <a:off x="502920" y="6473880"/>
            <a:ext cx="53100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41" name="Text 26"/>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000000"/>
              </a:solidFill>
              <a:effectLst/>
              <a:uFillTx/>
              <a:latin typeface="Arial"/>
            </a:endParaRPr>
          </a:p>
        </p:txBody>
      </p:sp>
      <p:sp>
        <p:nvSpPr>
          <p:cNvPr id="42" name="Text 27"/>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Why FFT?     2</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43"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1 · WHY FFT?</a:t>
            </a:r>
            <a:endParaRPr lang="en-US" sz="1150" b="0" u="none" strike="noStrike">
              <a:solidFill>
                <a:srgbClr val="000000"/>
              </a:solidFill>
              <a:effectLst/>
              <a:uFillTx/>
              <a:latin typeface="Arial"/>
            </a:endParaRPr>
          </a:p>
        </p:txBody>
      </p:sp>
      <p:sp>
        <p:nvSpPr>
          <p:cNvPr id="44"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Where the O(N²) Computation Cost Comes From</a:t>
            </a:r>
            <a:endParaRPr lang="en-US" sz="2600" b="0" u="none" strike="noStrike">
              <a:solidFill>
                <a:srgbClr val="000000"/>
              </a:solidFill>
              <a:effectLst/>
              <a:uFillTx/>
              <a:latin typeface="Arial"/>
            </a:endParaRPr>
          </a:p>
        </p:txBody>
      </p:sp>
      <p:sp>
        <p:nvSpPr>
          <p:cNvPr id="45" name="Text 2"/>
          <p:cNvSpPr/>
          <p:nvPr/>
        </p:nvSpPr>
        <p:spPr>
          <a:xfrm>
            <a:off x="502920" y="1280160"/>
            <a:ext cx="5303160" cy="292572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12000"/>
              </a:lnSpc>
              <a:spcAft>
                <a:spcPts val="1100"/>
              </a:spcAft>
              <a:buClr>
                <a:srgbClr val="16202E"/>
              </a:buClr>
              <a:buFont typeface="Wingdings" charset="2"/>
              <a:buChar char=""/>
            </a:pPr>
            <a:r>
              <a:rPr lang="en-US" sz="1300" b="0" u="none" strike="noStrike">
                <a:solidFill>
                  <a:srgbClr val="16202E"/>
                </a:solidFill>
                <a:effectLst/>
                <a:uFillTx/>
                <a:latin typeface="Calibri"/>
                <a:ea typeface="Calibri"/>
              </a:rPr>
              <a:t>Each output X[k] sums over all N input samples: N complex multiply-accumulate (MAC) operations.</a:t>
            </a:r>
            <a:endParaRPr lang="en-US" sz="1300" b="0" u="none" strike="noStrike">
              <a:solidFill>
                <a:srgbClr val="000000"/>
              </a:solidFill>
              <a:effectLst/>
              <a:uFillTx/>
              <a:latin typeface="Arial"/>
            </a:endParaRPr>
          </a:p>
          <a:p>
            <a:pPr marL="228600" indent="-228600" defTabSz="914400">
              <a:lnSpc>
                <a:spcPct val="112000"/>
              </a:lnSpc>
              <a:spcAft>
                <a:spcPts val="1100"/>
              </a:spcAft>
              <a:buClr>
                <a:srgbClr val="16202E"/>
              </a:buClr>
              <a:buFont typeface="Wingdings" charset="2"/>
              <a:buChar char=""/>
            </a:pPr>
            <a:r>
              <a:rPr lang="en-US" sz="1300" b="0" u="none" strike="noStrike">
                <a:solidFill>
                  <a:srgbClr val="16202E"/>
                </a:solidFill>
                <a:effectLst/>
                <a:uFillTx/>
                <a:latin typeface="Calibri"/>
                <a:ea typeface="Calibri"/>
              </a:rPr>
              <a:t>There are N such outputs, k = 0 ... N-1.</a:t>
            </a:r>
            <a:endParaRPr lang="en-US" sz="1300" b="0" u="none" strike="noStrike">
              <a:solidFill>
                <a:srgbClr val="000000"/>
              </a:solidFill>
              <a:effectLst/>
              <a:uFillTx/>
              <a:latin typeface="Arial"/>
            </a:endParaRPr>
          </a:p>
          <a:p>
            <a:pPr marL="228600" indent="-228600" defTabSz="914400">
              <a:lnSpc>
                <a:spcPct val="112000"/>
              </a:lnSpc>
              <a:spcAft>
                <a:spcPts val="1100"/>
              </a:spcAft>
              <a:buClr>
                <a:srgbClr val="16202E"/>
              </a:buClr>
              <a:buFont typeface="Wingdings" charset="2"/>
              <a:buChar char=""/>
            </a:pPr>
            <a:r>
              <a:rPr lang="en-US" sz="1300" b="0" u="none" strike="noStrike">
                <a:solidFill>
                  <a:srgbClr val="16202E"/>
                </a:solidFill>
                <a:effectLst/>
                <a:uFillTx/>
                <a:latin typeface="Calibri"/>
                <a:ea typeface="Calibri"/>
              </a:rPr>
              <a:t>Total work = N outputs x N terms per output = N² complex MACs.</a:t>
            </a:r>
            <a:endParaRPr lang="en-US" sz="1300" b="0" u="none" strike="noStrike">
              <a:solidFill>
                <a:srgbClr val="000000"/>
              </a:solidFill>
              <a:effectLst/>
              <a:uFillTx/>
              <a:latin typeface="Arial"/>
            </a:endParaRPr>
          </a:p>
          <a:p>
            <a:pPr marL="228600" indent="-228600" defTabSz="914400">
              <a:lnSpc>
                <a:spcPct val="112000"/>
              </a:lnSpc>
              <a:spcAft>
                <a:spcPts val="1100"/>
              </a:spcAft>
              <a:buClr>
                <a:srgbClr val="16202E"/>
              </a:buClr>
              <a:buFont typeface="Wingdings" charset="2"/>
              <a:buChar char=""/>
            </a:pPr>
            <a:r>
              <a:rPr lang="en-US" sz="1300" b="0" u="none" strike="noStrike">
                <a:solidFill>
                  <a:srgbClr val="16202E"/>
                </a:solidFill>
                <a:effectLst/>
                <a:uFillTx/>
                <a:latin typeface="Calibri"/>
                <a:ea typeface="Calibri"/>
              </a:rPr>
              <a:t>No structure in the sum is reused: every W_N^(nk) is treated as an independent number, even though many are related by simple symmetry.</a:t>
            </a:r>
            <a:endParaRPr lang="en-US" sz="1300" b="0" u="none" strike="noStrike">
              <a:solidFill>
                <a:srgbClr val="000000"/>
              </a:solidFill>
              <a:effectLst/>
              <a:uFillTx/>
              <a:latin typeface="Arial"/>
            </a:endParaRPr>
          </a:p>
        </p:txBody>
      </p:sp>
      <p:sp>
        <p:nvSpPr>
          <p:cNvPr id="46" name="Shape 3"/>
          <p:cNvSpPr/>
          <p:nvPr/>
        </p:nvSpPr>
        <p:spPr>
          <a:xfrm>
            <a:off x="502920" y="4434840"/>
            <a:ext cx="5303160" cy="1188360"/>
          </a:xfrm>
          <a:prstGeom prst="roundRect">
            <a:avLst>
              <a:gd name="adj" fmla="val 4615"/>
            </a:avLst>
          </a:prstGeom>
          <a:solidFill>
            <a:srgbClr val="FBF0E2"/>
          </a:solidFill>
          <a:ln w="12700">
            <a:solidFill>
              <a:srgbClr val="E7CDA0"/>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7" name="Text 4"/>
          <p:cNvSpPr/>
          <p:nvPr/>
        </p:nvSpPr>
        <p:spPr>
          <a:xfrm>
            <a:off x="685800" y="4553640"/>
            <a:ext cx="4937400" cy="100548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Concrete case, N = 8: computing X[0] alone needs 8 complex multiply-adds. Computing all 8 outputs needs 8 x 8 = 64 complex multiply-accumulate operations.</a:t>
            </a:r>
            <a:endParaRPr lang="en-US" sz="1300" b="0" u="none" strike="noStrike">
              <a:solidFill>
                <a:srgbClr val="000000"/>
              </a:solidFill>
              <a:effectLst/>
              <a:uFillTx/>
              <a:latin typeface="Arial"/>
            </a:endParaRPr>
          </a:p>
        </p:txBody>
      </p:sp>
      <p:sp>
        <p:nvSpPr>
          <p:cNvPr id="48" name="Text 5"/>
          <p:cNvSpPr/>
          <p:nvPr/>
        </p:nvSpPr>
        <p:spPr>
          <a:xfrm>
            <a:off x="502920" y="5760720"/>
            <a:ext cx="5303160" cy="6397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i="1" u="none" strike="noStrike">
                <a:solidFill>
                  <a:srgbClr val="5C6B7A"/>
                </a:solidFill>
                <a:effectLst/>
                <a:uFillTx/>
                <a:latin typeface="Calibri"/>
                <a:ea typeface="Calibri"/>
              </a:rPr>
              <a:t>This is brute force: every one of the N² products is computed once, ignoring the redundancy in W_N^(nk).</a:t>
            </a:r>
            <a:endParaRPr lang="en-US" sz="1300" b="0" u="none" strike="noStrike">
              <a:solidFill>
                <a:srgbClr val="000000"/>
              </a:solidFill>
              <a:effectLst/>
              <a:uFillTx/>
              <a:latin typeface="Arial"/>
            </a:endParaRPr>
          </a:p>
        </p:txBody>
      </p:sp>
      <p:graphicFrame>
        <p:nvGraphicFramePr>
          <p:cNvPr id="49" name="Table 0"/>
          <p:cNvGraphicFramePr/>
          <p:nvPr/>
        </p:nvGraphicFramePr>
        <p:xfrm>
          <a:off x="6172200" y="1280160"/>
          <a:ext cx="5257440" cy="1170000"/>
        </p:xfrm>
        <a:graphic>
          <a:graphicData uri="http://schemas.openxmlformats.org/drawingml/2006/table">
            <a:tbl>
              <a:tblPr/>
              <a:tblGrid>
                <a:gridCol w="1752480"/>
                <a:gridCol w="1752480"/>
                <a:gridCol w="1752480"/>
              </a:tblGrid>
              <a:tr h="292320">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N (outputs)</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Terms/output</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Total complex MACs</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8</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8</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64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64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64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4,096</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1024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1024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1,048,576</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bl>
          </a:graphicData>
        </a:graphic>
      </p:graphicFrame>
      <p:graphicFrame>
        <p:nvGraphicFramePr>
          <p:cNvPr id="50" name="Chart 0"/>
          <p:cNvGraphicFramePr/>
          <p:nvPr/>
        </p:nvGraphicFramePr>
        <p:xfrm>
          <a:off x="6080760" y="3063240"/>
          <a:ext cx="5486040" cy="3337200"/>
        </p:xfrm>
        <a:graphic>
          <a:graphicData uri="http://schemas.openxmlformats.org/drawingml/2006/chart">
            <c:chart xmlns:c="http://schemas.openxmlformats.org/drawingml/2006/chart" xmlns:r="http://schemas.openxmlformats.org/officeDocument/2006/relationships" r:id="rId1"/>
          </a:graphicData>
        </a:graphic>
      </p:graphicFrame>
      <p:sp>
        <p:nvSpPr>
          <p:cNvPr id="51" name="Shape 6"/>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52" name="Shape 7"/>
          <p:cNvSpPr/>
          <p:nvPr/>
        </p:nvSpPr>
        <p:spPr>
          <a:xfrm>
            <a:off x="502920" y="6473880"/>
            <a:ext cx="79632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53" name="Text 8"/>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000000"/>
              </a:solidFill>
              <a:effectLst/>
              <a:uFillTx/>
              <a:latin typeface="Arial"/>
            </a:endParaRPr>
          </a:p>
        </p:txBody>
      </p:sp>
      <p:sp>
        <p:nvSpPr>
          <p:cNvPr id="54" name="Text 9"/>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Why FFT?     3</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55"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1 · WHY FFT?</a:t>
            </a:r>
            <a:endParaRPr lang="en-US" sz="1150" b="0" u="none" strike="noStrike">
              <a:solidFill>
                <a:srgbClr val="000000"/>
              </a:solidFill>
              <a:effectLst/>
              <a:uFillTx/>
              <a:latin typeface="Arial"/>
            </a:endParaRPr>
          </a:p>
        </p:txBody>
      </p:sp>
      <p:sp>
        <p:nvSpPr>
          <p:cNvPr id="56"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Why FFT? Same Transform, a Far More Efficient Algorithm</a:t>
            </a:r>
            <a:endParaRPr lang="en-US" sz="2600" b="0" u="none" strike="noStrike">
              <a:solidFill>
                <a:srgbClr val="000000"/>
              </a:solidFill>
              <a:effectLst/>
              <a:uFillTx/>
              <a:latin typeface="Arial"/>
            </a:endParaRPr>
          </a:p>
        </p:txBody>
      </p:sp>
      <p:sp>
        <p:nvSpPr>
          <p:cNvPr id="57" name="Shape 2"/>
          <p:cNvSpPr/>
          <p:nvPr/>
        </p:nvSpPr>
        <p:spPr>
          <a:xfrm>
            <a:off x="502920" y="1280160"/>
            <a:ext cx="11155320" cy="822600"/>
          </a:xfrm>
          <a:prstGeom prst="roundRect">
            <a:avLst>
              <a:gd name="adj" fmla="val 6667"/>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8" name="Text 3"/>
          <p:cNvSpPr/>
          <p:nvPr/>
        </p:nvSpPr>
        <p:spPr>
          <a:xfrm>
            <a:off x="731520" y="1371600"/>
            <a:ext cx="10698120" cy="68544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Key idea: the FFT does not compute a different transform from the DFT. It computes exactly the same X[k] values, using far fewer arithmetic operations by reusing partial results instead of recomputing them for every output.</a:t>
            </a:r>
            <a:endParaRPr lang="en-US" sz="1300" b="0" u="none" strike="noStrike">
              <a:solidFill>
                <a:srgbClr val="000000"/>
              </a:solidFill>
              <a:effectLst/>
              <a:uFillTx/>
              <a:latin typeface="Arial"/>
            </a:endParaRPr>
          </a:p>
        </p:txBody>
      </p:sp>
      <p:graphicFrame>
        <p:nvGraphicFramePr>
          <p:cNvPr id="59" name="Table 0"/>
          <p:cNvGraphicFramePr/>
          <p:nvPr/>
        </p:nvGraphicFramePr>
        <p:xfrm>
          <a:off x="502920" y="2331720"/>
          <a:ext cx="11155320" cy="1462680"/>
        </p:xfrm>
        <a:graphic>
          <a:graphicData uri="http://schemas.openxmlformats.org/drawingml/2006/table">
            <a:tbl>
              <a:tblPr/>
              <a:tblGrid>
                <a:gridCol w="2743200"/>
                <a:gridCol w="4206240"/>
                <a:gridCol w="4206240"/>
              </a:tblGrid>
              <a:tr h="292320">
                <a:tc>
                  <a:txBody>
                    <a:bodyPr tIns="27360" bIns="27360" anchor="ctr">
                      <a:noAutofit/>
                    </a:bodyPr>
                    <a:p>
                      <a:endParaRPr lang="en-US" sz="1370" b="0" u="none" strike="noStrike">
                        <a:solidFill>
                          <a:schemeClr val="dk1"/>
                        </a:solidFill>
                        <a:effectLst/>
                        <a:uFillTx/>
                        <a:latin typeface="Calibri"/>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Direct DFT</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Radix-2 FFT</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Result computed</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X[k], k = 0..N-1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X[k], k = 0..N-1 (identical)</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Strategy</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Evaluate the full sum for every k</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Recursively split the sum, reuse results</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Complex multiplications</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O(N²)</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O(N log₂N)</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Growth as N doubles</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Roughly quadruples</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Just over doubles</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bl>
          </a:graphicData>
        </a:graphic>
      </p:graphicFrame>
      <p:sp>
        <p:nvSpPr>
          <p:cNvPr id="60" name="Shape 4"/>
          <p:cNvSpPr/>
          <p:nvPr/>
        </p:nvSpPr>
        <p:spPr>
          <a:xfrm>
            <a:off x="502920" y="4892040"/>
            <a:ext cx="5303160" cy="1188360"/>
          </a:xfrm>
          <a:prstGeom prst="roundRect">
            <a:avLst>
              <a:gd name="adj" fmla="val 4615"/>
            </a:avLst>
          </a:prstGeom>
          <a:solidFill>
            <a:srgbClr val="132A4A"/>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1" name="Text 5"/>
          <p:cNvSpPr/>
          <p:nvPr/>
        </p:nvSpPr>
        <p:spPr>
          <a:xfrm>
            <a:off x="685800" y="4983480"/>
            <a:ext cx="4937400" cy="1005480"/>
          </a:xfrm>
          <a:prstGeom prst="rect">
            <a:avLst/>
          </a:prstGeom>
          <a:noFill/>
          <a:ln w="0">
            <a:noFill/>
          </a:ln>
        </p:spPr>
        <p:style>
          <a:lnRef idx="0"/>
          <a:fillRef idx="0"/>
          <a:effectRef idx="0"/>
          <a:fontRef idx="minor"/>
        </p:style>
        <p:txBody>
          <a:bodyPr lIns="90000" tIns="45000" rIns="90000" bIns="45000" anchor="ctr">
            <a:noAutofit/>
          </a:bodyPr>
          <a:p>
            <a:r>
              <a:rPr lang="en-US" sz="1300" b="1" u="none" strike="noStrike">
                <a:solidFill>
                  <a:srgbClr val="9FD4D1"/>
                </a:solidFill>
                <a:effectLst/>
                <a:uFillTx/>
                <a:latin typeface="Calibri"/>
              </a:rPr>
              <a:t>N = 8 in numbers</a:t>
            </a:r>
            <a:endParaRPr lang="en-US" sz="1300" b="0" u="none" strike="noStrike">
              <a:solidFill>
                <a:srgbClr val="000000"/>
              </a:solidFill>
              <a:effectLst/>
              <a:uFillTx/>
              <a:latin typeface="Arial"/>
            </a:endParaRPr>
          </a:p>
          <a:p>
            <a:r>
              <a:rPr lang="en-US" sz="1300" b="0" u="none" strike="noStrike">
                <a:solidFill>
                  <a:srgbClr val="FFFFFF"/>
                </a:solidFill>
                <a:effectLst/>
                <a:uFillTx/>
                <a:latin typeface="Calibri"/>
              </a:rPr>
              <a:t>Direct DFT: 8² = 64 operations</a:t>
            </a:r>
            <a:endParaRPr lang="en-US" sz="1300" b="0" u="none" strike="noStrike">
              <a:solidFill>
                <a:srgbClr val="000000"/>
              </a:solidFill>
              <a:effectLst/>
              <a:uFillTx/>
              <a:latin typeface="Arial"/>
            </a:endParaRPr>
          </a:p>
          <a:p>
            <a:pPr defTabSz="914400">
              <a:lnSpc>
                <a:spcPct val="130000"/>
              </a:lnSpc>
              <a:tabLst>
                <a:tab pos="0" algn="l"/>
              </a:tabLst>
            </a:pPr>
            <a:r>
              <a:rPr lang="en-US" sz="1300" b="0" u="none" strike="noStrike">
                <a:solidFill>
                  <a:srgbClr val="FFFFFF"/>
                </a:solidFill>
                <a:effectLst/>
                <a:uFillTx/>
                <a:latin typeface="Calibri"/>
              </a:rPr>
              <a:t>Radix-2 FFT: 8 x log₂ 8 = 8 x 3 = 24 op.</a:t>
            </a:r>
            <a:endParaRPr lang="en-US" sz="1300" b="0" u="none" strike="noStrike">
              <a:solidFill>
                <a:srgbClr val="000000"/>
              </a:solidFill>
              <a:effectLst/>
              <a:uFillTx/>
              <a:latin typeface="Arial"/>
            </a:endParaRPr>
          </a:p>
        </p:txBody>
      </p:sp>
      <p:sp>
        <p:nvSpPr>
          <p:cNvPr id="62" name="Text 6"/>
          <p:cNvSpPr/>
          <p:nvPr/>
        </p:nvSpPr>
        <p:spPr>
          <a:xfrm>
            <a:off x="6309360" y="4892040"/>
            <a:ext cx="5120280" cy="123408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i="1" u="none" strike="noStrike">
                <a:solidFill>
                  <a:srgbClr val="5C6B7A"/>
                </a:solidFill>
                <a:effectLst/>
                <a:uFillTx/>
                <a:latin typeface="Calibri"/>
                <a:ea typeface="Calibri"/>
              </a:rPr>
              <a:t>These 24 counts are butterfly-equivalent operations (N log₂N). The exact count for N = 8 is 12 butterflies, each one multiply and two adds. The FFT wins because every butterfly output is reused as input to the next stage, instead of being one disposable term inside a giant independent sum.</a:t>
            </a:r>
            <a:endParaRPr lang="en-US" sz="1300" b="0" u="none" strike="noStrike">
              <a:solidFill>
                <a:srgbClr val="000000"/>
              </a:solidFill>
              <a:effectLst/>
              <a:uFillTx/>
              <a:latin typeface="Arial"/>
            </a:endParaRPr>
          </a:p>
        </p:txBody>
      </p:sp>
      <p:sp>
        <p:nvSpPr>
          <p:cNvPr id="63" name="Shape 7"/>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64" name="Shape 8"/>
          <p:cNvSpPr/>
          <p:nvPr/>
        </p:nvSpPr>
        <p:spPr>
          <a:xfrm>
            <a:off x="502920" y="6473880"/>
            <a:ext cx="106200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65" name="Text 9"/>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000000"/>
              </a:solidFill>
              <a:effectLst/>
              <a:uFillTx/>
              <a:latin typeface="Arial"/>
            </a:endParaRPr>
          </a:p>
        </p:txBody>
      </p:sp>
      <p:sp>
        <p:nvSpPr>
          <p:cNvPr id="66" name="Text 10"/>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Why FFT?     4</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67"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2A · DIT MATHEMATICS</a:t>
            </a:r>
            <a:endParaRPr lang="en-US" sz="1150" b="0" u="none" strike="noStrike">
              <a:solidFill>
                <a:srgbClr val="000000"/>
              </a:solidFill>
              <a:effectLst/>
              <a:uFillTx/>
              <a:latin typeface="Arial"/>
            </a:endParaRPr>
          </a:p>
        </p:txBody>
      </p:sp>
      <p:sp>
        <p:nvSpPr>
          <p:cNvPr id="68"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Radix-2 Decimation-in-Time: The Decomposition Idea</a:t>
            </a:r>
            <a:endParaRPr lang="en-US" sz="2600" b="0" u="none" strike="noStrike">
              <a:solidFill>
                <a:srgbClr val="000000"/>
              </a:solidFill>
              <a:effectLst/>
              <a:uFillTx/>
              <a:latin typeface="Arial"/>
            </a:endParaRPr>
          </a:p>
        </p:txBody>
      </p:sp>
      <p:sp>
        <p:nvSpPr>
          <p:cNvPr id="69" name="Text 2"/>
          <p:cNvSpPr/>
          <p:nvPr/>
        </p:nvSpPr>
        <p:spPr>
          <a:xfrm>
            <a:off x="502920" y="1234440"/>
            <a:ext cx="5303160" cy="356580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12000"/>
              </a:lnSpc>
              <a:spcAft>
                <a:spcPts val="989"/>
              </a:spcAft>
              <a:buClr>
                <a:srgbClr val="16202E"/>
              </a:buClr>
              <a:buFont typeface="Wingdings" charset="2"/>
              <a:buChar char=""/>
            </a:pPr>
            <a:r>
              <a:rPr lang="en-US" sz="1300" b="0" u="none" strike="noStrike">
                <a:solidFill>
                  <a:srgbClr val="16202E"/>
                </a:solidFill>
                <a:effectLst/>
                <a:uFillTx/>
                <a:latin typeface="Calibri"/>
                <a:ea typeface="Calibri"/>
              </a:rPr>
              <a:t>Radix: the base of a decomposition, the number of pieces a problem is split into at each step. Radix-2 means every step splits one DFT into two half-size DFTs.</a:t>
            </a:r>
            <a:endParaRPr lang="en-US" sz="1300" b="0" u="none" strike="noStrike">
              <a:solidFill>
                <a:srgbClr val="000000"/>
              </a:solidFill>
              <a:effectLst/>
              <a:uFillTx/>
              <a:latin typeface="Arial"/>
            </a:endParaRPr>
          </a:p>
          <a:p>
            <a:pPr marL="228600" indent="-228600" defTabSz="914400">
              <a:lnSpc>
                <a:spcPct val="112000"/>
              </a:lnSpc>
              <a:spcAft>
                <a:spcPts val="989"/>
              </a:spcAft>
              <a:buClr>
                <a:srgbClr val="16202E"/>
              </a:buClr>
              <a:buFont typeface="Wingdings" charset="2"/>
              <a:buChar char=""/>
            </a:pPr>
            <a:r>
              <a:rPr lang="en-US" sz="1300" b="0" u="none" strike="noStrike">
                <a:solidFill>
                  <a:srgbClr val="16202E"/>
                </a:solidFill>
                <a:effectLst/>
                <a:uFillTx/>
                <a:latin typeface="Calibri"/>
                <a:ea typeface="Calibri"/>
              </a:rPr>
              <a:t>Decimation-in-time: the split is done on the time-domain input sequence, by whether the time index n is even or odd.</a:t>
            </a:r>
            <a:endParaRPr lang="en-US" sz="1300" b="0" u="none" strike="noStrike">
              <a:solidFill>
                <a:srgbClr val="000000"/>
              </a:solidFill>
              <a:effectLst/>
              <a:uFillTx/>
              <a:latin typeface="Arial"/>
            </a:endParaRPr>
          </a:p>
          <a:p>
            <a:pPr marL="228600" indent="-228600" defTabSz="914400">
              <a:lnSpc>
                <a:spcPct val="112000"/>
              </a:lnSpc>
              <a:spcAft>
                <a:spcPts val="989"/>
              </a:spcAft>
              <a:buClr>
                <a:srgbClr val="16202E"/>
              </a:buClr>
              <a:buFont typeface="Wingdings" charset="2"/>
              <a:buChar char=""/>
            </a:pPr>
            <a:r>
              <a:rPr lang="en-US" sz="1300" b="0" u="none" strike="noStrike">
                <a:solidFill>
                  <a:srgbClr val="16202E"/>
                </a:solidFill>
                <a:effectLst/>
                <a:uFillTx/>
                <a:latin typeface="Calibri"/>
                <a:ea typeface="Calibri"/>
              </a:rPr>
              <a:t>Even samples x[0], x[2], x[4], ... feed one N/2-point DFT; odd samples x[1], x[3], x[5], ... feed a second N/2-point DFT.</a:t>
            </a:r>
            <a:endParaRPr lang="en-US" sz="1300" b="0" u="none" strike="noStrike">
              <a:solidFill>
                <a:srgbClr val="000000"/>
              </a:solidFill>
              <a:effectLst/>
              <a:uFillTx/>
              <a:latin typeface="Arial"/>
            </a:endParaRPr>
          </a:p>
          <a:p>
            <a:pPr marL="228600" indent="-228600" defTabSz="914400">
              <a:lnSpc>
                <a:spcPct val="112000"/>
              </a:lnSpc>
              <a:spcAft>
                <a:spcPts val="989"/>
              </a:spcAft>
              <a:buClr>
                <a:srgbClr val="16202E"/>
              </a:buClr>
              <a:buFont typeface="Wingdings" charset="2"/>
              <a:buChar char=""/>
            </a:pPr>
            <a:r>
              <a:rPr lang="en-US" sz="1300" b="0" u="none" strike="noStrike">
                <a:solidFill>
                  <a:srgbClr val="16202E"/>
                </a:solidFill>
                <a:effectLst/>
                <a:uFillTx/>
                <a:latin typeface="Calibri"/>
                <a:ea typeface="Calibri"/>
              </a:rPr>
              <a:t>Why N must be a power of 2: radix-2 repeatedly halves N. That only reaches trivial 1-point transforms with no remainder if N = 2^m for an integer m.</a:t>
            </a:r>
            <a:endParaRPr lang="en-US" sz="1300" b="0" u="none" strike="noStrike">
              <a:solidFill>
                <a:srgbClr val="000000"/>
              </a:solidFill>
              <a:effectLst/>
              <a:uFillTx/>
              <a:latin typeface="Arial"/>
            </a:endParaRPr>
          </a:p>
        </p:txBody>
      </p:sp>
      <p:sp>
        <p:nvSpPr>
          <p:cNvPr id="70" name="Text 3"/>
          <p:cNvSpPr/>
          <p:nvPr/>
        </p:nvSpPr>
        <p:spPr>
          <a:xfrm>
            <a:off x="6309360" y="1234440"/>
            <a:ext cx="493740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150" strike="noStrike">
                <a:solidFill>
                  <a:srgbClr val="0E8388"/>
                </a:solidFill>
                <a:effectLst/>
                <a:uFillTx/>
                <a:latin typeface="Calibri"/>
                <a:ea typeface="Calibri"/>
              </a:rPr>
              <a:t>8-POINT DECOMPOSITION TREE</a:t>
            </a:r>
            <a:endParaRPr lang="en-US" sz="1100" b="0" u="none" strike="noStrike">
              <a:solidFill>
                <a:srgbClr val="000000"/>
              </a:solidFill>
              <a:effectLst/>
              <a:uFillTx/>
              <a:latin typeface="Arial"/>
            </a:endParaRPr>
          </a:p>
        </p:txBody>
      </p:sp>
      <p:sp>
        <p:nvSpPr>
          <p:cNvPr id="71" name="Shape 4"/>
          <p:cNvSpPr/>
          <p:nvPr/>
        </p:nvSpPr>
        <p:spPr>
          <a:xfrm>
            <a:off x="8915400" y="2148840"/>
            <a:ext cx="360" cy="22860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2" name="Shape 5"/>
          <p:cNvSpPr/>
          <p:nvPr/>
        </p:nvSpPr>
        <p:spPr>
          <a:xfrm>
            <a:off x="7589520" y="2377440"/>
            <a:ext cx="132588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73" name="Shape 6"/>
          <p:cNvSpPr/>
          <p:nvPr/>
        </p:nvSpPr>
        <p:spPr>
          <a:xfrm>
            <a:off x="7589520" y="2377440"/>
            <a:ext cx="360" cy="22860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4" name="Shape 7"/>
          <p:cNvSpPr/>
          <p:nvPr/>
        </p:nvSpPr>
        <p:spPr>
          <a:xfrm>
            <a:off x="8915400" y="2148840"/>
            <a:ext cx="360" cy="22860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5" name="Shape 8"/>
          <p:cNvSpPr/>
          <p:nvPr/>
        </p:nvSpPr>
        <p:spPr>
          <a:xfrm>
            <a:off x="8915400" y="2377440"/>
            <a:ext cx="132588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76" name="Shape 9"/>
          <p:cNvSpPr/>
          <p:nvPr/>
        </p:nvSpPr>
        <p:spPr>
          <a:xfrm>
            <a:off x="10241280" y="2377440"/>
            <a:ext cx="360" cy="22860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7" name="Shape 10"/>
          <p:cNvSpPr/>
          <p:nvPr/>
        </p:nvSpPr>
        <p:spPr>
          <a:xfrm>
            <a:off x="7589520" y="3063240"/>
            <a:ext cx="360" cy="22860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8" name="Shape 11"/>
          <p:cNvSpPr/>
          <p:nvPr/>
        </p:nvSpPr>
        <p:spPr>
          <a:xfrm>
            <a:off x="6858000" y="3291840"/>
            <a:ext cx="73152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79" name="Shape 12"/>
          <p:cNvSpPr/>
          <p:nvPr/>
        </p:nvSpPr>
        <p:spPr>
          <a:xfrm>
            <a:off x="6858000" y="3291840"/>
            <a:ext cx="360" cy="22860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0" name="Shape 13"/>
          <p:cNvSpPr/>
          <p:nvPr/>
        </p:nvSpPr>
        <p:spPr>
          <a:xfrm>
            <a:off x="7589520" y="3063240"/>
            <a:ext cx="360" cy="22860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1" name="Shape 14"/>
          <p:cNvSpPr/>
          <p:nvPr/>
        </p:nvSpPr>
        <p:spPr>
          <a:xfrm>
            <a:off x="7589520" y="3291840"/>
            <a:ext cx="73152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82" name="Shape 15"/>
          <p:cNvSpPr/>
          <p:nvPr/>
        </p:nvSpPr>
        <p:spPr>
          <a:xfrm>
            <a:off x="8321040" y="3291840"/>
            <a:ext cx="360" cy="22860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3" name="Shape 16"/>
          <p:cNvSpPr/>
          <p:nvPr/>
        </p:nvSpPr>
        <p:spPr>
          <a:xfrm>
            <a:off x="10241280" y="3063240"/>
            <a:ext cx="360" cy="22860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4" name="Shape 17"/>
          <p:cNvSpPr/>
          <p:nvPr/>
        </p:nvSpPr>
        <p:spPr>
          <a:xfrm>
            <a:off x="9509760" y="3291840"/>
            <a:ext cx="73152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85" name="Shape 18"/>
          <p:cNvSpPr/>
          <p:nvPr/>
        </p:nvSpPr>
        <p:spPr>
          <a:xfrm>
            <a:off x="9509760" y="3291840"/>
            <a:ext cx="360" cy="22860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6" name="Shape 19"/>
          <p:cNvSpPr/>
          <p:nvPr/>
        </p:nvSpPr>
        <p:spPr>
          <a:xfrm>
            <a:off x="10241280" y="3063240"/>
            <a:ext cx="360" cy="22860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7" name="Shape 20"/>
          <p:cNvSpPr/>
          <p:nvPr/>
        </p:nvSpPr>
        <p:spPr>
          <a:xfrm>
            <a:off x="10241280" y="3291840"/>
            <a:ext cx="73152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88" name="Shape 21"/>
          <p:cNvSpPr/>
          <p:nvPr/>
        </p:nvSpPr>
        <p:spPr>
          <a:xfrm>
            <a:off x="10972800" y="3291840"/>
            <a:ext cx="360" cy="22860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9" name="Shape 22"/>
          <p:cNvSpPr/>
          <p:nvPr/>
        </p:nvSpPr>
        <p:spPr>
          <a:xfrm>
            <a:off x="7909560" y="1691640"/>
            <a:ext cx="2011320" cy="456840"/>
          </a:xfrm>
          <a:prstGeom prst="roundRect">
            <a:avLst>
              <a:gd name="adj" fmla="val 14000"/>
            </a:avLst>
          </a:prstGeom>
          <a:solidFill>
            <a:srgbClr val="132A4A"/>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0" name="Text 23"/>
          <p:cNvSpPr/>
          <p:nvPr/>
        </p:nvSpPr>
        <p:spPr>
          <a:xfrm>
            <a:off x="7909560" y="1691640"/>
            <a:ext cx="201132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8-point FFT</a:t>
            </a:r>
            <a:endParaRPr lang="en-US" sz="1300" b="0" u="none" strike="noStrike">
              <a:solidFill>
                <a:srgbClr val="000000"/>
              </a:solidFill>
              <a:effectLst/>
              <a:uFillTx/>
              <a:latin typeface="Arial"/>
            </a:endParaRPr>
          </a:p>
        </p:txBody>
      </p:sp>
      <p:sp>
        <p:nvSpPr>
          <p:cNvPr id="91" name="Shape 24"/>
          <p:cNvSpPr/>
          <p:nvPr/>
        </p:nvSpPr>
        <p:spPr>
          <a:xfrm>
            <a:off x="6675120" y="2606040"/>
            <a:ext cx="1828440" cy="456840"/>
          </a:xfrm>
          <a:prstGeom prst="roundRect">
            <a:avLst>
              <a:gd name="adj" fmla="val 14000"/>
            </a:avLst>
          </a:prstGeom>
          <a:solidFill>
            <a:srgbClr val="9FD4D1"/>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2" name="Text 25"/>
          <p:cNvSpPr/>
          <p:nvPr/>
        </p:nvSpPr>
        <p:spPr>
          <a:xfrm>
            <a:off x="6675120" y="2606040"/>
            <a:ext cx="18284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32A4A"/>
                </a:solidFill>
                <a:effectLst/>
                <a:uFillTx/>
                <a:latin typeface="Calibri"/>
                <a:ea typeface="Calibri"/>
              </a:rPr>
              <a:t>4-point FFT</a:t>
            </a:r>
            <a:endParaRPr lang="en-US" sz="1300" b="0" u="none" strike="noStrike">
              <a:solidFill>
                <a:srgbClr val="000000"/>
              </a:solidFill>
              <a:effectLst/>
              <a:uFillTx/>
              <a:latin typeface="Arial"/>
            </a:endParaRPr>
          </a:p>
        </p:txBody>
      </p:sp>
      <p:sp>
        <p:nvSpPr>
          <p:cNvPr id="93" name="Shape 26"/>
          <p:cNvSpPr/>
          <p:nvPr/>
        </p:nvSpPr>
        <p:spPr>
          <a:xfrm>
            <a:off x="9326880" y="2606040"/>
            <a:ext cx="1828440" cy="456840"/>
          </a:xfrm>
          <a:prstGeom prst="roundRect">
            <a:avLst>
              <a:gd name="adj" fmla="val 14000"/>
            </a:avLst>
          </a:prstGeom>
          <a:solidFill>
            <a:srgbClr val="E7CDA0"/>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4" name="Text 27"/>
          <p:cNvSpPr/>
          <p:nvPr/>
        </p:nvSpPr>
        <p:spPr>
          <a:xfrm>
            <a:off x="9326880" y="2606040"/>
            <a:ext cx="18284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32A4A"/>
                </a:solidFill>
                <a:effectLst/>
                <a:uFillTx/>
                <a:latin typeface="Calibri"/>
                <a:ea typeface="Calibri"/>
              </a:rPr>
              <a:t>4-point FFT</a:t>
            </a:r>
            <a:endParaRPr lang="en-US" sz="1300" b="0" u="none" strike="noStrike">
              <a:solidFill>
                <a:srgbClr val="000000"/>
              </a:solidFill>
              <a:effectLst/>
              <a:uFillTx/>
              <a:latin typeface="Arial"/>
            </a:endParaRPr>
          </a:p>
        </p:txBody>
      </p:sp>
      <p:sp>
        <p:nvSpPr>
          <p:cNvPr id="95" name="Shape 28"/>
          <p:cNvSpPr/>
          <p:nvPr/>
        </p:nvSpPr>
        <p:spPr>
          <a:xfrm>
            <a:off x="6309360" y="3520440"/>
            <a:ext cx="1096920" cy="456840"/>
          </a:xfrm>
          <a:prstGeom prst="roundRect">
            <a:avLst>
              <a:gd name="adj" fmla="val 14000"/>
            </a:avLst>
          </a:prstGeom>
          <a:solidFill>
            <a:srgbClr val="E4F3F2"/>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6" name="Text 29"/>
          <p:cNvSpPr/>
          <p:nvPr/>
        </p:nvSpPr>
        <p:spPr>
          <a:xfrm>
            <a:off x="6309360" y="3520440"/>
            <a:ext cx="109692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2-point</a:t>
            </a:r>
            <a:endParaRPr lang="en-US" sz="1100" b="0" u="none" strike="noStrike">
              <a:solidFill>
                <a:srgbClr val="000000"/>
              </a:solidFill>
              <a:effectLst/>
              <a:uFillTx/>
              <a:latin typeface="Arial"/>
            </a:endParaRPr>
          </a:p>
        </p:txBody>
      </p:sp>
      <p:sp>
        <p:nvSpPr>
          <p:cNvPr id="97" name="Shape 30"/>
          <p:cNvSpPr/>
          <p:nvPr/>
        </p:nvSpPr>
        <p:spPr>
          <a:xfrm>
            <a:off x="7772400" y="3520440"/>
            <a:ext cx="1096920" cy="456840"/>
          </a:xfrm>
          <a:prstGeom prst="roundRect">
            <a:avLst>
              <a:gd name="adj" fmla="val 14000"/>
            </a:avLst>
          </a:prstGeom>
          <a:solidFill>
            <a:srgbClr val="E4F3F2"/>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8" name="Text 31"/>
          <p:cNvSpPr/>
          <p:nvPr/>
        </p:nvSpPr>
        <p:spPr>
          <a:xfrm>
            <a:off x="7772400" y="3520440"/>
            <a:ext cx="109692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2-point</a:t>
            </a:r>
            <a:endParaRPr lang="en-US" sz="1100" b="0" u="none" strike="noStrike">
              <a:solidFill>
                <a:srgbClr val="000000"/>
              </a:solidFill>
              <a:effectLst/>
              <a:uFillTx/>
              <a:latin typeface="Arial"/>
            </a:endParaRPr>
          </a:p>
        </p:txBody>
      </p:sp>
      <p:sp>
        <p:nvSpPr>
          <p:cNvPr id="99" name="Shape 32"/>
          <p:cNvSpPr/>
          <p:nvPr/>
        </p:nvSpPr>
        <p:spPr>
          <a:xfrm>
            <a:off x="8961120" y="3520440"/>
            <a:ext cx="1096920" cy="456840"/>
          </a:xfrm>
          <a:prstGeom prst="roundRect">
            <a:avLst>
              <a:gd name="adj" fmla="val 14000"/>
            </a:avLst>
          </a:prstGeom>
          <a:solidFill>
            <a:srgbClr val="FBF0E2"/>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0" name="Text 33"/>
          <p:cNvSpPr/>
          <p:nvPr/>
        </p:nvSpPr>
        <p:spPr>
          <a:xfrm>
            <a:off x="8961120" y="3520440"/>
            <a:ext cx="109692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2-point</a:t>
            </a:r>
            <a:endParaRPr lang="en-US" sz="1100" b="0" u="none" strike="noStrike">
              <a:solidFill>
                <a:srgbClr val="000000"/>
              </a:solidFill>
              <a:effectLst/>
              <a:uFillTx/>
              <a:latin typeface="Arial"/>
            </a:endParaRPr>
          </a:p>
        </p:txBody>
      </p:sp>
      <p:sp>
        <p:nvSpPr>
          <p:cNvPr id="101" name="Shape 34"/>
          <p:cNvSpPr/>
          <p:nvPr/>
        </p:nvSpPr>
        <p:spPr>
          <a:xfrm>
            <a:off x="10424160" y="3520440"/>
            <a:ext cx="1096920" cy="456840"/>
          </a:xfrm>
          <a:prstGeom prst="roundRect">
            <a:avLst>
              <a:gd name="adj" fmla="val 14000"/>
            </a:avLst>
          </a:prstGeom>
          <a:solidFill>
            <a:srgbClr val="FBF0E2"/>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2" name="Text 35"/>
          <p:cNvSpPr/>
          <p:nvPr/>
        </p:nvSpPr>
        <p:spPr>
          <a:xfrm>
            <a:off x="10424160" y="3520440"/>
            <a:ext cx="109692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2-point</a:t>
            </a:r>
            <a:endParaRPr lang="en-US" sz="1100" b="0" u="none" strike="noStrike">
              <a:solidFill>
                <a:srgbClr val="000000"/>
              </a:solidFill>
              <a:effectLst/>
              <a:uFillTx/>
              <a:latin typeface="Arial"/>
            </a:endParaRPr>
          </a:p>
        </p:txBody>
      </p:sp>
      <p:sp>
        <p:nvSpPr>
          <p:cNvPr id="103" name="Text 36"/>
          <p:cNvSpPr/>
          <p:nvPr/>
        </p:nvSpPr>
        <p:spPr>
          <a:xfrm>
            <a:off x="6309360" y="4160520"/>
            <a:ext cx="5211720" cy="73116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i="1" u="none" strike="noStrike">
                <a:solidFill>
                  <a:srgbClr val="5C6B7A"/>
                </a:solidFill>
                <a:effectLst/>
                <a:uFillTx/>
                <a:latin typeface="Calibri"/>
                <a:ea typeface="Calibri"/>
              </a:rPr>
              <a:t>8 -&gt; 4 + 4 -&gt; 2+2+2+2 -&gt; eight trivial 1-point DFTs. One large DFT becomes many tiny DFTs plus recombination arithmetic: the butterfly.</a:t>
            </a:r>
            <a:endParaRPr lang="en-US" sz="1300" b="0" u="none" strike="noStrike">
              <a:solidFill>
                <a:srgbClr val="000000"/>
              </a:solidFill>
              <a:effectLst/>
              <a:uFillTx/>
              <a:latin typeface="Arial"/>
            </a:endParaRPr>
          </a:p>
        </p:txBody>
      </p:sp>
      <p:sp>
        <p:nvSpPr>
          <p:cNvPr id="104" name="Shape 37"/>
          <p:cNvSpPr/>
          <p:nvPr/>
        </p:nvSpPr>
        <p:spPr>
          <a:xfrm>
            <a:off x="502920" y="5120640"/>
            <a:ext cx="11155320" cy="1142640"/>
          </a:xfrm>
          <a:prstGeom prst="roundRect">
            <a:avLst>
              <a:gd name="adj" fmla="val 4800"/>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5" name="Text 38"/>
          <p:cNvSpPr/>
          <p:nvPr/>
        </p:nvSpPr>
        <p:spPr>
          <a:xfrm>
            <a:off x="731520" y="5193720"/>
            <a:ext cx="10698120" cy="1005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E8388"/>
                </a:solidFill>
                <a:effectLst/>
                <a:uFillTx/>
                <a:latin typeface="Calibri"/>
                <a:ea typeface="Calibri"/>
              </a:rPr>
              <a:t>Why splitting pays off:  </a:t>
            </a:r>
            <a:r>
              <a:rPr lang="en-US" sz="1300" b="0" u="none" strike="noStrike">
                <a:solidFill>
                  <a:srgbClr val="16202E"/>
                </a:solidFill>
                <a:effectLst/>
                <a:uFillTx/>
                <a:latin typeface="Calibri"/>
                <a:ea typeface="Calibri"/>
              </a:rPr>
              <a:t>two N/2-point DFTs cost 2 x (N/2)² = N²/2 multiplies, half of the direct cost. Repeating the split log₂N times drives the total from N² down to about N log₂N.</a:t>
            </a:r>
            <a:endParaRPr lang="en-US" sz="1300" b="0" u="none" strike="noStrike">
              <a:solidFill>
                <a:srgbClr val="000000"/>
              </a:solidFill>
              <a:effectLst/>
              <a:uFillTx/>
              <a:latin typeface="Arial"/>
            </a:endParaRPr>
          </a:p>
        </p:txBody>
      </p:sp>
      <p:sp>
        <p:nvSpPr>
          <p:cNvPr id="106" name="Shape 39"/>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107" name="Shape 40"/>
          <p:cNvSpPr/>
          <p:nvPr/>
        </p:nvSpPr>
        <p:spPr>
          <a:xfrm>
            <a:off x="502920" y="6473880"/>
            <a:ext cx="132768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108" name="Text 41"/>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000000"/>
              </a:solidFill>
              <a:effectLst/>
              <a:uFillTx/>
              <a:latin typeface="Arial"/>
            </a:endParaRPr>
          </a:p>
        </p:txBody>
      </p:sp>
      <p:sp>
        <p:nvSpPr>
          <p:cNvPr id="109" name="Text 42"/>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DIT Mathematics     5</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110"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2A · DIT MATHEMATICS</a:t>
            </a:r>
            <a:endParaRPr lang="en-US" sz="1150" b="0" u="none" strike="noStrike">
              <a:solidFill>
                <a:srgbClr val="000000"/>
              </a:solidFill>
              <a:effectLst/>
              <a:uFillTx/>
              <a:latin typeface="Arial"/>
            </a:endParaRPr>
          </a:p>
        </p:txBody>
      </p:sp>
      <p:sp>
        <p:nvSpPr>
          <p:cNvPr id="111"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Deriving the Radix-2 DIT Equation</a:t>
            </a:r>
            <a:endParaRPr lang="en-US" sz="2600" b="0" u="none" strike="noStrike">
              <a:solidFill>
                <a:srgbClr val="000000"/>
              </a:solidFill>
              <a:effectLst/>
              <a:uFillTx/>
              <a:latin typeface="Arial"/>
            </a:endParaRPr>
          </a:p>
        </p:txBody>
      </p:sp>
      <p:sp>
        <p:nvSpPr>
          <p:cNvPr id="112" name="Text 2"/>
          <p:cNvSpPr/>
          <p:nvPr/>
        </p:nvSpPr>
        <p:spPr>
          <a:xfrm>
            <a:off x="502920" y="1188720"/>
            <a:ext cx="347436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STEP 1 · SPLIT BY PARITY</a:t>
            </a:r>
            <a:endParaRPr lang="en-US" sz="1100" b="0" u="none" strike="noStrike">
              <a:solidFill>
                <a:srgbClr val="000000"/>
              </a:solidFill>
              <a:effectLst/>
              <a:uFillTx/>
              <a:latin typeface="Arial"/>
            </a:endParaRPr>
          </a:p>
        </p:txBody>
      </p:sp>
      <p:sp>
        <p:nvSpPr>
          <p:cNvPr id="113" name="Shape 3"/>
          <p:cNvSpPr/>
          <p:nvPr/>
        </p:nvSpPr>
        <p:spPr>
          <a:xfrm>
            <a:off x="502920" y="1463040"/>
            <a:ext cx="3474360" cy="776880"/>
          </a:xfrm>
          <a:prstGeom prst="roundRect">
            <a:avLst>
              <a:gd name="adj" fmla="val 7059"/>
            </a:avLst>
          </a:prstGeom>
          <a:solidFill>
            <a:srgbClr val="132A4A"/>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4" name="Text 4"/>
          <p:cNvSpPr/>
          <p:nvPr/>
        </p:nvSpPr>
        <p:spPr>
          <a:xfrm>
            <a:off x="502920" y="1463040"/>
            <a:ext cx="3474360" cy="7768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mbria"/>
                <a:ea typeface="Cambria"/>
              </a:rPr>
              <a:t>X</a:t>
            </a:r>
            <a:r>
              <a:rPr lang="en-US" sz="1300" b="1" u="none" strike="noStrike" baseline="-40000">
                <a:solidFill>
                  <a:srgbClr val="FFFFFF"/>
                </a:solidFill>
                <a:effectLst/>
                <a:uFillTx/>
                <a:latin typeface="Cambria"/>
                <a:ea typeface="Cambria"/>
              </a:rPr>
              <a:t>k</a:t>
            </a:r>
            <a:r>
              <a:rPr lang="en-US" sz="1300" b="1" u="none" strike="noStrike">
                <a:solidFill>
                  <a:srgbClr val="FFFFFF"/>
                </a:solidFill>
                <a:effectLst/>
                <a:uFillTx/>
                <a:latin typeface="Cambria"/>
                <a:ea typeface="Cambria"/>
              </a:rPr>
              <a:t> = </a:t>
            </a:r>
            <a:r>
              <a:rPr lang="en-US" sz="2000" b="1" u="none" strike="noStrike">
                <a:solidFill>
                  <a:srgbClr val="FFFFFF"/>
                </a:solidFill>
                <a:effectLst/>
                <a:uFillTx/>
                <a:latin typeface="Cambria"/>
                <a:ea typeface="Cambria"/>
              </a:rPr>
              <a:t>Σ</a:t>
            </a:r>
            <a:r>
              <a:rPr lang="en-US" sz="1300" b="1" u="none" strike="noStrike" baseline="-40000">
                <a:solidFill>
                  <a:srgbClr val="FFFFFF"/>
                </a:solidFill>
                <a:effectLst/>
                <a:uFillTx/>
                <a:latin typeface="Cambria"/>
                <a:ea typeface="Cambria"/>
              </a:rPr>
              <a:t>r</a:t>
            </a:r>
            <a:r>
              <a:rPr lang="en-US" sz="1300" b="1" u="none" strike="noStrike">
                <a:solidFill>
                  <a:srgbClr val="FFFFFF"/>
                </a:solidFill>
                <a:effectLst/>
                <a:uFillTx/>
                <a:latin typeface="Cambria"/>
                <a:ea typeface="Cambria"/>
              </a:rPr>
              <a:t> x</a:t>
            </a:r>
            <a:r>
              <a:rPr lang="en-US" sz="1300" b="1" u="none" strike="noStrike" baseline="-40000">
                <a:solidFill>
                  <a:srgbClr val="FFFFFF"/>
                </a:solidFill>
                <a:effectLst/>
                <a:uFillTx/>
                <a:latin typeface="Cambria"/>
                <a:ea typeface="Cambria"/>
              </a:rPr>
              <a:t>2r</a:t>
            </a:r>
            <a:r>
              <a:rPr lang="en-US" sz="1300" b="1" u="none" strike="noStrike">
                <a:solidFill>
                  <a:srgbClr val="FFFFFF"/>
                </a:solidFill>
                <a:effectLst/>
                <a:uFillTx/>
                <a:latin typeface="Cambria"/>
                <a:ea typeface="Cambria"/>
              </a:rPr>
              <a:t> W</a:t>
            </a:r>
            <a:r>
              <a:rPr lang="en-US" sz="1300" b="1" u="none" strike="noStrike" baseline="-40000">
                <a:solidFill>
                  <a:srgbClr val="FFFFFF"/>
                </a:solidFill>
                <a:effectLst/>
                <a:uFillTx/>
                <a:latin typeface="Cambria"/>
                <a:ea typeface="Cambria"/>
              </a:rPr>
              <a:t>N</a:t>
            </a:r>
            <a:r>
              <a:rPr lang="en-US" sz="1300" b="1" u="none" strike="noStrike" baseline="30000">
                <a:solidFill>
                  <a:srgbClr val="FFFFFF"/>
                </a:solidFill>
                <a:effectLst/>
                <a:uFillTx/>
                <a:latin typeface="Cambria"/>
                <a:ea typeface="Cambria"/>
              </a:rPr>
              <a:t>2rk</a:t>
            </a:r>
            <a:r>
              <a:rPr lang="en-US" sz="1300" b="1" u="none" strike="noStrike">
                <a:solidFill>
                  <a:srgbClr val="FFFFFF"/>
                </a:solidFill>
                <a:effectLst/>
                <a:uFillTx/>
                <a:latin typeface="Cambria"/>
                <a:ea typeface="Cambria"/>
              </a:rPr>
              <a:t> + </a:t>
            </a:r>
            <a:r>
              <a:rPr lang="en-US" sz="2000" b="1" u="none" strike="noStrike">
                <a:solidFill>
                  <a:srgbClr val="FFFFFF"/>
                </a:solidFill>
                <a:effectLst/>
                <a:uFillTx/>
                <a:latin typeface="Cambria"/>
                <a:ea typeface="Cambria"/>
              </a:rPr>
              <a:t>Σ</a:t>
            </a:r>
            <a:r>
              <a:rPr lang="en-US" sz="1300" b="1" u="none" strike="noStrike" baseline="-40000">
                <a:solidFill>
                  <a:srgbClr val="FFFFFF"/>
                </a:solidFill>
                <a:effectLst/>
                <a:uFillTx/>
                <a:latin typeface="Cambria"/>
                <a:ea typeface="Cambria"/>
              </a:rPr>
              <a:t>r</a:t>
            </a:r>
            <a:r>
              <a:rPr lang="en-US" sz="1300" b="1" u="none" strike="noStrike">
                <a:solidFill>
                  <a:srgbClr val="FFFFFF"/>
                </a:solidFill>
                <a:effectLst/>
                <a:uFillTx/>
                <a:latin typeface="Cambria"/>
                <a:ea typeface="Cambria"/>
              </a:rPr>
              <a:t> x</a:t>
            </a:r>
            <a:r>
              <a:rPr lang="en-US" sz="1300" b="1" u="none" strike="noStrike" baseline="-40000">
                <a:solidFill>
                  <a:srgbClr val="FFFFFF"/>
                </a:solidFill>
                <a:effectLst/>
                <a:uFillTx/>
                <a:latin typeface="Cambria"/>
                <a:ea typeface="Cambria"/>
              </a:rPr>
              <a:t>2r+1</a:t>
            </a:r>
            <a:r>
              <a:rPr lang="en-US" sz="1300" b="1" u="none" strike="noStrike">
                <a:solidFill>
                  <a:srgbClr val="FFFFFF"/>
                </a:solidFill>
                <a:effectLst/>
                <a:uFillTx/>
                <a:latin typeface="Cambria"/>
                <a:ea typeface="Cambria"/>
              </a:rPr>
              <a:t> W</a:t>
            </a:r>
            <a:r>
              <a:rPr lang="en-US" sz="1300" b="1" u="none" strike="noStrike" baseline="-40000">
                <a:solidFill>
                  <a:srgbClr val="FFFFFF"/>
                </a:solidFill>
                <a:effectLst/>
                <a:uFillTx/>
                <a:latin typeface="Cambria"/>
                <a:ea typeface="Cambria"/>
              </a:rPr>
              <a:t>N</a:t>
            </a:r>
            <a:r>
              <a:rPr lang="en-US" sz="1300" b="1" u="none" strike="noStrike" baseline="30000">
                <a:solidFill>
                  <a:srgbClr val="FFFFFF"/>
                </a:solidFill>
                <a:effectLst/>
                <a:uFillTx/>
                <a:latin typeface="Cambria"/>
                <a:ea typeface="Cambria"/>
              </a:rPr>
              <a:t>(2r+1)k</a:t>
            </a:r>
            <a:endParaRPr lang="en-US" sz="1300" b="0" u="none" strike="noStrike">
              <a:solidFill>
                <a:srgbClr val="000000"/>
              </a:solidFill>
              <a:effectLst/>
              <a:uFillTx/>
              <a:latin typeface="Arial"/>
            </a:endParaRPr>
          </a:p>
        </p:txBody>
      </p:sp>
      <p:sp>
        <p:nvSpPr>
          <p:cNvPr id="115" name="Text 5"/>
          <p:cNvSpPr/>
          <p:nvPr/>
        </p:nvSpPr>
        <p:spPr>
          <a:xfrm>
            <a:off x="4480560" y="1188720"/>
            <a:ext cx="347436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STEP 2 · SIMPLIFY EXPONENTS</a:t>
            </a:r>
            <a:endParaRPr lang="en-US" sz="1100" b="0" u="none" strike="noStrike">
              <a:solidFill>
                <a:srgbClr val="000000"/>
              </a:solidFill>
              <a:effectLst/>
              <a:uFillTx/>
              <a:latin typeface="Arial"/>
            </a:endParaRPr>
          </a:p>
        </p:txBody>
      </p:sp>
      <p:sp>
        <p:nvSpPr>
          <p:cNvPr id="116" name="Shape 6"/>
          <p:cNvSpPr/>
          <p:nvPr/>
        </p:nvSpPr>
        <p:spPr>
          <a:xfrm>
            <a:off x="4480560" y="1463040"/>
            <a:ext cx="3474360" cy="776880"/>
          </a:xfrm>
          <a:prstGeom prst="roundRect">
            <a:avLst>
              <a:gd name="adj" fmla="val 7059"/>
            </a:avLst>
          </a:prstGeom>
          <a:solidFill>
            <a:srgbClr val="0E8388"/>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7" name="Text 7"/>
          <p:cNvSpPr/>
          <p:nvPr/>
        </p:nvSpPr>
        <p:spPr>
          <a:xfrm>
            <a:off x="4480560" y="1463040"/>
            <a:ext cx="3474360" cy="7768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mbria"/>
                <a:ea typeface="Cambria"/>
              </a:rPr>
              <a:t>W</a:t>
            </a:r>
            <a:r>
              <a:rPr lang="en-US" sz="1300" b="1" u="none" strike="noStrike" baseline="-40000">
                <a:solidFill>
                  <a:srgbClr val="FFFFFF"/>
                </a:solidFill>
                <a:effectLst/>
                <a:uFillTx/>
                <a:latin typeface="Cambria"/>
                <a:ea typeface="Cambria"/>
              </a:rPr>
              <a:t>N</a:t>
            </a:r>
            <a:r>
              <a:rPr lang="en-US" sz="1300" b="1" u="none" strike="noStrike" baseline="30000">
                <a:solidFill>
                  <a:srgbClr val="FFFFFF"/>
                </a:solidFill>
                <a:effectLst/>
                <a:uFillTx/>
                <a:latin typeface="Cambria"/>
                <a:ea typeface="Cambria"/>
              </a:rPr>
              <a:t>2rk</a:t>
            </a:r>
            <a:r>
              <a:rPr lang="en-US" sz="1300" b="1" u="none" strike="noStrike">
                <a:solidFill>
                  <a:srgbClr val="FFFFFF"/>
                </a:solidFill>
                <a:effectLst/>
                <a:uFillTx/>
                <a:latin typeface="Cambria"/>
                <a:ea typeface="Cambria"/>
              </a:rPr>
              <a:t> = W</a:t>
            </a:r>
            <a:r>
              <a:rPr lang="en-US" sz="1300" b="1" u="none" strike="noStrike" baseline="-40000">
                <a:solidFill>
                  <a:srgbClr val="FFFFFF"/>
                </a:solidFill>
                <a:effectLst/>
                <a:uFillTx/>
                <a:latin typeface="Cambria"/>
                <a:ea typeface="Cambria"/>
              </a:rPr>
              <a:t>N/2</a:t>
            </a:r>
            <a:r>
              <a:rPr lang="en-US" sz="1300" b="1" u="none" strike="noStrike" baseline="30000">
                <a:solidFill>
                  <a:srgbClr val="FFFFFF"/>
                </a:solidFill>
                <a:effectLst/>
                <a:uFillTx/>
                <a:latin typeface="Cambria"/>
                <a:ea typeface="Cambria"/>
              </a:rPr>
              <a:t>rk</a:t>
            </a:r>
            <a:r>
              <a:rPr lang="en-US" sz="1300" b="1" u="none" strike="noStrike">
                <a:solidFill>
                  <a:srgbClr val="FFFFFF"/>
                </a:solidFill>
                <a:effectLst/>
                <a:uFillTx/>
                <a:latin typeface="Cambria"/>
                <a:ea typeface="Cambria"/>
              </a:rPr>
              <a:t>   ,   W</a:t>
            </a:r>
            <a:r>
              <a:rPr lang="en-US" sz="1300" b="1" u="none" strike="noStrike" baseline="-40000">
                <a:solidFill>
                  <a:srgbClr val="FFFFFF"/>
                </a:solidFill>
                <a:effectLst/>
                <a:uFillTx/>
                <a:latin typeface="Cambria"/>
                <a:ea typeface="Cambria"/>
              </a:rPr>
              <a:t>N</a:t>
            </a:r>
            <a:r>
              <a:rPr lang="en-US" sz="1300" b="1" u="none" strike="noStrike" baseline="30000">
                <a:solidFill>
                  <a:srgbClr val="FFFFFF"/>
                </a:solidFill>
                <a:effectLst/>
                <a:uFillTx/>
                <a:latin typeface="Cambria"/>
                <a:ea typeface="Cambria"/>
              </a:rPr>
              <a:t>(2r+1)k</a:t>
            </a:r>
            <a:r>
              <a:rPr lang="en-US" sz="1300" b="1" u="none" strike="noStrike">
                <a:solidFill>
                  <a:srgbClr val="FFFFFF"/>
                </a:solidFill>
                <a:effectLst/>
                <a:uFillTx/>
                <a:latin typeface="Cambria"/>
                <a:ea typeface="Cambria"/>
              </a:rPr>
              <a:t> = W</a:t>
            </a:r>
            <a:r>
              <a:rPr lang="en-US" sz="1300" b="1" u="none" strike="noStrike" baseline="-40000">
                <a:solidFill>
                  <a:srgbClr val="FFFFFF"/>
                </a:solidFill>
                <a:effectLst/>
                <a:uFillTx/>
                <a:latin typeface="Cambria"/>
                <a:ea typeface="Cambria"/>
              </a:rPr>
              <a:t>N</a:t>
            </a:r>
            <a:r>
              <a:rPr lang="en-US" sz="1300" b="1" u="none" strike="noStrike" baseline="30000">
                <a:solidFill>
                  <a:srgbClr val="FFFFFF"/>
                </a:solidFill>
                <a:effectLst/>
                <a:uFillTx/>
                <a:latin typeface="Cambria"/>
                <a:ea typeface="Cambria"/>
              </a:rPr>
              <a:t>k</a:t>
            </a:r>
            <a:r>
              <a:rPr lang="en-US" sz="1300" b="1" u="none" strike="noStrike">
                <a:solidFill>
                  <a:srgbClr val="FFFFFF"/>
                </a:solidFill>
                <a:effectLst/>
                <a:uFillTx/>
                <a:latin typeface="Cambria"/>
                <a:ea typeface="Cambria"/>
              </a:rPr>
              <a:t> W</a:t>
            </a:r>
            <a:r>
              <a:rPr lang="en-US" sz="1300" b="1" u="none" strike="noStrike" baseline="-40000">
                <a:solidFill>
                  <a:srgbClr val="FFFFFF"/>
                </a:solidFill>
                <a:effectLst/>
                <a:uFillTx/>
                <a:latin typeface="Cambria"/>
                <a:ea typeface="Cambria"/>
              </a:rPr>
              <a:t>N/2</a:t>
            </a:r>
            <a:r>
              <a:rPr lang="en-US" sz="1300" b="1" u="none" strike="noStrike" baseline="30000">
                <a:solidFill>
                  <a:srgbClr val="FFFFFF"/>
                </a:solidFill>
                <a:effectLst/>
                <a:uFillTx/>
                <a:latin typeface="Cambria"/>
                <a:ea typeface="Cambria"/>
              </a:rPr>
              <a:t>rk</a:t>
            </a:r>
            <a:endParaRPr lang="en-US" sz="1300" b="0" u="none" strike="noStrike">
              <a:solidFill>
                <a:srgbClr val="000000"/>
              </a:solidFill>
              <a:effectLst/>
              <a:uFillTx/>
              <a:latin typeface="Arial"/>
            </a:endParaRPr>
          </a:p>
        </p:txBody>
      </p:sp>
      <p:sp>
        <p:nvSpPr>
          <p:cNvPr id="118" name="Text 8"/>
          <p:cNvSpPr/>
          <p:nvPr/>
        </p:nvSpPr>
        <p:spPr>
          <a:xfrm>
            <a:off x="7955280" y="1188720"/>
            <a:ext cx="329148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STEP 3 · DEFINE E[k], O[k]</a:t>
            </a:r>
            <a:endParaRPr lang="en-US" sz="1100" b="0" u="none" strike="noStrike">
              <a:solidFill>
                <a:srgbClr val="000000"/>
              </a:solidFill>
              <a:effectLst/>
              <a:uFillTx/>
              <a:latin typeface="Arial"/>
            </a:endParaRPr>
          </a:p>
        </p:txBody>
      </p:sp>
      <p:sp>
        <p:nvSpPr>
          <p:cNvPr id="119" name="Shape 9"/>
          <p:cNvSpPr/>
          <p:nvPr/>
        </p:nvSpPr>
        <p:spPr>
          <a:xfrm>
            <a:off x="7955280" y="1463040"/>
            <a:ext cx="3291480" cy="776880"/>
          </a:xfrm>
          <a:prstGeom prst="roundRect">
            <a:avLst>
              <a:gd name="adj" fmla="val 7059"/>
            </a:avLst>
          </a:prstGeom>
          <a:solidFill>
            <a:srgbClr val="D98324"/>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20" name="Text 10"/>
          <p:cNvSpPr/>
          <p:nvPr/>
        </p:nvSpPr>
        <p:spPr>
          <a:xfrm>
            <a:off x="7955280" y="1463040"/>
            <a:ext cx="3291480" cy="7768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mbria"/>
                <a:ea typeface="Cambria"/>
              </a:rPr>
              <a:t>E</a:t>
            </a:r>
            <a:r>
              <a:rPr lang="en-US" sz="1300" b="1" u="none" strike="noStrike" baseline="-40000">
                <a:solidFill>
                  <a:srgbClr val="FFFFFF"/>
                </a:solidFill>
                <a:effectLst/>
                <a:uFillTx/>
                <a:latin typeface="Cambria"/>
                <a:ea typeface="Cambria"/>
              </a:rPr>
              <a:t>k</a:t>
            </a:r>
            <a:r>
              <a:rPr lang="en-US" sz="1600" b="1" u="none" strike="noStrike">
                <a:solidFill>
                  <a:srgbClr val="FFFFFF"/>
                </a:solidFill>
                <a:effectLst/>
                <a:uFillTx/>
                <a:latin typeface="Cambria"/>
                <a:ea typeface="Cambria"/>
              </a:rPr>
              <a:t> = </a:t>
            </a:r>
            <a:r>
              <a:rPr lang="en-US" sz="1800" b="1" u="none" strike="noStrike">
                <a:solidFill>
                  <a:srgbClr val="FFFFFF"/>
                </a:solidFill>
                <a:effectLst/>
                <a:uFillTx/>
                <a:latin typeface="Cambria"/>
                <a:ea typeface="Cambria"/>
              </a:rPr>
              <a:t>Σ</a:t>
            </a:r>
            <a:r>
              <a:rPr lang="en-US" sz="1300" b="1" u="none" strike="noStrike">
                <a:solidFill>
                  <a:srgbClr val="FFFFFF"/>
                </a:solidFill>
                <a:effectLst/>
                <a:uFillTx/>
                <a:latin typeface="Cambria"/>
                <a:ea typeface="Cambria"/>
              </a:rPr>
              <a:t> x</a:t>
            </a:r>
            <a:r>
              <a:rPr lang="en-US" sz="1300" b="1" u="none" strike="noStrike" baseline="-40000">
                <a:solidFill>
                  <a:srgbClr val="FFFFFF"/>
                </a:solidFill>
                <a:effectLst/>
                <a:uFillTx/>
                <a:latin typeface="Cambria"/>
                <a:ea typeface="Cambria"/>
              </a:rPr>
              <a:t>2r</a:t>
            </a:r>
            <a:r>
              <a:rPr lang="en-US" sz="1300" b="1" u="none" strike="noStrike">
                <a:solidFill>
                  <a:srgbClr val="FFFFFF"/>
                </a:solidFill>
                <a:effectLst/>
                <a:uFillTx/>
                <a:latin typeface="Cambria"/>
                <a:ea typeface="Cambria"/>
              </a:rPr>
              <a:t>W</a:t>
            </a:r>
            <a:r>
              <a:rPr lang="en-US" sz="1300" b="1" u="none" strike="noStrike" baseline="-40000">
                <a:solidFill>
                  <a:srgbClr val="FFFFFF"/>
                </a:solidFill>
                <a:effectLst/>
                <a:uFillTx/>
                <a:latin typeface="Cambria"/>
                <a:ea typeface="Cambria"/>
              </a:rPr>
              <a:t>N/2</a:t>
            </a:r>
            <a:r>
              <a:rPr lang="en-US" sz="1300" b="1" u="none" strike="noStrike" baseline="30000">
                <a:solidFill>
                  <a:srgbClr val="FFFFFF"/>
                </a:solidFill>
                <a:effectLst/>
                <a:uFillTx/>
                <a:latin typeface="Cambria"/>
                <a:ea typeface="Cambria"/>
              </a:rPr>
              <a:t>rk</a:t>
            </a:r>
            <a:r>
              <a:rPr lang="en-US" sz="1600" b="1" u="none" strike="noStrike">
                <a:solidFill>
                  <a:srgbClr val="FFFFFF"/>
                </a:solidFill>
                <a:effectLst/>
                <a:uFillTx/>
                <a:latin typeface="Cambria"/>
                <a:ea typeface="Cambria"/>
              </a:rPr>
              <a:t>     O</a:t>
            </a:r>
            <a:r>
              <a:rPr lang="en-US" sz="1300" b="1" u="none" strike="noStrike" baseline="-40000">
                <a:solidFill>
                  <a:srgbClr val="FFFFFF"/>
                </a:solidFill>
                <a:effectLst/>
                <a:uFillTx/>
                <a:latin typeface="Cambria"/>
                <a:ea typeface="Cambria"/>
              </a:rPr>
              <a:t>k</a:t>
            </a:r>
            <a:r>
              <a:rPr lang="en-US" sz="1600" b="1" u="none" strike="noStrike">
                <a:solidFill>
                  <a:srgbClr val="FFFFFF"/>
                </a:solidFill>
                <a:effectLst/>
                <a:uFillTx/>
                <a:latin typeface="Cambria"/>
                <a:ea typeface="Cambria"/>
              </a:rPr>
              <a:t> = </a:t>
            </a:r>
            <a:r>
              <a:rPr lang="en-US" sz="1800" b="1" u="none" strike="noStrike">
                <a:solidFill>
                  <a:srgbClr val="FFFFFF"/>
                </a:solidFill>
                <a:effectLst/>
                <a:uFillTx/>
                <a:latin typeface="Cambria"/>
                <a:ea typeface="Cambria"/>
              </a:rPr>
              <a:t>Σ</a:t>
            </a:r>
            <a:r>
              <a:rPr lang="en-US" sz="1300" b="1" u="none" strike="noStrike">
                <a:solidFill>
                  <a:srgbClr val="FFFFFF"/>
                </a:solidFill>
                <a:effectLst/>
                <a:uFillTx/>
                <a:latin typeface="Cambria"/>
                <a:ea typeface="Cambria"/>
              </a:rPr>
              <a:t> x</a:t>
            </a:r>
            <a:r>
              <a:rPr lang="en-US" sz="1300" b="1" u="none" strike="noStrike" baseline="-40000">
                <a:solidFill>
                  <a:srgbClr val="FFFFFF"/>
                </a:solidFill>
                <a:effectLst/>
                <a:uFillTx/>
                <a:latin typeface="Cambria"/>
                <a:ea typeface="Cambria"/>
              </a:rPr>
              <a:t>2r+1</a:t>
            </a:r>
            <a:r>
              <a:rPr lang="en-US" sz="1300" b="1" u="none" strike="noStrike">
                <a:solidFill>
                  <a:srgbClr val="FFFFFF"/>
                </a:solidFill>
                <a:effectLst/>
                <a:uFillTx/>
                <a:latin typeface="Cambria"/>
                <a:ea typeface="Cambria"/>
              </a:rPr>
              <a:t>W</a:t>
            </a:r>
            <a:r>
              <a:rPr lang="en-US" sz="1300" b="1" u="none" strike="noStrike" baseline="-40000">
                <a:solidFill>
                  <a:srgbClr val="FFFFFF"/>
                </a:solidFill>
                <a:effectLst/>
                <a:uFillTx/>
                <a:latin typeface="Cambria"/>
                <a:ea typeface="Cambria"/>
              </a:rPr>
              <a:t>N/2</a:t>
            </a:r>
            <a:r>
              <a:rPr lang="en-US" sz="1300" b="1" u="none" strike="noStrike" baseline="30000">
                <a:solidFill>
                  <a:srgbClr val="FFFFFF"/>
                </a:solidFill>
                <a:effectLst/>
                <a:uFillTx/>
                <a:latin typeface="Cambria"/>
                <a:ea typeface="Cambria"/>
              </a:rPr>
              <a:t>rk</a:t>
            </a:r>
            <a:endParaRPr lang="en-US" sz="1300" b="0" u="none" strike="noStrike">
              <a:solidFill>
                <a:srgbClr val="000000"/>
              </a:solidFill>
              <a:effectLst/>
              <a:uFillTx/>
              <a:latin typeface="Arial"/>
            </a:endParaRPr>
          </a:p>
        </p:txBody>
      </p:sp>
      <p:sp>
        <p:nvSpPr>
          <p:cNvPr id="121" name="Text 11"/>
          <p:cNvSpPr/>
          <p:nvPr/>
        </p:nvSpPr>
        <p:spPr>
          <a:xfrm>
            <a:off x="502920" y="2514600"/>
            <a:ext cx="7223400" cy="219420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12000"/>
              </a:lnSpc>
              <a:spcAft>
                <a:spcPts val="879"/>
              </a:spcAft>
              <a:buClr>
                <a:srgbClr val="16202E"/>
              </a:buClr>
              <a:buFont typeface="Wingdings" charset="2"/>
              <a:buChar char=""/>
            </a:pPr>
            <a:r>
              <a:rPr lang="en-US" sz="1300" b="0" u="none" strike="noStrike">
                <a:solidFill>
                  <a:srgbClr val="16202E"/>
                </a:solidFill>
                <a:effectLst/>
                <a:uFillTx/>
                <a:latin typeface="Calibri"/>
                <a:ea typeface="Calibri"/>
              </a:rPr>
              <a:t>Every index n = 0..N-1 is either even (n=2r) or odd (n=2r+1). Splitting the sum into these two groups changes nothing mathematically, it only regroups the same N terms.</a:t>
            </a:r>
            <a:endParaRPr lang="en-US" sz="1300" b="0" u="none" strike="noStrike">
              <a:solidFill>
                <a:srgbClr val="000000"/>
              </a:solidFill>
              <a:effectLst/>
              <a:uFillTx/>
              <a:latin typeface="Arial"/>
            </a:endParaRPr>
          </a:p>
          <a:p>
            <a:pPr marL="228600" indent="-228600" defTabSz="914400">
              <a:lnSpc>
                <a:spcPct val="112000"/>
              </a:lnSpc>
              <a:spcAft>
                <a:spcPts val="879"/>
              </a:spcAft>
              <a:buClr>
                <a:srgbClr val="16202E"/>
              </a:buClr>
              <a:buFont typeface="Wingdings" charset="2"/>
              <a:buChar char=""/>
            </a:pPr>
            <a:r>
              <a:rPr lang="en-US" sz="1300" b="0" u="none" strike="noStrike">
                <a:solidFill>
                  <a:srgbClr val="16202E"/>
                </a:solidFill>
                <a:effectLst/>
                <a:uFillTx/>
                <a:latin typeface="Calibri"/>
                <a:ea typeface="Calibri"/>
              </a:rPr>
              <a:t>The factor of 2 in the even-term exponent cancels a factor hiding inside W_N, so an N-point twiddle factor collapses into the N/2-point twiddle factor W_N/2. This is the algebraic heart of the method.</a:t>
            </a:r>
            <a:endParaRPr lang="en-US" sz="1300" b="0" u="none" strike="noStrike">
              <a:solidFill>
                <a:srgbClr val="000000"/>
              </a:solidFill>
              <a:effectLst/>
              <a:uFillTx/>
              <a:latin typeface="Arial"/>
            </a:endParaRPr>
          </a:p>
          <a:p>
            <a:pPr marL="228600" indent="-228600" defTabSz="914400">
              <a:lnSpc>
                <a:spcPct val="112000"/>
              </a:lnSpc>
              <a:spcAft>
                <a:spcPts val="879"/>
              </a:spcAft>
              <a:buClr>
                <a:srgbClr val="16202E"/>
              </a:buClr>
              <a:buFont typeface="Wingdings" charset="2"/>
              <a:buChar char=""/>
            </a:pPr>
            <a:r>
              <a:rPr lang="en-US" sz="1300" b="0" u="none" strike="noStrike">
                <a:solidFill>
                  <a:srgbClr val="16202E"/>
                </a:solidFill>
                <a:effectLst/>
                <a:uFillTx/>
                <a:latin typeface="Calibri"/>
                <a:ea typeface="Calibri"/>
              </a:rPr>
              <a:t>The odd-term exponent leaves one extra factor, W_N^k, that does not depend on r. It is pulled outside the odd sum as the twiddle factor.</a:t>
            </a:r>
            <a:endParaRPr lang="en-US" sz="1300" b="0" u="none" strike="noStrike">
              <a:solidFill>
                <a:srgbClr val="000000"/>
              </a:solidFill>
              <a:effectLst/>
              <a:uFillTx/>
              <a:latin typeface="Arial"/>
            </a:endParaRPr>
          </a:p>
        </p:txBody>
      </p:sp>
      <p:sp>
        <p:nvSpPr>
          <p:cNvPr id="122" name="Shape 12"/>
          <p:cNvSpPr/>
          <p:nvPr/>
        </p:nvSpPr>
        <p:spPr>
          <a:xfrm>
            <a:off x="502920" y="4892040"/>
            <a:ext cx="7223400" cy="776880"/>
          </a:xfrm>
          <a:prstGeom prst="roundRect">
            <a:avLst>
              <a:gd name="adj" fmla="val 7059"/>
            </a:avLst>
          </a:prstGeom>
          <a:solidFill>
            <a:srgbClr val="132A4A"/>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23" name="Text 13"/>
          <p:cNvSpPr/>
          <p:nvPr/>
        </p:nvSpPr>
        <p:spPr>
          <a:xfrm>
            <a:off x="502920" y="4892040"/>
            <a:ext cx="7223400" cy="7768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400" b="1" u="none" strike="noStrike">
                <a:solidFill>
                  <a:srgbClr val="FFFFFF"/>
                </a:solidFill>
                <a:effectLst/>
                <a:uFillTx/>
                <a:latin typeface="Cambria"/>
                <a:ea typeface="Cambria"/>
              </a:rPr>
              <a:t>X</a:t>
            </a:r>
            <a:r>
              <a:rPr lang="en-US" sz="2400" b="1" u="none" strike="noStrike" baseline="-40000">
                <a:solidFill>
                  <a:srgbClr val="FFFFFF"/>
                </a:solidFill>
                <a:effectLst/>
                <a:uFillTx/>
                <a:latin typeface="Cambria"/>
                <a:ea typeface="Cambria"/>
              </a:rPr>
              <a:t>k</a:t>
            </a:r>
            <a:r>
              <a:rPr lang="en-US" sz="2400" b="1" u="none" strike="noStrike">
                <a:solidFill>
                  <a:srgbClr val="FFFFFF"/>
                </a:solidFill>
                <a:effectLst/>
                <a:uFillTx/>
                <a:latin typeface="Cambria"/>
                <a:ea typeface="Cambria"/>
              </a:rPr>
              <a:t>  =  E</a:t>
            </a:r>
            <a:r>
              <a:rPr lang="en-US" sz="2400" b="1" u="none" strike="noStrike" baseline="-40000">
                <a:solidFill>
                  <a:srgbClr val="FFFFFF"/>
                </a:solidFill>
                <a:effectLst/>
                <a:uFillTx/>
                <a:latin typeface="Cambria"/>
                <a:ea typeface="Cambria"/>
              </a:rPr>
              <a:t>k</a:t>
            </a:r>
            <a:r>
              <a:rPr lang="en-US" sz="2400" b="1" u="none" strike="noStrike">
                <a:solidFill>
                  <a:srgbClr val="FFFFFF"/>
                </a:solidFill>
                <a:effectLst/>
                <a:uFillTx/>
                <a:latin typeface="Cambria"/>
                <a:ea typeface="Cambria"/>
              </a:rPr>
              <a:t>  +  W</a:t>
            </a:r>
            <a:r>
              <a:rPr lang="en-US" sz="2400" b="1" u="none" strike="noStrike" baseline="-40000">
                <a:solidFill>
                  <a:srgbClr val="FFFFFF"/>
                </a:solidFill>
                <a:effectLst/>
                <a:uFillTx/>
                <a:latin typeface="Cambria"/>
                <a:ea typeface="Cambria"/>
              </a:rPr>
              <a:t>N</a:t>
            </a:r>
            <a:r>
              <a:rPr lang="en-US" sz="2400" b="1" u="none" strike="noStrike" baseline="30000">
                <a:solidFill>
                  <a:srgbClr val="FFFFFF"/>
                </a:solidFill>
                <a:effectLst/>
                <a:uFillTx/>
                <a:latin typeface="Cambria"/>
                <a:ea typeface="Cambria"/>
              </a:rPr>
              <a:t>k</a:t>
            </a:r>
            <a:r>
              <a:rPr lang="en-US" sz="2400" b="1" u="none" strike="noStrike">
                <a:solidFill>
                  <a:srgbClr val="FFFFFF"/>
                </a:solidFill>
                <a:effectLst/>
                <a:uFillTx/>
                <a:latin typeface="Cambria"/>
                <a:ea typeface="Cambria"/>
              </a:rPr>
              <a:t> O</a:t>
            </a:r>
            <a:r>
              <a:rPr lang="en-US" sz="2400" b="1" u="none" strike="noStrike" baseline="-40000">
                <a:solidFill>
                  <a:srgbClr val="FFFFFF"/>
                </a:solidFill>
                <a:effectLst/>
                <a:uFillTx/>
                <a:latin typeface="Cambria"/>
                <a:ea typeface="Cambria"/>
              </a:rPr>
              <a:t>k</a:t>
            </a:r>
            <a:endParaRPr lang="en-US" sz="2400" b="0" u="none" strike="noStrike">
              <a:solidFill>
                <a:srgbClr val="000000"/>
              </a:solidFill>
              <a:effectLst/>
              <a:uFillTx/>
              <a:latin typeface="Arial"/>
            </a:endParaRPr>
          </a:p>
        </p:txBody>
      </p:sp>
      <p:sp>
        <p:nvSpPr>
          <p:cNvPr id="124" name="Text 14"/>
          <p:cNvSpPr/>
          <p:nvPr/>
        </p:nvSpPr>
        <p:spPr>
          <a:xfrm>
            <a:off x="8275320" y="4937760"/>
            <a:ext cx="2971440" cy="77688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i="1" u="none" strike="noStrike">
                <a:solidFill>
                  <a:srgbClr val="5C6B7A"/>
                </a:solidFill>
                <a:effectLst/>
                <a:uFillTx/>
                <a:latin typeface="Calibri"/>
                <a:ea typeface="Calibri"/>
              </a:rPr>
              <a:t>The central result of the radix-2 DIT derivation, valid for k = 0 ... N/2-1 as written.</a:t>
            </a:r>
            <a:endParaRPr lang="en-US" sz="1300" b="0" u="none" strike="noStrike">
              <a:solidFill>
                <a:srgbClr val="000000"/>
              </a:solidFill>
              <a:effectLst/>
              <a:uFillTx/>
              <a:latin typeface="Arial"/>
            </a:endParaRPr>
          </a:p>
        </p:txBody>
      </p:sp>
      <p:sp>
        <p:nvSpPr>
          <p:cNvPr id="125" name="Shape 15"/>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126" name="Shape 16"/>
          <p:cNvSpPr/>
          <p:nvPr/>
        </p:nvSpPr>
        <p:spPr>
          <a:xfrm>
            <a:off x="502920" y="6473880"/>
            <a:ext cx="159336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127" name="Text 17"/>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000000"/>
              </a:solidFill>
              <a:effectLst/>
              <a:uFillTx/>
              <a:latin typeface="Arial"/>
            </a:endParaRPr>
          </a:p>
        </p:txBody>
      </p:sp>
      <p:sp>
        <p:nvSpPr>
          <p:cNvPr id="128" name="Text 18"/>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DIT Mathematics     6</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129"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2A · DIT MATHEMATICS</a:t>
            </a:r>
            <a:endParaRPr lang="en-US" sz="1150" b="0" u="none" strike="noStrike">
              <a:solidFill>
                <a:srgbClr val="000000"/>
              </a:solidFill>
              <a:effectLst/>
              <a:uFillTx/>
              <a:latin typeface="Arial"/>
            </a:endParaRPr>
          </a:p>
        </p:txBody>
      </p:sp>
      <p:sp>
        <p:nvSpPr>
          <p:cNvPr id="130"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DIT: Extending to the Full Range With Periodicity</a:t>
            </a:r>
            <a:endParaRPr lang="en-US" sz="2600" b="0" u="none" strike="noStrike">
              <a:solidFill>
                <a:srgbClr val="000000"/>
              </a:solidFill>
              <a:effectLst/>
              <a:uFillTx/>
              <a:latin typeface="Arial"/>
            </a:endParaRPr>
          </a:p>
        </p:txBody>
      </p:sp>
      <p:sp>
        <p:nvSpPr>
          <p:cNvPr id="131" name="Text 2"/>
          <p:cNvSpPr/>
          <p:nvPr/>
        </p:nvSpPr>
        <p:spPr>
          <a:xfrm>
            <a:off x="502920" y="1280160"/>
            <a:ext cx="5394600" cy="237708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12000"/>
              </a:lnSpc>
              <a:spcAft>
                <a:spcPts val="1210"/>
              </a:spcAft>
              <a:buClr>
                <a:srgbClr val="16202E"/>
              </a:buClr>
              <a:buFont typeface="Wingdings" charset="2"/>
              <a:buChar char=""/>
            </a:pPr>
            <a:r>
              <a:rPr lang="en-US" sz="1300" b="0" u="none" strike="noStrike">
                <a:solidFill>
                  <a:srgbClr val="16202E"/>
                </a:solidFill>
                <a:effectLst/>
                <a:uFillTx/>
                <a:latin typeface="Calibri"/>
                <a:ea typeface="Calibri"/>
              </a:rPr>
              <a:t>E[k] and O[k] are each N/2-point DFTs, so both are periodic with period N/2: E[k+N/2] = E[k] and O[k+N/2] = O[k].</a:t>
            </a:r>
            <a:endParaRPr lang="en-US" sz="1300" b="0" u="none" strike="noStrike">
              <a:solidFill>
                <a:srgbClr val="000000"/>
              </a:solidFill>
              <a:effectLst/>
              <a:uFillTx/>
              <a:latin typeface="Arial"/>
            </a:endParaRPr>
          </a:p>
          <a:p>
            <a:pPr marL="228600" indent="-228600" defTabSz="914400">
              <a:lnSpc>
                <a:spcPct val="112000"/>
              </a:lnSpc>
              <a:spcAft>
                <a:spcPts val="1210"/>
              </a:spcAft>
              <a:buClr>
                <a:srgbClr val="16202E"/>
              </a:buClr>
              <a:buFont typeface="Wingdings" charset="2"/>
              <a:buChar char=""/>
            </a:pPr>
            <a:r>
              <a:rPr lang="en-US" sz="1300" b="0" u="none" strike="noStrike">
                <a:solidFill>
                  <a:srgbClr val="16202E"/>
                </a:solidFill>
                <a:effectLst/>
                <a:uFillTx/>
                <a:latin typeface="Calibri"/>
                <a:ea typeface="Calibri"/>
              </a:rPr>
              <a:t>This periodicity lets one formula generate the second half of the outputs for free.</a:t>
            </a:r>
            <a:endParaRPr lang="en-US" sz="1300" b="0" u="none" strike="noStrike">
              <a:solidFill>
                <a:srgbClr val="000000"/>
              </a:solidFill>
              <a:effectLst/>
              <a:uFillTx/>
              <a:latin typeface="Arial"/>
            </a:endParaRPr>
          </a:p>
          <a:p>
            <a:pPr marL="228600" indent="-228600" defTabSz="914400">
              <a:lnSpc>
                <a:spcPct val="112000"/>
              </a:lnSpc>
              <a:spcAft>
                <a:spcPts val="1210"/>
              </a:spcAft>
              <a:buClr>
                <a:srgbClr val="16202E"/>
              </a:buClr>
              <a:buFont typeface="Wingdings" charset="2"/>
              <a:buChar char=""/>
            </a:pPr>
            <a:r>
              <a:rPr lang="en-US" sz="1300" b="0" u="none" strike="noStrike">
                <a:solidFill>
                  <a:srgbClr val="16202E"/>
                </a:solidFill>
                <a:effectLst/>
                <a:uFillTx/>
                <a:latin typeface="Calibri"/>
                <a:ea typeface="Calibri"/>
              </a:rPr>
              <a:t>Twiddle half-period symmetry: W_N^(k+N/2) = -W_N^k. This flips the sign of the twiddle term only.</a:t>
            </a:r>
            <a:endParaRPr lang="en-US" sz="1300" b="0" u="none" strike="noStrike">
              <a:solidFill>
                <a:srgbClr val="000000"/>
              </a:solidFill>
              <a:effectLst/>
              <a:uFillTx/>
              <a:latin typeface="Arial"/>
            </a:endParaRPr>
          </a:p>
        </p:txBody>
      </p:sp>
      <p:sp>
        <p:nvSpPr>
          <p:cNvPr id="132" name="Shape 3"/>
          <p:cNvSpPr/>
          <p:nvPr/>
        </p:nvSpPr>
        <p:spPr>
          <a:xfrm>
            <a:off x="502920" y="3794760"/>
            <a:ext cx="5394600" cy="1005480"/>
          </a:xfrm>
          <a:prstGeom prst="roundRect">
            <a:avLst>
              <a:gd name="adj" fmla="val 5455"/>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33" name="Text 4"/>
          <p:cNvSpPr/>
          <p:nvPr/>
        </p:nvSpPr>
        <p:spPr>
          <a:xfrm>
            <a:off x="685800" y="3913560"/>
            <a:ext cx="5028840" cy="77688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The same two numbers, E[k] and W_N^k O[k], produce both X[k] and X[k+N/2]: one add, one subtract, no extra DFT terms.</a:t>
            </a:r>
            <a:endParaRPr lang="en-US" sz="1300" b="0" u="none" strike="noStrike">
              <a:solidFill>
                <a:srgbClr val="000000"/>
              </a:solidFill>
              <a:effectLst/>
              <a:uFillTx/>
              <a:latin typeface="Arial"/>
            </a:endParaRPr>
          </a:p>
        </p:txBody>
      </p:sp>
      <p:sp>
        <p:nvSpPr>
          <p:cNvPr id="134" name="Shape 5"/>
          <p:cNvSpPr/>
          <p:nvPr/>
        </p:nvSpPr>
        <p:spPr>
          <a:xfrm>
            <a:off x="6446520" y="1280160"/>
            <a:ext cx="4983120" cy="776880"/>
          </a:xfrm>
          <a:prstGeom prst="roundRect">
            <a:avLst>
              <a:gd name="adj" fmla="val 7059"/>
            </a:avLst>
          </a:prstGeom>
          <a:solidFill>
            <a:srgbClr val="132A4A"/>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35" name="Text 6"/>
          <p:cNvSpPr/>
          <p:nvPr/>
        </p:nvSpPr>
        <p:spPr>
          <a:xfrm>
            <a:off x="6446520" y="1280160"/>
            <a:ext cx="4983120" cy="7768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mbria"/>
                <a:ea typeface="Cambria"/>
              </a:rPr>
              <a:t>X</a:t>
            </a:r>
            <a:r>
              <a:rPr lang="en-US" sz="1300" b="1" u="none" strike="noStrike" baseline="-40000">
                <a:solidFill>
                  <a:srgbClr val="FFFFFF"/>
                </a:solidFill>
                <a:effectLst/>
                <a:uFillTx/>
                <a:latin typeface="Cambria"/>
                <a:ea typeface="Cambria"/>
              </a:rPr>
              <a:t>k+N/2</a:t>
            </a:r>
            <a:r>
              <a:rPr lang="en-US" sz="1300" b="1" u="none" strike="noStrike">
                <a:solidFill>
                  <a:srgbClr val="FFFFFF"/>
                </a:solidFill>
                <a:effectLst/>
                <a:uFillTx/>
                <a:latin typeface="Cambria"/>
                <a:ea typeface="Cambria"/>
              </a:rPr>
              <a:t> = E</a:t>
            </a:r>
            <a:r>
              <a:rPr lang="en-US" sz="1300" b="1" u="none" strike="noStrike" baseline="-40000">
                <a:solidFill>
                  <a:srgbClr val="FFFFFF"/>
                </a:solidFill>
                <a:effectLst/>
                <a:uFillTx/>
                <a:latin typeface="Cambria"/>
                <a:ea typeface="Cambria"/>
              </a:rPr>
              <a:t>k</a:t>
            </a:r>
            <a:r>
              <a:rPr lang="en-US" sz="1300" b="1" u="none" strike="noStrike">
                <a:solidFill>
                  <a:srgbClr val="FFFFFF"/>
                </a:solidFill>
                <a:effectLst/>
                <a:uFillTx/>
                <a:latin typeface="Cambria"/>
                <a:ea typeface="Cambria"/>
              </a:rPr>
              <a:t> + W</a:t>
            </a:r>
            <a:r>
              <a:rPr lang="en-US" sz="1300" b="1" u="none" strike="noStrike" baseline="-40000">
                <a:solidFill>
                  <a:srgbClr val="FFFFFF"/>
                </a:solidFill>
                <a:effectLst/>
                <a:uFillTx/>
                <a:latin typeface="Cambria"/>
                <a:ea typeface="Cambria"/>
              </a:rPr>
              <a:t>N</a:t>
            </a:r>
            <a:r>
              <a:rPr lang="en-US" sz="1300" b="1" u="none" strike="noStrike" baseline="30000">
                <a:solidFill>
                  <a:srgbClr val="FFFFFF"/>
                </a:solidFill>
                <a:effectLst/>
                <a:uFillTx/>
                <a:latin typeface="Cambria"/>
                <a:ea typeface="Cambria"/>
              </a:rPr>
              <a:t>k+N/2</a:t>
            </a:r>
            <a:r>
              <a:rPr lang="en-US" sz="1300" b="1" u="none" strike="noStrike">
                <a:solidFill>
                  <a:srgbClr val="FFFFFF"/>
                </a:solidFill>
                <a:effectLst/>
                <a:uFillTx/>
                <a:latin typeface="Cambria"/>
                <a:ea typeface="Cambria"/>
              </a:rPr>
              <a:t> O</a:t>
            </a:r>
            <a:r>
              <a:rPr lang="en-US" sz="1300" b="1" u="none" strike="noStrike" baseline="-40000">
                <a:solidFill>
                  <a:srgbClr val="FFFFFF"/>
                </a:solidFill>
                <a:effectLst/>
                <a:uFillTx/>
                <a:latin typeface="Cambria"/>
                <a:ea typeface="Cambria"/>
              </a:rPr>
              <a:t>k</a:t>
            </a:r>
            <a:r>
              <a:rPr lang="en-US" sz="1300" b="1" u="none" strike="noStrike">
                <a:solidFill>
                  <a:srgbClr val="FFFFFF"/>
                </a:solidFill>
                <a:effectLst/>
                <a:uFillTx/>
                <a:latin typeface="Cambria"/>
                <a:ea typeface="Cambria"/>
              </a:rPr>
              <a:t> = E</a:t>
            </a:r>
            <a:r>
              <a:rPr lang="en-US" sz="1300" b="1" u="none" strike="noStrike" baseline="-40000">
                <a:solidFill>
                  <a:srgbClr val="FFFFFF"/>
                </a:solidFill>
                <a:effectLst/>
                <a:uFillTx/>
                <a:latin typeface="Cambria"/>
                <a:ea typeface="Cambria"/>
              </a:rPr>
              <a:t>k</a:t>
            </a:r>
            <a:r>
              <a:rPr lang="en-US" sz="1300" b="1" u="none" strike="noStrike">
                <a:solidFill>
                  <a:srgbClr val="FFFFFF"/>
                </a:solidFill>
                <a:effectLst/>
                <a:uFillTx/>
                <a:latin typeface="Cambria"/>
                <a:ea typeface="Cambria"/>
              </a:rPr>
              <a:t> - W</a:t>
            </a:r>
            <a:r>
              <a:rPr lang="en-US" sz="1300" b="1" u="none" strike="noStrike" baseline="-40000">
                <a:solidFill>
                  <a:srgbClr val="FFFFFF"/>
                </a:solidFill>
                <a:effectLst/>
                <a:uFillTx/>
                <a:latin typeface="Cambria"/>
                <a:ea typeface="Cambria"/>
              </a:rPr>
              <a:t>N</a:t>
            </a:r>
            <a:r>
              <a:rPr lang="en-US" sz="1300" b="1" u="none" strike="noStrike" baseline="30000">
                <a:solidFill>
                  <a:srgbClr val="FFFFFF"/>
                </a:solidFill>
                <a:effectLst/>
                <a:uFillTx/>
                <a:latin typeface="Cambria"/>
                <a:ea typeface="Cambria"/>
              </a:rPr>
              <a:t>k</a:t>
            </a:r>
            <a:r>
              <a:rPr lang="en-US" sz="1300" b="1" u="none" strike="noStrike">
                <a:solidFill>
                  <a:srgbClr val="FFFFFF"/>
                </a:solidFill>
                <a:effectLst/>
                <a:uFillTx/>
                <a:latin typeface="Cambria"/>
                <a:ea typeface="Cambria"/>
              </a:rPr>
              <a:t> O</a:t>
            </a:r>
            <a:r>
              <a:rPr lang="en-US" sz="1300" b="1" u="none" strike="noStrike" baseline="-40000">
                <a:solidFill>
                  <a:srgbClr val="FFFFFF"/>
                </a:solidFill>
                <a:effectLst/>
                <a:uFillTx/>
                <a:latin typeface="Cambria"/>
                <a:ea typeface="Cambria"/>
              </a:rPr>
              <a:t>k</a:t>
            </a:r>
            <a:endParaRPr lang="en-US" sz="1300" b="0" u="none" strike="noStrike">
              <a:solidFill>
                <a:srgbClr val="000000"/>
              </a:solidFill>
              <a:effectLst/>
              <a:uFillTx/>
              <a:latin typeface="Arial"/>
            </a:endParaRPr>
          </a:p>
        </p:txBody>
      </p:sp>
      <p:sp>
        <p:nvSpPr>
          <p:cNvPr id="136" name="Shape 7"/>
          <p:cNvSpPr/>
          <p:nvPr/>
        </p:nvSpPr>
        <p:spPr>
          <a:xfrm>
            <a:off x="6446520" y="2240280"/>
            <a:ext cx="4983120" cy="639720"/>
          </a:xfrm>
          <a:prstGeom prst="roundRect">
            <a:avLst>
              <a:gd name="adj" fmla="val 8571"/>
            </a:avLst>
          </a:prstGeom>
          <a:solidFill>
            <a:srgbClr val="0E8388"/>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37" name="Text 8"/>
          <p:cNvSpPr/>
          <p:nvPr/>
        </p:nvSpPr>
        <p:spPr>
          <a:xfrm>
            <a:off x="6446520" y="2240280"/>
            <a:ext cx="4983120" cy="639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800" b="1" u="none" strike="noStrike">
                <a:solidFill>
                  <a:srgbClr val="FFFFFF"/>
                </a:solidFill>
                <a:effectLst/>
                <a:uFillTx/>
                <a:latin typeface="Cambria"/>
                <a:ea typeface="Cambria"/>
              </a:rPr>
              <a:t>X</a:t>
            </a:r>
            <a:r>
              <a:rPr lang="en-US" sz="1800" b="1" u="none" strike="noStrike" baseline="-40000">
                <a:solidFill>
                  <a:srgbClr val="FFFFFF"/>
                </a:solidFill>
                <a:effectLst/>
                <a:uFillTx/>
                <a:latin typeface="Cambria"/>
                <a:ea typeface="Cambria"/>
              </a:rPr>
              <a:t>k</a:t>
            </a:r>
            <a:r>
              <a:rPr lang="en-US" sz="1800" b="1" u="none" strike="noStrike">
                <a:solidFill>
                  <a:srgbClr val="FFFFFF"/>
                </a:solidFill>
                <a:effectLst/>
                <a:uFillTx/>
                <a:latin typeface="Cambria"/>
                <a:ea typeface="Cambria"/>
              </a:rPr>
              <a:t> = E</a:t>
            </a:r>
            <a:r>
              <a:rPr lang="en-US" sz="1800" b="1" u="none" strike="noStrike" baseline="-40000">
                <a:solidFill>
                  <a:srgbClr val="FFFFFF"/>
                </a:solidFill>
                <a:effectLst/>
                <a:uFillTx/>
                <a:latin typeface="Cambria"/>
                <a:ea typeface="Cambria"/>
              </a:rPr>
              <a:t>k</a:t>
            </a:r>
            <a:r>
              <a:rPr lang="en-US" sz="1800" b="1" u="none" strike="noStrike">
                <a:solidFill>
                  <a:srgbClr val="FFFFFF"/>
                </a:solidFill>
                <a:effectLst/>
                <a:uFillTx/>
                <a:latin typeface="Cambria"/>
                <a:ea typeface="Cambria"/>
              </a:rPr>
              <a:t> + W</a:t>
            </a:r>
            <a:r>
              <a:rPr lang="en-US" sz="1800" b="1" u="none" strike="noStrike" baseline="-40000">
                <a:solidFill>
                  <a:srgbClr val="FFFFFF"/>
                </a:solidFill>
                <a:effectLst/>
                <a:uFillTx/>
                <a:latin typeface="Cambria"/>
                <a:ea typeface="Cambria"/>
              </a:rPr>
              <a:t>N</a:t>
            </a:r>
            <a:r>
              <a:rPr lang="en-US" sz="1800" b="1" u="none" strike="noStrike" baseline="30000">
                <a:solidFill>
                  <a:srgbClr val="FFFFFF"/>
                </a:solidFill>
                <a:effectLst/>
                <a:uFillTx/>
                <a:latin typeface="Cambria"/>
                <a:ea typeface="Cambria"/>
              </a:rPr>
              <a:t>k</a:t>
            </a:r>
            <a:r>
              <a:rPr lang="en-US" sz="1800" b="1" u="none" strike="noStrike">
                <a:solidFill>
                  <a:srgbClr val="FFFFFF"/>
                </a:solidFill>
                <a:effectLst/>
                <a:uFillTx/>
                <a:latin typeface="Cambria"/>
                <a:ea typeface="Cambria"/>
              </a:rPr>
              <a:t> O</a:t>
            </a:r>
            <a:r>
              <a:rPr lang="en-US" sz="1800" b="1" u="none" strike="noStrike" baseline="-40000">
                <a:solidFill>
                  <a:srgbClr val="FFFFFF"/>
                </a:solidFill>
                <a:effectLst/>
                <a:uFillTx/>
                <a:latin typeface="Cambria"/>
                <a:ea typeface="Cambria"/>
              </a:rPr>
              <a:t>k</a:t>
            </a:r>
            <a:endParaRPr lang="en-US" sz="1800" b="0" u="none" strike="noStrike">
              <a:solidFill>
                <a:srgbClr val="000000"/>
              </a:solidFill>
              <a:effectLst/>
              <a:uFillTx/>
              <a:latin typeface="Arial"/>
            </a:endParaRPr>
          </a:p>
        </p:txBody>
      </p:sp>
      <p:sp>
        <p:nvSpPr>
          <p:cNvPr id="138" name="Shape 9"/>
          <p:cNvSpPr/>
          <p:nvPr/>
        </p:nvSpPr>
        <p:spPr>
          <a:xfrm>
            <a:off x="6446520" y="3017520"/>
            <a:ext cx="4983120" cy="639720"/>
          </a:xfrm>
          <a:prstGeom prst="roundRect">
            <a:avLst>
              <a:gd name="adj" fmla="val 8571"/>
            </a:avLst>
          </a:prstGeom>
          <a:solidFill>
            <a:srgbClr val="D98324"/>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39" name="Text 10"/>
          <p:cNvSpPr/>
          <p:nvPr/>
        </p:nvSpPr>
        <p:spPr>
          <a:xfrm>
            <a:off x="6446520" y="3017520"/>
            <a:ext cx="4983120" cy="639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800" b="1" u="none" strike="noStrike">
                <a:solidFill>
                  <a:srgbClr val="FFFFFF"/>
                </a:solidFill>
                <a:effectLst/>
                <a:uFillTx/>
                <a:latin typeface="Cambria"/>
                <a:ea typeface="Cambria"/>
              </a:rPr>
              <a:t>X</a:t>
            </a:r>
            <a:r>
              <a:rPr lang="en-US" sz="1800" b="1" u="none" strike="noStrike" baseline="-40000">
                <a:solidFill>
                  <a:srgbClr val="FFFFFF"/>
                </a:solidFill>
                <a:effectLst/>
                <a:uFillTx/>
                <a:latin typeface="Cambria"/>
                <a:ea typeface="Cambria"/>
              </a:rPr>
              <a:t>k+N/2</a:t>
            </a:r>
            <a:r>
              <a:rPr lang="en-US" sz="1800" b="1" u="none" strike="noStrike">
                <a:solidFill>
                  <a:srgbClr val="FFFFFF"/>
                </a:solidFill>
                <a:effectLst/>
                <a:uFillTx/>
                <a:latin typeface="Cambria"/>
                <a:ea typeface="Cambria"/>
              </a:rPr>
              <a:t> = E</a:t>
            </a:r>
            <a:r>
              <a:rPr lang="en-US" sz="1800" b="1" u="none" strike="noStrike" baseline="-40000">
                <a:solidFill>
                  <a:srgbClr val="FFFFFF"/>
                </a:solidFill>
                <a:effectLst/>
                <a:uFillTx/>
                <a:latin typeface="Cambria"/>
                <a:ea typeface="Cambria"/>
              </a:rPr>
              <a:t>k</a:t>
            </a:r>
            <a:r>
              <a:rPr lang="en-US" sz="1800" b="1" u="none" strike="noStrike">
                <a:solidFill>
                  <a:srgbClr val="FFFFFF"/>
                </a:solidFill>
                <a:effectLst/>
                <a:uFillTx/>
                <a:latin typeface="Cambria"/>
                <a:ea typeface="Cambria"/>
              </a:rPr>
              <a:t> - W</a:t>
            </a:r>
            <a:r>
              <a:rPr lang="en-US" sz="1800" b="1" u="none" strike="noStrike" baseline="-40000">
                <a:solidFill>
                  <a:srgbClr val="FFFFFF"/>
                </a:solidFill>
                <a:effectLst/>
                <a:uFillTx/>
                <a:latin typeface="Cambria"/>
                <a:ea typeface="Cambria"/>
              </a:rPr>
              <a:t>N</a:t>
            </a:r>
            <a:r>
              <a:rPr lang="en-US" sz="1800" b="1" u="none" strike="noStrike" baseline="30000">
                <a:solidFill>
                  <a:srgbClr val="FFFFFF"/>
                </a:solidFill>
                <a:effectLst/>
                <a:uFillTx/>
                <a:latin typeface="Cambria"/>
                <a:ea typeface="Cambria"/>
              </a:rPr>
              <a:t>k</a:t>
            </a:r>
            <a:r>
              <a:rPr lang="en-US" sz="1800" b="1" u="none" strike="noStrike">
                <a:solidFill>
                  <a:srgbClr val="FFFFFF"/>
                </a:solidFill>
                <a:effectLst/>
                <a:uFillTx/>
                <a:latin typeface="Cambria"/>
                <a:ea typeface="Cambria"/>
              </a:rPr>
              <a:t> O</a:t>
            </a:r>
            <a:r>
              <a:rPr lang="en-US" sz="1800" b="1" u="none" strike="noStrike" baseline="-40000">
                <a:solidFill>
                  <a:srgbClr val="FFFFFF"/>
                </a:solidFill>
                <a:effectLst/>
                <a:uFillTx/>
                <a:latin typeface="Cambria"/>
                <a:ea typeface="Cambria"/>
              </a:rPr>
              <a:t>k</a:t>
            </a:r>
            <a:endParaRPr lang="en-US" sz="1800" b="0" u="none" strike="noStrike">
              <a:solidFill>
                <a:srgbClr val="000000"/>
              </a:solidFill>
              <a:effectLst/>
              <a:uFillTx/>
              <a:latin typeface="Arial"/>
            </a:endParaRPr>
          </a:p>
        </p:txBody>
      </p:sp>
      <p:sp>
        <p:nvSpPr>
          <p:cNvPr id="140" name="Text 11"/>
          <p:cNvSpPr/>
          <p:nvPr/>
        </p:nvSpPr>
        <p:spPr>
          <a:xfrm>
            <a:off x="6446520" y="3840480"/>
            <a:ext cx="4983120" cy="146268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i="1" u="none" strike="noStrike">
                <a:solidFill>
                  <a:srgbClr val="5C6B7A"/>
                </a:solidFill>
                <a:effectLst/>
                <a:uFillTx/>
                <a:latin typeface="Calibri"/>
                <a:ea typeface="Calibri"/>
              </a:rPr>
              <a:t>This is the payoff of the whole derivation. E[k] and O[k] each only need to be computed once for k = 0 ... N/2-1, and they are reused to generate the entire N-point output. This reuse is the source of the FFT's speed.</a:t>
            </a:r>
            <a:endParaRPr lang="en-US" sz="1300" b="0" u="none" strike="noStrike">
              <a:solidFill>
                <a:srgbClr val="000000"/>
              </a:solidFill>
              <a:effectLst/>
              <a:uFillTx/>
              <a:latin typeface="Arial"/>
            </a:endParaRPr>
          </a:p>
        </p:txBody>
      </p:sp>
      <p:sp>
        <p:nvSpPr>
          <p:cNvPr id="141" name="Shape 12"/>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142" name="Shape 13"/>
          <p:cNvSpPr/>
          <p:nvPr/>
        </p:nvSpPr>
        <p:spPr>
          <a:xfrm>
            <a:off x="502920" y="6473880"/>
            <a:ext cx="185904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143" name="Text 14"/>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000000"/>
              </a:solidFill>
              <a:effectLst/>
              <a:uFillTx/>
              <a:latin typeface="Arial"/>
            </a:endParaRPr>
          </a:p>
        </p:txBody>
      </p:sp>
      <p:sp>
        <p:nvSpPr>
          <p:cNvPr id="144" name="Text 15"/>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DIT Mathematics     7</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145"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2A · DIT MATHEMATICS</a:t>
            </a:r>
            <a:endParaRPr lang="en-US" sz="1150" b="0" u="none" strike="noStrike">
              <a:solidFill>
                <a:srgbClr val="000000"/>
              </a:solidFill>
              <a:effectLst/>
              <a:uFillTx/>
              <a:latin typeface="Arial"/>
            </a:endParaRPr>
          </a:p>
        </p:txBody>
      </p:sp>
      <p:sp>
        <p:nvSpPr>
          <p:cNvPr id="146"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The DIT Butterfly: From Equations to Flow Graph</a:t>
            </a:r>
            <a:endParaRPr lang="en-US" sz="2600" b="0" u="none" strike="noStrike">
              <a:solidFill>
                <a:srgbClr val="000000"/>
              </a:solidFill>
              <a:effectLst/>
              <a:uFillTx/>
              <a:latin typeface="Arial"/>
            </a:endParaRPr>
          </a:p>
        </p:txBody>
      </p:sp>
      <p:sp>
        <p:nvSpPr>
          <p:cNvPr id="147" name="Text 2"/>
          <p:cNvSpPr/>
          <p:nvPr/>
        </p:nvSpPr>
        <p:spPr>
          <a:xfrm>
            <a:off x="502920" y="1188720"/>
            <a:ext cx="530316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NAME THE TERMS</a:t>
            </a:r>
            <a:endParaRPr lang="en-US" sz="1100" b="0" u="none" strike="noStrike">
              <a:solidFill>
                <a:srgbClr val="000000"/>
              </a:solidFill>
              <a:effectLst/>
              <a:uFillTx/>
              <a:latin typeface="Arial"/>
            </a:endParaRPr>
          </a:p>
        </p:txBody>
      </p:sp>
      <p:sp>
        <p:nvSpPr>
          <p:cNvPr id="148" name="Shape 3"/>
          <p:cNvSpPr/>
          <p:nvPr/>
        </p:nvSpPr>
        <p:spPr>
          <a:xfrm>
            <a:off x="502920" y="1463040"/>
            <a:ext cx="2559960" cy="639720"/>
          </a:xfrm>
          <a:prstGeom prst="roundRect">
            <a:avLst>
              <a:gd name="adj" fmla="val 8571"/>
            </a:avLst>
          </a:prstGeom>
          <a:solidFill>
            <a:srgbClr val="132A4A"/>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49" name="Text 4"/>
          <p:cNvSpPr/>
          <p:nvPr/>
        </p:nvSpPr>
        <p:spPr>
          <a:xfrm>
            <a:off x="502920" y="1463040"/>
            <a:ext cx="2559960" cy="639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700" b="1" u="none" strike="noStrike">
                <a:solidFill>
                  <a:srgbClr val="FFFFFF"/>
                </a:solidFill>
                <a:effectLst/>
                <a:uFillTx/>
                <a:latin typeface="Cambria"/>
                <a:ea typeface="Cambria"/>
              </a:rPr>
              <a:t>A = E</a:t>
            </a:r>
            <a:r>
              <a:rPr lang="en-US" sz="1700" b="1" u="none" strike="noStrike" baseline="-40000">
                <a:solidFill>
                  <a:srgbClr val="FFFFFF"/>
                </a:solidFill>
                <a:effectLst/>
                <a:uFillTx/>
                <a:latin typeface="Cambria"/>
                <a:ea typeface="Cambria"/>
              </a:rPr>
              <a:t>k</a:t>
            </a:r>
            <a:endParaRPr lang="en-US" sz="1700" b="0" u="none" strike="noStrike">
              <a:solidFill>
                <a:srgbClr val="000000"/>
              </a:solidFill>
              <a:effectLst/>
              <a:uFillTx/>
              <a:latin typeface="Arial"/>
            </a:endParaRPr>
          </a:p>
        </p:txBody>
      </p:sp>
      <p:sp>
        <p:nvSpPr>
          <p:cNvPr id="150" name="Shape 5"/>
          <p:cNvSpPr/>
          <p:nvPr/>
        </p:nvSpPr>
        <p:spPr>
          <a:xfrm>
            <a:off x="3246120" y="1463040"/>
            <a:ext cx="2559960" cy="639720"/>
          </a:xfrm>
          <a:prstGeom prst="roundRect">
            <a:avLst>
              <a:gd name="adj" fmla="val 8571"/>
            </a:avLst>
          </a:prstGeom>
          <a:solidFill>
            <a:srgbClr val="0E8388"/>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51" name="Text 6"/>
          <p:cNvSpPr/>
          <p:nvPr/>
        </p:nvSpPr>
        <p:spPr>
          <a:xfrm>
            <a:off x="3246120" y="1463040"/>
            <a:ext cx="2559960" cy="639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700" b="1" u="none" strike="noStrike">
                <a:solidFill>
                  <a:srgbClr val="FFFFFF"/>
                </a:solidFill>
                <a:effectLst/>
                <a:uFillTx/>
                <a:latin typeface="Cambria"/>
                <a:ea typeface="Cambria"/>
              </a:rPr>
              <a:t>B = W</a:t>
            </a:r>
            <a:r>
              <a:rPr lang="en-US" sz="1700" b="1" u="none" strike="noStrike" baseline="-40000">
                <a:solidFill>
                  <a:srgbClr val="FFFFFF"/>
                </a:solidFill>
                <a:effectLst/>
                <a:uFillTx/>
                <a:latin typeface="Cambria"/>
                <a:ea typeface="Cambria"/>
              </a:rPr>
              <a:t>N</a:t>
            </a:r>
            <a:r>
              <a:rPr lang="en-US" sz="1700" b="1" u="none" strike="noStrike" baseline="30000">
                <a:solidFill>
                  <a:srgbClr val="FFFFFF"/>
                </a:solidFill>
                <a:effectLst/>
                <a:uFillTx/>
                <a:latin typeface="Cambria"/>
                <a:ea typeface="Cambria"/>
              </a:rPr>
              <a:t>k</a:t>
            </a:r>
            <a:r>
              <a:rPr lang="en-US" sz="1700" b="1" u="none" strike="noStrike">
                <a:solidFill>
                  <a:srgbClr val="FFFFFF"/>
                </a:solidFill>
                <a:effectLst/>
                <a:uFillTx/>
                <a:latin typeface="Cambria"/>
                <a:ea typeface="Cambria"/>
              </a:rPr>
              <a:t> O</a:t>
            </a:r>
            <a:r>
              <a:rPr lang="en-US" sz="1700" b="1" u="none" strike="noStrike" baseline="-40000">
                <a:solidFill>
                  <a:srgbClr val="FFFFFF"/>
                </a:solidFill>
                <a:effectLst/>
                <a:uFillTx/>
                <a:latin typeface="Cambria"/>
                <a:ea typeface="Cambria"/>
              </a:rPr>
              <a:t>k</a:t>
            </a:r>
            <a:endParaRPr lang="en-US" sz="1700" b="0" u="none" strike="noStrike">
              <a:solidFill>
                <a:srgbClr val="000000"/>
              </a:solidFill>
              <a:effectLst/>
              <a:uFillTx/>
              <a:latin typeface="Arial"/>
            </a:endParaRPr>
          </a:p>
        </p:txBody>
      </p:sp>
      <p:sp>
        <p:nvSpPr>
          <p:cNvPr id="152" name="Text 7"/>
          <p:cNvSpPr/>
          <p:nvPr/>
        </p:nvSpPr>
        <p:spPr>
          <a:xfrm>
            <a:off x="502920" y="2331720"/>
            <a:ext cx="530316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THE BUTTERFLY</a:t>
            </a:r>
            <a:endParaRPr lang="en-US" sz="1100" b="0" u="none" strike="noStrike">
              <a:solidFill>
                <a:srgbClr val="000000"/>
              </a:solidFill>
              <a:effectLst/>
              <a:uFillTx/>
              <a:latin typeface="Arial"/>
            </a:endParaRPr>
          </a:p>
        </p:txBody>
      </p:sp>
      <p:sp>
        <p:nvSpPr>
          <p:cNvPr id="153" name="Shape 8"/>
          <p:cNvSpPr/>
          <p:nvPr/>
        </p:nvSpPr>
        <p:spPr>
          <a:xfrm>
            <a:off x="502920" y="2606040"/>
            <a:ext cx="2559960" cy="639720"/>
          </a:xfrm>
          <a:prstGeom prst="roundRect">
            <a:avLst>
              <a:gd name="adj" fmla="val 8571"/>
            </a:avLst>
          </a:prstGeom>
          <a:solidFill>
            <a:srgbClr val="132A4A"/>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54" name="Text 9"/>
          <p:cNvSpPr/>
          <p:nvPr/>
        </p:nvSpPr>
        <p:spPr>
          <a:xfrm>
            <a:off x="502920" y="2606040"/>
            <a:ext cx="2559960" cy="639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700" b="1" u="none" strike="noStrike">
                <a:solidFill>
                  <a:srgbClr val="FFFFFF"/>
                </a:solidFill>
                <a:effectLst/>
                <a:uFillTx/>
                <a:latin typeface="Cambria"/>
                <a:ea typeface="Cambria"/>
              </a:rPr>
              <a:t>X</a:t>
            </a:r>
            <a:r>
              <a:rPr lang="en-US" sz="1700" b="1" u="none" strike="noStrike" baseline="-40000">
                <a:solidFill>
                  <a:srgbClr val="FFFFFF"/>
                </a:solidFill>
                <a:effectLst/>
                <a:uFillTx/>
                <a:latin typeface="Cambria"/>
                <a:ea typeface="Cambria"/>
              </a:rPr>
              <a:t>top</a:t>
            </a:r>
            <a:r>
              <a:rPr lang="en-US" sz="1700" b="1" u="none" strike="noStrike">
                <a:solidFill>
                  <a:srgbClr val="FFFFFF"/>
                </a:solidFill>
                <a:effectLst/>
                <a:uFillTx/>
                <a:latin typeface="Cambria"/>
                <a:ea typeface="Cambria"/>
              </a:rPr>
              <a:t> = A + B</a:t>
            </a:r>
            <a:endParaRPr lang="en-US" sz="1700" b="0" u="none" strike="noStrike">
              <a:solidFill>
                <a:srgbClr val="000000"/>
              </a:solidFill>
              <a:effectLst/>
              <a:uFillTx/>
              <a:latin typeface="Arial"/>
            </a:endParaRPr>
          </a:p>
        </p:txBody>
      </p:sp>
      <p:sp>
        <p:nvSpPr>
          <p:cNvPr id="155" name="Shape 10"/>
          <p:cNvSpPr/>
          <p:nvPr/>
        </p:nvSpPr>
        <p:spPr>
          <a:xfrm>
            <a:off x="3246120" y="2606040"/>
            <a:ext cx="2559960" cy="639720"/>
          </a:xfrm>
          <a:prstGeom prst="roundRect">
            <a:avLst>
              <a:gd name="adj" fmla="val 8571"/>
            </a:avLst>
          </a:prstGeom>
          <a:solidFill>
            <a:srgbClr val="132A4A"/>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56" name="Text 11"/>
          <p:cNvSpPr/>
          <p:nvPr/>
        </p:nvSpPr>
        <p:spPr>
          <a:xfrm>
            <a:off x="3246120" y="2606040"/>
            <a:ext cx="2559960" cy="639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700" b="1" u="none" strike="noStrike">
                <a:solidFill>
                  <a:srgbClr val="FFFFFF"/>
                </a:solidFill>
                <a:effectLst/>
                <a:uFillTx/>
                <a:latin typeface="Cambria"/>
                <a:ea typeface="Cambria"/>
              </a:rPr>
              <a:t>X</a:t>
            </a:r>
            <a:r>
              <a:rPr lang="en-US" sz="1700" b="1" u="none" strike="noStrike" baseline="-40000">
                <a:solidFill>
                  <a:srgbClr val="FFFFFF"/>
                </a:solidFill>
                <a:effectLst/>
                <a:uFillTx/>
                <a:latin typeface="Cambria"/>
                <a:ea typeface="Cambria"/>
              </a:rPr>
              <a:t>bottom</a:t>
            </a:r>
            <a:r>
              <a:rPr lang="en-US" sz="1700" b="1" u="none" strike="noStrike">
                <a:solidFill>
                  <a:srgbClr val="FFFFFF"/>
                </a:solidFill>
                <a:effectLst/>
                <a:uFillTx/>
                <a:latin typeface="Cambria"/>
                <a:ea typeface="Cambria"/>
              </a:rPr>
              <a:t> = A - B</a:t>
            </a:r>
            <a:endParaRPr lang="en-US" sz="1700" b="0" u="none" strike="noStrike">
              <a:solidFill>
                <a:srgbClr val="000000"/>
              </a:solidFill>
              <a:effectLst/>
              <a:uFillTx/>
              <a:latin typeface="Arial"/>
            </a:endParaRPr>
          </a:p>
        </p:txBody>
      </p:sp>
      <p:sp>
        <p:nvSpPr>
          <p:cNvPr id="157" name="Text 12"/>
          <p:cNvSpPr/>
          <p:nvPr/>
        </p:nvSpPr>
        <p:spPr>
          <a:xfrm>
            <a:off x="502920" y="3520440"/>
            <a:ext cx="5303160" cy="219420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This add/subtract pair, with exactly one complex multiplication (forming B) feeding it, is the butterfly. It is named for the crossing shape of its signal-flow diagram: it IS the algebra above, drawn instead of written. The twiddle multiplication happens once, before the add/subtract, on the odd branch only.</a:t>
            </a:r>
            <a:endParaRPr lang="en-US" sz="1300" b="0" u="none" strike="noStrike">
              <a:solidFill>
                <a:srgbClr val="000000"/>
              </a:solidFill>
              <a:effectLst/>
              <a:uFillTx/>
              <a:latin typeface="Arial"/>
            </a:endParaRPr>
          </a:p>
        </p:txBody>
      </p:sp>
      <p:sp>
        <p:nvSpPr>
          <p:cNvPr id="158" name="Shape 13"/>
          <p:cNvSpPr/>
          <p:nvPr/>
        </p:nvSpPr>
        <p:spPr>
          <a:xfrm>
            <a:off x="6400800" y="1188720"/>
            <a:ext cx="5257440" cy="4114440"/>
          </a:xfrm>
          <a:prstGeom prst="roundRect">
            <a:avLst>
              <a:gd name="adj" fmla="val 1333"/>
            </a:avLst>
          </a:prstGeom>
          <a:solidFill>
            <a:srgbClr val="FFFFFF"/>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59" name="Text 14"/>
          <p:cNvSpPr/>
          <p:nvPr/>
        </p:nvSpPr>
        <p:spPr>
          <a:xfrm>
            <a:off x="6629400" y="1280160"/>
            <a:ext cx="45716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DIT BUTTERFLY FLOW GRAPH</a:t>
            </a:r>
            <a:endParaRPr lang="en-US" sz="1100" b="0" u="none" strike="noStrike">
              <a:solidFill>
                <a:srgbClr val="000000"/>
              </a:solidFill>
              <a:effectLst/>
              <a:uFillTx/>
              <a:latin typeface="Arial"/>
            </a:endParaRPr>
          </a:p>
        </p:txBody>
      </p:sp>
      <p:sp>
        <p:nvSpPr>
          <p:cNvPr id="160" name="Shape 15"/>
          <p:cNvSpPr/>
          <p:nvPr/>
        </p:nvSpPr>
        <p:spPr>
          <a:xfrm>
            <a:off x="7635240" y="2331720"/>
            <a:ext cx="170064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161" name="Shape 16"/>
          <p:cNvSpPr/>
          <p:nvPr/>
        </p:nvSpPr>
        <p:spPr>
          <a:xfrm>
            <a:off x="7635240" y="3886200"/>
            <a:ext cx="14328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162" name="Shape 17"/>
          <p:cNvSpPr/>
          <p:nvPr/>
        </p:nvSpPr>
        <p:spPr>
          <a:xfrm>
            <a:off x="8455320" y="3886200"/>
            <a:ext cx="20016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163" name="Shape 18"/>
          <p:cNvSpPr/>
          <p:nvPr/>
        </p:nvSpPr>
        <p:spPr>
          <a:xfrm>
            <a:off x="8655480" y="2331720"/>
            <a:ext cx="680400" cy="15544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64" name="Shape 19"/>
          <p:cNvSpPr/>
          <p:nvPr/>
        </p:nvSpPr>
        <p:spPr>
          <a:xfrm flipV="1">
            <a:off x="8655480" y="2331720"/>
            <a:ext cx="680400" cy="15544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65" name="Shape 20"/>
          <p:cNvSpPr/>
          <p:nvPr/>
        </p:nvSpPr>
        <p:spPr>
          <a:xfrm>
            <a:off x="8655480" y="3886200"/>
            <a:ext cx="68040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166" name="Shape 21"/>
          <p:cNvSpPr/>
          <p:nvPr/>
        </p:nvSpPr>
        <p:spPr>
          <a:xfrm>
            <a:off x="9335880" y="2331720"/>
            <a:ext cx="113400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167" name="Shape 22"/>
          <p:cNvSpPr/>
          <p:nvPr/>
        </p:nvSpPr>
        <p:spPr>
          <a:xfrm>
            <a:off x="9335880" y="3886200"/>
            <a:ext cx="113400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168" name="Shape 23"/>
          <p:cNvSpPr/>
          <p:nvPr/>
        </p:nvSpPr>
        <p:spPr>
          <a:xfrm>
            <a:off x="7584840" y="228132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169" name="Shape 24"/>
          <p:cNvSpPr/>
          <p:nvPr/>
        </p:nvSpPr>
        <p:spPr>
          <a:xfrm>
            <a:off x="7584840" y="383580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170" name="Shape 25"/>
          <p:cNvSpPr/>
          <p:nvPr/>
        </p:nvSpPr>
        <p:spPr>
          <a:xfrm>
            <a:off x="10419480" y="228132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171" name="Shape 26"/>
          <p:cNvSpPr/>
          <p:nvPr/>
        </p:nvSpPr>
        <p:spPr>
          <a:xfrm>
            <a:off x="10419480" y="383580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172" name="Shape 27"/>
          <p:cNvSpPr/>
          <p:nvPr/>
        </p:nvSpPr>
        <p:spPr>
          <a:xfrm>
            <a:off x="9180720" y="2176200"/>
            <a:ext cx="310680" cy="310680"/>
          </a:xfrm>
          <a:prstGeom prst="ellipse">
            <a:avLst/>
          </a:prstGeom>
          <a:solidFill>
            <a:srgbClr val="132A4A"/>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73" name="Text 28"/>
          <p:cNvSpPr/>
          <p:nvPr/>
        </p:nvSpPr>
        <p:spPr>
          <a:xfrm>
            <a:off x="9180720" y="2176200"/>
            <a:ext cx="310680" cy="310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a:t>
            </a:r>
            <a:endParaRPr lang="en-US" sz="1100" b="0" u="none" strike="noStrike">
              <a:solidFill>
                <a:srgbClr val="000000"/>
              </a:solidFill>
              <a:effectLst/>
              <a:uFillTx/>
              <a:latin typeface="Arial"/>
            </a:endParaRPr>
          </a:p>
        </p:txBody>
      </p:sp>
      <p:sp>
        <p:nvSpPr>
          <p:cNvPr id="174" name="Shape 29"/>
          <p:cNvSpPr/>
          <p:nvPr/>
        </p:nvSpPr>
        <p:spPr>
          <a:xfrm>
            <a:off x="9180720" y="3730680"/>
            <a:ext cx="310680" cy="310680"/>
          </a:xfrm>
          <a:prstGeom prst="ellipse">
            <a:avLst/>
          </a:prstGeom>
          <a:solidFill>
            <a:srgbClr val="132A4A"/>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75" name="Text 30"/>
          <p:cNvSpPr/>
          <p:nvPr/>
        </p:nvSpPr>
        <p:spPr>
          <a:xfrm>
            <a:off x="9180720" y="3730680"/>
            <a:ext cx="310680" cy="310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a:t>
            </a:r>
            <a:endParaRPr lang="en-US" sz="1100" b="0" u="none" strike="noStrike">
              <a:solidFill>
                <a:srgbClr val="000000"/>
              </a:solidFill>
              <a:effectLst/>
              <a:uFillTx/>
              <a:latin typeface="Arial"/>
            </a:endParaRPr>
          </a:p>
        </p:txBody>
      </p:sp>
      <p:sp>
        <p:nvSpPr>
          <p:cNvPr id="176" name="Shape 31"/>
          <p:cNvSpPr/>
          <p:nvPr/>
        </p:nvSpPr>
        <p:spPr>
          <a:xfrm>
            <a:off x="7778880" y="3740040"/>
            <a:ext cx="676440" cy="292320"/>
          </a:xfrm>
          <a:prstGeom prst="roundRect">
            <a:avLst>
              <a:gd name="adj" fmla="val 15625"/>
            </a:avLst>
          </a:prstGeom>
          <a:solidFill>
            <a:srgbClr val="FFFFFF"/>
          </a:solidFill>
          <a:ln w="19050">
            <a:solidFill>
              <a:srgbClr val="D9832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77" name="Text 32"/>
          <p:cNvSpPr/>
          <p:nvPr/>
        </p:nvSpPr>
        <p:spPr>
          <a:xfrm>
            <a:off x="7778880" y="3740040"/>
            <a:ext cx="676440" cy="292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D98324"/>
                </a:solidFill>
                <a:effectLst/>
                <a:uFillTx/>
                <a:latin typeface="Consolas"/>
                <a:ea typeface="Consolas"/>
              </a:rPr>
              <a:t>W_N^k</a:t>
            </a:r>
            <a:endParaRPr lang="en-US" sz="1100" b="0" u="none" strike="noStrike">
              <a:solidFill>
                <a:srgbClr val="000000"/>
              </a:solidFill>
              <a:effectLst/>
              <a:uFillTx/>
              <a:latin typeface="Arial"/>
            </a:endParaRPr>
          </a:p>
        </p:txBody>
      </p:sp>
      <p:sp>
        <p:nvSpPr>
          <p:cNvPr id="178" name="Text 33"/>
          <p:cNvSpPr/>
          <p:nvPr/>
        </p:nvSpPr>
        <p:spPr>
          <a:xfrm>
            <a:off x="6492240" y="2185560"/>
            <a:ext cx="1005480" cy="2923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trike="noStrike">
                <a:solidFill>
                  <a:srgbClr val="132A4A"/>
                </a:solidFill>
                <a:effectLst/>
                <a:uFillTx/>
                <a:latin typeface="Consolas"/>
                <a:ea typeface="Consolas"/>
              </a:rPr>
              <a:t>E[k]</a:t>
            </a:r>
            <a:endParaRPr lang="en-US" sz="1100" b="0" u="none" strike="noStrike">
              <a:solidFill>
                <a:srgbClr val="000000"/>
              </a:solidFill>
              <a:effectLst/>
              <a:uFillTx/>
              <a:latin typeface="Arial"/>
            </a:endParaRPr>
          </a:p>
        </p:txBody>
      </p:sp>
      <p:sp>
        <p:nvSpPr>
          <p:cNvPr id="179" name="Text 34"/>
          <p:cNvSpPr/>
          <p:nvPr/>
        </p:nvSpPr>
        <p:spPr>
          <a:xfrm>
            <a:off x="6492240" y="3740040"/>
            <a:ext cx="1005480" cy="2923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trike="noStrike">
                <a:solidFill>
                  <a:srgbClr val="132A4A"/>
                </a:solidFill>
                <a:effectLst/>
                <a:uFillTx/>
                <a:latin typeface="Consolas"/>
                <a:ea typeface="Consolas"/>
              </a:rPr>
              <a:t>O[k]</a:t>
            </a:r>
            <a:endParaRPr lang="en-US" sz="1100" b="0" u="none" strike="noStrike">
              <a:solidFill>
                <a:srgbClr val="000000"/>
              </a:solidFill>
              <a:effectLst/>
              <a:uFillTx/>
              <a:latin typeface="Arial"/>
            </a:endParaRPr>
          </a:p>
        </p:txBody>
      </p:sp>
      <p:sp>
        <p:nvSpPr>
          <p:cNvPr id="180" name="Text 35"/>
          <p:cNvSpPr/>
          <p:nvPr/>
        </p:nvSpPr>
        <p:spPr>
          <a:xfrm>
            <a:off x="10607040" y="2185560"/>
            <a:ext cx="14626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132A4A"/>
                </a:solidFill>
                <a:effectLst/>
                <a:uFillTx/>
                <a:latin typeface="Consolas"/>
                <a:ea typeface="Consolas"/>
              </a:rPr>
              <a:t>X[k]</a:t>
            </a:r>
            <a:endParaRPr lang="en-US" sz="1100" b="0" u="none" strike="noStrike">
              <a:solidFill>
                <a:srgbClr val="000000"/>
              </a:solidFill>
              <a:effectLst/>
              <a:uFillTx/>
              <a:latin typeface="Arial"/>
            </a:endParaRPr>
          </a:p>
        </p:txBody>
      </p:sp>
      <p:sp>
        <p:nvSpPr>
          <p:cNvPr id="181" name="Text 36"/>
          <p:cNvSpPr/>
          <p:nvPr/>
        </p:nvSpPr>
        <p:spPr>
          <a:xfrm>
            <a:off x="10607040" y="3740040"/>
            <a:ext cx="14626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132A4A"/>
                </a:solidFill>
                <a:effectLst/>
                <a:uFillTx/>
                <a:latin typeface="Consolas"/>
                <a:ea typeface="Consolas"/>
              </a:rPr>
              <a:t>X[k+N/2]</a:t>
            </a:r>
            <a:endParaRPr lang="en-US" sz="1100" b="0" u="none" strike="noStrike">
              <a:solidFill>
                <a:srgbClr val="000000"/>
              </a:solidFill>
              <a:effectLst/>
              <a:uFillTx/>
              <a:latin typeface="Arial"/>
            </a:endParaRPr>
          </a:p>
        </p:txBody>
      </p:sp>
      <p:sp>
        <p:nvSpPr>
          <p:cNvPr id="182" name="Text 37"/>
          <p:cNvSpPr/>
          <p:nvPr/>
        </p:nvSpPr>
        <p:spPr>
          <a:xfrm>
            <a:off x="6629400" y="4343400"/>
            <a:ext cx="4845960" cy="8683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i="1" u="none" strike="noStrike">
                <a:solidFill>
                  <a:srgbClr val="5C6B7A"/>
                </a:solidFill>
                <a:effectLst/>
                <a:uFillTx/>
                <a:latin typeface="Calibri"/>
                <a:ea typeface="Calibri"/>
              </a:rPr>
              <a:t>Lines carry values, navy nodes add (+) or subtract (-), and the orange box is the single twiddle multiply on the odd branch.</a:t>
            </a:r>
            <a:endParaRPr lang="en-US" sz="1300" b="0" u="none" strike="noStrike">
              <a:solidFill>
                <a:srgbClr val="000000"/>
              </a:solidFill>
              <a:effectLst/>
              <a:uFillTx/>
              <a:latin typeface="Arial"/>
            </a:endParaRPr>
          </a:p>
        </p:txBody>
      </p:sp>
      <p:sp>
        <p:nvSpPr>
          <p:cNvPr id="183" name="Shape 38"/>
          <p:cNvSpPr/>
          <p:nvPr/>
        </p:nvSpPr>
        <p:spPr>
          <a:xfrm>
            <a:off x="502920" y="5577840"/>
            <a:ext cx="11155320" cy="731160"/>
          </a:xfrm>
          <a:prstGeom prst="roundRect">
            <a:avLst>
              <a:gd name="adj" fmla="val 7500"/>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84" name="Text 39"/>
          <p:cNvSpPr/>
          <p:nvPr/>
        </p:nvSpPr>
        <p:spPr>
          <a:xfrm>
            <a:off x="731520" y="5669280"/>
            <a:ext cx="10698120" cy="548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18000"/>
              </a:lnSpc>
              <a:tabLst>
                <a:tab pos="0" algn="l"/>
              </a:tabLst>
            </a:pPr>
            <a:r>
              <a:rPr lang="en-US" sz="1300" b="0" u="none" strike="noStrike">
                <a:solidFill>
                  <a:srgbClr val="16202E"/>
                </a:solidFill>
                <a:effectLst/>
                <a:uFillTx/>
                <a:latin typeface="Calibri"/>
                <a:ea typeface="Calibri"/>
              </a:rPr>
              <a:t>Cost of one butterfly: 1 complex multiplication + 1 complex addition + 1 complex subtraction.</a:t>
            </a:r>
            <a:endParaRPr lang="en-US" sz="1300" b="0" u="none" strike="noStrike">
              <a:solidFill>
                <a:srgbClr val="000000"/>
              </a:solidFill>
              <a:effectLst/>
              <a:uFillTx/>
              <a:latin typeface="Arial"/>
            </a:endParaRPr>
          </a:p>
        </p:txBody>
      </p:sp>
      <p:sp>
        <p:nvSpPr>
          <p:cNvPr id="185" name="Shape 40"/>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186" name="Shape 41"/>
          <p:cNvSpPr/>
          <p:nvPr/>
        </p:nvSpPr>
        <p:spPr>
          <a:xfrm>
            <a:off x="502920" y="6473880"/>
            <a:ext cx="212436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187" name="Text 42"/>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000000"/>
              </a:solidFill>
              <a:effectLst/>
              <a:uFillTx/>
              <a:latin typeface="Arial"/>
            </a:endParaRPr>
          </a:p>
        </p:txBody>
      </p:sp>
      <p:sp>
        <p:nvSpPr>
          <p:cNvPr id="188" name="Text 43"/>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DIT Mathematics     8</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189"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2A · DIT MATHEMATICS</a:t>
            </a:r>
            <a:endParaRPr lang="en-US" sz="1150" b="0" u="none" strike="noStrike">
              <a:solidFill>
                <a:srgbClr val="000000"/>
              </a:solidFill>
              <a:effectLst/>
              <a:uFillTx/>
              <a:latin typeface="Arial"/>
            </a:endParaRPr>
          </a:p>
        </p:txBody>
      </p:sp>
      <p:sp>
        <p:nvSpPr>
          <p:cNvPr id="190"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Twiddle Factors (Used by DIT and DIF)</a:t>
            </a:r>
            <a:endParaRPr lang="en-US" sz="2600" b="0" u="none" strike="noStrike">
              <a:solidFill>
                <a:srgbClr val="000000"/>
              </a:solidFill>
              <a:effectLst/>
              <a:uFillTx/>
              <a:latin typeface="Arial"/>
            </a:endParaRPr>
          </a:p>
        </p:txBody>
      </p:sp>
      <p:sp>
        <p:nvSpPr>
          <p:cNvPr id="191" name="Shape 2"/>
          <p:cNvSpPr/>
          <p:nvPr/>
        </p:nvSpPr>
        <p:spPr>
          <a:xfrm>
            <a:off x="502920" y="1234440"/>
            <a:ext cx="5303160" cy="731160"/>
          </a:xfrm>
          <a:prstGeom prst="roundRect">
            <a:avLst>
              <a:gd name="adj" fmla="val 7500"/>
            </a:avLst>
          </a:prstGeom>
          <a:solidFill>
            <a:srgbClr val="132A4A"/>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92" name="Text 3"/>
          <p:cNvSpPr/>
          <p:nvPr/>
        </p:nvSpPr>
        <p:spPr>
          <a:xfrm>
            <a:off x="502920" y="1234440"/>
            <a:ext cx="5303160" cy="7311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mbria"/>
                <a:ea typeface="Cambria"/>
              </a:rPr>
              <a:t>W</a:t>
            </a:r>
            <a:r>
              <a:rPr lang="en-US" sz="1300" b="1" u="none" strike="noStrike" baseline="-40000">
                <a:solidFill>
                  <a:srgbClr val="FFFFFF"/>
                </a:solidFill>
                <a:effectLst/>
                <a:uFillTx/>
                <a:latin typeface="Cambria"/>
                <a:ea typeface="Cambria"/>
              </a:rPr>
              <a:t>N</a:t>
            </a:r>
            <a:r>
              <a:rPr lang="en-US" sz="1300" b="1" u="none" strike="noStrike" baseline="30000">
                <a:solidFill>
                  <a:srgbClr val="FFFFFF"/>
                </a:solidFill>
                <a:effectLst/>
                <a:uFillTx/>
                <a:latin typeface="Cambria"/>
                <a:ea typeface="Cambria"/>
              </a:rPr>
              <a:t>k</a:t>
            </a:r>
            <a:r>
              <a:rPr lang="en-US" sz="1300" b="1" u="none" strike="noStrike">
                <a:solidFill>
                  <a:srgbClr val="FFFFFF"/>
                </a:solidFill>
                <a:effectLst/>
                <a:uFillTx/>
                <a:latin typeface="Cambria"/>
                <a:ea typeface="Cambria"/>
              </a:rPr>
              <a:t> = e</a:t>
            </a:r>
            <a:r>
              <a:rPr lang="en-US" sz="1300" b="1" u="none" strike="noStrike" baseline="30000">
                <a:solidFill>
                  <a:srgbClr val="FFFFFF"/>
                </a:solidFill>
                <a:effectLst/>
                <a:uFillTx/>
                <a:latin typeface="Cambria"/>
                <a:ea typeface="Cambria"/>
              </a:rPr>
              <a:t>-j2πk/N</a:t>
            </a:r>
            <a:r>
              <a:rPr lang="en-US" sz="1300" b="1" u="none" strike="noStrike">
                <a:solidFill>
                  <a:srgbClr val="FFFFFF"/>
                </a:solidFill>
                <a:effectLst/>
                <a:uFillTx/>
                <a:latin typeface="Cambria"/>
                <a:ea typeface="Cambria"/>
              </a:rPr>
              <a:t> = cos(2πk/N) - j sin(2πk/N)</a:t>
            </a:r>
            <a:endParaRPr lang="en-US" sz="1300" b="0" u="none" strike="noStrike">
              <a:solidFill>
                <a:srgbClr val="000000"/>
              </a:solidFill>
              <a:effectLst/>
              <a:uFillTx/>
              <a:latin typeface="Arial"/>
            </a:endParaRPr>
          </a:p>
        </p:txBody>
      </p:sp>
      <p:sp>
        <p:nvSpPr>
          <p:cNvPr id="193" name="Text 4"/>
          <p:cNvSpPr/>
          <p:nvPr/>
        </p:nvSpPr>
        <p:spPr>
          <a:xfrm>
            <a:off x="502920" y="2103120"/>
            <a:ext cx="5303160" cy="173700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12000"/>
              </a:lnSpc>
              <a:spcAft>
                <a:spcPts val="879"/>
              </a:spcAft>
              <a:buClr>
                <a:srgbClr val="16202E"/>
              </a:buClr>
              <a:buFont typeface="Wingdings" charset="2"/>
              <a:buChar char=""/>
            </a:pPr>
            <a:r>
              <a:rPr lang="en-US" sz="1300" b="0" u="none" strike="noStrike">
                <a:solidFill>
                  <a:srgbClr val="16202E"/>
                </a:solidFill>
                <a:effectLst/>
                <a:uFillTx/>
                <a:latin typeface="Calibri"/>
                <a:ea typeface="Calibri"/>
              </a:rPr>
              <a:t>W_N^k is always a point on the unit circle: magnitude 1, only phase changes.</a:t>
            </a:r>
            <a:endParaRPr lang="en-US" sz="1300" b="0" u="none" strike="noStrike">
              <a:solidFill>
                <a:srgbClr val="000000"/>
              </a:solidFill>
              <a:effectLst/>
              <a:uFillTx/>
              <a:latin typeface="Arial"/>
            </a:endParaRPr>
          </a:p>
          <a:p>
            <a:pPr marL="228600" indent="-228600" defTabSz="914400">
              <a:lnSpc>
                <a:spcPct val="112000"/>
              </a:lnSpc>
              <a:spcAft>
                <a:spcPts val="879"/>
              </a:spcAft>
              <a:buClr>
                <a:srgbClr val="16202E"/>
              </a:buClr>
              <a:buFont typeface="Wingdings" charset="2"/>
              <a:buChar char=""/>
            </a:pPr>
            <a:r>
              <a:rPr lang="en-US" sz="1300" b="0" u="none" strike="noStrike">
                <a:solidFill>
                  <a:srgbClr val="16202E"/>
                </a:solidFill>
                <a:effectLst/>
                <a:uFillTx/>
                <a:latin typeface="Calibri"/>
                <a:ea typeface="Calibri"/>
              </a:rPr>
              <a:t>As k increases by 1, the phase rotates clockwise by an additional 2 pi / N radians.</a:t>
            </a:r>
            <a:endParaRPr lang="en-US" sz="1300" b="0" u="none" strike="noStrike">
              <a:solidFill>
                <a:srgbClr val="000000"/>
              </a:solidFill>
              <a:effectLst/>
              <a:uFillTx/>
              <a:latin typeface="Arial"/>
            </a:endParaRPr>
          </a:p>
          <a:p>
            <a:pPr marL="228600" indent="-228600" defTabSz="914400">
              <a:lnSpc>
                <a:spcPct val="112000"/>
              </a:lnSpc>
              <a:spcAft>
                <a:spcPts val="879"/>
              </a:spcAft>
              <a:buClr>
                <a:srgbClr val="16202E"/>
              </a:buClr>
              <a:buFont typeface="Wingdings" charset="2"/>
              <a:buChar char=""/>
            </a:pPr>
            <a:r>
              <a:rPr lang="en-US" sz="1300" b="0" u="none" strike="noStrike">
                <a:solidFill>
                  <a:srgbClr val="16202E"/>
                </a:solidFill>
                <a:effectLst/>
                <a:uFillTx/>
                <a:latin typeface="Calibri"/>
                <a:ea typeface="Calibri"/>
              </a:rPr>
              <a:t>Multiplying a complex number by W_N^k rotates it, it never changes its magnitude.</a:t>
            </a:r>
            <a:endParaRPr lang="en-US" sz="1300" b="0" u="none" strike="noStrike">
              <a:solidFill>
                <a:srgbClr val="000000"/>
              </a:solidFill>
              <a:effectLst/>
              <a:uFillTx/>
              <a:latin typeface="Arial"/>
            </a:endParaRPr>
          </a:p>
        </p:txBody>
      </p:sp>
      <p:sp>
        <p:nvSpPr>
          <p:cNvPr id="194" name="Shape 5"/>
          <p:cNvSpPr/>
          <p:nvPr/>
        </p:nvSpPr>
        <p:spPr>
          <a:xfrm>
            <a:off x="502920" y="3977640"/>
            <a:ext cx="5303160" cy="1051200"/>
          </a:xfrm>
          <a:prstGeom prst="roundRect">
            <a:avLst>
              <a:gd name="adj" fmla="val 5217"/>
            </a:avLst>
          </a:prstGeom>
          <a:solidFill>
            <a:srgbClr val="FBF0E2"/>
          </a:solidFill>
          <a:ln w="12700">
            <a:solidFill>
              <a:srgbClr val="E7CDA0"/>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95" name="Text 6"/>
          <p:cNvSpPr/>
          <p:nvPr/>
        </p:nvSpPr>
        <p:spPr>
          <a:xfrm>
            <a:off x="685800" y="4096440"/>
            <a:ext cx="4937400" cy="82260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Geometric picture: the N values W_N^0 ... W_N^(N-1) are the N-th roots of unity, N equally spaced points around the unit circle. For N = 8 they land every 45 degrees.</a:t>
            </a:r>
            <a:endParaRPr lang="en-US" sz="1300" b="0" u="none" strike="noStrike">
              <a:solidFill>
                <a:srgbClr val="000000"/>
              </a:solidFill>
              <a:effectLst/>
              <a:uFillTx/>
              <a:latin typeface="Arial"/>
            </a:endParaRPr>
          </a:p>
        </p:txBody>
      </p:sp>
      <p:sp>
        <p:nvSpPr>
          <p:cNvPr id="196" name="Text 7"/>
          <p:cNvSpPr/>
          <p:nvPr/>
        </p:nvSpPr>
        <p:spPr>
          <a:xfrm>
            <a:off x="6446520" y="1234440"/>
            <a:ext cx="493740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THREE KEY SYMMETRIES</a:t>
            </a:r>
            <a:endParaRPr lang="en-US" sz="1100" b="0" u="none" strike="noStrike">
              <a:solidFill>
                <a:srgbClr val="000000"/>
              </a:solidFill>
              <a:effectLst/>
              <a:uFillTx/>
              <a:latin typeface="Arial"/>
            </a:endParaRPr>
          </a:p>
        </p:txBody>
      </p:sp>
      <p:sp>
        <p:nvSpPr>
          <p:cNvPr id="197" name="Shape 8"/>
          <p:cNvSpPr/>
          <p:nvPr/>
        </p:nvSpPr>
        <p:spPr>
          <a:xfrm>
            <a:off x="6446520" y="1536120"/>
            <a:ext cx="4937400" cy="914040"/>
          </a:xfrm>
          <a:prstGeom prst="roundRect">
            <a:avLst>
              <a:gd name="adj" fmla="val 6000"/>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98" name="Text 9"/>
          <p:cNvSpPr/>
          <p:nvPr/>
        </p:nvSpPr>
        <p:spPr>
          <a:xfrm>
            <a:off x="6583680" y="1609200"/>
            <a:ext cx="466308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rPr>
              <a:t>Periodicity   </a:t>
            </a:r>
            <a:r>
              <a:rPr lang="en-US" sz="1100" b="1" u="none" strike="noStrike">
                <a:solidFill>
                  <a:srgbClr val="132A4A"/>
                </a:solidFill>
                <a:effectLst/>
                <a:uFillTx/>
                <a:latin typeface="Calibri"/>
              </a:rPr>
              <a:t>W_N^(k+N) = W_N^k</a:t>
            </a:r>
            <a:endParaRPr lang="en-US" sz="1100" b="0" u="none" strike="noStrike">
              <a:solidFill>
                <a:srgbClr val="000000"/>
              </a:solidFill>
              <a:effectLst/>
              <a:uFillTx/>
              <a:latin typeface="Arial"/>
            </a:endParaRPr>
          </a:p>
        </p:txBody>
      </p:sp>
      <p:sp>
        <p:nvSpPr>
          <p:cNvPr id="199" name="Text 10"/>
          <p:cNvSpPr/>
          <p:nvPr/>
        </p:nvSpPr>
        <p:spPr>
          <a:xfrm>
            <a:off x="6583680" y="1901880"/>
            <a:ext cx="4663080" cy="50256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5C6B7A"/>
                </a:solidFill>
                <a:effectLst/>
                <a:uFillTx/>
                <a:latin typeface="Calibri"/>
                <a:ea typeface="Calibri"/>
              </a:rPr>
              <a:t>Rotating a full N steps returns to the same point; tables only ever need N distinct entries.</a:t>
            </a:r>
            <a:endParaRPr lang="en-US" sz="1300" b="0" u="none" strike="noStrike">
              <a:solidFill>
                <a:srgbClr val="000000"/>
              </a:solidFill>
              <a:effectLst/>
              <a:uFillTx/>
              <a:latin typeface="Arial"/>
            </a:endParaRPr>
          </a:p>
        </p:txBody>
      </p:sp>
      <p:sp>
        <p:nvSpPr>
          <p:cNvPr id="200" name="Shape 11"/>
          <p:cNvSpPr/>
          <p:nvPr/>
        </p:nvSpPr>
        <p:spPr>
          <a:xfrm>
            <a:off x="6446520" y="2587680"/>
            <a:ext cx="4937400" cy="914040"/>
          </a:xfrm>
          <a:prstGeom prst="roundRect">
            <a:avLst>
              <a:gd name="adj" fmla="val 6000"/>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01" name="Text 12"/>
          <p:cNvSpPr/>
          <p:nvPr/>
        </p:nvSpPr>
        <p:spPr>
          <a:xfrm>
            <a:off x="6583680" y="2660760"/>
            <a:ext cx="466308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rPr>
              <a:t>Half-period   </a:t>
            </a:r>
            <a:r>
              <a:rPr lang="en-US" sz="1100" b="1" u="none" strike="noStrike">
                <a:solidFill>
                  <a:srgbClr val="132A4A"/>
                </a:solidFill>
                <a:effectLst/>
                <a:uFillTx/>
                <a:latin typeface="Calibri"/>
              </a:rPr>
              <a:t>W_N^(k+N/2) = -W_N^k</a:t>
            </a:r>
            <a:endParaRPr lang="en-US" sz="1100" b="0" u="none" strike="noStrike">
              <a:solidFill>
                <a:srgbClr val="000000"/>
              </a:solidFill>
              <a:effectLst/>
              <a:uFillTx/>
              <a:latin typeface="Arial"/>
            </a:endParaRPr>
          </a:p>
        </p:txBody>
      </p:sp>
      <p:sp>
        <p:nvSpPr>
          <p:cNvPr id="202" name="Text 13"/>
          <p:cNvSpPr/>
          <p:nvPr/>
        </p:nvSpPr>
        <p:spPr>
          <a:xfrm>
            <a:off x="6583680" y="2953440"/>
            <a:ext cx="4663080" cy="50256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5C6B7A"/>
                </a:solidFill>
                <a:effectLst/>
                <a:uFillTx/>
                <a:latin typeface="Calibri"/>
                <a:ea typeface="Calibri"/>
              </a:rPr>
              <a:t>A rotation of half the circle is exactly a sign flip. This turns X[k+N/2] into A-B.</a:t>
            </a:r>
            <a:endParaRPr lang="en-US" sz="1300" b="0" u="none" strike="noStrike">
              <a:solidFill>
                <a:srgbClr val="000000"/>
              </a:solidFill>
              <a:effectLst/>
              <a:uFillTx/>
              <a:latin typeface="Arial"/>
            </a:endParaRPr>
          </a:p>
        </p:txBody>
      </p:sp>
      <p:sp>
        <p:nvSpPr>
          <p:cNvPr id="203" name="Shape 14"/>
          <p:cNvSpPr/>
          <p:nvPr/>
        </p:nvSpPr>
        <p:spPr>
          <a:xfrm>
            <a:off x="6446520" y="3639240"/>
            <a:ext cx="4937400" cy="914040"/>
          </a:xfrm>
          <a:prstGeom prst="roundRect">
            <a:avLst>
              <a:gd name="adj" fmla="val 6000"/>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04" name="Text 15"/>
          <p:cNvSpPr/>
          <p:nvPr/>
        </p:nvSpPr>
        <p:spPr>
          <a:xfrm>
            <a:off x="6583680" y="3712320"/>
            <a:ext cx="466308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rPr>
              <a:t>Conjugate symmetry   </a:t>
            </a:r>
            <a:r>
              <a:rPr lang="en-US" sz="1100" b="1" u="none" strike="noStrike">
                <a:solidFill>
                  <a:srgbClr val="132A4A"/>
                </a:solidFill>
                <a:effectLst/>
                <a:uFillTx/>
                <a:latin typeface="Calibri"/>
              </a:rPr>
              <a:t>W_N^(-k) = (W_N^k)*</a:t>
            </a:r>
            <a:endParaRPr lang="en-US" sz="1100" b="0" u="none" strike="noStrike">
              <a:solidFill>
                <a:srgbClr val="000000"/>
              </a:solidFill>
              <a:effectLst/>
              <a:uFillTx/>
              <a:latin typeface="Arial"/>
            </a:endParaRPr>
          </a:p>
        </p:txBody>
      </p:sp>
      <p:sp>
        <p:nvSpPr>
          <p:cNvPr id="205" name="Text 16"/>
          <p:cNvSpPr/>
          <p:nvPr/>
        </p:nvSpPr>
        <p:spPr>
          <a:xfrm>
            <a:off x="6583680" y="4005000"/>
            <a:ext cx="4663080" cy="50256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5C6B7A"/>
                </a:solidFill>
                <a:effectLst/>
                <a:uFillTx/>
                <a:latin typeface="Calibri"/>
                <a:ea typeface="Calibri"/>
              </a:rPr>
              <a:t>Negative-frequency values are conjugates of positive ones; only half the circle needs storing.</a:t>
            </a:r>
            <a:endParaRPr lang="en-US" sz="1300" b="0" u="none" strike="noStrike">
              <a:solidFill>
                <a:srgbClr val="000000"/>
              </a:solidFill>
              <a:effectLst/>
              <a:uFillTx/>
              <a:latin typeface="Arial"/>
            </a:endParaRPr>
          </a:p>
        </p:txBody>
      </p:sp>
      <p:sp>
        <p:nvSpPr>
          <p:cNvPr id="206" name="Shape 17"/>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207" name="Shape 18"/>
          <p:cNvSpPr/>
          <p:nvPr/>
        </p:nvSpPr>
        <p:spPr>
          <a:xfrm>
            <a:off x="502920" y="6473880"/>
            <a:ext cx="239004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208" name="Text 19"/>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000000"/>
              </a:solidFill>
              <a:effectLst/>
              <a:uFillTx/>
              <a:latin typeface="Arial"/>
            </a:endParaRPr>
          </a:p>
        </p:txBody>
      </p:sp>
      <p:sp>
        <p:nvSpPr>
          <p:cNvPr id="209" name="Text 20"/>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DIT Mathematics     9</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210"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2B · DIF MATHEMATICS</a:t>
            </a:r>
            <a:endParaRPr lang="en-US" sz="1150" b="0" u="none" strike="noStrike">
              <a:solidFill>
                <a:srgbClr val="000000"/>
              </a:solidFill>
              <a:effectLst/>
              <a:uFillTx/>
              <a:latin typeface="Arial"/>
            </a:endParaRPr>
          </a:p>
        </p:txBody>
      </p:sp>
      <p:sp>
        <p:nvSpPr>
          <p:cNvPr id="211"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Decimation-in-Frequency (DIF): The Decomposition Idea</a:t>
            </a:r>
            <a:endParaRPr lang="en-US" sz="2600" b="0" u="none" strike="noStrike">
              <a:solidFill>
                <a:srgbClr val="000000"/>
              </a:solidFill>
              <a:effectLst/>
              <a:uFillTx/>
              <a:latin typeface="Arial"/>
            </a:endParaRPr>
          </a:p>
        </p:txBody>
      </p:sp>
      <p:sp>
        <p:nvSpPr>
          <p:cNvPr id="212" name="Text 2"/>
          <p:cNvSpPr/>
          <p:nvPr/>
        </p:nvSpPr>
        <p:spPr>
          <a:xfrm>
            <a:off x="502920" y="1234440"/>
            <a:ext cx="5303160" cy="384012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12000"/>
              </a:lnSpc>
              <a:spcAft>
                <a:spcPts val="879"/>
              </a:spcAft>
              <a:buClr>
                <a:srgbClr val="16202E"/>
              </a:buClr>
              <a:buFont typeface="Wingdings" charset="2"/>
              <a:buChar char=""/>
            </a:pPr>
            <a:r>
              <a:rPr lang="en-US" sz="1300" b="0" u="none" strike="noStrike">
                <a:solidFill>
                  <a:srgbClr val="16202E"/>
                </a:solidFill>
                <a:effectLst/>
                <a:uFillTx/>
                <a:latin typeface="Calibri"/>
                <a:ea typeface="Calibri"/>
              </a:rPr>
              <a:t>DIT decomposes by grouping input samples: even-indexed and odd-indexed time samples each feed their own N/2-point DFT.</a:t>
            </a:r>
            <a:endParaRPr lang="en-US" sz="1300" b="0" u="none" strike="noStrike">
              <a:solidFill>
                <a:srgbClr val="000000"/>
              </a:solidFill>
              <a:effectLst/>
              <a:uFillTx/>
              <a:latin typeface="Arial"/>
            </a:endParaRPr>
          </a:p>
          <a:p>
            <a:pPr marL="228600" indent="-228600" defTabSz="914400">
              <a:lnSpc>
                <a:spcPct val="112000"/>
              </a:lnSpc>
              <a:spcAft>
                <a:spcPts val="879"/>
              </a:spcAft>
              <a:buClr>
                <a:srgbClr val="16202E"/>
              </a:buClr>
              <a:buFont typeface="Wingdings" charset="2"/>
              <a:buChar char=""/>
            </a:pPr>
            <a:r>
              <a:rPr lang="en-US" sz="1300" b="0" u="none" strike="noStrike">
                <a:solidFill>
                  <a:srgbClr val="16202E"/>
                </a:solidFill>
                <a:effectLst/>
                <a:uFillTx/>
                <a:latin typeface="Calibri"/>
                <a:ea typeface="Calibri"/>
              </a:rPr>
              <a:t>DIF decomposes the other way, by grouping output frequencies: even-indexed outputs X[0],X[2],X[4],... form one N/2-point problem, odd-indexed outputs X[1],X[3],X[5],... form another.</a:t>
            </a:r>
            <a:endParaRPr lang="en-US" sz="1300" b="0" u="none" strike="noStrike">
              <a:solidFill>
                <a:srgbClr val="000000"/>
              </a:solidFill>
              <a:effectLst/>
              <a:uFillTx/>
              <a:latin typeface="Arial"/>
            </a:endParaRPr>
          </a:p>
          <a:p>
            <a:pPr marL="228600" indent="-228600" defTabSz="914400">
              <a:lnSpc>
                <a:spcPct val="112000"/>
              </a:lnSpc>
              <a:spcAft>
                <a:spcPts val="879"/>
              </a:spcAft>
              <a:buClr>
                <a:srgbClr val="16202E"/>
              </a:buClr>
              <a:buFont typeface="Wingdings" charset="2"/>
              <a:buChar char=""/>
            </a:pPr>
            <a:r>
              <a:rPr lang="en-US" sz="1300" b="0" u="none" strike="noStrike">
                <a:solidFill>
                  <a:srgbClr val="16202E"/>
                </a:solidFill>
                <a:effectLst/>
                <a:uFillTx/>
                <a:latin typeface="Calibri"/>
                <a:ea typeface="Calibri"/>
              </a:rPr>
              <a:t>Worked through the algebra (next slide), splitting the output by parity turns out to mean splitting the input sequence into its first half and second half, x[0..N/2-1] and x[N/2..N-1], not by even/odd input index.</a:t>
            </a:r>
            <a:endParaRPr lang="en-US" sz="1300" b="0" u="none" strike="noStrike">
              <a:solidFill>
                <a:srgbClr val="000000"/>
              </a:solidFill>
              <a:effectLst/>
              <a:uFillTx/>
              <a:latin typeface="Arial"/>
            </a:endParaRPr>
          </a:p>
          <a:p>
            <a:pPr marL="228600" indent="-228600" defTabSz="914400">
              <a:lnSpc>
                <a:spcPct val="112000"/>
              </a:lnSpc>
              <a:spcAft>
                <a:spcPts val="879"/>
              </a:spcAft>
              <a:buClr>
                <a:srgbClr val="16202E"/>
              </a:buClr>
              <a:buFont typeface="Wingdings" charset="2"/>
              <a:buChar char=""/>
            </a:pPr>
            <a:r>
              <a:rPr lang="en-US" sz="1300" b="0" u="none" strike="noStrike">
                <a:solidFill>
                  <a:srgbClr val="16202E"/>
                </a:solidFill>
                <a:effectLst/>
                <a:uFillTx/>
                <a:latin typeface="Calibri"/>
                <a:ea typeface="Calibri"/>
              </a:rPr>
              <a:t>Same requirement as DIT: N must be a power of 2, so the split reaches trivial 1-point pieces after log₂N levels.</a:t>
            </a:r>
            <a:endParaRPr lang="en-US" sz="1300" b="0" u="none" strike="noStrike">
              <a:solidFill>
                <a:srgbClr val="000000"/>
              </a:solidFill>
              <a:effectLst/>
              <a:uFillTx/>
              <a:latin typeface="Arial"/>
            </a:endParaRPr>
          </a:p>
        </p:txBody>
      </p:sp>
      <p:sp>
        <p:nvSpPr>
          <p:cNvPr id="213" name="Text 3"/>
          <p:cNvSpPr/>
          <p:nvPr/>
        </p:nvSpPr>
        <p:spPr>
          <a:xfrm>
            <a:off x="6309360" y="1234440"/>
            <a:ext cx="493740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150" strike="noStrike">
                <a:solidFill>
                  <a:srgbClr val="0E8388"/>
                </a:solidFill>
                <a:effectLst/>
                <a:uFillTx/>
                <a:latin typeface="Calibri"/>
                <a:ea typeface="Calibri"/>
              </a:rPr>
              <a:t>OUTPUT DECOMPOSITION TREE (N=8)</a:t>
            </a:r>
            <a:endParaRPr lang="en-US" sz="1100" b="0" u="none" strike="noStrike">
              <a:solidFill>
                <a:srgbClr val="000000"/>
              </a:solidFill>
              <a:effectLst/>
              <a:uFillTx/>
              <a:latin typeface="Arial"/>
            </a:endParaRPr>
          </a:p>
        </p:txBody>
      </p:sp>
      <p:sp>
        <p:nvSpPr>
          <p:cNvPr id="214" name="Shape 4"/>
          <p:cNvSpPr/>
          <p:nvPr/>
        </p:nvSpPr>
        <p:spPr>
          <a:xfrm>
            <a:off x="8915400" y="2148840"/>
            <a:ext cx="360" cy="22860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15" name="Shape 5"/>
          <p:cNvSpPr/>
          <p:nvPr/>
        </p:nvSpPr>
        <p:spPr>
          <a:xfrm>
            <a:off x="7589520" y="2377440"/>
            <a:ext cx="132588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216" name="Shape 6"/>
          <p:cNvSpPr/>
          <p:nvPr/>
        </p:nvSpPr>
        <p:spPr>
          <a:xfrm>
            <a:off x="7589520" y="2377440"/>
            <a:ext cx="360" cy="22860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17" name="Shape 7"/>
          <p:cNvSpPr/>
          <p:nvPr/>
        </p:nvSpPr>
        <p:spPr>
          <a:xfrm>
            <a:off x="8915400" y="2148840"/>
            <a:ext cx="360" cy="22860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18" name="Shape 8"/>
          <p:cNvSpPr/>
          <p:nvPr/>
        </p:nvSpPr>
        <p:spPr>
          <a:xfrm>
            <a:off x="8915400" y="2377440"/>
            <a:ext cx="132588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219" name="Shape 9"/>
          <p:cNvSpPr/>
          <p:nvPr/>
        </p:nvSpPr>
        <p:spPr>
          <a:xfrm>
            <a:off x="10241280" y="2377440"/>
            <a:ext cx="360" cy="22860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20" name="Shape 10"/>
          <p:cNvSpPr/>
          <p:nvPr/>
        </p:nvSpPr>
        <p:spPr>
          <a:xfrm>
            <a:off x="7589520" y="3063240"/>
            <a:ext cx="360" cy="22860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21" name="Shape 11"/>
          <p:cNvSpPr/>
          <p:nvPr/>
        </p:nvSpPr>
        <p:spPr>
          <a:xfrm>
            <a:off x="6858000" y="3291840"/>
            <a:ext cx="73152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222" name="Shape 12"/>
          <p:cNvSpPr/>
          <p:nvPr/>
        </p:nvSpPr>
        <p:spPr>
          <a:xfrm>
            <a:off x="6858000" y="3291840"/>
            <a:ext cx="360" cy="22860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23" name="Shape 13"/>
          <p:cNvSpPr/>
          <p:nvPr/>
        </p:nvSpPr>
        <p:spPr>
          <a:xfrm>
            <a:off x="7589520" y="3063240"/>
            <a:ext cx="360" cy="22860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24" name="Shape 14"/>
          <p:cNvSpPr/>
          <p:nvPr/>
        </p:nvSpPr>
        <p:spPr>
          <a:xfrm>
            <a:off x="7589520" y="3291840"/>
            <a:ext cx="73152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225" name="Shape 15"/>
          <p:cNvSpPr/>
          <p:nvPr/>
        </p:nvSpPr>
        <p:spPr>
          <a:xfrm>
            <a:off x="8321040" y="3291840"/>
            <a:ext cx="360" cy="22860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26" name="Shape 16"/>
          <p:cNvSpPr/>
          <p:nvPr/>
        </p:nvSpPr>
        <p:spPr>
          <a:xfrm>
            <a:off x="10241280" y="3063240"/>
            <a:ext cx="360" cy="22860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27" name="Shape 17"/>
          <p:cNvSpPr/>
          <p:nvPr/>
        </p:nvSpPr>
        <p:spPr>
          <a:xfrm>
            <a:off x="9509760" y="3291840"/>
            <a:ext cx="73152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228" name="Shape 18"/>
          <p:cNvSpPr/>
          <p:nvPr/>
        </p:nvSpPr>
        <p:spPr>
          <a:xfrm>
            <a:off x="9509760" y="3291840"/>
            <a:ext cx="360" cy="22860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29" name="Shape 19"/>
          <p:cNvSpPr/>
          <p:nvPr/>
        </p:nvSpPr>
        <p:spPr>
          <a:xfrm>
            <a:off x="10241280" y="3063240"/>
            <a:ext cx="360" cy="22860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30" name="Shape 20"/>
          <p:cNvSpPr/>
          <p:nvPr/>
        </p:nvSpPr>
        <p:spPr>
          <a:xfrm>
            <a:off x="10241280" y="3291840"/>
            <a:ext cx="73152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231" name="Shape 21"/>
          <p:cNvSpPr/>
          <p:nvPr/>
        </p:nvSpPr>
        <p:spPr>
          <a:xfrm>
            <a:off x="10972800" y="3291840"/>
            <a:ext cx="360" cy="22860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32" name="Shape 22"/>
          <p:cNvSpPr/>
          <p:nvPr/>
        </p:nvSpPr>
        <p:spPr>
          <a:xfrm>
            <a:off x="7772400" y="1691640"/>
            <a:ext cx="2285640" cy="456840"/>
          </a:xfrm>
          <a:prstGeom prst="roundRect">
            <a:avLst>
              <a:gd name="adj" fmla="val 14000"/>
            </a:avLst>
          </a:prstGeom>
          <a:solidFill>
            <a:srgbClr val="132A4A"/>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33" name="Text 23"/>
          <p:cNvSpPr/>
          <p:nvPr/>
        </p:nvSpPr>
        <p:spPr>
          <a:xfrm>
            <a:off x="7772400" y="1691640"/>
            <a:ext cx="22856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X[0..7], 8 outputs</a:t>
            </a:r>
            <a:endParaRPr lang="en-US" sz="1300" b="0" u="none" strike="noStrike">
              <a:solidFill>
                <a:srgbClr val="000000"/>
              </a:solidFill>
              <a:effectLst/>
              <a:uFillTx/>
              <a:latin typeface="Arial"/>
            </a:endParaRPr>
          </a:p>
        </p:txBody>
      </p:sp>
      <p:sp>
        <p:nvSpPr>
          <p:cNvPr id="234" name="Shape 24"/>
          <p:cNvSpPr/>
          <p:nvPr/>
        </p:nvSpPr>
        <p:spPr>
          <a:xfrm>
            <a:off x="6537960" y="2606040"/>
            <a:ext cx="2102760" cy="456840"/>
          </a:xfrm>
          <a:prstGeom prst="roundRect">
            <a:avLst>
              <a:gd name="adj" fmla="val 14000"/>
            </a:avLst>
          </a:prstGeom>
          <a:solidFill>
            <a:srgbClr val="9FD4D1"/>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35" name="Text 25"/>
          <p:cNvSpPr/>
          <p:nvPr/>
        </p:nvSpPr>
        <p:spPr>
          <a:xfrm>
            <a:off x="6537960" y="2606040"/>
            <a:ext cx="210276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32A4A"/>
                </a:solidFill>
                <a:effectLst/>
                <a:uFillTx/>
                <a:latin typeface="Calibri"/>
                <a:ea typeface="Calibri"/>
              </a:rPr>
              <a:t>Even: X[0,2,4,6]</a:t>
            </a:r>
            <a:endParaRPr lang="en-US" sz="1300" b="0" u="none" strike="noStrike">
              <a:solidFill>
                <a:srgbClr val="000000"/>
              </a:solidFill>
              <a:effectLst/>
              <a:uFillTx/>
              <a:latin typeface="Arial"/>
            </a:endParaRPr>
          </a:p>
        </p:txBody>
      </p:sp>
      <p:sp>
        <p:nvSpPr>
          <p:cNvPr id="236" name="Shape 26"/>
          <p:cNvSpPr/>
          <p:nvPr/>
        </p:nvSpPr>
        <p:spPr>
          <a:xfrm>
            <a:off x="9189720" y="2606040"/>
            <a:ext cx="2102760" cy="456840"/>
          </a:xfrm>
          <a:prstGeom prst="roundRect">
            <a:avLst>
              <a:gd name="adj" fmla="val 14000"/>
            </a:avLst>
          </a:prstGeom>
          <a:solidFill>
            <a:srgbClr val="E7CDA0"/>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37" name="Text 27"/>
          <p:cNvSpPr/>
          <p:nvPr/>
        </p:nvSpPr>
        <p:spPr>
          <a:xfrm>
            <a:off x="9189720" y="2606040"/>
            <a:ext cx="210276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132A4A"/>
                </a:solidFill>
                <a:effectLst/>
                <a:uFillTx/>
                <a:latin typeface="Calibri"/>
                <a:ea typeface="Calibri"/>
              </a:rPr>
              <a:t>Odd: X[1,3,5,7]</a:t>
            </a:r>
            <a:endParaRPr lang="en-US" sz="1300" b="0" u="none" strike="noStrike">
              <a:solidFill>
                <a:srgbClr val="000000"/>
              </a:solidFill>
              <a:effectLst/>
              <a:uFillTx/>
              <a:latin typeface="Arial"/>
            </a:endParaRPr>
          </a:p>
        </p:txBody>
      </p:sp>
      <p:sp>
        <p:nvSpPr>
          <p:cNvPr id="238" name="Shape 28"/>
          <p:cNvSpPr/>
          <p:nvPr/>
        </p:nvSpPr>
        <p:spPr>
          <a:xfrm>
            <a:off x="6309360" y="3520440"/>
            <a:ext cx="1096920" cy="456840"/>
          </a:xfrm>
          <a:prstGeom prst="roundRect">
            <a:avLst>
              <a:gd name="adj" fmla="val 14000"/>
            </a:avLst>
          </a:prstGeom>
          <a:solidFill>
            <a:srgbClr val="E4F3F2"/>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39" name="Text 29"/>
          <p:cNvSpPr/>
          <p:nvPr/>
        </p:nvSpPr>
        <p:spPr>
          <a:xfrm>
            <a:off x="6309360" y="3520440"/>
            <a:ext cx="109692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X0, X4</a:t>
            </a:r>
            <a:endParaRPr lang="en-US" sz="1100" b="0" u="none" strike="noStrike">
              <a:solidFill>
                <a:srgbClr val="000000"/>
              </a:solidFill>
              <a:effectLst/>
              <a:uFillTx/>
              <a:latin typeface="Arial"/>
            </a:endParaRPr>
          </a:p>
        </p:txBody>
      </p:sp>
      <p:sp>
        <p:nvSpPr>
          <p:cNvPr id="240" name="Shape 30"/>
          <p:cNvSpPr/>
          <p:nvPr/>
        </p:nvSpPr>
        <p:spPr>
          <a:xfrm>
            <a:off x="7772400" y="3520440"/>
            <a:ext cx="1096920" cy="456840"/>
          </a:xfrm>
          <a:prstGeom prst="roundRect">
            <a:avLst>
              <a:gd name="adj" fmla="val 14000"/>
            </a:avLst>
          </a:prstGeom>
          <a:solidFill>
            <a:srgbClr val="E4F3F2"/>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41" name="Text 31"/>
          <p:cNvSpPr/>
          <p:nvPr/>
        </p:nvSpPr>
        <p:spPr>
          <a:xfrm>
            <a:off x="7772400" y="3520440"/>
            <a:ext cx="109692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X2, X6</a:t>
            </a:r>
            <a:endParaRPr lang="en-US" sz="1100" b="0" u="none" strike="noStrike">
              <a:solidFill>
                <a:srgbClr val="000000"/>
              </a:solidFill>
              <a:effectLst/>
              <a:uFillTx/>
              <a:latin typeface="Arial"/>
            </a:endParaRPr>
          </a:p>
        </p:txBody>
      </p:sp>
      <p:sp>
        <p:nvSpPr>
          <p:cNvPr id="242" name="Shape 32"/>
          <p:cNvSpPr/>
          <p:nvPr/>
        </p:nvSpPr>
        <p:spPr>
          <a:xfrm>
            <a:off x="8961120" y="3520440"/>
            <a:ext cx="1096920" cy="456840"/>
          </a:xfrm>
          <a:prstGeom prst="roundRect">
            <a:avLst>
              <a:gd name="adj" fmla="val 14000"/>
            </a:avLst>
          </a:prstGeom>
          <a:solidFill>
            <a:srgbClr val="FBF0E2"/>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43" name="Text 33"/>
          <p:cNvSpPr/>
          <p:nvPr/>
        </p:nvSpPr>
        <p:spPr>
          <a:xfrm>
            <a:off x="8961120" y="3520440"/>
            <a:ext cx="109692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X1, X5</a:t>
            </a:r>
            <a:endParaRPr lang="en-US" sz="1100" b="0" u="none" strike="noStrike">
              <a:solidFill>
                <a:srgbClr val="000000"/>
              </a:solidFill>
              <a:effectLst/>
              <a:uFillTx/>
              <a:latin typeface="Arial"/>
            </a:endParaRPr>
          </a:p>
        </p:txBody>
      </p:sp>
      <p:sp>
        <p:nvSpPr>
          <p:cNvPr id="244" name="Shape 34"/>
          <p:cNvSpPr/>
          <p:nvPr/>
        </p:nvSpPr>
        <p:spPr>
          <a:xfrm>
            <a:off x="10424160" y="3520440"/>
            <a:ext cx="1096920" cy="456840"/>
          </a:xfrm>
          <a:prstGeom prst="roundRect">
            <a:avLst>
              <a:gd name="adj" fmla="val 14000"/>
            </a:avLst>
          </a:prstGeom>
          <a:solidFill>
            <a:srgbClr val="FBF0E2"/>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45" name="Text 35"/>
          <p:cNvSpPr/>
          <p:nvPr/>
        </p:nvSpPr>
        <p:spPr>
          <a:xfrm>
            <a:off x="10424160" y="3520440"/>
            <a:ext cx="109692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X3, X7</a:t>
            </a:r>
            <a:endParaRPr lang="en-US" sz="1100" b="0" u="none" strike="noStrike">
              <a:solidFill>
                <a:srgbClr val="000000"/>
              </a:solidFill>
              <a:effectLst/>
              <a:uFillTx/>
              <a:latin typeface="Arial"/>
            </a:endParaRPr>
          </a:p>
        </p:txBody>
      </p:sp>
      <p:sp>
        <p:nvSpPr>
          <p:cNvPr id="246" name="Text 36"/>
          <p:cNvSpPr/>
          <p:nvPr/>
        </p:nvSpPr>
        <p:spPr>
          <a:xfrm>
            <a:off x="6309360" y="4160520"/>
            <a:ext cx="5211720" cy="91404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i="1" u="none" strike="noStrike">
                <a:solidFill>
                  <a:srgbClr val="5C6B7A"/>
                </a:solidFill>
                <a:effectLst/>
                <a:uFillTx/>
                <a:latin typeface="Calibri"/>
                <a:ea typeface="Calibri"/>
              </a:rPr>
              <a:t>Read top-down: the 8 outputs split into an even and an odd group of 4, each of those splits again, down to single outputs. The mirror image of the DIT tree on slide 5, drawn for outputs instead of inputs.</a:t>
            </a:r>
            <a:endParaRPr lang="en-US" sz="1300" b="0" u="none" strike="noStrike">
              <a:solidFill>
                <a:srgbClr val="000000"/>
              </a:solidFill>
              <a:effectLst/>
              <a:uFillTx/>
              <a:latin typeface="Arial"/>
            </a:endParaRPr>
          </a:p>
        </p:txBody>
      </p:sp>
      <p:sp>
        <p:nvSpPr>
          <p:cNvPr id="247" name="Shape 37"/>
          <p:cNvSpPr/>
          <p:nvPr/>
        </p:nvSpPr>
        <p:spPr>
          <a:xfrm>
            <a:off x="502920" y="5257800"/>
            <a:ext cx="11155320" cy="1005480"/>
          </a:xfrm>
          <a:prstGeom prst="roundRect">
            <a:avLst>
              <a:gd name="adj" fmla="val 5455"/>
            </a:avLst>
          </a:prstGeom>
          <a:solidFill>
            <a:srgbClr val="FBF0E2"/>
          </a:solidFill>
          <a:ln w="12700">
            <a:solidFill>
              <a:srgbClr val="E7CDA0"/>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48" name="Text 38"/>
          <p:cNvSpPr/>
          <p:nvPr/>
        </p:nvSpPr>
        <p:spPr>
          <a:xfrm>
            <a:off x="731520" y="5303520"/>
            <a:ext cx="1069812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D98324"/>
                </a:solidFill>
                <a:effectLst/>
                <a:uFillTx/>
                <a:latin typeface="Calibri"/>
                <a:ea typeface="Calibri"/>
              </a:rPr>
              <a:t>Side by side:  </a:t>
            </a:r>
            <a:r>
              <a:rPr lang="en-US" sz="1300" b="0" u="none" strike="noStrike">
                <a:solidFill>
                  <a:srgbClr val="16202E"/>
                </a:solidFill>
                <a:effectLst/>
                <a:uFillTx/>
                <a:latin typeface="Calibri"/>
                <a:ea typeface="Calibri"/>
              </a:rPr>
              <a:t>DIT groups the samples going in (bit-reversed input, natural output). DIF groups the frequencies coming out (natural input, bit-reversed output).</a:t>
            </a:r>
            <a:endParaRPr lang="en-US" sz="1300" b="0" u="none" strike="noStrike">
              <a:solidFill>
                <a:srgbClr val="000000"/>
              </a:solidFill>
              <a:effectLst/>
              <a:uFillTx/>
              <a:latin typeface="Arial"/>
            </a:endParaRPr>
          </a:p>
        </p:txBody>
      </p:sp>
      <p:sp>
        <p:nvSpPr>
          <p:cNvPr id="249" name="Shape 39"/>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250" name="Shape 40"/>
          <p:cNvSpPr/>
          <p:nvPr/>
        </p:nvSpPr>
        <p:spPr>
          <a:xfrm>
            <a:off x="502920" y="6473880"/>
            <a:ext cx="265572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251" name="Text 41"/>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000000"/>
              </a:solidFill>
              <a:effectLst/>
              <a:uFillTx/>
              <a:latin typeface="Arial"/>
            </a:endParaRPr>
          </a:p>
        </p:txBody>
      </p:sp>
      <p:sp>
        <p:nvSpPr>
          <p:cNvPr id="252" name="Text 42"/>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DIF Mathematics     10</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253"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2B · DIF MATHEMATICS</a:t>
            </a:r>
            <a:endParaRPr lang="en-US" sz="1150" b="0" u="none" strike="noStrike">
              <a:solidFill>
                <a:srgbClr val="000000"/>
              </a:solidFill>
              <a:effectLst/>
              <a:uFillTx/>
              <a:latin typeface="Arial"/>
            </a:endParaRPr>
          </a:p>
        </p:txBody>
      </p:sp>
      <p:sp>
        <p:nvSpPr>
          <p:cNvPr id="254"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Deriving the Radix-2 DIF Equation</a:t>
            </a:r>
            <a:endParaRPr lang="en-US" sz="2600" b="0" u="none" strike="noStrike">
              <a:solidFill>
                <a:srgbClr val="000000"/>
              </a:solidFill>
              <a:effectLst/>
              <a:uFillTx/>
              <a:latin typeface="Arial"/>
            </a:endParaRPr>
          </a:p>
        </p:txBody>
      </p:sp>
      <p:sp>
        <p:nvSpPr>
          <p:cNvPr id="255" name="Text 2"/>
          <p:cNvSpPr/>
          <p:nvPr/>
        </p:nvSpPr>
        <p:spPr>
          <a:xfrm>
            <a:off x="502920" y="1188720"/>
            <a:ext cx="347436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STEP 1 · SPLIT INTO FIRST/SECOND HALF</a:t>
            </a:r>
            <a:endParaRPr lang="en-US" sz="1100" b="0" u="none" strike="noStrike">
              <a:solidFill>
                <a:srgbClr val="000000"/>
              </a:solidFill>
              <a:effectLst/>
              <a:uFillTx/>
              <a:latin typeface="Arial"/>
            </a:endParaRPr>
          </a:p>
        </p:txBody>
      </p:sp>
      <p:sp>
        <p:nvSpPr>
          <p:cNvPr id="256" name="Shape 3"/>
          <p:cNvSpPr/>
          <p:nvPr/>
        </p:nvSpPr>
        <p:spPr>
          <a:xfrm>
            <a:off x="502920" y="1463040"/>
            <a:ext cx="3474360" cy="868320"/>
          </a:xfrm>
          <a:prstGeom prst="roundRect">
            <a:avLst>
              <a:gd name="adj" fmla="val 6316"/>
            </a:avLst>
          </a:prstGeom>
          <a:solidFill>
            <a:srgbClr val="132A4A"/>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57" name="Text 4"/>
          <p:cNvSpPr/>
          <p:nvPr/>
        </p:nvSpPr>
        <p:spPr>
          <a:xfrm>
            <a:off x="502920" y="1463040"/>
            <a:ext cx="347436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mbria"/>
                <a:ea typeface="Cambria"/>
              </a:rPr>
              <a:t>X</a:t>
            </a:r>
            <a:r>
              <a:rPr lang="en-US" sz="1300" b="1" u="none" strike="noStrike" baseline="-40000">
                <a:solidFill>
                  <a:srgbClr val="FFFFFF"/>
                </a:solidFill>
                <a:effectLst/>
                <a:uFillTx/>
                <a:latin typeface="Cambria"/>
                <a:ea typeface="Cambria"/>
              </a:rPr>
              <a:t>k</a:t>
            </a:r>
            <a:r>
              <a:rPr lang="en-US" sz="1300" b="1" u="none" strike="noStrike">
                <a:solidFill>
                  <a:srgbClr val="FFFFFF"/>
                </a:solidFill>
                <a:effectLst/>
                <a:uFillTx/>
                <a:latin typeface="Cambria"/>
                <a:ea typeface="Cambria"/>
              </a:rPr>
              <a:t> = </a:t>
            </a:r>
            <a:r>
              <a:rPr lang="en-US" sz="2000" b="1" u="none" strike="noStrike">
                <a:solidFill>
                  <a:srgbClr val="FFFFFF"/>
                </a:solidFill>
                <a:effectLst/>
                <a:uFillTx/>
                <a:latin typeface="Cambria"/>
                <a:ea typeface="Cambria"/>
              </a:rPr>
              <a:t>Σ</a:t>
            </a:r>
            <a:r>
              <a:rPr lang="en-US" sz="1300" b="1" u="none" strike="noStrike" baseline="-40000">
                <a:solidFill>
                  <a:srgbClr val="FFFFFF"/>
                </a:solidFill>
                <a:effectLst/>
                <a:uFillTx/>
                <a:latin typeface="Cambria"/>
                <a:ea typeface="Cambria"/>
              </a:rPr>
              <a:t>n</a:t>
            </a:r>
            <a:r>
              <a:rPr lang="en-US" sz="1300" b="1" u="none" strike="noStrike">
                <a:solidFill>
                  <a:srgbClr val="FFFFFF"/>
                </a:solidFill>
                <a:effectLst/>
                <a:uFillTx/>
                <a:latin typeface="Cambria"/>
                <a:ea typeface="Cambria"/>
              </a:rPr>
              <a:t> x</a:t>
            </a:r>
            <a:r>
              <a:rPr lang="en-US" sz="1300" b="1" u="none" strike="noStrike" baseline="-40000">
                <a:solidFill>
                  <a:srgbClr val="FFFFFF"/>
                </a:solidFill>
                <a:effectLst/>
                <a:uFillTx/>
                <a:latin typeface="Cambria"/>
                <a:ea typeface="Cambria"/>
              </a:rPr>
              <a:t>n</a:t>
            </a:r>
            <a:r>
              <a:rPr lang="en-US" sz="1300" b="1" u="none" strike="noStrike">
                <a:solidFill>
                  <a:srgbClr val="FFFFFF"/>
                </a:solidFill>
                <a:effectLst/>
                <a:uFillTx/>
                <a:latin typeface="Cambria"/>
                <a:ea typeface="Cambria"/>
              </a:rPr>
              <a:t> W</a:t>
            </a:r>
            <a:r>
              <a:rPr lang="en-US" sz="1300" b="1" u="none" strike="noStrike" baseline="-40000">
                <a:solidFill>
                  <a:srgbClr val="FFFFFF"/>
                </a:solidFill>
                <a:effectLst/>
                <a:uFillTx/>
                <a:latin typeface="Cambria"/>
                <a:ea typeface="Cambria"/>
              </a:rPr>
              <a:t>N</a:t>
            </a:r>
            <a:r>
              <a:rPr lang="en-US" sz="1300" b="1" u="none" strike="noStrike" baseline="30000">
                <a:solidFill>
                  <a:srgbClr val="FFFFFF"/>
                </a:solidFill>
                <a:effectLst/>
                <a:uFillTx/>
                <a:latin typeface="Cambria"/>
                <a:ea typeface="Cambria"/>
              </a:rPr>
              <a:t>nk</a:t>
            </a:r>
            <a:r>
              <a:rPr lang="en-US" sz="1300" b="1" u="none" strike="noStrike">
                <a:solidFill>
                  <a:srgbClr val="FFFFFF"/>
                </a:solidFill>
                <a:effectLst/>
                <a:uFillTx/>
                <a:latin typeface="Cambria"/>
                <a:ea typeface="Cambria"/>
              </a:rPr>
              <a:t> + </a:t>
            </a:r>
            <a:r>
              <a:rPr lang="en-US" sz="2000" b="1" u="none" strike="noStrike">
                <a:solidFill>
                  <a:srgbClr val="FFFFFF"/>
                </a:solidFill>
                <a:effectLst/>
                <a:uFillTx/>
                <a:latin typeface="Cambria"/>
                <a:ea typeface="Cambria"/>
              </a:rPr>
              <a:t>Σ</a:t>
            </a:r>
            <a:r>
              <a:rPr lang="en-US" sz="1300" b="1" u="none" strike="noStrike" baseline="-40000">
                <a:solidFill>
                  <a:srgbClr val="FFFFFF"/>
                </a:solidFill>
                <a:effectLst/>
                <a:uFillTx/>
                <a:latin typeface="Cambria"/>
                <a:ea typeface="Cambria"/>
              </a:rPr>
              <a:t>n</a:t>
            </a:r>
            <a:r>
              <a:rPr lang="en-US" sz="1300" b="1" u="none" strike="noStrike">
                <a:solidFill>
                  <a:srgbClr val="FFFFFF"/>
                </a:solidFill>
                <a:effectLst/>
                <a:uFillTx/>
                <a:latin typeface="Cambria"/>
                <a:ea typeface="Cambria"/>
              </a:rPr>
              <a:t> x</a:t>
            </a:r>
            <a:r>
              <a:rPr lang="en-US" sz="1300" b="1" u="none" strike="noStrike" baseline="-40000">
                <a:solidFill>
                  <a:srgbClr val="FFFFFF"/>
                </a:solidFill>
                <a:effectLst/>
                <a:uFillTx/>
                <a:latin typeface="Cambria"/>
                <a:ea typeface="Cambria"/>
              </a:rPr>
              <a:t>n+N/2</a:t>
            </a:r>
            <a:r>
              <a:rPr lang="en-US" sz="1300" b="1" u="none" strike="noStrike">
                <a:solidFill>
                  <a:srgbClr val="FFFFFF"/>
                </a:solidFill>
                <a:effectLst/>
                <a:uFillTx/>
                <a:latin typeface="Cambria"/>
                <a:ea typeface="Cambria"/>
              </a:rPr>
              <a:t> W</a:t>
            </a:r>
            <a:r>
              <a:rPr lang="en-US" sz="1300" b="1" u="none" strike="noStrike" baseline="-40000">
                <a:solidFill>
                  <a:srgbClr val="FFFFFF"/>
                </a:solidFill>
                <a:effectLst/>
                <a:uFillTx/>
                <a:latin typeface="Cambria"/>
                <a:ea typeface="Cambria"/>
              </a:rPr>
              <a:t>N</a:t>
            </a:r>
            <a:r>
              <a:rPr lang="en-US" sz="1300" b="1" u="none" strike="noStrike" baseline="30000">
                <a:solidFill>
                  <a:srgbClr val="FFFFFF"/>
                </a:solidFill>
                <a:effectLst/>
                <a:uFillTx/>
                <a:latin typeface="Cambria"/>
                <a:ea typeface="Cambria"/>
              </a:rPr>
              <a:t>(n+N/2)k</a:t>
            </a:r>
            <a:endParaRPr lang="en-US" sz="1300" b="0" u="none" strike="noStrike">
              <a:solidFill>
                <a:srgbClr val="000000"/>
              </a:solidFill>
              <a:effectLst/>
              <a:uFillTx/>
              <a:latin typeface="Arial"/>
            </a:endParaRPr>
          </a:p>
        </p:txBody>
      </p:sp>
      <p:sp>
        <p:nvSpPr>
          <p:cNvPr id="258" name="Text 5"/>
          <p:cNvSpPr/>
          <p:nvPr/>
        </p:nvSpPr>
        <p:spPr>
          <a:xfrm>
            <a:off x="4480560" y="1188720"/>
            <a:ext cx="347436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STEP 2 · SIMPLIFY 2ND-HALF TWIDDLE</a:t>
            </a:r>
            <a:endParaRPr lang="en-US" sz="1100" b="0" u="none" strike="noStrike">
              <a:solidFill>
                <a:srgbClr val="000000"/>
              </a:solidFill>
              <a:effectLst/>
              <a:uFillTx/>
              <a:latin typeface="Arial"/>
            </a:endParaRPr>
          </a:p>
        </p:txBody>
      </p:sp>
      <p:sp>
        <p:nvSpPr>
          <p:cNvPr id="259" name="Shape 6"/>
          <p:cNvSpPr/>
          <p:nvPr/>
        </p:nvSpPr>
        <p:spPr>
          <a:xfrm>
            <a:off x="4480560" y="1463040"/>
            <a:ext cx="3474360" cy="868320"/>
          </a:xfrm>
          <a:prstGeom prst="roundRect">
            <a:avLst>
              <a:gd name="adj" fmla="val 6316"/>
            </a:avLst>
          </a:prstGeom>
          <a:solidFill>
            <a:srgbClr val="0E8388"/>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60" name="Text 7"/>
          <p:cNvSpPr/>
          <p:nvPr/>
        </p:nvSpPr>
        <p:spPr>
          <a:xfrm>
            <a:off x="4480560" y="1463040"/>
            <a:ext cx="347436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mbria"/>
                <a:ea typeface="Cambria"/>
              </a:rPr>
              <a:t>W</a:t>
            </a:r>
            <a:r>
              <a:rPr lang="en-US" sz="1300" b="1" u="none" strike="noStrike" baseline="-40000">
                <a:solidFill>
                  <a:srgbClr val="FFFFFF"/>
                </a:solidFill>
                <a:effectLst/>
                <a:uFillTx/>
                <a:latin typeface="Cambria"/>
                <a:ea typeface="Cambria"/>
              </a:rPr>
              <a:t>N</a:t>
            </a:r>
            <a:r>
              <a:rPr lang="en-US" sz="1300" b="1" u="none" strike="noStrike" baseline="30000">
                <a:solidFill>
                  <a:srgbClr val="FFFFFF"/>
                </a:solidFill>
                <a:effectLst/>
                <a:uFillTx/>
                <a:latin typeface="Cambria"/>
                <a:ea typeface="Cambria"/>
              </a:rPr>
              <a:t>(n+N/2)k</a:t>
            </a:r>
            <a:r>
              <a:rPr lang="en-US" sz="1300" b="1" u="none" strike="noStrike">
                <a:solidFill>
                  <a:srgbClr val="FFFFFF"/>
                </a:solidFill>
                <a:effectLst/>
                <a:uFillTx/>
                <a:latin typeface="Cambria"/>
                <a:ea typeface="Cambria"/>
              </a:rPr>
              <a:t> = W</a:t>
            </a:r>
            <a:r>
              <a:rPr lang="en-US" sz="1300" b="1" u="none" strike="noStrike" baseline="-40000">
                <a:solidFill>
                  <a:srgbClr val="FFFFFF"/>
                </a:solidFill>
                <a:effectLst/>
                <a:uFillTx/>
                <a:latin typeface="Cambria"/>
                <a:ea typeface="Cambria"/>
              </a:rPr>
              <a:t>N</a:t>
            </a:r>
            <a:r>
              <a:rPr lang="en-US" sz="1300" b="1" u="none" strike="noStrike" baseline="30000">
                <a:solidFill>
                  <a:srgbClr val="FFFFFF"/>
                </a:solidFill>
                <a:effectLst/>
                <a:uFillTx/>
                <a:latin typeface="Cambria"/>
                <a:ea typeface="Cambria"/>
              </a:rPr>
              <a:t>nk</a:t>
            </a:r>
            <a:r>
              <a:rPr lang="en-US" sz="1300" b="1" u="none" strike="noStrike">
                <a:solidFill>
                  <a:srgbClr val="FFFFFF"/>
                </a:solidFill>
                <a:effectLst/>
                <a:uFillTx/>
                <a:latin typeface="Cambria"/>
                <a:ea typeface="Cambria"/>
              </a:rPr>
              <a:t>(-1)</a:t>
            </a:r>
            <a:r>
              <a:rPr lang="en-US" sz="1300" b="1" u="none" strike="noStrike" baseline="30000">
                <a:solidFill>
                  <a:srgbClr val="FFFFFF"/>
                </a:solidFill>
                <a:effectLst/>
                <a:uFillTx/>
                <a:latin typeface="Cambria"/>
                <a:ea typeface="Cambria"/>
              </a:rPr>
              <a:t>k</a:t>
            </a:r>
            <a:r>
              <a:rPr lang="en-US" sz="1100" b="1" u="none" strike="noStrike">
                <a:solidFill>
                  <a:srgbClr val="FFFFFF"/>
                </a:solidFill>
                <a:effectLst/>
                <a:uFillTx/>
                <a:latin typeface="Cambria"/>
                <a:ea typeface="Cambria"/>
              </a:rPr>
              <a:t>   since W</a:t>
            </a:r>
            <a:r>
              <a:rPr lang="en-US" sz="1100" b="1" u="none" strike="noStrike" baseline="-40000">
                <a:solidFill>
                  <a:srgbClr val="FFFFFF"/>
                </a:solidFill>
                <a:effectLst/>
                <a:uFillTx/>
                <a:latin typeface="Cambria"/>
                <a:ea typeface="Cambria"/>
              </a:rPr>
              <a:t>N</a:t>
            </a:r>
            <a:r>
              <a:rPr lang="en-US" sz="1100" b="1" u="none" strike="noStrike" baseline="30000">
                <a:solidFill>
                  <a:srgbClr val="FFFFFF"/>
                </a:solidFill>
                <a:effectLst/>
                <a:uFillTx/>
                <a:latin typeface="Cambria"/>
                <a:ea typeface="Cambria"/>
              </a:rPr>
              <a:t>N/2</a:t>
            </a:r>
            <a:r>
              <a:rPr lang="en-US" sz="1100" b="1" u="none" strike="noStrike">
                <a:solidFill>
                  <a:srgbClr val="FFFFFF"/>
                </a:solidFill>
                <a:effectLst/>
                <a:uFillTx/>
                <a:latin typeface="Cambria"/>
                <a:ea typeface="Cambria"/>
              </a:rPr>
              <a:t>= -1</a:t>
            </a:r>
            <a:endParaRPr lang="en-US" sz="1100" b="0" u="none" strike="noStrike">
              <a:solidFill>
                <a:srgbClr val="000000"/>
              </a:solidFill>
              <a:effectLst/>
              <a:uFillTx/>
              <a:latin typeface="Arial"/>
            </a:endParaRPr>
          </a:p>
        </p:txBody>
      </p:sp>
      <p:sp>
        <p:nvSpPr>
          <p:cNvPr id="261" name="Text 8"/>
          <p:cNvSpPr/>
          <p:nvPr/>
        </p:nvSpPr>
        <p:spPr>
          <a:xfrm>
            <a:off x="7955280" y="1188720"/>
            <a:ext cx="329148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STEP 3 · SPLIT k BY PARITY</a:t>
            </a:r>
            <a:endParaRPr lang="en-US" sz="1100" b="0" u="none" strike="noStrike">
              <a:solidFill>
                <a:srgbClr val="000000"/>
              </a:solidFill>
              <a:effectLst/>
              <a:uFillTx/>
              <a:latin typeface="Arial"/>
            </a:endParaRPr>
          </a:p>
        </p:txBody>
      </p:sp>
      <p:sp>
        <p:nvSpPr>
          <p:cNvPr id="262" name="Shape 9"/>
          <p:cNvSpPr/>
          <p:nvPr/>
        </p:nvSpPr>
        <p:spPr>
          <a:xfrm>
            <a:off x="7955280" y="1463040"/>
            <a:ext cx="3291480" cy="868320"/>
          </a:xfrm>
          <a:prstGeom prst="roundRect">
            <a:avLst>
              <a:gd name="adj" fmla="val 6316"/>
            </a:avLst>
          </a:prstGeom>
          <a:solidFill>
            <a:srgbClr val="D98324"/>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63" name="Text 10"/>
          <p:cNvSpPr/>
          <p:nvPr/>
        </p:nvSpPr>
        <p:spPr>
          <a:xfrm>
            <a:off x="7955280" y="1463040"/>
            <a:ext cx="329148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FFFFFF"/>
                </a:solidFill>
                <a:effectLst/>
                <a:uFillTx/>
                <a:latin typeface="Cambria"/>
                <a:ea typeface="Cambria"/>
              </a:rPr>
              <a:t>a</a:t>
            </a:r>
            <a:r>
              <a:rPr lang="en-US" sz="1100" b="1" u="none" strike="noStrike" baseline="-40000">
                <a:solidFill>
                  <a:srgbClr val="FFFFFF"/>
                </a:solidFill>
                <a:effectLst/>
                <a:uFillTx/>
                <a:latin typeface="Cambria"/>
                <a:ea typeface="Cambria"/>
              </a:rPr>
              <a:t>n</a:t>
            </a:r>
            <a:r>
              <a:rPr lang="en-US" sz="1100" b="1" u="none" strike="noStrike">
                <a:solidFill>
                  <a:srgbClr val="FFFFFF"/>
                </a:solidFill>
                <a:effectLst/>
                <a:uFillTx/>
                <a:latin typeface="Cambria"/>
                <a:ea typeface="Cambria"/>
              </a:rPr>
              <a:t> = x</a:t>
            </a:r>
            <a:r>
              <a:rPr lang="en-US" sz="1100" b="1" u="none" strike="noStrike" baseline="-40000">
                <a:solidFill>
                  <a:srgbClr val="FFFFFF"/>
                </a:solidFill>
                <a:effectLst/>
                <a:uFillTx/>
                <a:latin typeface="Cambria"/>
                <a:ea typeface="Cambria"/>
              </a:rPr>
              <a:t>n</a:t>
            </a:r>
            <a:r>
              <a:rPr lang="en-US" sz="1100" b="1" u="none" strike="noStrike">
                <a:solidFill>
                  <a:srgbClr val="FFFFFF"/>
                </a:solidFill>
                <a:effectLst/>
                <a:uFillTx/>
                <a:latin typeface="Cambria"/>
                <a:ea typeface="Cambria"/>
              </a:rPr>
              <a:t>+x</a:t>
            </a:r>
            <a:r>
              <a:rPr lang="en-US" sz="1100" b="1" u="none" strike="noStrike" baseline="-40000">
                <a:solidFill>
                  <a:srgbClr val="FFFFFF"/>
                </a:solidFill>
                <a:effectLst/>
                <a:uFillTx/>
                <a:latin typeface="Cambria"/>
                <a:ea typeface="Cambria"/>
              </a:rPr>
              <a:t>n+N/2</a:t>
            </a:r>
            <a:r>
              <a:rPr lang="en-US" sz="1600" b="1" u="none" strike="noStrike">
                <a:solidFill>
                  <a:srgbClr val="FFFFFF"/>
                </a:solidFill>
                <a:effectLst/>
                <a:uFillTx/>
                <a:latin typeface="Cambria"/>
                <a:ea typeface="Cambria"/>
              </a:rPr>
              <a:t>     b</a:t>
            </a:r>
            <a:r>
              <a:rPr lang="en-US" sz="1100" b="1" u="none" strike="noStrike" baseline="-40000">
                <a:solidFill>
                  <a:srgbClr val="FFFFFF"/>
                </a:solidFill>
                <a:effectLst/>
                <a:uFillTx/>
                <a:latin typeface="Cambria"/>
                <a:ea typeface="Cambria"/>
              </a:rPr>
              <a:t>n</a:t>
            </a:r>
            <a:r>
              <a:rPr lang="en-US" sz="1600" b="1" u="none" strike="noStrike">
                <a:solidFill>
                  <a:srgbClr val="FFFFFF"/>
                </a:solidFill>
                <a:effectLst/>
                <a:uFillTx/>
                <a:latin typeface="Cambria"/>
                <a:ea typeface="Cambria"/>
              </a:rPr>
              <a:t> = (x</a:t>
            </a:r>
            <a:r>
              <a:rPr lang="en-US" sz="1100" b="1" u="none" strike="noStrike" baseline="-40000">
                <a:solidFill>
                  <a:srgbClr val="FFFFFF"/>
                </a:solidFill>
                <a:effectLst/>
                <a:uFillTx/>
                <a:latin typeface="Cambria"/>
                <a:ea typeface="Cambria"/>
              </a:rPr>
              <a:t>n</a:t>
            </a:r>
            <a:r>
              <a:rPr lang="en-US" sz="1100" b="1" u="none" strike="noStrike">
                <a:solidFill>
                  <a:srgbClr val="FFFFFF"/>
                </a:solidFill>
                <a:effectLst/>
                <a:uFillTx/>
                <a:latin typeface="Cambria"/>
                <a:ea typeface="Cambria"/>
              </a:rPr>
              <a:t>-x</a:t>
            </a:r>
            <a:r>
              <a:rPr lang="en-US" sz="1100" b="1" u="none" strike="noStrike" baseline="-40000">
                <a:solidFill>
                  <a:srgbClr val="FFFFFF"/>
                </a:solidFill>
                <a:effectLst/>
                <a:uFillTx/>
                <a:latin typeface="Cambria"/>
                <a:ea typeface="Cambria"/>
              </a:rPr>
              <a:t>n+N/2</a:t>
            </a:r>
            <a:r>
              <a:rPr lang="en-US" sz="1100" b="1" u="none" strike="noStrike">
                <a:solidFill>
                  <a:srgbClr val="FFFFFF"/>
                </a:solidFill>
                <a:effectLst/>
                <a:uFillTx/>
                <a:latin typeface="Cambria"/>
                <a:ea typeface="Cambria"/>
              </a:rPr>
              <a:t>)W</a:t>
            </a:r>
            <a:r>
              <a:rPr lang="en-US" sz="1100" b="1" u="none" strike="noStrike" baseline="-40000">
                <a:solidFill>
                  <a:srgbClr val="FFFFFF"/>
                </a:solidFill>
                <a:effectLst/>
                <a:uFillTx/>
                <a:latin typeface="Cambria"/>
                <a:ea typeface="Cambria"/>
              </a:rPr>
              <a:t>N</a:t>
            </a:r>
            <a:r>
              <a:rPr lang="en-US" sz="1100" b="1" u="none" strike="noStrike" baseline="30000">
                <a:solidFill>
                  <a:srgbClr val="FFFFFF"/>
                </a:solidFill>
                <a:effectLst/>
                <a:uFillTx/>
                <a:latin typeface="Cambria"/>
                <a:ea typeface="Cambria"/>
              </a:rPr>
              <a:t>n</a:t>
            </a:r>
            <a:endParaRPr lang="en-US" sz="1100" b="0" u="none" strike="noStrike">
              <a:solidFill>
                <a:srgbClr val="000000"/>
              </a:solidFill>
              <a:effectLst/>
              <a:uFillTx/>
              <a:latin typeface="Arial"/>
            </a:endParaRPr>
          </a:p>
        </p:txBody>
      </p:sp>
      <p:sp>
        <p:nvSpPr>
          <p:cNvPr id="264" name="Text 11"/>
          <p:cNvSpPr/>
          <p:nvPr/>
        </p:nvSpPr>
        <p:spPr>
          <a:xfrm>
            <a:off x="502920" y="2606040"/>
            <a:ext cx="7223400" cy="210276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12000"/>
              </a:lnSpc>
              <a:spcAft>
                <a:spcPts val="879"/>
              </a:spcAft>
              <a:buClr>
                <a:srgbClr val="16202E"/>
              </a:buClr>
              <a:buFont typeface="Wingdings" charset="2"/>
              <a:buChar char=""/>
            </a:pPr>
            <a:r>
              <a:rPr lang="en-US" sz="1300" b="0" u="none" strike="noStrike">
                <a:solidFill>
                  <a:srgbClr val="16202E"/>
                </a:solidFill>
                <a:effectLst/>
                <a:uFillTx/>
                <a:latin typeface="Calibri"/>
                <a:ea typeface="Calibri"/>
              </a:rPr>
              <a:t>The second half of the sum, n=N/2..N-1, is rewritten as n+N/2 with n=0..N/2-1, so both sums run over the same range and can be combined term by term.</a:t>
            </a:r>
            <a:endParaRPr lang="en-US" sz="1300" b="0" u="none" strike="noStrike">
              <a:solidFill>
                <a:srgbClr val="000000"/>
              </a:solidFill>
              <a:effectLst/>
              <a:uFillTx/>
              <a:latin typeface="Arial"/>
            </a:endParaRPr>
          </a:p>
          <a:p>
            <a:pPr marL="228600" indent="-228600" defTabSz="914400">
              <a:lnSpc>
                <a:spcPct val="112000"/>
              </a:lnSpc>
              <a:spcAft>
                <a:spcPts val="879"/>
              </a:spcAft>
              <a:buClr>
                <a:srgbClr val="16202E"/>
              </a:buClr>
              <a:buFont typeface="Wingdings" charset="2"/>
              <a:buChar char=""/>
            </a:pPr>
            <a:r>
              <a:rPr lang="en-US" sz="1300" b="0" u="none" strike="noStrike">
                <a:solidFill>
                  <a:srgbClr val="16202E"/>
                </a:solidFill>
                <a:effectLst/>
                <a:uFillTx/>
                <a:latin typeface="Calibri"/>
                <a:ea typeface="Calibri"/>
              </a:rPr>
              <a:t>W_N^(N/2) = e^(-jπ) = -1, so the second-half twiddle collapses to the first-half twiddle times (-1)^k. This sign only depends on whether k is even or odd.</a:t>
            </a:r>
            <a:endParaRPr lang="en-US" sz="1300" b="0" u="none" strike="noStrike">
              <a:solidFill>
                <a:srgbClr val="000000"/>
              </a:solidFill>
              <a:effectLst/>
              <a:uFillTx/>
              <a:latin typeface="Arial"/>
            </a:endParaRPr>
          </a:p>
          <a:p>
            <a:pPr marL="228600" indent="-228600" defTabSz="914400">
              <a:lnSpc>
                <a:spcPct val="112000"/>
              </a:lnSpc>
              <a:spcAft>
                <a:spcPts val="879"/>
              </a:spcAft>
              <a:buClr>
                <a:srgbClr val="16202E"/>
              </a:buClr>
              <a:buFont typeface="Wingdings" charset="2"/>
              <a:buChar char=""/>
            </a:pPr>
            <a:r>
              <a:rPr lang="en-US" sz="1300" b="0" u="none" strike="noStrike">
                <a:solidFill>
                  <a:srgbClr val="16202E"/>
                </a:solidFill>
                <a:effectLst/>
                <a:uFillTx/>
                <a:latin typeface="Calibri"/>
                <a:ea typeface="Calibri"/>
              </a:rPr>
              <a:t>For even k=2r the two halves add (a[n]); for odd k=2r+1 they subtract and pick up one leftover twiddle factor W_N^n (b[n]). Both a[n] and b[n] then feed an ordinary N/2-point DFT.</a:t>
            </a:r>
            <a:endParaRPr lang="en-US" sz="1300" b="0" u="none" strike="noStrike">
              <a:solidFill>
                <a:srgbClr val="000000"/>
              </a:solidFill>
              <a:effectLst/>
              <a:uFillTx/>
              <a:latin typeface="Arial"/>
            </a:endParaRPr>
          </a:p>
        </p:txBody>
      </p:sp>
      <p:sp>
        <p:nvSpPr>
          <p:cNvPr id="265" name="Shape 12"/>
          <p:cNvSpPr/>
          <p:nvPr/>
        </p:nvSpPr>
        <p:spPr>
          <a:xfrm>
            <a:off x="502920" y="4846320"/>
            <a:ext cx="7223400" cy="776880"/>
          </a:xfrm>
          <a:prstGeom prst="roundRect">
            <a:avLst>
              <a:gd name="adj" fmla="val 7059"/>
            </a:avLst>
          </a:prstGeom>
          <a:solidFill>
            <a:srgbClr val="132A4A"/>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66" name="Text 13"/>
          <p:cNvSpPr/>
          <p:nvPr/>
        </p:nvSpPr>
        <p:spPr>
          <a:xfrm>
            <a:off x="502920" y="4846320"/>
            <a:ext cx="7223400" cy="7768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200" b="1" u="none" strike="noStrike">
                <a:solidFill>
                  <a:srgbClr val="FFFFFF"/>
                </a:solidFill>
                <a:effectLst/>
                <a:uFillTx/>
                <a:latin typeface="Cambria"/>
                <a:ea typeface="Cambria"/>
              </a:rPr>
              <a:t>X</a:t>
            </a:r>
            <a:r>
              <a:rPr lang="en-US" sz="2200" b="1" u="none" strike="noStrike" baseline="-40000">
                <a:solidFill>
                  <a:srgbClr val="FFFFFF"/>
                </a:solidFill>
                <a:effectLst/>
                <a:uFillTx/>
                <a:latin typeface="Cambria"/>
                <a:ea typeface="Cambria"/>
              </a:rPr>
              <a:t>2r</a:t>
            </a:r>
            <a:r>
              <a:rPr lang="en-US" sz="2200" b="1" u="none" strike="noStrike">
                <a:solidFill>
                  <a:srgbClr val="FFFFFF"/>
                </a:solidFill>
                <a:effectLst/>
                <a:uFillTx/>
                <a:latin typeface="Cambria"/>
                <a:ea typeface="Cambria"/>
              </a:rPr>
              <a:t> = A</a:t>
            </a:r>
            <a:r>
              <a:rPr lang="en-US" sz="2200" b="1" u="none" strike="noStrike" baseline="-40000">
                <a:solidFill>
                  <a:srgbClr val="FFFFFF"/>
                </a:solidFill>
                <a:effectLst/>
                <a:uFillTx/>
                <a:latin typeface="Cambria"/>
                <a:ea typeface="Cambria"/>
              </a:rPr>
              <a:t>r</a:t>
            </a:r>
            <a:r>
              <a:rPr lang="en-US" sz="1600" b="1" u="none" strike="noStrike">
                <a:solidFill>
                  <a:srgbClr val="FFFFFF"/>
                </a:solidFill>
                <a:effectLst/>
                <a:uFillTx/>
                <a:latin typeface="Cambria"/>
                <a:ea typeface="Cambria"/>
              </a:rPr>
              <a:t>     X</a:t>
            </a:r>
            <a:r>
              <a:rPr lang="en-US" sz="2200" b="1" u="none" strike="noStrike" baseline="-40000">
                <a:solidFill>
                  <a:srgbClr val="FFFFFF"/>
                </a:solidFill>
                <a:effectLst/>
                <a:uFillTx/>
                <a:latin typeface="Cambria"/>
                <a:ea typeface="Cambria"/>
              </a:rPr>
              <a:t>2r+1</a:t>
            </a:r>
            <a:r>
              <a:rPr lang="en-US" sz="2200" b="1" u="none" strike="noStrike">
                <a:solidFill>
                  <a:srgbClr val="FFFFFF"/>
                </a:solidFill>
                <a:effectLst/>
                <a:uFillTx/>
                <a:latin typeface="Cambria"/>
                <a:ea typeface="Cambria"/>
              </a:rPr>
              <a:t> = B</a:t>
            </a:r>
            <a:r>
              <a:rPr lang="en-US" sz="2200" b="1" u="none" strike="noStrike" baseline="-40000">
                <a:solidFill>
                  <a:srgbClr val="FFFFFF"/>
                </a:solidFill>
                <a:effectLst/>
                <a:uFillTx/>
                <a:latin typeface="Cambria"/>
                <a:ea typeface="Cambria"/>
              </a:rPr>
              <a:t>r</a:t>
            </a:r>
            <a:endParaRPr lang="en-US" sz="2200" b="0" u="none" strike="noStrike">
              <a:solidFill>
                <a:srgbClr val="000000"/>
              </a:solidFill>
              <a:effectLst/>
              <a:uFillTx/>
              <a:latin typeface="Arial"/>
            </a:endParaRPr>
          </a:p>
        </p:txBody>
      </p:sp>
      <p:sp>
        <p:nvSpPr>
          <p:cNvPr id="267" name="Text 14"/>
          <p:cNvSpPr/>
          <p:nvPr/>
        </p:nvSpPr>
        <p:spPr>
          <a:xfrm>
            <a:off x="8275320" y="4892040"/>
            <a:ext cx="2971440" cy="77688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i="1" u="none" strike="noStrike">
                <a:solidFill>
                  <a:srgbClr val="5C6B7A"/>
                </a:solidFill>
                <a:effectLst/>
                <a:uFillTx/>
                <a:latin typeface="Calibri"/>
                <a:ea typeface="Calibri"/>
              </a:rPr>
              <a:t>A[r], B[r] are the N/2-point DFTs of a[n] and b[n]: the DIF payoff, symmetric to X_k=E_k+W_N^k O_k for DIT.</a:t>
            </a:r>
            <a:endParaRPr lang="en-US" sz="1300" b="0" u="none" strike="noStrike">
              <a:solidFill>
                <a:srgbClr val="000000"/>
              </a:solidFill>
              <a:effectLst/>
              <a:uFillTx/>
              <a:latin typeface="Arial"/>
            </a:endParaRPr>
          </a:p>
        </p:txBody>
      </p:sp>
      <p:sp>
        <p:nvSpPr>
          <p:cNvPr id="268" name="Shape 15"/>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269" name="Shape 16"/>
          <p:cNvSpPr/>
          <p:nvPr/>
        </p:nvSpPr>
        <p:spPr>
          <a:xfrm>
            <a:off x="502920" y="6473880"/>
            <a:ext cx="292140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270" name="Text 17"/>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000000"/>
              </a:solidFill>
              <a:effectLst/>
              <a:uFillTx/>
              <a:latin typeface="Arial"/>
            </a:endParaRPr>
          </a:p>
        </p:txBody>
      </p:sp>
      <p:sp>
        <p:nvSpPr>
          <p:cNvPr id="271" name="Text 18"/>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DIF Mathematics     11</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272"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2B · DIF MATHEMATICS</a:t>
            </a:r>
            <a:endParaRPr lang="en-US" sz="1150" b="0" u="none" strike="noStrike">
              <a:solidFill>
                <a:srgbClr val="000000"/>
              </a:solidFill>
              <a:effectLst/>
              <a:uFillTx/>
              <a:latin typeface="Arial"/>
            </a:endParaRPr>
          </a:p>
        </p:txBody>
      </p:sp>
      <p:sp>
        <p:nvSpPr>
          <p:cNvPr id="273"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DIF: From A[r], B[r] to the Full Output</a:t>
            </a:r>
            <a:endParaRPr lang="en-US" sz="2600" b="0" u="none" strike="noStrike">
              <a:solidFill>
                <a:srgbClr val="000000"/>
              </a:solidFill>
              <a:effectLst/>
              <a:uFillTx/>
              <a:latin typeface="Arial"/>
            </a:endParaRPr>
          </a:p>
        </p:txBody>
      </p:sp>
      <p:sp>
        <p:nvSpPr>
          <p:cNvPr id="274" name="Text 2"/>
          <p:cNvSpPr/>
          <p:nvPr/>
        </p:nvSpPr>
        <p:spPr>
          <a:xfrm>
            <a:off x="502920" y="1280160"/>
            <a:ext cx="5394600" cy="265140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12000"/>
              </a:lnSpc>
              <a:spcAft>
                <a:spcPts val="1100"/>
              </a:spcAft>
              <a:buClr>
                <a:srgbClr val="16202E"/>
              </a:buClr>
              <a:buFont typeface="Wingdings" charset="2"/>
              <a:buChar char=""/>
            </a:pPr>
            <a:r>
              <a:rPr lang="en-US" sz="1300" b="0" u="none" strike="noStrike">
                <a:solidFill>
                  <a:srgbClr val="16202E"/>
                </a:solidFill>
                <a:effectLst/>
                <a:uFillTx/>
                <a:latin typeface="Calibri"/>
                <a:ea typeface="Calibri"/>
              </a:rPr>
              <a:t>Unlike DIT, DIF's two N/2-point DFTs already land on disjoint output slots: A[r] gives exactly the even samples X[2r], B[r] gives exactly the odd samples X[2r+1]. No periodicity trick is needed to fill out the array, just interleaving.</a:t>
            </a:r>
            <a:endParaRPr lang="en-US" sz="1300" b="0" u="none" strike="noStrike">
              <a:solidFill>
                <a:srgbClr val="000000"/>
              </a:solidFill>
              <a:effectLst/>
              <a:uFillTx/>
              <a:latin typeface="Arial"/>
            </a:endParaRPr>
          </a:p>
          <a:p>
            <a:pPr marL="228600" indent="-228600" defTabSz="914400">
              <a:lnSpc>
                <a:spcPct val="112000"/>
              </a:lnSpc>
              <a:spcAft>
                <a:spcPts val="1100"/>
              </a:spcAft>
              <a:buClr>
                <a:srgbClr val="16202E"/>
              </a:buClr>
              <a:buFont typeface="Wingdings" charset="2"/>
              <a:buChar char=""/>
            </a:pPr>
            <a:r>
              <a:rPr lang="en-US" sz="1300" b="0" u="none" strike="noStrike">
                <a:solidFill>
                  <a:srgbClr val="16202E"/>
                </a:solidFill>
                <a:effectLst/>
                <a:uFillTx/>
                <a:latin typeface="Calibri"/>
                <a:ea typeface="Calibri"/>
              </a:rPr>
              <a:t>Assembling the N-point result: place A[0..N/2-1] into the even output slots and B[0..N/2-1] into the odd slots.</a:t>
            </a:r>
            <a:endParaRPr lang="en-US" sz="1300" b="0" u="none" strike="noStrike">
              <a:solidFill>
                <a:srgbClr val="000000"/>
              </a:solidFill>
              <a:effectLst/>
              <a:uFillTx/>
              <a:latin typeface="Arial"/>
            </a:endParaRPr>
          </a:p>
          <a:p>
            <a:pPr marL="228600" indent="-228600" defTabSz="914400">
              <a:lnSpc>
                <a:spcPct val="112000"/>
              </a:lnSpc>
              <a:spcAft>
                <a:spcPts val="1100"/>
              </a:spcAft>
              <a:buClr>
                <a:srgbClr val="16202E"/>
              </a:buClr>
              <a:buFont typeface="Wingdings" charset="2"/>
              <a:buChar char=""/>
            </a:pPr>
            <a:r>
              <a:rPr lang="en-US" sz="1300" b="0" u="none" strike="noStrike">
                <a:solidFill>
                  <a:srgbClr val="16202E"/>
                </a:solidFill>
                <a:effectLst/>
                <a:uFillTx/>
                <a:latin typeface="Calibri"/>
                <a:ea typeface="Calibri"/>
              </a:rPr>
              <a:t>A[r] and B[r] are themselves N/2-point DFTs, so the same even/odd output split applies recursively inside each of them, again and again, for log₂N levels total.</a:t>
            </a:r>
            <a:endParaRPr lang="en-US" sz="1300" b="0" u="none" strike="noStrike">
              <a:solidFill>
                <a:srgbClr val="000000"/>
              </a:solidFill>
              <a:effectLst/>
              <a:uFillTx/>
              <a:latin typeface="Arial"/>
            </a:endParaRPr>
          </a:p>
        </p:txBody>
      </p:sp>
      <p:sp>
        <p:nvSpPr>
          <p:cNvPr id="275" name="Shape 3"/>
          <p:cNvSpPr/>
          <p:nvPr/>
        </p:nvSpPr>
        <p:spPr>
          <a:xfrm>
            <a:off x="6446520" y="1280160"/>
            <a:ext cx="4983120" cy="639720"/>
          </a:xfrm>
          <a:prstGeom prst="roundRect">
            <a:avLst>
              <a:gd name="adj" fmla="val 8571"/>
            </a:avLst>
          </a:prstGeom>
          <a:solidFill>
            <a:srgbClr val="0E8388"/>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76" name="Text 4"/>
          <p:cNvSpPr/>
          <p:nvPr/>
        </p:nvSpPr>
        <p:spPr>
          <a:xfrm>
            <a:off x="6446520" y="1280160"/>
            <a:ext cx="4983120" cy="639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800" b="1" u="none" strike="noStrike">
                <a:solidFill>
                  <a:srgbClr val="FFFFFF"/>
                </a:solidFill>
                <a:effectLst/>
                <a:uFillTx/>
                <a:latin typeface="Cambria"/>
                <a:ea typeface="Cambria"/>
              </a:rPr>
              <a:t>X</a:t>
            </a:r>
            <a:r>
              <a:rPr lang="en-US" sz="1800" b="1" u="none" strike="noStrike" baseline="-40000">
                <a:solidFill>
                  <a:srgbClr val="FFFFFF"/>
                </a:solidFill>
                <a:effectLst/>
                <a:uFillTx/>
                <a:latin typeface="Cambria"/>
                <a:ea typeface="Cambria"/>
              </a:rPr>
              <a:t>2r</a:t>
            </a:r>
            <a:r>
              <a:rPr lang="en-US" sz="1800" b="1" u="none" strike="noStrike">
                <a:solidFill>
                  <a:srgbClr val="FFFFFF"/>
                </a:solidFill>
                <a:effectLst/>
                <a:uFillTx/>
                <a:latin typeface="Cambria"/>
                <a:ea typeface="Cambria"/>
              </a:rPr>
              <a:t> = A</a:t>
            </a:r>
            <a:r>
              <a:rPr lang="en-US" sz="1800" b="1" u="none" strike="noStrike" baseline="-40000">
                <a:solidFill>
                  <a:srgbClr val="FFFFFF"/>
                </a:solidFill>
                <a:effectLst/>
                <a:uFillTx/>
                <a:latin typeface="Cambria"/>
                <a:ea typeface="Cambria"/>
              </a:rPr>
              <a:t>r</a:t>
            </a:r>
            <a:endParaRPr lang="en-US" sz="1800" b="0" u="none" strike="noStrike">
              <a:solidFill>
                <a:srgbClr val="000000"/>
              </a:solidFill>
              <a:effectLst/>
              <a:uFillTx/>
              <a:latin typeface="Arial"/>
            </a:endParaRPr>
          </a:p>
        </p:txBody>
      </p:sp>
      <p:sp>
        <p:nvSpPr>
          <p:cNvPr id="277" name="Shape 5"/>
          <p:cNvSpPr/>
          <p:nvPr/>
        </p:nvSpPr>
        <p:spPr>
          <a:xfrm>
            <a:off x="6446520" y="2057400"/>
            <a:ext cx="4983120" cy="639720"/>
          </a:xfrm>
          <a:prstGeom prst="roundRect">
            <a:avLst>
              <a:gd name="adj" fmla="val 8571"/>
            </a:avLst>
          </a:prstGeom>
          <a:solidFill>
            <a:srgbClr val="D98324"/>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78" name="Text 6"/>
          <p:cNvSpPr/>
          <p:nvPr/>
        </p:nvSpPr>
        <p:spPr>
          <a:xfrm>
            <a:off x="6446520" y="2057400"/>
            <a:ext cx="4983120" cy="639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800" b="1" u="none" strike="noStrike">
                <a:solidFill>
                  <a:srgbClr val="FFFFFF"/>
                </a:solidFill>
                <a:effectLst/>
                <a:uFillTx/>
                <a:latin typeface="Cambria"/>
                <a:ea typeface="Cambria"/>
              </a:rPr>
              <a:t>X</a:t>
            </a:r>
            <a:r>
              <a:rPr lang="en-US" sz="1800" b="1" u="none" strike="noStrike" baseline="-40000">
                <a:solidFill>
                  <a:srgbClr val="FFFFFF"/>
                </a:solidFill>
                <a:effectLst/>
                <a:uFillTx/>
                <a:latin typeface="Cambria"/>
                <a:ea typeface="Cambria"/>
              </a:rPr>
              <a:t>2r+1</a:t>
            </a:r>
            <a:r>
              <a:rPr lang="en-US" sz="1800" b="1" u="none" strike="noStrike">
                <a:solidFill>
                  <a:srgbClr val="FFFFFF"/>
                </a:solidFill>
                <a:effectLst/>
                <a:uFillTx/>
                <a:latin typeface="Cambria"/>
                <a:ea typeface="Cambria"/>
              </a:rPr>
              <a:t> = B</a:t>
            </a:r>
            <a:r>
              <a:rPr lang="en-US" sz="1800" b="1" u="none" strike="noStrike" baseline="-40000">
                <a:solidFill>
                  <a:srgbClr val="FFFFFF"/>
                </a:solidFill>
                <a:effectLst/>
                <a:uFillTx/>
                <a:latin typeface="Cambria"/>
                <a:ea typeface="Cambria"/>
              </a:rPr>
              <a:t>r</a:t>
            </a:r>
            <a:endParaRPr lang="en-US" sz="1800" b="0" u="none" strike="noStrike">
              <a:solidFill>
                <a:srgbClr val="000000"/>
              </a:solidFill>
              <a:effectLst/>
              <a:uFillTx/>
              <a:latin typeface="Arial"/>
            </a:endParaRPr>
          </a:p>
        </p:txBody>
      </p:sp>
      <p:sp>
        <p:nvSpPr>
          <p:cNvPr id="279" name="Text 7"/>
          <p:cNvSpPr/>
          <p:nvPr/>
        </p:nvSpPr>
        <p:spPr>
          <a:xfrm>
            <a:off x="6446520" y="2880360"/>
            <a:ext cx="4983120" cy="356580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Every level of this recursion interleaves outputs by parity: even positions first, odd positions second, then the same split happens again inside each half.</a:t>
            </a:r>
            <a:endParaRPr lang="en-US" sz="1300" b="0" u="none" strike="noStrike">
              <a:solidFill>
                <a:srgbClr val="000000"/>
              </a:solidFill>
              <a:effectLst/>
              <a:uFillTx/>
              <a:latin typeface="Arial"/>
            </a:endParaRPr>
          </a:p>
          <a:p>
            <a:pPr defTabSz="914400">
              <a:lnSpc>
                <a:spcPct val="118000"/>
              </a:lnSpc>
              <a:tabLst>
                <a:tab pos="0" algn="l"/>
              </a:tabLst>
            </a:pPr>
            <a:endParaRPr lang="en-US" sz="137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16202E"/>
                </a:solidFill>
                <a:effectLst/>
                <a:uFillTx/>
                <a:latin typeface="Calibri"/>
                <a:ea typeface="Calibri"/>
              </a:rPr>
              <a:t>After log₂N such interleavings, each output's address has effectively had its bits reversed relative to natural order. This is exactly why a DIF flow graph built directly from this derivation delivers X[k] in bit-reversed order and needs one bit-reversal permutation as a final unscrambling step, the mirror image of DIT needing that same permutation up front, on the input.</a:t>
            </a:r>
            <a:endParaRPr lang="en-US" sz="1300" b="0" u="none" strike="noStrike">
              <a:solidFill>
                <a:srgbClr val="000000"/>
              </a:solidFill>
              <a:effectLst/>
              <a:uFillTx/>
              <a:latin typeface="Arial"/>
            </a:endParaRPr>
          </a:p>
          <a:p>
            <a:pPr defTabSz="914400">
              <a:lnSpc>
                <a:spcPct val="118000"/>
              </a:lnSpc>
              <a:tabLst>
                <a:tab pos="0" algn="l"/>
              </a:tabLst>
            </a:pPr>
            <a:endParaRPr lang="en-US" sz="137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16202E"/>
                </a:solidFill>
                <a:effectLst/>
                <a:uFillTx/>
                <a:latin typeface="Calibri"/>
                <a:ea typeface="Calibri"/>
              </a:rPr>
              <a:t>This is the DIF counterpart to the periodicity trick on slide 7: instead of stretching one half-size result over the full output range, DIF's two half-size results simply occupy separate, interleaved slots.</a:t>
            </a:r>
            <a:endParaRPr lang="en-US" sz="1300" b="0" u="none" strike="noStrike">
              <a:solidFill>
                <a:srgbClr val="000000"/>
              </a:solidFill>
              <a:effectLst/>
              <a:uFillTx/>
              <a:latin typeface="Arial"/>
            </a:endParaRPr>
          </a:p>
        </p:txBody>
      </p:sp>
      <p:sp>
        <p:nvSpPr>
          <p:cNvPr id="280" name="Shape 8"/>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281" name="Shape 9"/>
          <p:cNvSpPr/>
          <p:nvPr/>
        </p:nvSpPr>
        <p:spPr>
          <a:xfrm>
            <a:off x="502920" y="6473880"/>
            <a:ext cx="318708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282" name="Text 10"/>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000000"/>
              </a:solidFill>
              <a:effectLst/>
              <a:uFillTx/>
              <a:latin typeface="Arial"/>
            </a:endParaRPr>
          </a:p>
        </p:txBody>
      </p:sp>
      <p:sp>
        <p:nvSpPr>
          <p:cNvPr id="283" name="Text 11"/>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DIF Mathematics     12</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284"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2B · DIF MATHEMATICS</a:t>
            </a:r>
            <a:endParaRPr lang="en-US" sz="1150" b="0" u="none" strike="noStrike">
              <a:solidFill>
                <a:srgbClr val="000000"/>
              </a:solidFill>
              <a:effectLst/>
              <a:uFillTx/>
              <a:latin typeface="Arial"/>
            </a:endParaRPr>
          </a:p>
        </p:txBody>
      </p:sp>
      <p:sp>
        <p:nvSpPr>
          <p:cNvPr id="285"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The DIF Butterfly: From Equations to Flow Graph</a:t>
            </a:r>
            <a:endParaRPr lang="en-US" sz="2600" b="0" u="none" strike="noStrike">
              <a:solidFill>
                <a:srgbClr val="000000"/>
              </a:solidFill>
              <a:effectLst/>
              <a:uFillTx/>
              <a:latin typeface="Arial"/>
            </a:endParaRPr>
          </a:p>
        </p:txBody>
      </p:sp>
      <p:sp>
        <p:nvSpPr>
          <p:cNvPr id="286" name="Text 2"/>
          <p:cNvSpPr/>
          <p:nvPr/>
        </p:nvSpPr>
        <p:spPr>
          <a:xfrm>
            <a:off x="502920" y="1188720"/>
            <a:ext cx="530316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NAME THE TERMS</a:t>
            </a:r>
            <a:endParaRPr lang="en-US" sz="1100" b="0" u="none" strike="noStrike">
              <a:solidFill>
                <a:srgbClr val="000000"/>
              </a:solidFill>
              <a:effectLst/>
              <a:uFillTx/>
              <a:latin typeface="Arial"/>
            </a:endParaRPr>
          </a:p>
        </p:txBody>
      </p:sp>
      <p:sp>
        <p:nvSpPr>
          <p:cNvPr id="287" name="Shape 3"/>
          <p:cNvSpPr/>
          <p:nvPr/>
        </p:nvSpPr>
        <p:spPr>
          <a:xfrm>
            <a:off x="502920" y="1463040"/>
            <a:ext cx="2559960" cy="639720"/>
          </a:xfrm>
          <a:prstGeom prst="roundRect">
            <a:avLst>
              <a:gd name="adj" fmla="val 8571"/>
            </a:avLst>
          </a:prstGeom>
          <a:solidFill>
            <a:srgbClr val="132A4A"/>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88" name="Text 4"/>
          <p:cNvSpPr/>
          <p:nvPr/>
        </p:nvSpPr>
        <p:spPr>
          <a:xfrm>
            <a:off x="502920" y="1463040"/>
            <a:ext cx="2559960" cy="639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700" b="1" u="none" strike="noStrike">
                <a:solidFill>
                  <a:srgbClr val="FFFFFF"/>
                </a:solidFill>
                <a:effectLst/>
                <a:uFillTx/>
                <a:latin typeface="Cambria"/>
                <a:ea typeface="Cambria"/>
              </a:rPr>
              <a:t>A = x</a:t>
            </a:r>
            <a:r>
              <a:rPr lang="en-US" sz="1700" b="1" u="none" strike="noStrike" baseline="-40000">
                <a:solidFill>
                  <a:srgbClr val="FFFFFF"/>
                </a:solidFill>
                <a:effectLst/>
                <a:uFillTx/>
                <a:latin typeface="Cambria"/>
                <a:ea typeface="Cambria"/>
              </a:rPr>
              <a:t>n</a:t>
            </a:r>
            <a:endParaRPr lang="en-US" sz="1700" b="0" u="none" strike="noStrike">
              <a:solidFill>
                <a:srgbClr val="000000"/>
              </a:solidFill>
              <a:effectLst/>
              <a:uFillTx/>
              <a:latin typeface="Arial"/>
            </a:endParaRPr>
          </a:p>
        </p:txBody>
      </p:sp>
      <p:sp>
        <p:nvSpPr>
          <p:cNvPr id="289" name="Shape 5"/>
          <p:cNvSpPr/>
          <p:nvPr/>
        </p:nvSpPr>
        <p:spPr>
          <a:xfrm>
            <a:off x="3246120" y="1463040"/>
            <a:ext cx="2559960" cy="639720"/>
          </a:xfrm>
          <a:prstGeom prst="roundRect">
            <a:avLst>
              <a:gd name="adj" fmla="val 8571"/>
            </a:avLst>
          </a:prstGeom>
          <a:solidFill>
            <a:srgbClr val="0E8388"/>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90" name="Text 6"/>
          <p:cNvSpPr/>
          <p:nvPr/>
        </p:nvSpPr>
        <p:spPr>
          <a:xfrm>
            <a:off x="3246120" y="1463040"/>
            <a:ext cx="2559960" cy="639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600" b="1" u="none" strike="noStrike">
                <a:solidFill>
                  <a:srgbClr val="FFFFFF"/>
                </a:solidFill>
                <a:effectLst/>
                <a:uFillTx/>
                <a:latin typeface="Cambria"/>
                <a:ea typeface="Cambria"/>
              </a:rPr>
              <a:t>B = x</a:t>
            </a:r>
            <a:r>
              <a:rPr lang="en-US" sz="1600" b="1" u="none" strike="noStrike" baseline="-40000">
                <a:solidFill>
                  <a:srgbClr val="FFFFFF"/>
                </a:solidFill>
                <a:effectLst/>
                <a:uFillTx/>
                <a:latin typeface="Cambria"/>
                <a:ea typeface="Cambria"/>
              </a:rPr>
              <a:t>n+N/2</a:t>
            </a:r>
            <a:endParaRPr lang="en-US" sz="1600" b="0" u="none" strike="noStrike">
              <a:solidFill>
                <a:srgbClr val="000000"/>
              </a:solidFill>
              <a:effectLst/>
              <a:uFillTx/>
              <a:latin typeface="Arial"/>
            </a:endParaRPr>
          </a:p>
        </p:txBody>
      </p:sp>
      <p:sp>
        <p:nvSpPr>
          <p:cNvPr id="291" name="Text 7"/>
          <p:cNvSpPr/>
          <p:nvPr/>
        </p:nvSpPr>
        <p:spPr>
          <a:xfrm>
            <a:off x="502920" y="2331720"/>
            <a:ext cx="530316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THE BUTTERFLY</a:t>
            </a:r>
            <a:endParaRPr lang="en-US" sz="1100" b="0" u="none" strike="noStrike">
              <a:solidFill>
                <a:srgbClr val="000000"/>
              </a:solidFill>
              <a:effectLst/>
              <a:uFillTx/>
              <a:latin typeface="Arial"/>
            </a:endParaRPr>
          </a:p>
        </p:txBody>
      </p:sp>
      <p:sp>
        <p:nvSpPr>
          <p:cNvPr id="292" name="Shape 8"/>
          <p:cNvSpPr/>
          <p:nvPr/>
        </p:nvSpPr>
        <p:spPr>
          <a:xfrm>
            <a:off x="502920" y="2606040"/>
            <a:ext cx="2559960" cy="639720"/>
          </a:xfrm>
          <a:prstGeom prst="roundRect">
            <a:avLst>
              <a:gd name="adj" fmla="val 8571"/>
            </a:avLst>
          </a:prstGeom>
          <a:solidFill>
            <a:srgbClr val="132A4A"/>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93" name="Text 9"/>
          <p:cNvSpPr/>
          <p:nvPr/>
        </p:nvSpPr>
        <p:spPr>
          <a:xfrm>
            <a:off x="502920" y="2606040"/>
            <a:ext cx="2559960" cy="639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700" b="1" u="none" strike="noStrike">
                <a:solidFill>
                  <a:srgbClr val="FFFFFF"/>
                </a:solidFill>
                <a:effectLst/>
                <a:uFillTx/>
                <a:latin typeface="Cambria"/>
                <a:ea typeface="Cambria"/>
              </a:rPr>
              <a:t>a</a:t>
            </a:r>
            <a:r>
              <a:rPr lang="en-US" sz="1700" b="1" u="none" strike="noStrike" baseline="-40000">
                <a:solidFill>
                  <a:srgbClr val="FFFFFF"/>
                </a:solidFill>
                <a:effectLst/>
                <a:uFillTx/>
                <a:latin typeface="Cambria"/>
                <a:ea typeface="Cambria"/>
              </a:rPr>
              <a:t>n</a:t>
            </a:r>
            <a:r>
              <a:rPr lang="en-US" sz="1700" b="1" u="none" strike="noStrike">
                <a:solidFill>
                  <a:srgbClr val="FFFFFF"/>
                </a:solidFill>
                <a:effectLst/>
                <a:uFillTx/>
                <a:latin typeface="Cambria"/>
                <a:ea typeface="Cambria"/>
              </a:rPr>
              <a:t> = A + B</a:t>
            </a:r>
            <a:endParaRPr lang="en-US" sz="1700" b="0" u="none" strike="noStrike">
              <a:solidFill>
                <a:srgbClr val="000000"/>
              </a:solidFill>
              <a:effectLst/>
              <a:uFillTx/>
              <a:latin typeface="Arial"/>
            </a:endParaRPr>
          </a:p>
        </p:txBody>
      </p:sp>
      <p:sp>
        <p:nvSpPr>
          <p:cNvPr id="294" name="Shape 10"/>
          <p:cNvSpPr/>
          <p:nvPr/>
        </p:nvSpPr>
        <p:spPr>
          <a:xfrm>
            <a:off x="3246120" y="2606040"/>
            <a:ext cx="2559960" cy="639720"/>
          </a:xfrm>
          <a:prstGeom prst="roundRect">
            <a:avLst>
              <a:gd name="adj" fmla="val 8571"/>
            </a:avLst>
          </a:prstGeom>
          <a:solidFill>
            <a:srgbClr val="132A4A"/>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95" name="Text 11"/>
          <p:cNvSpPr/>
          <p:nvPr/>
        </p:nvSpPr>
        <p:spPr>
          <a:xfrm>
            <a:off x="3246120" y="2606040"/>
            <a:ext cx="2559960" cy="639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mbria"/>
                <a:ea typeface="Cambria"/>
              </a:rPr>
              <a:t>b</a:t>
            </a:r>
            <a:r>
              <a:rPr lang="en-US" sz="1300" b="1" u="none" strike="noStrike" baseline="-40000">
                <a:solidFill>
                  <a:srgbClr val="FFFFFF"/>
                </a:solidFill>
                <a:effectLst/>
                <a:uFillTx/>
                <a:latin typeface="Cambria"/>
                <a:ea typeface="Cambria"/>
              </a:rPr>
              <a:t>n</a:t>
            </a:r>
            <a:r>
              <a:rPr lang="en-US" sz="1300" b="1" u="none" strike="noStrike">
                <a:solidFill>
                  <a:srgbClr val="FFFFFF"/>
                </a:solidFill>
                <a:effectLst/>
                <a:uFillTx/>
                <a:latin typeface="Cambria"/>
                <a:ea typeface="Cambria"/>
              </a:rPr>
              <a:t> = (A-B)·W</a:t>
            </a:r>
            <a:r>
              <a:rPr lang="en-US" sz="1300" b="1" u="none" strike="noStrike" baseline="-40000">
                <a:solidFill>
                  <a:srgbClr val="FFFFFF"/>
                </a:solidFill>
                <a:effectLst/>
                <a:uFillTx/>
                <a:latin typeface="Cambria"/>
                <a:ea typeface="Cambria"/>
              </a:rPr>
              <a:t>N</a:t>
            </a:r>
            <a:r>
              <a:rPr lang="en-US" sz="1300" b="1" u="none" strike="noStrike" baseline="30000">
                <a:solidFill>
                  <a:srgbClr val="FFFFFF"/>
                </a:solidFill>
                <a:effectLst/>
                <a:uFillTx/>
                <a:latin typeface="Cambria"/>
                <a:ea typeface="Cambria"/>
              </a:rPr>
              <a:t>n</a:t>
            </a:r>
            <a:endParaRPr lang="en-US" sz="1300" b="0" u="none" strike="noStrike">
              <a:solidFill>
                <a:srgbClr val="000000"/>
              </a:solidFill>
              <a:effectLst/>
              <a:uFillTx/>
              <a:latin typeface="Arial"/>
            </a:endParaRPr>
          </a:p>
        </p:txBody>
      </p:sp>
      <p:sp>
        <p:nvSpPr>
          <p:cNvPr id="296" name="Text 12"/>
          <p:cNvSpPr/>
          <p:nvPr/>
        </p:nvSpPr>
        <p:spPr>
          <a:xfrm>
            <a:off x="502920" y="3520440"/>
            <a:ext cx="5303160" cy="219420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Same crossing, add/subtract shape as the DIT butterfly, but mirrored: the twiddle multiply happens once, after the subtraction, on the difference only. a[n] feeds the even-output DFT untouched; b[n] carries the twiddle into the odd-output DFT.</a:t>
            </a:r>
            <a:endParaRPr lang="en-US" sz="1300" b="0" u="none" strike="noStrike">
              <a:solidFill>
                <a:srgbClr val="000000"/>
              </a:solidFill>
              <a:effectLst/>
              <a:uFillTx/>
              <a:latin typeface="Arial"/>
            </a:endParaRPr>
          </a:p>
        </p:txBody>
      </p:sp>
      <p:sp>
        <p:nvSpPr>
          <p:cNvPr id="297" name="Shape 13"/>
          <p:cNvSpPr/>
          <p:nvPr/>
        </p:nvSpPr>
        <p:spPr>
          <a:xfrm>
            <a:off x="6400800" y="1188720"/>
            <a:ext cx="5257440" cy="4114440"/>
          </a:xfrm>
          <a:prstGeom prst="roundRect">
            <a:avLst>
              <a:gd name="adj" fmla="val 1333"/>
            </a:avLst>
          </a:prstGeom>
          <a:solidFill>
            <a:srgbClr val="FFFFFF"/>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98" name="Text 14"/>
          <p:cNvSpPr/>
          <p:nvPr/>
        </p:nvSpPr>
        <p:spPr>
          <a:xfrm>
            <a:off x="6629400" y="1280160"/>
            <a:ext cx="45716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DIF BUTTERFLY FLOW GRAPH</a:t>
            </a:r>
            <a:endParaRPr lang="en-US" sz="1100" b="0" u="none" strike="noStrike">
              <a:solidFill>
                <a:srgbClr val="000000"/>
              </a:solidFill>
              <a:effectLst/>
              <a:uFillTx/>
              <a:latin typeface="Arial"/>
            </a:endParaRPr>
          </a:p>
        </p:txBody>
      </p:sp>
      <p:sp>
        <p:nvSpPr>
          <p:cNvPr id="299" name="Shape 15"/>
          <p:cNvSpPr/>
          <p:nvPr/>
        </p:nvSpPr>
        <p:spPr>
          <a:xfrm>
            <a:off x="7635240" y="2331720"/>
            <a:ext cx="170064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300" name="Shape 16"/>
          <p:cNvSpPr/>
          <p:nvPr/>
        </p:nvSpPr>
        <p:spPr>
          <a:xfrm>
            <a:off x="7635240" y="3886200"/>
            <a:ext cx="102024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301" name="Shape 17"/>
          <p:cNvSpPr/>
          <p:nvPr/>
        </p:nvSpPr>
        <p:spPr>
          <a:xfrm>
            <a:off x="8655480" y="2331720"/>
            <a:ext cx="680400" cy="15544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02" name="Shape 18"/>
          <p:cNvSpPr/>
          <p:nvPr/>
        </p:nvSpPr>
        <p:spPr>
          <a:xfrm flipV="1">
            <a:off x="8655480" y="2331720"/>
            <a:ext cx="680400" cy="15544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03" name="Shape 19"/>
          <p:cNvSpPr/>
          <p:nvPr/>
        </p:nvSpPr>
        <p:spPr>
          <a:xfrm>
            <a:off x="8655480" y="3886200"/>
            <a:ext cx="68040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304" name="Shape 20"/>
          <p:cNvSpPr/>
          <p:nvPr/>
        </p:nvSpPr>
        <p:spPr>
          <a:xfrm>
            <a:off x="9335880" y="2331720"/>
            <a:ext cx="113400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305" name="Shape 21"/>
          <p:cNvSpPr/>
          <p:nvPr/>
        </p:nvSpPr>
        <p:spPr>
          <a:xfrm>
            <a:off x="9335880" y="3886200"/>
            <a:ext cx="22860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306" name="Shape 22"/>
          <p:cNvSpPr/>
          <p:nvPr/>
        </p:nvSpPr>
        <p:spPr>
          <a:xfrm>
            <a:off x="10241280" y="3886200"/>
            <a:ext cx="22860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307" name="Shape 23"/>
          <p:cNvSpPr/>
          <p:nvPr/>
        </p:nvSpPr>
        <p:spPr>
          <a:xfrm>
            <a:off x="7584840" y="228132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308" name="Shape 24"/>
          <p:cNvSpPr/>
          <p:nvPr/>
        </p:nvSpPr>
        <p:spPr>
          <a:xfrm>
            <a:off x="7584840" y="383580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309" name="Shape 25"/>
          <p:cNvSpPr/>
          <p:nvPr/>
        </p:nvSpPr>
        <p:spPr>
          <a:xfrm>
            <a:off x="10419480" y="228132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310" name="Shape 26"/>
          <p:cNvSpPr/>
          <p:nvPr/>
        </p:nvSpPr>
        <p:spPr>
          <a:xfrm>
            <a:off x="10419480" y="383580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311" name="Shape 27"/>
          <p:cNvSpPr/>
          <p:nvPr/>
        </p:nvSpPr>
        <p:spPr>
          <a:xfrm>
            <a:off x="9180720" y="2176200"/>
            <a:ext cx="310680" cy="310680"/>
          </a:xfrm>
          <a:prstGeom prst="ellipse">
            <a:avLst/>
          </a:prstGeom>
          <a:solidFill>
            <a:srgbClr val="132A4A"/>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12" name="Text 28"/>
          <p:cNvSpPr/>
          <p:nvPr/>
        </p:nvSpPr>
        <p:spPr>
          <a:xfrm>
            <a:off x="9180720" y="2176200"/>
            <a:ext cx="310680" cy="310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a:t>
            </a:r>
            <a:endParaRPr lang="en-US" sz="1100" b="0" u="none" strike="noStrike">
              <a:solidFill>
                <a:srgbClr val="000000"/>
              </a:solidFill>
              <a:effectLst/>
              <a:uFillTx/>
              <a:latin typeface="Arial"/>
            </a:endParaRPr>
          </a:p>
        </p:txBody>
      </p:sp>
      <p:sp>
        <p:nvSpPr>
          <p:cNvPr id="313" name="Shape 29"/>
          <p:cNvSpPr/>
          <p:nvPr/>
        </p:nvSpPr>
        <p:spPr>
          <a:xfrm>
            <a:off x="9180720" y="3730680"/>
            <a:ext cx="310680" cy="310680"/>
          </a:xfrm>
          <a:prstGeom prst="ellipse">
            <a:avLst/>
          </a:prstGeom>
          <a:solidFill>
            <a:srgbClr val="132A4A"/>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14" name="Text 30"/>
          <p:cNvSpPr/>
          <p:nvPr/>
        </p:nvSpPr>
        <p:spPr>
          <a:xfrm>
            <a:off x="9180720" y="3730680"/>
            <a:ext cx="310680" cy="310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a:t>
            </a:r>
            <a:endParaRPr lang="en-US" sz="1100" b="0" u="none" strike="noStrike">
              <a:solidFill>
                <a:srgbClr val="000000"/>
              </a:solidFill>
              <a:effectLst/>
              <a:uFillTx/>
              <a:latin typeface="Arial"/>
            </a:endParaRPr>
          </a:p>
        </p:txBody>
      </p:sp>
      <p:sp>
        <p:nvSpPr>
          <p:cNvPr id="315" name="Shape 31"/>
          <p:cNvSpPr/>
          <p:nvPr/>
        </p:nvSpPr>
        <p:spPr>
          <a:xfrm>
            <a:off x="9564480" y="3740040"/>
            <a:ext cx="676440" cy="292320"/>
          </a:xfrm>
          <a:prstGeom prst="roundRect">
            <a:avLst>
              <a:gd name="adj" fmla="val 15625"/>
            </a:avLst>
          </a:prstGeom>
          <a:solidFill>
            <a:srgbClr val="FFFFFF"/>
          </a:solidFill>
          <a:ln w="19050">
            <a:solidFill>
              <a:srgbClr val="D9832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16" name="Text 32"/>
          <p:cNvSpPr/>
          <p:nvPr/>
        </p:nvSpPr>
        <p:spPr>
          <a:xfrm>
            <a:off x="9564480" y="3740040"/>
            <a:ext cx="676440" cy="292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D98324"/>
                </a:solidFill>
                <a:effectLst/>
                <a:uFillTx/>
                <a:latin typeface="Consolas"/>
                <a:ea typeface="Consolas"/>
              </a:rPr>
              <a:t>W_N^n</a:t>
            </a:r>
            <a:endParaRPr lang="en-US" sz="1100" b="0" u="none" strike="noStrike">
              <a:solidFill>
                <a:srgbClr val="000000"/>
              </a:solidFill>
              <a:effectLst/>
              <a:uFillTx/>
              <a:latin typeface="Arial"/>
            </a:endParaRPr>
          </a:p>
        </p:txBody>
      </p:sp>
      <p:sp>
        <p:nvSpPr>
          <p:cNvPr id="317" name="Text 33"/>
          <p:cNvSpPr/>
          <p:nvPr/>
        </p:nvSpPr>
        <p:spPr>
          <a:xfrm>
            <a:off x="6492240" y="2185560"/>
            <a:ext cx="1005480" cy="2923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trike="noStrike">
                <a:solidFill>
                  <a:srgbClr val="132A4A"/>
                </a:solidFill>
                <a:effectLst/>
                <a:uFillTx/>
                <a:latin typeface="Consolas"/>
                <a:ea typeface="Consolas"/>
              </a:rPr>
              <a:t>x[n]</a:t>
            </a:r>
            <a:endParaRPr lang="en-US" sz="1100" b="0" u="none" strike="noStrike">
              <a:solidFill>
                <a:srgbClr val="000000"/>
              </a:solidFill>
              <a:effectLst/>
              <a:uFillTx/>
              <a:latin typeface="Arial"/>
            </a:endParaRPr>
          </a:p>
        </p:txBody>
      </p:sp>
      <p:sp>
        <p:nvSpPr>
          <p:cNvPr id="318" name="Text 34"/>
          <p:cNvSpPr/>
          <p:nvPr/>
        </p:nvSpPr>
        <p:spPr>
          <a:xfrm>
            <a:off x="6492240" y="3740040"/>
            <a:ext cx="1005480" cy="2923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trike="noStrike">
                <a:solidFill>
                  <a:srgbClr val="132A4A"/>
                </a:solidFill>
                <a:effectLst/>
                <a:uFillTx/>
                <a:latin typeface="Consolas"/>
                <a:ea typeface="Consolas"/>
              </a:rPr>
              <a:t>x[n+N/2]</a:t>
            </a:r>
            <a:endParaRPr lang="en-US" sz="1100" b="0" u="none" strike="noStrike">
              <a:solidFill>
                <a:srgbClr val="000000"/>
              </a:solidFill>
              <a:effectLst/>
              <a:uFillTx/>
              <a:latin typeface="Arial"/>
            </a:endParaRPr>
          </a:p>
        </p:txBody>
      </p:sp>
      <p:sp>
        <p:nvSpPr>
          <p:cNvPr id="319" name="Text 35"/>
          <p:cNvSpPr/>
          <p:nvPr/>
        </p:nvSpPr>
        <p:spPr>
          <a:xfrm>
            <a:off x="10607040" y="2185560"/>
            <a:ext cx="14626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132A4A"/>
                </a:solidFill>
                <a:effectLst/>
                <a:uFillTx/>
                <a:latin typeface="Consolas"/>
                <a:ea typeface="Consolas"/>
              </a:rPr>
              <a:t>a[n]</a:t>
            </a:r>
            <a:endParaRPr lang="en-US" sz="1100" b="0" u="none" strike="noStrike">
              <a:solidFill>
                <a:srgbClr val="000000"/>
              </a:solidFill>
              <a:effectLst/>
              <a:uFillTx/>
              <a:latin typeface="Arial"/>
            </a:endParaRPr>
          </a:p>
        </p:txBody>
      </p:sp>
      <p:sp>
        <p:nvSpPr>
          <p:cNvPr id="320" name="Text 36"/>
          <p:cNvSpPr/>
          <p:nvPr/>
        </p:nvSpPr>
        <p:spPr>
          <a:xfrm>
            <a:off x="10607040" y="3740040"/>
            <a:ext cx="14626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132A4A"/>
                </a:solidFill>
                <a:effectLst/>
                <a:uFillTx/>
                <a:latin typeface="Consolas"/>
                <a:ea typeface="Consolas"/>
              </a:rPr>
              <a:t>b[n]</a:t>
            </a:r>
            <a:endParaRPr lang="en-US" sz="1100" b="0" u="none" strike="noStrike">
              <a:solidFill>
                <a:srgbClr val="000000"/>
              </a:solidFill>
              <a:effectLst/>
              <a:uFillTx/>
              <a:latin typeface="Arial"/>
            </a:endParaRPr>
          </a:p>
        </p:txBody>
      </p:sp>
      <p:sp>
        <p:nvSpPr>
          <p:cNvPr id="321" name="Text 37"/>
          <p:cNvSpPr/>
          <p:nvPr/>
        </p:nvSpPr>
        <p:spPr>
          <a:xfrm>
            <a:off x="6629400" y="4343400"/>
            <a:ext cx="4845960" cy="8683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i="1" u="none" strike="noStrike">
                <a:solidFill>
                  <a:srgbClr val="5C6B7A"/>
                </a:solidFill>
                <a:effectLst/>
                <a:uFillTx/>
                <a:latin typeface="Calibri"/>
                <a:ea typeface="Calibri"/>
              </a:rPr>
              <a:t>a[n] feeds the even-output half-size DFT. The orange box multiplies only the difference, after the subtraction, before b[n] feeds the odd-output half-size DFT.</a:t>
            </a:r>
            <a:endParaRPr lang="en-US" sz="1300" b="0" u="none" strike="noStrike">
              <a:solidFill>
                <a:srgbClr val="000000"/>
              </a:solidFill>
              <a:effectLst/>
              <a:uFillTx/>
              <a:latin typeface="Arial"/>
            </a:endParaRPr>
          </a:p>
        </p:txBody>
      </p:sp>
      <p:sp>
        <p:nvSpPr>
          <p:cNvPr id="322" name="Shape 38"/>
          <p:cNvSpPr/>
          <p:nvPr/>
        </p:nvSpPr>
        <p:spPr>
          <a:xfrm>
            <a:off x="502920" y="5577840"/>
            <a:ext cx="11155320" cy="731160"/>
          </a:xfrm>
          <a:prstGeom prst="roundRect">
            <a:avLst>
              <a:gd name="adj" fmla="val 7500"/>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23" name="Text 39"/>
          <p:cNvSpPr/>
          <p:nvPr/>
        </p:nvSpPr>
        <p:spPr>
          <a:xfrm>
            <a:off x="731520" y="5669280"/>
            <a:ext cx="10698120" cy="548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18000"/>
              </a:lnSpc>
              <a:tabLst>
                <a:tab pos="0" algn="l"/>
              </a:tabLst>
            </a:pPr>
            <a:r>
              <a:rPr lang="en-US" sz="1300" b="0" u="none" strike="noStrike">
                <a:solidFill>
                  <a:srgbClr val="16202E"/>
                </a:solidFill>
                <a:effectLst/>
                <a:uFillTx/>
                <a:latin typeface="Calibri"/>
                <a:ea typeface="Calibri"/>
              </a:rPr>
              <a:t>Cost is identical to DIT: 1 complex multiplication + 1 complex addition + 1 complex subtraction per butterfly.</a:t>
            </a:r>
            <a:endParaRPr lang="en-US" sz="1300" b="0" u="none" strike="noStrike">
              <a:solidFill>
                <a:srgbClr val="000000"/>
              </a:solidFill>
              <a:effectLst/>
              <a:uFillTx/>
              <a:latin typeface="Arial"/>
            </a:endParaRPr>
          </a:p>
        </p:txBody>
      </p:sp>
      <p:sp>
        <p:nvSpPr>
          <p:cNvPr id="324" name="Shape 40"/>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325" name="Shape 41"/>
          <p:cNvSpPr/>
          <p:nvPr/>
        </p:nvSpPr>
        <p:spPr>
          <a:xfrm>
            <a:off x="502920" y="6473880"/>
            <a:ext cx="345276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326" name="Text 42"/>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000000"/>
              </a:solidFill>
              <a:effectLst/>
              <a:uFillTx/>
              <a:latin typeface="Arial"/>
            </a:endParaRPr>
          </a:p>
        </p:txBody>
      </p:sp>
      <p:sp>
        <p:nvSpPr>
          <p:cNvPr id="327" name="Text 43"/>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DIF Mathematics     13</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328"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2C · DIT VS DIF</a:t>
            </a:r>
            <a:endParaRPr lang="en-US" sz="1150" b="0" u="none" strike="noStrike">
              <a:solidFill>
                <a:srgbClr val="000000"/>
              </a:solidFill>
              <a:effectLst/>
              <a:uFillTx/>
              <a:latin typeface="Arial"/>
            </a:endParaRPr>
          </a:p>
        </p:txBody>
      </p:sp>
      <p:sp>
        <p:nvSpPr>
          <p:cNvPr id="329"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DIT vs DIF Butterfly: Side by Side</a:t>
            </a:r>
            <a:endParaRPr lang="en-US" sz="2600" b="0" u="none" strike="noStrike">
              <a:solidFill>
                <a:srgbClr val="000000"/>
              </a:solidFill>
              <a:effectLst/>
              <a:uFillTx/>
              <a:latin typeface="Arial"/>
            </a:endParaRPr>
          </a:p>
        </p:txBody>
      </p:sp>
      <p:sp>
        <p:nvSpPr>
          <p:cNvPr id="330" name="Shape 2"/>
          <p:cNvSpPr/>
          <p:nvPr/>
        </p:nvSpPr>
        <p:spPr>
          <a:xfrm>
            <a:off x="502920" y="1188720"/>
            <a:ext cx="5760360" cy="2514240"/>
          </a:xfrm>
          <a:prstGeom prst="roundRect">
            <a:avLst>
              <a:gd name="adj" fmla="val 2182"/>
            </a:avLst>
          </a:prstGeom>
          <a:solidFill>
            <a:srgbClr val="FFFFFF"/>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31" name="Text 3"/>
          <p:cNvSpPr/>
          <p:nvPr/>
        </p:nvSpPr>
        <p:spPr>
          <a:xfrm>
            <a:off x="685800" y="1261800"/>
            <a:ext cx="530316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DIT : TWIDDLE BEFORE ADD/SUBTRACT</a:t>
            </a:r>
            <a:endParaRPr lang="en-US" sz="1100" b="0" u="none" strike="noStrike">
              <a:solidFill>
                <a:srgbClr val="000000"/>
              </a:solidFill>
              <a:effectLst/>
              <a:uFillTx/>
              <a:latin typeface="Arial"/>
            </a:endParaRPr>
          </a:p>
        </p:txBody>
      </p:sp>
      <p:sp>
        <p:nvSpPr>
          <p:cNvPr id="332" name="Shape 4"/>
          <p:cNvSpPr/>
          <p:nvPr/>
        </p:nvSpPr>
        <p:spPr>
          <a:xfrm>
            <a:off x="1965960" y="2057400"/>
            <a:ext cx="181044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333" name="Shape 5"/>
          <p:cNvSpPr/>
          <p:nvPr/>
        </p:nvSpPr>
        <p:spPr>
          <a:xfrm>
            <a:off x="1965960" y="3017520"/>
            <a:ext cx="17460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334" name="Shape 6"/>
          <p:cNvSpPr/>
          <p:nvPr/>
        </p:nvSpPr>
        <p:spPr>
          <a:xfrm>
            <a:off x="2817000" y="3017520"/>
            <a:ext cx="23508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335" name="Shape 7"/>
          <p:cNvSpPr/>
          <p:nvPr/>
        </p:nvSpPr>
        <p:spPr>
          <a:xfrm>
            <a:off x="3052080" y="2057400"/>
            <a:ext cx="724320" cy="9601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36" name="Shape 8"/>
          <p:cNvSpPr/>
          <p:nvPr/>
        </p:nvSpPr>
        <p:spPr>
          <a:xfrm flipV="1">
            <a:off x="3052080" y="2057400"/>
            <a:ext cx="724320" cy="9601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37" name="Shape 9"/>
          <p:cNvSpPr/>
          <p:nvPr/>
        </p:nvSpPr>
        <p:spPr>
          <a:xfrm>
            <a:off x="3052080" y="3017520"/>
            <a:ext cx="72432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338" name="Shape 10"/>
          <p:cNvSpPr/>
          <p:nvPr/>
        </p:nvSpPr>
        <p:spPr>
          <a:xfrm>
            <a:off x="3776400" y="2057400"/>
            <a:ext cx="120708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339" name="Shape 11"/>
          <p:cNvSpPr/>
          <p:nvPr/>
        </p:nvSpPr>
        <p:spPr>
          <a:xfrm>
            <a:off x="3776400" y="3017520"/>
            <a:ext cx="120708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340" name="Shape 12"/>
          <p:cNvSpPr/>
          <p:nvPr/>
        </p:nvSpPr>
        <p:spPr>
          <a:xfrm>
            <a:off x="1915560" y="200700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341" name="Shape 13"/>
          <p:cNvSpPr/>
          <p:nvPr/>
        </p:nvSpPr>
        <p:spPr>
          <a:xfrm>
            <a:off x="1915560" y="296712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342" name="Shape 14"/>
          <p:cNvSpPr/>
          <p:nvPr/>
        </p:nvSpPr>
        <p:spPr>
          <a:xfrm>
            <a:off x="4933080" y="200700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343" name="Shape 15"/>
          <p:cNvSpPr/>
          <p:nvPr/>
        </p:nvSpPr>
        <p:spPr>
          <a:xfrm>
            <a:off x="4933080" y="296712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344" name="Shape 16"/>
          <p:cNvSpPr/>
          <p:nvPr/>
        </p:nvSpPr>
        <p:spPr>
          <a:xfrm>
            <a:off x="3620880" y="1901880"/>
            <a:ext cx="310680" cy="310680"/>
          </a:xfrm>
          <a:prstGeom prst="ellipse">
            <a:avLst/>
          </a:prstGeom>
          <a:solidFill>
            <a:srgbClr val="132A4A"/>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45" name="Text 17"/>
          <p:cNvSpPr/>
          <p:nvPr/>
        </p:nvSpPr>
        <p:spPr>
          <a:xfrm>
            <a:off x="3620880" y="1901880"/>
            <a:ext cx="310680" cy="310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a:t>
            </a:r>
            <a:endParaRPr lang="en-US" sz="1100" b="0" u="none" strike="noStrike">
              <a:solidFill>
                <a:srgbClr val="000000"/>
              </a:solidFill>
              <a:effectLst/>
              <a:uFillTx/>
              <a:latin typeface="Arial"/>
            </a:endParaRPr>
          </a:p>
        </p:txBody>
      </p:sp>
      <p:sp>
        <p:nvSpPr>
          <p:cNvPr id="346" name="Shape 18"/>
          <p:cNvSpPr/>
          <p:nvPr/>
        </p:nvSpPr>
        <p:spPr>
          <a:xfrm>
            <a:off x="3620880" y="2862000"/>
            <a:ext cx="310680" cy="310680"/>
          </a:xfrm>
          <a:prstGeom prst="ellipse">
            <a:avLst/>
          </a:prstGeom>
          <a:solidFill>
            <a:srgbClr val="132A4A"/>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47" name="Text 19"/>
          <p:cNvSpPr/>
          <p:nvPr/>
        </p:nvSpPr>
        <p:spPr>
          <a:xfrm>
            <a:off x="3620880" y="2862000"/>
            <a:ext cx="310680" cy="310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a:t>
            </a:r>
            <a:endParaRPr lang="en-US" sz="1100" b="0" u="none" strike="noStrike">
              <a:solidFill>
                <a:srgbClr val="000000"/>
              </a:solidFill>
              <a:effectLst/>
              <a:uFillTx/>
              <a:latin typeface="Arial"/>
            </a:endParaRPr>
          </a:p>
        </p:txBody>
      </p:sp>
      <p:sp>
        <p:nvSpPr>
          <p:cNvPr id="348" name="Shape 20"/>
          <p:cNvSpPr/>
          <p:nvPr/>
        </p:nvSpPr>
        <p:spPr>
          <a:xfrm>
            <a:off x="2140560" y="2871360"/>
            <a:ext cx="676440" cy="292320"/>
          </a:xfrm>
          <a:prstGeom prst="roundRect">
            <a:avLst>
              <a:gd name="adj" fmla="val 15625"/>
            </a:avLst>
          </a:prstGeom>
          <a:solidFill>
            <a:srgbClr val="FFFFFF"/>
          </a:solidFill>
          <a:ln w="19050">
            <a:solidFill>
              <a:srgbClr val="D9832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49" name="Text 21"/>
          <p:cNvSpPr/>
          <p:nvPr/>
        </p:nvSpPr>
        <p:spPr>
          <a:xfrm>
            <a:off x="2140560" y="2871360"/>
            <a:ext cx="676440" cy="292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D98324"/>
                </a:solidFill>
                <a:effectLst/>
                <a:uFillTx/>
                <a:latin typeface="Consolas"/>
                <a:ea typeface="Consolas"/>
              </a:rPr>
              <a:t>Tw</a:t>
            </a:r>
            <a:endParaRPr lang="en-US" sz="1100" b="0" u="none" strike="noStrike">
              <a:solidFill>
                <a:srgbClr val="000000"/>
              </a:solidFill>
              <a:effectLst/>
              <a:uFillTx/>
              <a:latin typeface="Arial"/>
            </a:endParaRPr>
          </a:p>
        </p:txBody>
      </p:sp>
      <p:sp>
        <p:nvSpPr>
          <p:cNvPr id="350" name="Text 22"/>
          <p:cNvSpPr/>
          <p:nvPr/>
        </p:nvSpPr>
        <p:spPr>
          <a:xfrm>
            <a:off x="822960" y="1911240"/>
            <a:ext cx="1005480" cy="2923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trike="noStrike">
                <a:solidFill>
                  <a:srgbClr val="132A4A"/>
                </a:solidFill>
                <a:effectLst/>
                <a:uFillTx/>
                <a:latin typeface="Consolas"/>
                <a:ea typeface="Consolas"/>
              </a:rPr>
              <a:t>A</a:t>
            </a:r>
            <a:endParaRPr lang="en-US" sz="1100" b="0" u="none" strike="noStrike">
              <a:solidFill>
                <a:srgbClr val="000000"/>
              </a:solidFill>
              <a:effectLst/>
              <a:uFillTx/>
              <a:latin typeface="Arial"/>
            </a:endParaRPr>
          </a:p>
        </p:txBody>
      </p:sp>
      <p:sp>
        <p:nvSpPr>
          <p:cNvPr id="351" name="Text 23"/>
          <p:cNvSpPr/>
          <p:nvPr/>
        </p:nvSpPr>
        <p:spPr>
          <a:xfrm>
            <a:off x="822960" y="2871360"/>
            <a:ext cx="1005480" cy="2923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trike="noStrike">
                <a:solidFill>
                  <a:srgbClr val="132A4A"/>
                </a:solidFill>
                <a:effectLst/>
                <a:uFillTx/>
                <a:latin typeface="Consolas"/>
                <a:ea typeface="Consolas"/>
              </a:rPr>
              <a:t>B</a:t>
            </a:r>
            <a:endParaRPr lang="en-US" sz="1100" b="0" u="none" strike="noStrike">
              <a:solidFill>
                <a:srgbClr val="000000"/>
              </a:solidFill>
              <a:effectLst/>
              <a:uFillTx/>
              <a:latin typeface="Arial"/>
            </a:endParaRPr>
          </a:p>
        </p:txBody>
      </p:sp>
      <p:sp>
        <p:nvSpPr>
          <p:cNvPr id="352" name="Text 24"/>
          <p:cNvSpPr/>
          <p:nvPr/>
        </p:nvSpPr>
        <p:spPr>
          <a:xfrm>
            <a:off x="5120640" y="1911240"/>
            <a:ext cx="14626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132A4A"/>
                </a:solidFill>
                <a:effectLst/>
                <a:uFillTx/>
                <a:latin typeface="Consolas"/>
                <a:ea typeface="Consolas"/>
              </a:rPr>
              <a:t>A+B</a:t>
            </a:r>
            <a:endParaRPr lang="en-US" sz="1100" b="0" u="none" strike="noStrike">
              <a:solidFill>
                <a:srgbClr val="000000"/>
              </a:solidFill>
              <a:effectLst/>
              <a:uFillTx/>
              <a:latin typeface="Arial"/>
            </a:endParaRPr>
          </a:p>
        </p:txBody>
      </p:sp>
      <p:sp>
        <p:nvSpPr>
          <p:cNvPr id="353" name="Text 25"/>
          <p:cNvSpPr/>
          <p:nvPr/>
        </p:nvSpPr>
        <p:spPr>
          <a:xfrm>
            <a:off x="5120640" y="2871360"/>
            <a:ext cx="14626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132A4A"/>
                </a:solidFill>
                <a:effectLst/>
                <a:uFillTx/>
                <a:latin typeface="Consolas"/>
                <a:ea typeface="Consolas"/>
              </a:rPr>
              <a:t>A-B</a:t>
            </a:r>
            <a:endParaRPr lang="en-US" sz="1100" b="0" u="none" strike="noStrike">
              <a:solidFill>
                <a:srgbClr val="000000"/>
              </a:solidFill>
              <a:effectLst/>
              <a:uFillTx/>
              <a:latin typeface="Arial"/>
            </a:endParaRPr>
          </a:p>
        </p:txBody>
      </p:sp>
      <p:sp>
        <p:nvSpPr>
          <p:cNvPr id="354" name="Text 26"/>
          <p:cNvSpPr/>
          <p:nvPr/>
        </p:nvSpPr>
        <p:spPr>
          <a:xfrm>
            <a:off x="685800" y="3310200"/>
            <a:ext cx="5394600" cy="4111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100" b="0" i="1" u="none" strike="noStrike">
                <a:solidFill>
                  <a:srgbClr val="5C6B7A"/>
                </a:solidFill>
                <a:effectLst/>
                <a:uFillTx/>
                <a:latin typeface="Calibri"/>
                <a:ea typeface="Calibri"/>
              </a:rPr>
              <a:t>B is multiplied first, then one add and one subtract.</a:t>
            </a:r>
            <a:endParaRPr lang="en-US" sz="1100" b="0" u="none" strike="noStrike">
              <a:solidFill>
                <a:srgbClr val="000000"/>
              </a:solidFill>
              <a:effectLst/>
              <a:uFillTx/>
              <a:latin typeface="Arial"/>
            </a:endParaRPr>
          </a:p>
        </p:txBody>
      </p:sp>
      <p:sp>
        <p:nvSpPr>
          <p:cNvPr id="355" name="Shape 27"/>
          <p:cNvSpPr/>
          <p:nvPr/>
        </p:nvSpPr>
        <p:spPr>
          <a:xfrm>
            <a:off x="502920" y="3840480"/>
            <a:ext cx="5760360" cy="2514240"/>
          </a:xfrm>
          <a:prstGeom prst="roundRect">
            <a:avLst>
              <a:gd name="adj" fmla="val 2182"/>
            </a:avLst>
          </a:prstGeom>
          <a:solidFill>
            <a:srgbClr val="FFFFFF"/>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56" name="Text 28"/>
          <p:cNvSpPr/>
          <p:nvPr/>
        </p:nvSpPr>
        <p:spPr>
          <a:xfrm>
            <a:off x="685800" y="3913560"/>
            <a:ext cx="530316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DIF : TWIDDLE AFTER ADD/SUBTRACT</a:t>
            </a:r>
            <a:endParaRPr lang="en-US" sz="1100" b="0" u="none" strike="noStrike">
              <a:solidFill>
                <a:srgbClr val="000000"/>
              </a:solidFill>
              <a:effectLst/>
              <a:uFillTx/>
              <a:latin typeface="Arial"/>
            </a:endParaRPr>
          </a:p>
        </p:txBody>
      </p:sp>
      <p:sp>
        <p:nvSpPr>
          <p:cNvPr id="357" name="Shape 29"/>
          <p:cNvSpPr/>
          <p:nvPr/>
        </p:nvSpPr>
        <p:spPr>
          <a:xfrm>
            <a:off x="1965960" y="4709160"/>
            <a:ext cx="181044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358" name="Shape 30"/>
          <p:cNvSpPr/>
          <p:nvPr/>
        </p:nvSpPr>
        <p:spPr>
          <a:xfrm>
            <a:off x="1965960" y="5669280"/>
            <a:ext cx="108612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359" name="Shape 31"/>
          <p:cNvSpPr/>
          <p:nvPr/>
        </p:nvSpPr>
        <p:spPr>
          <a:xfrm>
            <a:off x="3052080" y="4709160"/>
            <a:ext cx="724320" cy="9601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60" name="Shape 32"/>
          <p:cNvSpPr/>
          <p:nvPr/>
        </p:nvSpPr>
        <p:spPr>
          <a:xfrm flipV="1">
            <a:off x="3052080" y="4709160"/>
            <a:ext cx="724320" cy="9601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61" name="Shape 33"/>
          <p:cNvSpPr/>
          <p:nvPr/>
        </p:nvSpPr>
        <p:spPr>
          <a:xfrm>
            <a:off x="3052080" y="5669280"/>
            <a:ext cx="72432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362" name="Shape 34"/>
          <p:cNvSpPr/>
          <p:nvPr/>
        </p:nvSpPr>
        <p:spPr>
          <a:xfrm>
            <a:off x="3776400" y="4709160"/>
            <a:ext cx="120708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363" name="Shape 35"/>
          <p:cNvSpPr/>
          <p:nvPr/>
        </p:nvSpPr>
        <p:spPr>
          <a:xfrm>
            <a:off x="3776400" y="5669280"/>
            <a:ext cx="26496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364" name="Shape 36"/>
          <p:cNvSpPr/>
          <p:nvPr/>
        </p:nvSpPr>
        <p:spPr>
          <a:xfrm>
            <a:off x="4718160" y="5669280"/>
            <a:ext cx="26532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365" name="Shape 37"/>
          <p:cNvSpPr/>
          <p:nvPr/>
        </p:nvSpPr>
        <p:spPr>
          <a:xfrm>
            <a:off x="1915560" y="465876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366" name="Shape 38"/>
          <p:cNvSpPr/>
          <p:nvPr/>
        </p:nvSpPr>
        <p:spPr>
          <a:xfrm>
            <a:off x="1915560" y="561888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367" name="Shape 39"/>
          <p:cNvSpPr/>
          <p:nvPr/>
        </p:nvSpPr>
        <p:spPr>
          <a:xfrm>
            <a:off x="4933080" y="465876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368" name="Shape 40"/>
          <p:cNvSpPr/>
          <p:nvPr/>
        </p:nvSpPr>
        <p:spPr>
          <a:xfrm>
            <a:off x="4933080" y="561888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369" name="Shape 41"/>
          <p:cNvSpPr/>
          <p:nvPr/>
        </p:nvSpPr>
        <p:spPr>
          <a:xfrm>
            <a:off x="3620880" y="4553640"/>
            <a:ext cx="310680" cy="310680"/>
          </a:xfrm>
          <a:prstGeom prst="ellipse">
            <a:avLst/>
          </a:prstGeom>
          <a:solidFill>
            <a:srgbClr val="132A4A"/>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70" name="Text 42"/>
          <p:cNvSpPr/>
          <p:nvPr/>
        </p:nvSpPr>
        <p:spPr>
          <a:xfrm>
            <a:off x="3620880" y="4553640"/>
            <a:ext cx="310680" cy="310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a:t>
            </a:r>
            <a:endParaRPr lang="en-US" sz="1100" b="0" u="none" strike="noStrike">
              <a:solidFill>
                <a:srgbClr val="000000"/>
              </a:solidFill>
              <a:effectLst/>
              <a:uFillTx/>
              <a:latin typeface="Arial"/>
            </a:endParaRPr>
          </a:p>
        </p:txBody>
      </p:sp>
      <p:sp>
        <p:nvSpPr>
          <p:cNvPr id="371" name="Shape 43"/>
          <p:cNvSpPr/>
          <p:nvPr/>
        </p:nvSpPr>
        <p:spPr>
          <a:xfrm>
            <a:off x="3620880" y="5513760"/>
            <a:ext cx="310680" cy="310680"/>
          </a:xfrm>
          <a:prstGeom prst="ellipse">
            <a:avLst/>
          </a:prstGeom>
          <a:solidFill>
            <a:srgbClr val="132A4A"/>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72" name="Text 44"/>
          <p:cNvSpPr/>
          <p:nvPr/>
        </p:nvSpPr>
        <p:spPr>
          <a:xfrm>
            <a:off x="3620880" y="5513760"/>
            <a:ext cx="310680" cy="310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a:t>
            </a:r>
            <a:endParaRPr lang="en-US" sz="1100" b="0" u="none" strike="noStrike">
              <a:solidFill>
                <a:srgbClr val="000000"/>
              </a:solidFill>
              <a:effectLst/>
              <a:uFillTx/>
              <a:latin typeface="Arial"/>
            </a:endParaRPr>
          </a:p>
        </p:txBody>
      </p:sp>
      <p:sp>
        <p:nvSpPr>
          <p:cNvPr id="373" name="Shape 45"/>
          <p:cNvSpPr/>
          <p:nvPr/>
        </p:nvSpPr>
        <p:spPr>
          <a:xfrm>
            <a:off x="4041720" y="5523120"/>
            <a:ext cx="676440" cy="292320"/>
          </a:xfrm>
          <a:prstGeom prst="roundRect">
            <a:avLst>
              <a:gd name="adj" fmla="val 15625"/>
            </a:avLst>
          </a:prstGeom>
          <a:solidFill>
            <a:srgbClr val="FFFFFF"/>
          </a:solidFill>
          <a:ln w="19050">
            <a:solidFill>
              <a:srgbClr val="D9832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74" name="Text 46"/>
          <p:cNvSpPr/>
          <p:nvPr/>
        </p:nvSpPr>
        <p:spPr>
          <a:xfrm>
            <a:off x="4041720" y="5523120"/>
            <a:ext cx="676440" cy="292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D98324"/>
                </a:solidFill>
                <a:effectLst/>
                <a:uFillTx/>
                <a:latin typeface="Consolas"/>
                <a:ea typeface="Consolas"/>
              </a:rPr>
              <a:t>Tw</a:t>
            </a:r>
            <a:endParaRPr lang="en-US" sz="1100" b="0" u="none" strike="noStrike">
              <a:solidFill>
                <a:srgbClr val="000000"/>
              </a:solidFill>
              <a:effectLst/>
              <a:uFillTx/>
              <a:latin typeface="Arial"/>
            </a:endParaRPr>
          </a:p>
        </p:txBody>
      </p:sp>
      <p:sp>
        <p:nvSpPr>
          <p:cNvPr id="375" name="Text 47"/>
          <p:cNvSpPr/>
          <p:nvPr/>
        </p:nvSpPr>
        <p:spPr>
          <a:xfrm>
            <a:off x="822960" y="4563000"/>
            <a:ext cx="1005480" cy="2923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trike="noStrike">
                <a:solidFill>
                  <a:srgbClr val="132A4A"/>
                </a:solidFill>
                <a:effectLst/>
                <a:uFillTx/>
                <a:latin typeface="Consolas"/>
                <a:ea typeface="Consolas"/>
              </a:rPr>
              <a:t>A</a:t>
            </a:r>
            <a:endParaRPr lang="en-US" sz="1100" b="0" u="none" strike="noStrike">
              <a:solidFill>
                <a:srgbClr val="000000"/>
              </a:solidFill>
              <a:effectLst/>
              <a:uFillTx/>
              <a:latin typeface="Arial"/>
            </a:endParaRPr>
          </a:p>
        </p:txBody>
      </p:sp>
      <p:sp>
        <p:nvSpPr>
          <p:cNvPr id="376" name="Text 48"/>
          <p:cNvSpPr/>
          <p:nvPr/>
        </p:nvSpPr>
        <p:spPr>
          <a:xfrm>
            <a:off x="822960" y="5523120"/>
            <a:ext cx="1005480" cy="29232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trike="noStrike">
                <a:solidFill>
                  <a:srgbClr val="132A4A"/>
                </a:solidFill>
                <a:effectLst/>
                <a:uFillTx/>
                <a:latin typeface="Consolas"/>
                <a:ea typeface="Consolas"/>
              </a:rPr>
              <a:t>B</a:t>
            </a:r>
            <a:endParaRPr lang="en-US" sz="1100" b="0" u="none" strike="noStrike">
              <a:solidFill>
                <a:srgbClr val="000000"/>
              </a:solidFill>
              <a:effectLst/>
              <a:uFillTx/>
              <a:latin typeface="Arial"/>
            </a:endParaRPr>
          </a:p>
        </p:txBody>
      </p:sp>
      <p:sp>
        <p:nvSpPr>
          <p:cNvPr id="377" name="Text 49"/>
          <p:cNvSpPr/>
          <p:nvPr/>
        </p:nvSpPr>
        <p:spPr>
          <a:xfrm>
            <a:off x="5120640" y="4563000"/>
            <a:ext cx="14626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132A4A"/>
                </a:solidFill>
                <a:effectLst/>
                <a:uFillTx/>
                <a:latin typeface="Consolas"/>
                <a:ea typeface="Consolas"/>
              </a:rPr>
              <a:t>A+B</a:t>
            </a:r>
            <a:endParaRPr lang="en-US" sz="1100" b="0" u="none" strike="noStrike">
              <a:solidFill>
                <a:srgbClr val="000000"/>
              </a:solidFill>
              <a:effectLst/>
              <a:uFillTx/>
              <a:latin typeface="Arial"/>
            </a:endParaRPr>
          </a:p>
        </p:txBody>
      </p:sp>
      <p:sp>
        <p:nvSpPr>
          <p:cNvPr id="378" name="Text 50"/>
          <p:cNvSpPr/>
          <p:nvPr/>
        </p:nvSpPr>
        <p:spPr>
          <a:xfrm>
            <a:off x="5120640" y="5523120"/>
            <a:ext cx="14626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132A4A"/>
                </a:solidFill>
                <a:effectLst/>
                <a:uFillTx/>
                <a:latin typeface="Consolas"/>
                <a:ea typeface="Consolas"/>
              </a:rPr>
              <a:t>(A-B)Tw</a:t>
            </a:r>
            <a:endParaRPr lang="en-US" sz="1100" b="0" u="none" strike="noStrike">
              <a:solidFill>
                <a:srgbClr val="000000"/>
              </a:solidFill>
              <a:effectLst/>
              <a:uFillTx/>
              <a:latin typeface="Arial"/>
            </a:endParaRPr>
          </a:p>
        </p:txBody>
      </p:sp>
      <p:sp>
        <p:nvSpPr>
          <p:cNvPr id="379" name="Text 51"/>
          <p:cNvSpPr/>
          <p:nvPr/>
        </p:nvSpPr>
        <p:spPr>
          <a:xfrm>
            <a:off x="685800" y="5961960"/>
            <a:ext cx="5394600" cy="4111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100" b="0" i="1" u="none" strike="noStrike">
                <a:solidFill>
                  <a:srgbClr val="5C6B7A"/>
                </a:solidFill>
                <a:effectLst/>
                <a:uFillTx/>
                <a:latin typeface="Calibri"/>
                <a:ea typeface="Calibri"/>
              </a:rPr>
              <a:t>Add and subtract first, then multiply only the difference.</a:t>
            </a:r>
            <a:endParaRPr lang="en-US" sz="1100" b="0" u="none" strike="noStrike">
              <a:solidFill>
                <a:srgbClr val="000000"/>
              </a:solidFill>
              <a:effectLst/>
              <a:uFillTx/>
              <a:latin typeface="Arial"/>
            </a:endParaRPr>
          </a:p>
        </p:txBody>
      </p:sp>
      <p:graphicFrame>
        <p:nvGraphicFramePr>
          <p:cNvPr id="380" name="Table 0"/>
          <p:cNvGraphicFramePr/>
          <p:nvPr/>
        </p:nvGraphicFramePr>
        <p:xfrm>
          <a:off x="6537960" y="1188720"/>
          <a:ext cx="5120280" cy="1755360"/>
        </p:xfrm>
        <a:graphic>
          <a:graphicData uri="http://schemas.openxmlformats.org/drawingml/2006/table">
            <a:tbl>
              <a:tblPr/>
              <a:tblGrid>
                <a:gridCol w="1463040"/>
                <a:gridCol w="1828800"/>
                <a:gridCol w="1828800"/>
              </a:tblGrid>
              <a:tr h="292320">
                <a:tc>
                  <a:txBody>
                    <a:bodyPr tIns="27360" bIns="27360" anchor="ctr">
                      <a:noAutofit/>
                    </a:bodyPr>
                    <a:p>
                      <a:endParaRPr lang="en-US" sz="1230" b="0" u="none" strike="noStrike">
                        <a:solidFill>
                          <a:schemeClr val="dk1"/>
                        </a:solidFill>
                        <a:effectLst/>
                        <a:uFillTx/>
                        <a:latin typeface="Calibri"/>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DIT</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DIF</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Split by</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input index parity</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output index parity</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Input order</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bit-reversed</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natural</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Output order</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natural</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bit-reversed</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Twiddle multiply</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before add/sub</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after add/sub</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Butterflies</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(N/2)log₂N</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(N/2)log₂N</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bl>
          </a:graphicData>
        </a:graphic>
      </p:graphicFrame>
      <p:sp>
        <p:nvSpPr>
          <p:cNvPr id="381" name="Shape 52"/>
          <p:cNvSpPr/>
          <p:nvPr/>
        </p:nvSpPr>
        <p:spPr>
          <a:xfrm>
            <a:off x="6537960" y="4069080"/>
            <a:ext cx="5120280" cy="2285640"/>
          </a:xfrm>
          <a:prstGeom prst="roundRect">
            <a:avLst>
              <a:gd name="adj" fmla="val 2400"/>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82" name="Text 53"/>
          <p:cNvSpPr/>
          <p:nvPr/>
        </p:nvSpPr>
        <p:spPr>
          <a:xfrm>
            <a:off x="6720840" y="4160520"/>
            <a:ext cx="4754520" cy="214848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The two diagrams are mirror images: same crossing wires, same one multiply, one add and one subtract, with the multiplier on opposite sides of the +/- nodes.</a:t>
            </a:r>
            <a:endParaRPr lang="en-US" sz="1300" b="0" u="none" strike="noStrike">
              <a:solidFill>
                <a:srgbClr val="000000"/>
              </a:solidFill>
              <a:effectLst/>
              <a:uFillTx/>
              <a:latin typeface="Arial"/>
            </a:endParaRPr>
          </a:p>
          <a:p>
            <a:pPr defTabSz="914400">
              <a:lnSpc>
                <a:spcPct val="118000"/>
              </a:lnSpc>
              <a:tabLst>
                <a:tab pos="0" algn="l"/>
              </a:tabLst>
            </a:pPr>
            <a:endParaRPr lang="en-US" sz="132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16202E"/>
                </a:solidFill>
                <a:effectLst/>
                <a:uFillTx/>
                <a:latin typeface="Calibri"/>
                <a:ea typeface="Calibri"/>
              </a:rPr>
              <a:t>The hardware blocks from Section 4 are identical for both, so one butterfly unit can serve either algorithm by moving where the multiplier sits. Section 3 solves the same numerical example with DIT, then with DIF.</a:t>
            </a:r>
            <a:endParaRPr lang="en-US" sz="1300" b="0" u="none" strike="noStrike">
              <a:solidFill>
                <a:srgbClr val="000000"/>
              </a:solidFill>
              <a:effectLst/>
              <a:uFillTx/>
              <a:latin typeface="Arial"/>
            </a:endParaRPr>
          </a:p>
        </p:txBody>
      </p:sp>
      <p:sp>
        <p:nvSpPr>
          <p:cNvPr id="383" name="Shape 54"/>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384" name="Shape 55"/>
          <p:cNvSpPr/>
          <p:nvPr/>
        </p:nvSpPr>
        <p:spPr>
          <a:xfrm>
            <a:off x="502920" y="6473880"/>
            <a:ext cx="371808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385" name="Text 56"/>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000000"/>
              </a:solidFill>
              <a:effectLst/>
              <a:uFillTx/>
              <a:latin typeface="Arial"/>
            </a:endParaRPr>
          </a:p>
        </p:txBody>
      </p:sp>
      <p:sp>
        <p:nvSpPr>
          <p:cNvPr id="386" name="Text 57"/>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DIT vs DIF     14</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387"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3A · FFT8 WITH DIT</a:t>
            </a:r>
            <a:endParaRPr lang="en-US" sz="1150" b="0" u="none" strike="noStrike">
              <a:solidFill>
                <a:srgbClr val="000000"/>
              </a:solidFill>
              <a:effectLst/>
              <a:uFillTx/>
              <a:latin typeface="Arial"/>
            </a:endParaRPr>
          </a:p>
        </p:txBody>
      </p:sp>
      <p:sp>
        <p:nvSpPr>
          <p:cNvPr id="388"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DIT: Decomposing N=8 Down to 2-Point Groups</a:t>
            </a:r>
            <a:endParaRPr lang="en-US" sz="2600" b="0" u="none" strike="noStrike">
              <a:solidFill>
                <a:srgbClr val="000000"/>
              </a:solidFill>
              <a:effectLst/>
              <a:uFillTx/>
              <a:latin typeface="Arial"/>
            </a:endParaRPr>
          </a:p>
        </p:txBody>
      </p:sp>
      <p:sp>
        <p:nvSpPr>
          <p:cNvPr id="389" name="Text 2"/>
          <p:cNvSpPr/>
          <p:nvPr/>
        </p:nvSpPr>
        <p:spPr>
          <a:xfrm>
            <a:off x="502920" y="1188720"/>
            <a:ext cx="11155320" cy="45684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Read this tree from the bottom up. Computation starts at the leaves and combines upward: 1-point results into 2-point, 2-point into 4-point, and finally the two 4-point results into the full 8-point DFT.</a:t>
            </a:r>
            <a:endParaRPr lang="en-US" sz="1300" b="0" u="none" strike="noStrike">
              <a:solidFill>
                <a:srgbClr val="000000"/>
              </a:solidFill>
              <a:effectLst/>
              <a:uFillTx/>
              <a:latin typeface="Arial"/>
            </a:endParaRPr>
          </a:p>
        </p:txBody>
      </p:sp>
      <p:sp>
        <p:nvSpPr>
          <p:cNvPr id="390" name="Shape 3"/>
          <p:cNvSpPr/>
          <p:nvPr/>
        </p:nvSpPr>
        <p:spPr>
          <a:xfrm>
            <a:off x="4709160" y="1920240"/>
            <a:ext cx="2742840" cy="456840"/>
          </a:xfrm>
          <a:prstGeom prst="roundRect">
            <a:avLst>
              <a:gd name="adj" fmla="val 12000"/>
            </a:avLst>
          </a:prstGeom>
          <a:solidFill>
            <a:srgbClr val="132A4A"/>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91" name="Text 4"/>
          <p:cNvSpPr/>
          <p:nvPr/>
        </p:nvSpPr>
        <p:spPr>
          <a:xfrm>
            <a:off x="4709160" y="1920240"/>
            <a:ext cx="2742840" cy="4568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x[0..7]  (8-point)</a:t>
            </a:r>
            <a:endParaRPr lang="en-US" sz="1300" b="0" u="none" strike="noStrike">
              <a:solidFill>
                <a:srgbClr val="000000"/>
              </a:solidFill>
              <a:effectLst/>
              <a:uFillTx/>
              <a:latin typeface="Arial"/>
            </a:endParaRPr>
          </a:p>
        </p:txBody>
      </p:sp>
      <p:sp>
        <p:nvSpPr>
          <p:cNvPr id="392" name="Shape 5"/>
          <p:cNvSpPr/>
          <p:nvPr/>
        </p:nvSpPr>
        <p:spPr>
          <a:xfrm>
            <a:off x="2148840" y="2606040"/>
            <a:ext cx="3108600" cy="456840"/>
          </a:xfrm>
          <a:prstGeom prst="roundRect">
            <a:avLst>
              <a:gd name="adj" fmla="val 12000"/>
            </a:avLst>
          </a:prstGeom>
          <a:solidFill>
            <a:srgbClr val="E4F3F2"/>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93" name="Text 6"/>
          <p:cNvSpPr/>
          <p:nvPr/>
        </p:nvSpPr>
        <p:spPr>
          <a:xfrm>
            <a:off x="2148840" y="2606040"/>
            <a:ext cx="3108600" cy="4568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x[0],x[2],x[4],x[6]  (4-pt, E)</a:t>
            </a:r>
            <a:endParaRPr lang="en-US" sz="1100" b="0" u="none" strike="noStrike">
              <a:solidFill>
                <a:srgbClr val="000000"/>
              </a:solidFill>
              <a:effectLst/>
              <a:uFillTx/>
              <a:latin typeface="Arial"/>
            </a:endParaRPr>
          </a:p>
        </p:txBody>
      </p:sp>
      <p:sp>
        <p:nvSpPr>
          <p:cNvPr id="394" name="Shape 7"/>
          <p:cNvSpPr/>
          <p:nvPr/>
        </p:nvSpPr>
        <p:spPr>
          <a:xfrm>
            <a:off x="6903720" y="2606040"/>
            <a:ext cx="3108600" cy="456840"/>
          </a:xfrm>
          <a:prstGeom prst="roundRect">
            <a:avLst>
              <a:gd name="adj" fmla="val 12000"/>
            </a:avLst>
          </a:prstGeom>
          <a:solidFill>
            <a:srgbClr val="FBF0E2"/>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95" name="Text 8"/>
          <p:cNvSpPr/>
          <p:nvPr/>
        </p:nvSpPr>
        <p:spPr>
          <a:xfrm>
            <a:off x="6903720" y="2606040"/>
            <a:ext cx="3108600" cy="4568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x[1],x[3],x[5],x[7]  (4-pt, O)</a:t>
            </a:r>
            <a:endParaRPr lang="en-US" sz="1100" b="0" u="none" strike="noStrike">
              <a:solidFill>
                <a:srgbClr val="000000"/>
              </a:solidFill>
              <a:effectLst/>
              <a:uFillTx/>
              <a:latin typeface="Arial"/>
            </a:endParaRPr>
          </a:p>
        </p:txBody>
      </p:sp>
      <p:sp>
        <p:nvSpPr>
          <p:cNvPr id="396" name="Shape 9"/>
          <p:cNvSpPr/>
          <p:nvPr/>
        </p:nvSpPr>
        <p:spPr>
          <a:xfrm>
            <a:off x="2011680" y="3291840"/>
            <a:ext cx="1554120" cy="456840"/>
          </a:xfrm>
          <a:prstGeom prst="roundRect">
            <a:avLst>
              <a:gd name="adj" fmla="val 12000"/>
            </a:avLst>
          </a:prstGeom>
          <a:solidFill>
            <a:srgbClr val="9FD4D1"/>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97" name="Text 10"/>
          <p:cNvSpPr/>
          <p:nvPr/>
        </p:nvSpPr>
        <p:spPr>
          <a:xfrm>
            <a:off x="2011680" y="3291840"/>
            <a:ext cx="1554120" cy="4568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x[0],x[4]  (2-pt)</a:t>
            </a:r>
            <a:endParaRPr lang="en-US" sz="1100" b="0" u="none" strike="noStrike">
              <a:solidFill>
                <a:srgbClr val="000000"/>
              </a:solidFill>
              <a:effectLst/>
              <a:uFillTx/>
              <a:latin typeface="Arial"/>
            </a:endParaRPr>
          </a:p>
        </p:txBody>
      </p:sp>
      <p:sp>
        <p:nvSpPr>
          <p:cNvPr id="398" name="Shape 11"/>
          <p:cNvSpPr/>
          <p:nvPr/>
        </p:nvSpPr>
        <p:spPr>
          <a:xfrm>
            <a:off x="3840480" y="3291840"/>
            <a:ext cx="1554120" cy="456840"/>
          </a:xfrm>
          <a:prstGeom prst="roundRect">
            <a:avLst>
              <a:gd name="adj" fmla="val 12000"/>
            </a:avLst>
          </a:prstGeom>
          <a:solidFill>
            <a:srgbClr val="9FD4D1"/>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399" name="Text 12"/>
          <p:cNvSpPr/>
          <p:nvPr/>
        </p:nvSpPr>
        <p:spPr>
          <a:xfrm>
            <a:off x="3840480" y="3291840"/>
            <a:ext cx="1554120" cy="4568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x[2],x[6]  (2-pt)</a:t>
            </a:r>
            <a:endParaRPr lang="en-US" sz="1100" b="0" u="none" strike="noStrike">
              <a:solidFill>
                <a:srgbClr val="000000"/>
              </a:solidFill>
              <a:effectLst/>
              <a:uFillTx/>
              <a:latin typeface="Arial"/>
            </a:endParaRPr>
          </a:p>
        </p:txBody>
      </p:sp>
      <p:sp>
        <p:nvSpPr>
          <p:cNvPr id="400" name="Shape 13"/>
          <p:cNvSpPr/>
          <p:nvPr/>
        </p:nvSpPr>
        <p:spPr>
          <a:xfrm>
            <a:off x="6766560" y="3291840"/>
            <a:ext cx="1554120" cy="456840"/>
          </a:xfrm>
          <a:prstGeom prst="roundRect">
            <a:avLst>
              <a:gd name="adj" fmla="val 12000"/>
            </a:avLst>
          </a:prstGeom>
          <a:solidFill>
            <a:srgbClr val="E7CDA0"/>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01" name="Text 14"/>
          <p:cNvSpPr/>
          <p:nvPr/>
        </p:nvSpPr>
        <p:spPr>
          <a:xfrm>
            <a:off x="6766560" y="3291840"/>
            <a:ext cx="1554120" cy="4568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x[1],x[5]  (2-pt)</a:t>
            </a:r>
            <a:endParaRPr lang="en-US" sz="1100" b="0" u="none" strike="noStrike">
              <a:solidFill>
                <a:srgbClr val="000000"/>
              </a:solidFill>
              <a:effectLst/>
              <a:uFillTx/>
              <a:latin typeface="Arial"/>
            </a:endParaRPr>
          </a:p>
        </p:txBody>
      </p:sp>
      <p:sp>
        <p:nvSpPr>
          <p:cNvPr id="402" name="Shape 15"/>
          <p:cNvSpPr/>
          <p:nvPr/>
        </p:nvSpPr>
        <p:spPr>
          <a:xfrm>
            <a:off x="8595360" y="3291840"/>
            <a:ext cx="1554120" cy="456840"/>
          </a:xfrm>
          <a:prstGeom prst="roundRect">
            <a:avLst>
              <a:gd name="adj" fmla="val 12000"/>
            </a:avLst>
          </a:prstGeom>
          <a:solidFill>
            <a:srgbClr val="E7CDA0"/>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03" name="Text 16"/>
          <p:cNvSpPr/>
          <p:nvPr/>
        </p:nvSpPr>
        <p:spPr>
          <a:xfrm>
            <a:off x="8595360" y="3291840"/>
            <a:ext cx="1554120" cy="4568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x[3],x[7]  (2-pt)</a:t>
            </a:r>
            <a:endParaRPr lang="en-US" sz="1100" b="0" u="none" strike="noStrike">
              <a:solidFill>
                <a:srgbClr val="000000"/>
              </a:solidFill>
              <a:effectLst/>
              <a:uFillTx/>
              <a:latin typeface="Arial"/>
            </a:endParaRPr>
          </a:p>
        </p:txBody>
      </p:sp>
      <p:sp>
        <p:nvSpPr>
          <p:cNvPr id="404" name="Shape 17"/>
          <p:cNvSpPr/>
          <p:nvPr/>
        </p:nvSpPr>
        <p:spPr>
          <a:xfrm>
            <a:off x="2062080" y="3977640"/>
            <a:ext cx="685440" cy="456840"/>
          </a:xfrm>
          <a:prstGeom prst="roundRect">
            <a:avLst>
              <a:gd name="adj" fmla="val 12000"/>
            </a:avLst>
          </a:prstGeom>
          <a:solidFill>
            <a:srgbClr val="FFFFFF"/>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05" name="Text 18"/>
          <p:cNvSpPr/>
          <p:nvPr/>
        </p:nvSpPr>
        <p:spPr>
          <a:xfrm>
            <a:off x="2062080" y="3977640"/>
            <a:ext cx="685440" cy="4568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6202E"/>
                </a:solidFill>
                <a:effectLst/>
                <a:uFillTx/>
                <a:latin typeface="Calibri"/>
                <a:ea typeface="Calibri"/>
              </a:rPr>
              <a:t>x[0]</a:t>
            </a:r>
            <a:endParaRPr lang="en-US" sz="1100" b="0" u="none" strike="noStrike">
              <a:solidFill>
                <a:srgbClr val="000000"/>
              </a:solidFill>
              <a:effectLst/>
              <a:uFillTx/>
              <a:latin typeface="Arial"/>
            </a:endParaRPr>
          </a:p>
        </p:txBody>
      </p:sp>
      <p:sp>
        <p:nvSpPr>
          <p:cNvPr id="406" name="Shape 19"/>
          <p:cNvSpPr/>
          <p:nvPr/>
        </p:nvSpPr>
        <p:spPr>
          <a:xfrm>
            <a:off x="2829960" y="3977640"/>
            <a:ext cx="685440" cy="456840"/>
          </a:xfrm>
          <a:prstGeom prst="roundRect">
            <a:avLst>
              <a:gd name="adj" fmla="val 12000"/>
            </a:avLst>
          </a:prstGeom>
          <a:solidFill>
            <a:srgbClr val="FFFFFF"/>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07" name="Text 20"/>
          <p:cNvSpPr/>
          <p:nvPr/>
        </p:nvSpPr>
        <p:spPr>
          <a:xfrm>
            <a:off x="2829960" y="3977640"/>
            <a:ext cx="685440" cy="4568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6202E"/>
                </a:solidFill>
                <a:effectLst/>
                <a:uFillTx/>
                <a:latin typeface="Calibri"/>
                <a:ea typeface="Calibri"/>
              </a:rPr>
              <a:t>x[4]</a:t>
            </a:r>
            <a:endParaRPr lang="en-US" sz="1100" b="0" u="none" strike="noStrike">
              <a:solidFill>
                <a:srgbClr val="000000"/>
              </a:solidFill>
              <a:effectLst/>
              <a:uFillTx/>
              <a:latin typeface="Arial"/>
            </a:endParaRPr>
          </a:p>
        </p:txBody>
      </p:sp>
      <p:sp>
        <p:nvSpPr>
          <p:cNvPr id="408" name="Shape 21"/>
          <p:cNvSpPr/>
          <p:nvPr/>
        </p:nvSpPr>
        <p:spPr>
          <a:xfrm>
            <a:off x="3890880" y="3977640"/>
            <a:ext cx="685440" cy="456840"/>
          </a:xfrm>
          <a:prstGeom prst="roundRect">
            <a:avLst>
              <a:gd name="adj" fmla="val 12000"/>
            </a:avLst>
          </a:prstGeom>
          <a:solidFill>
            <a:srgbClr val="FFFFFF"/>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09" name="Text 22"/>
          <p:cNvSpPr/>
          <p:nvPr/>
        </p:nvSpPr>
        <p:spPr>
          <a:xfrm>
            <a:off x="3890880" y="3977640"/>
            <a:ext cx="685440" cy="4568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6202E"/>
                </a:solidFill>
                <a:effectLst/>
                <a:uFillTx/>
                <a:latin typeface="Calibri"/>
                <a:ea typeface="Calibri"/>
              </a:rPr>
              <a:t>x[2]</a:t>
            </a:r>
            <a:endParaRPr lang="en-US" sz="1100" b="0" u="none" strike="noStrike">
              <a:solidFill>
                <a:srgbClr val="000000"/>
              </a:solidFill>
              <a:effectLst/>
              <a:uFillTx/>
              <a:latin typeface="Arial"/>
            </a:endParaRPr>
          </a:p>
        </p:txBody>
      </p:sp>
      <p:sp>
        <p:nvSpPr>
          <p:cNvPr id="410" name="Shape 23"/>
          <p:cNvSpPr/>
          <p:nvPr/>
        </p:nvSpPr>
        <p:spPr>
          <a:xfrm>
            <a:off x="4658760" y="3977640"/>
            <a:ext cx="685440" cy="456840"/>
          </a:xfrm>
          <a:prstGeom prst="roundRect">
            <a:avLst>
              <a:gd name="adj" fmla="val 12000"/>
            </a:avLst>
          </a:prstGeom>
          <a:solidFill>
            <a:srgbClr val="FFFFFF"/>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11" name="Text 24"/>
          <p:cNvSpPr/>
          <p:nvPr/>
        </p:nvSpPr>
        <p:spPr>
          <a:xfrm>
            <a:off x="4658760" y="3977640"/>
            <a:ext cx="685440" cy="4568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6202E"/>
                </a:solidFill>
                <a:effectLst/>
                <a:uFillTx/>
                <a:latin typeface="Calibri"/>
                <a:ea typeface="Calibri"/>
              </a:rPr>
              <a:t>x[6]</a:t>
            </a:r>
            <a:endParaRPr lang="en-US" sz="1100" b="0" u="none" strike="noStrike">
              <a:solidFill>
                <a:srgbClr val="000000"/>
              </a:solidFill>
              <a:effectLst/>
              <a:uFillTx/>
              <a:latin typeface="Arial"/>
            </a:endParaRPr>
          </a:p>
        </p:txBody>
      </p:sp>
      <p:sp>
        <p:nvSpPr>
          <p:cNvPr id="412" name="Shape 25"/>
          <p:cNvSpPr/>
          <p:nvPr/>
        </p:nvSpPr>
        <p:spPr>
          <a:xfrm>
            <a:off x="6816960" y="3977640"/>
            <a:ext cx="685440" cy="456840"/>
          </a:xfrm>
          <a:prstGeom prst="roundRect">
            <a:avLst>
              <a:gd name="adj" fmla="val 12000"/>
            </a:avLst>
          </a:prstGeom>
          <a:solidFill>
            <a:srgbClr val="FFFFFF"/>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13" name="Text 26"/>
          <p:cNvSpPr/>
          <p:nvPr/>
        </p:nvSpPr>
        <p:spPr>
          <a:xfrm>
            <a:off x="6816960" y="3977640"/>
            <a:ext cx="685440" cy="4568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6202E"/>
                </a:solidFill>
                <a:effectLst/>
                <a:uFillTx/>
                <a:latin typeface="Calibri"/>
                <a:ea typeface="Calibri"/>
              </a:rPr>
              <a:t>x[1]</a:t>
            </a:r>
            <a:endParaRPr lang="en-US" sz="1100" b="0" u="none" strike="noStrike">
              <a:solidFill>
                <a:srgbClr val="000000"/>
              </a:solidFill>
              <a:effectLst/>
              <a:uFillTx/>
              <a:latin typeface="Arial"/>
            </a:endParaRPr>
          </a:p>
        </p:txBody>
      </p:sp>
      <p:sp>
        <p:nvSpPr>
          <p:cNvPr id="414" name="Shape 27"/>
          <p:cNvSpPr/>
          <p:nvPr/>
        </p:nvSpPr>
        <p:spPr>
          <a:xfrm>
            <a:off x="7584840" y="3977640"/>
            <a:ext cx="685440" cy="456840"/>
          </a:xfrm>
          <a:prstGeom prst="roundRect">
            <a:avLst>
              <a:gd name="adj" fmla="val 12000"/>
            </a:avLst>
          </a:prstGeom>
          <a:solidFill>
            <a:srgbClr val="FFFFFF"/>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15" name="Text 28"/>
          <p:cNvSpPr/>
          <p:nvPr/>
        </p:nvSpPr>
        <p:spPr>
          <a:xfrm>
            <a:off x="7584840" y="3977640"/>
            <a:ext cx="685440" cy="4568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6202E"/>
                </a:solidFill>
                <a:effectLst/>
                <a:uFillTx/>
                <a:latin typeface="Calibri"/>
                <a:ea typeface="Calibri"/>
              </a:rPr>
              <a:t>x[5]</a:t>
            </a:r>
            <a:endParaRPr lang="en-US" sz="1100" b="0" u="none" strike="noStrike">
              <a:solidFill>
                <a:srgbClr val="000000"/>
              </a:solidFill>
              <a:effectLst/>
              <a:uFillTx/>
              <a:latin typeface="Arial"/>
            </a:endParaRPr>
          </a:p>
        </p:txBody>
      </p:sp>
      <p:sp>
        <p:nvSpPr>
          <p:cNvPr id="416" name="Shape 29"/>
          <p:cNvSpPr/>
          <p:nvPr/>
        </p:nvSpPr>
        <p:spPr>
          <a:xfrm>
            <a:off x="8645760" y="3977640"/>
            <a:ext cx="685440" cy="456840"/>
          </a:xfrm>
          <a:prstGeom prst="roundRect">
            <a:avLst>
              <a:gd name="adj" fmla="val 12000"/>
            </a:avLst>
          </a:prstGeom>
          <a:solidFill>
            <a:srgbClr val="FFFFFF"/>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17" name="Text 30"/>
          <p:cNvSpPr/>
          <p:nvPr/>
        </p:nvSpPr>
        <p:spPr>
          <a:xfrm>
            <a:off x="8645760" y="3977640"/>
            <a:ext cx="685440" cy="4568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6202E"/>
                </a:solidFill>
                <a:effectLst/>
                <a:uFillTx/>
                <a:latin typeface="Calibri"/>
                <a:ea typeface="Calibri"/>
              </a:rPr>
              <a:t>x[3]</a:t>
            </a:r>
            <a:endParaRPr lang="en-US" sz="1100" b="0" u="none" strike="noStrike">
              <a:solidFill>
                <a:srgbClr val="000000"/>
              </a:solidFill>
              <a:effectLst/>
              <a:uFillTx/>
              <a:latin typeface="Arial"/>
            </a:endParaRPr>
          </a:p>
        </p:txBody>
      </p:sp>
      <p:sp>
        <p:nvSpPr>
          <p:cNvPr id="418" name="Shape 31"/>
          <p:cNvSpPr/>
          <p:nvPr/>
        </p:nvSpPr>
        <p:spPr>
          <a:xfrm>
            <a:off x="9413640" y="3977640"/>
            <a:ext cx="685440" cy="456840"/>
          </a:xfrm>
          <a:prstGeom prst="roundRect">
            <a:avLst>
              <a:gd name="adj" fmla="val 12000"/>
            </a:avLst>
          </a:prstGeom>
          <a:solidFill>
            <a:srgbClr val="FFFFFF"/>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19" name="Text 32"/>
          <p:cNvSpPr/>
          <p:nvPr/>
        </p:nvSpPr>
        <p:spPr>
          <a:xfrm>
            <a:off x="9413640" y="3977640"/>
            <a:ext cx="685440" cy="4568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6202E"/>
                </a:solidFill>
                <a:effectLst/>
                <a:uFillTx/>
                <a:latin typeface="Calibri"/>
                <a:ea typeface="Calibri"/>
              </a:rPr>
              <a:t>x[7]</a:t>
            </a:r>
            <a:endParaRPr lang="en-US" sz="1100" b="0" u="none" strike="noStrike">
              <a:solidFill>
                <a:srgbClr val="000000"/>
              </a:solidFill>
              <a:effectLst/>
              <a:uFillTx/>
              <a:latin typeface="Arial"/>
            </a:endParaRPr>
          </a:p>
        </p:txBody>
      </p:sp>
      <p:sp>
        <p:nvSpPr>
          <p:cNvPr id="420" name="Shape 33"/>
          <p:cNvSpPr/>
          <p:nvPr/>
        </p:nvSpPr>
        <p:spPr>
          <a:xfrm>
            <a:off x="6080760" y="2377440"/>
            <a:ext cx="360" cy="1141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21" name="Shape 34"/>
          <p:cNvSpPr/>
          <p:nvPr/>
        </p:nvSpPr>
        <p:spPr>
          <a:xfrm>
            <a:off x="3703320" y="2491560"/>
            <a:ext cx="237744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422" name="Shape 35"/>
          <p:cNvSpPr/>
          <p:nvPr/>
        </p:nvSpPr>
        <p:spPr>
          <a:xfrm>
            <a:off x="3703320" y="2491560"/>
            <a:ext cx="360" cy="1144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23" name="Shape 36"/>
          <p:cNvSpPr/>
          <p:nvPr/>
        </p:nvSpPr>
        <p:spPr>
          <a:xfrm>
            <a:off x="6080760" y="2377440"/>
            <a:ext cx="360" cy="1141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24" name="Shape 37"/>
          <p:cNvSpPr/>
          <p:nvPr/>
        </p:nvSpPr>
        <p:spPr>
          <a:xfrm>
            <a:off x="6080760" y="2491560"/>
            <a:ext cx="237744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425" name="Shape 38"/>
          <p:cNvSpPr/>
          <p:nvPr/>
        </p:nvSpPr>
        <p:spPr>
          <a:xfrm>
            <a:off x="8458200" y="2491560"/>
            <a:ext cx="360" cy="1144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26" name="Shape 39"/>
          <p:cNvSpPr/>
          <p:nvPr/>
        </p:nvSpPr>
        <p:spPr>
          <a:xfrm>
            <a:off x="3703320" y="3063240"/>
            <a:ext cx="360" cy="1141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27" name="Shape 40"/>
          <p:cNvSpPr/>
          <p:nvPr/>
        </p:nvSpPr>
        <p:spPr>
          <a:xfrm>
            <a:off x="2788920" y="3177360"/>
            <a:ext cx="91440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428" name="Shape 41"/>
          <p:cNvSpPr/>
          <p:nvPr/>
        </p:nvSpPr>
        <p:spPr>
          <a:xfrm>
            <a:off x="2788920" y="3177360"/>
            <a:ext cx="360" cy="1144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29" name="Shape 42"/>
          <p:cNvSpPr/>
          <p:nvPr/>
        </p:nvSpPr>
        <p:spPr>
          <a:xfrm>
            <a:off x="3703320" y="3063240"/>
            <a:ext cx="360" cy="1141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30" name="Shape 43"/>
          <p:cNvSpPr/>
          <p:nvPr/>
        </p:nvSpPr>
        <p:spPr>
          <a:xfrm>
            <a:off x="3703320" y="3177360"/>
            <a:ext cx="91440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431" name="Shape 44"/>
          <p:cNvSpPr/>
          <p:nvPr/>
        </p:nvSpPr>
        <p:spPr>
          <a:xfrm>
            <a:off x="4617720" y="3177360"/>
            <a:ext cx="360" cy="1144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32" name="Shape 45"/>
          <p:cNvSpPr/>
          <p:nvPr/>
        </p:nvSpPr>
        <p:spPr>
          <a:xfrm>
            <a:off x="8458200" y="3063240"/>
            <a:ext cx="360" cy="1141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33" name="Shape 46"/>
          <p:cNvSpPr/>
          <p:nvPr/>
        </p:nvSpPr>
        <p:spPr>
          <a:xfrm>
            <a:off x="7543800" y="3177360"/>
            <a:ext cx="91440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434" name="Shape 47"/>
          <p:cNvSpPr/>
          <p:nvPr/>
        </p:nvSpPr>
        <p:spPr>
          <a:xfrm>
            <a:off x="7543800" y="3177360"/>
            <a:ext cx="360" cy="1144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35" name="Shape 48"/>
          <p:cNvSpPr/>
          <p:nvPr/>
        </p:nvSpPr>
        <p:spPr>
          <a:xfrm>
            <a:off x="8458200" y="3063240"/>
            <a:ext cx="360" cy="1141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36" name="Shape 49"/>
          <p:cNvSpPr/>
          <p:nvPr/>
        </p:nvSpPr>
        <p:spPr>
          <a:xfrm>
            <a:off x="8458200" y="3177360"/>
            <a:ext cx="91440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437" name="Shape 50"/>
          <p:cNvSpPr/>
          <p:nvPr/>
        </p:nvSpPr>
        <p:spPr>
          <a:xfrm>
            <a:off x="9372600" y="3177360"/>
            <a:ext cx="360" cy="1144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38" name="Shape 51"/>
          <p:cNvSpPr/>
          <p:nvPr/>
        </p:nvSpPr>
        <p:spPr>
          <a:xfrm>
            <a:off x="2788920" y="3749040"/>
            <a:ext cx="360" cy="1141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39" name="Shape 52"/>
          <p:cNvSpPr/>
          <p:nvPr/>
        </p:nvSpPr>
        <p:spPr>
          <a:xfrm>
            <a:off x="2404800" y="3863160"/>
            <a:ext cx="38412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440" name="Shape 53"/>
          <p:cNvSpPr/>
          <p:nvPr/>
        </p:nvSpPr>
        <p:spPr>
          <a:xfrm>
            <a:off x="2404800" y="3863160"/>
            <a:ext cx="360" cy="1144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41" name="Shape 54"/>
          <p:cNvSpPr/>
          <p:nvPr/>
        </p:nvSpPr>
        <p:spPr>
          <a:xfrm>
            <a:off x="2788920" y="3749040"/>
            <a:ext cx="360" cy="1141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42" name="Shape 55"/>
          <p:cNvSpPr/>
          <p:nvPr/>
        </p:nvSpPr>
        <p:spPr>
          <a:xfrm>
            <a:off x="2788920" y="3863160"/>
            <a:ext cx="38376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443" name="Shape 56"/>
          <p:cNvSpPr/>
          <p:nvPr/>
        </p:nvSpPr>
        <p:spPr>
          <a:xfrm>
            <a:off x="3172680" y="3863160"/>
            <a:ext cx="360" cy="1144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44" name="Shape 57"/>
          <p:cNvSpPr/>
          <p:nvPr/>
        </p:nvSpPr>
        <p:spPr>
          <a:xfrm>
            <a:off x="4617720" y="3749040"/>
            <a:ext cx="360" cy="1141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45" name="Shape 58"/>
          <p:cNvSpPr/>
          <p:nvPr/>
        </p:nvSpPr>
        <p:spPr>
          <a:xfrm>
            <a:off x="4233600" y="3863160"/>
            <a:ext cx="38412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446" name="Shape 59"/>
          <p:cNvSpPr/>
          <p:nvPr/>
        </p:nvSpPr>
        <p:spPr>
          <a:xfrm>
            <a:off x="4233600" y="3863160"/>
            <a:ext cx="360" cy="1144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47" name="Shape 60"/>
          <p:cNvSpPr/>
          <p:nvPr/>
        </p:nvSpPr>
        <p:spPr>
          <a:xfrm>
            <a:off x="4617720" y="3749040"/>
            <a:ext cx="360" cy="1141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48" name="Shape 61"/>
          <p:cNvSpPr/>
          <p:nvPr/>
        </p:nvSpPr>
        <p:spPr>
          <a:xfrm>
            <a:off x="4617720" y="3863160"/>
            <a:ext cx="38376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449" name="Shape 62"/>
          <p:cNvSpPr/>
          <p:nvPr/>
        </p:nvSpPr>
        <p:spPr>
          <a:xfrm>
            <a:off x="5001480" y="3863160"/>
            <a:ext cx="360" cy="1144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50" name="Shape 63"/>
          <p:cNvSpPr/>
          <p:nvPr/>
        </p:nvSpPr>
        <p:spPr>
          <a:xfrm>
            <a:off x="7543800" y="3749040"/>
            <a:ext cx="360" cy="1141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51" name="Shape 64"/>
          <p:cNvSpPr/>
          <p:nvPr/>
        </p:nvSpPr>
        <p:spPr>
          <a:xfrm>
            <a:off x="7159680" y="3863160"/>
            <a:ext cx="38412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452" name="Shape 65"/>
          <p:cNvSpPr/>
          <p:nvPr/>
        </p:nvSpPr>
        <p:spPr>
          <a:xfrm>
            <a:off x="7159680" y="3863160"/>
            <a:ext cx="360" cy="1144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53" name="Shape 66"/>
          <p:cNvSpPr/>
          <p:nvPr/>
        </p:nvSpPr>
        <p:spPr>
          <a:xfrm>
            <a:off x="7543800" y="3749040"/>
            <a:ext cx="360" cy="1141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54" name="Shape 67"/>
          <p:cNvSpPr/>
          <p:nvPr/>
        </p:nvSpPr>
        <p:spPr>
          <a:xfrm>
            <a:off x="7543800" y="3863160"/>
            <a:ext cx="38376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455" name="Shape 68"/>
          <p:cNvSpPr/>
          <p:nvPr/>
        </p:nvSpPr>
        <p:spPr>
          <a:xfrm>
            <a:off x="7927560" y="3863160"/>
            <a:ext cx="360" cy="1144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56" name="Shape 69"/>
          <p:cNvSpPr/>
          <p:nvPr/>
        </p:nvSpPr>
        <p:spPr>
          <a:xfrm>
            <a:off x="9372600" y="3749040"/>
            <a:ext cx="360" cy="1141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57" name="Shape 70"/>
          <p:cNvSpPr/>
          <p:nvPr/>
        </p:nvSpPr>
        <p:spPr>
          <a:xfrm>
            <a:off x="8988480" y="3863160"/>
            <a:ext cx="38412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458" name="Shape 71"/>
          <p:cNvSpPr/>
          <p:nvPr/>
        </p:nvSpPr>
        <p:spPr>
          <a:xfrm>
            <a:off x="8988480" y="3863160"/>
            <a:ext cx="360" cy="1144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59" name="Shape 72"/>
          <p:cNvSpPr/>
          <p:nvPr/>
        </p:nvSpPr>
        <p:spPr>
          <a:xfrm>
            <a:off x="9372600" y="3749040"/>
            <a:ext cx="360" cy="1141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60" name="Shape 73"/>
          <p:cNvSpPr/>
          <p:nvPr/>
        </p:nvSpPr>
        <p:spPr>
          <a:xfrm>
            <a:off x="9372600" y="3863160"/>
            <a:ext cx="383760" cy="360"/>
          </a:xfrm>
          <a:prstGeom prst="line">
            <a:avLst/>
          </a:prstGeom>
          <a:ln w="19050">
            <a:solidFill>
              <a:srgbClr val="9FB0C8"/>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461" name="Shape 74"/>
          <p:cNvSpPr/>
          <p:nvPr/>
        </p:nvSpPr>
        <p:spPr>
          <a:xfrm>
            <a:off x="9756360" y="3863160"/>
            <a:ext cx="360" cy="1144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62" name="Shape 75"/>
          <p:cNvSpPr/>
          <p:nvPr/>
        </p:nvSpPr>
        <p:spPr>
          <a:xfrm>
            <a:off x="502920" y="4892040"/>
            <a:ext cx="11155320" cy="1279800"/>
          </a:xfrm>
          <a:prstGeom prst="roundRect">
            <a:avLst>
              <a:gd name="adj" fmla="val 4286"/>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63" name="Text 76"/>
          <p:cNvSpPr/>
          <p:nvPr/>
        </p:nvSpPr>
        <p:spPr>
          <a:xfrm>
            <a:off x="731520" y="4983480"/>
            <a:ext cx="10698120" cy="1096920"/>
          </a:xfrm>
          <a:prstGeom prst="rect">
            <a:avLst/>
          </a:prstGeom>
          <a:noFill/>
          <a:ln w="0">
            <a:noFill/>
          </a:ln>
        </p:spPr>
        <p:style>
          <a:lnRef idx="0"/>
          <a:fillRef idx="0"/>
          <a:effectRef idx="0"/>
          <a:fontRef idx="minor"/>
        </p:style>
        <p:txBody>
          <a:bodyPr lIns="90000" tIns="45000" rIns="90000" bIns="45000" anchor="ctr">
            <a:noAutofit/>
          </a:bodyPr>
          <a:p>
            <a:pPr defTabSz="914400">
              <a:lnSpc>
                <a:spcPct val="118000"/>
              </a:lnSpc>
              <a:tabLst>
                <a:tab pos="0" algn="l"/>
              </a:tabLst>
            </a:pPr>
            <a:r>
              <a:rPr lang="en-US" sz="1300" b="0" u="none" strike="noStrike">
                <a:solidFill>
                  <a:srgbClr val="16202E"/>
                </a:solidFill>
                <a:effectLst/>
                <a:uFillTx/>
                <a:latin typeface="Calibri"/>
                <a:ea typeface="Calibri"/>
              </a:rPr>
              <a:t>Each 2-point group is a trivial 2-point DFT: DFT2{a,b} = [a+b, a-b], no twiddle multiplication needed (W_2^0 = 1). This bottom-up order, applied stage by stage, is exactly the iterative FFT structure of the next slides.</a:t>
            </a:r>
            <a:endParaRPr lang="en-US" sz="1300" b="0" u="none" strike="noStrike">
              <a:solidFill>
                <a:srgbClr val="000000"/>
              </a:solidFill>
              <a:effectLst/>
              <a:uFillTx/>
              <a:latin typeface="Arial"/>
            </a:endParaRPr>
          </a:p>
        </p:txBody>
      </p:sp>
      <p:sp>
        <p:nvSpPr>
          <p:cNvPr id="464" name="Shape 77"/>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465" name="Shape 78"/>
          <p:cNvSpPr/>
          <p:nvPr/>
        </p:nvSpPr>
        <p:spPr>
          <a:xfrm>
            <a:off x="502920" y="6473880"/>
            <a:ext cx="398376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466" name="Text 79"/>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000000"/>
              </a:solidFill>
              <a:effectLst/>
              <a:uFillTx/>
              <a:latin typeface="Arial"/>
            </a:endParaRPr>
          </a:p>
        </p:txBody>
      </p:sp>
      <p:sp>
        <p:nvSpPr>
          <p:cNvPr id="467" name="Text 80"/>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FFT8 (DIT)     15</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468"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3A · FFT8 WITH DIT</a:t>
            </a:r>
            <a:endParaRPr lang="en-US" sz="1150" b="0" u="none" strike="noStrike">
              <a:solidFill>
                <a:srgbClr val="000000"/>
              </a:solidFill>
              <a:effectLst/>
              <a:uFillTx/>
              <a:latin typeface="Arial"/>
            </a:endParaRPr>
          </a:p>
        </p:txBody>
      </p:sp>
      <p:sp>
        <p:nvSpPr>
          <p:cNvPr id="469"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DIT: Bit-Reversal Ordering for N=8</a:t>
            </a:r>
            <a:endParaRPr lang="en-US" sz="2600" b="0" u="none" strike="noStrike">
              <a:solidFill>
                <a:srgbClr val="000000"/>
              </a:solidFill>
              <a:effectLst/>
              <a:uFillTx/>
              <a:latin typeface="Arial"/>
            </a:endParaRPr>
          </a:p>
        </p:txBody>
      </p:sp>
      <p:sp>
        <p:nvSpPr>
          <p:cNvPr id="470" name="Text 2"/>
          <p:cNvSpPr/>
          <p:nvPr/>
        </p:nvSpPr>
        <p:spPr>
          <a:xfrm>
            <a:off x="502920" y="1188720"/>
            <a:ext cx="5211720" cy="137124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The recursive tree keeps re-sorting samples by parity. Doing that sorting once, up front, as a single index permutation lets the rest of the algorithm only ever combine neighboring elements at each stage, in place. That permutation is bit-reversal: write the index in binary and reverse the order of its bits.</a:t>
            </a:r>
            <a:endParaRPr lang="en-US" sz="1300" b="0" u="none" strike="noStrike">
              <a:solidFill>
                <a:srgbClr val="000000"/>
              </a:solidFill>
              <a:effectLst/>
              <a:uFillTx/>
              <a:latin typeface="Arial"/>
            </a:endParaRPr>
          </a:p>
        </p:txBody>
      </p:sp>
      <p:graphicFrame>
        <p:nvGraphicFramePr>
          <p:cNvPr id="471" name="Table 0"/>
          <p:cNvGraphicFramePr/>
          <p:nvPr/>
        </p:nvGraphicFramePr>
        <p:xfrm>
          <a:off x="502920" y="2743200"/>
          <a:ext cx="5211720" cy="2633040"/>
        </p:xfrm>
        <a:graphic>
          <a:graphicData uri="http://schemas.openxmlformats.org/drawingml/2006/table">
            <a:tbl>
              <a:tblPr/>
              <a:tblGrid>
                <a:gridCol w="1302840"/>
                <a:gridCol w="1302840"/>
                <a:gridCol w="1302840"/>
                <a:gridCol w="1302840"/>
              </a:tblGrid>
              <a:tr h="292320">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Index</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Binary</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Reversed</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New index</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0</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000</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000</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0</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001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100</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2</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010</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010</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2</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3</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011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110</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6</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100</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001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5</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101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101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5</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6</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110</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011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3</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7</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111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111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7</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bl>
          </a:graphicData>
        </a:graphic>
      </p:graphicFrame>
      <p:sp>
        <p:nvSpPr>
          <p:cNvPr id="472" name="Text 3"/>
          <p:cNvSpPr/>
          <p:nvPr/>
        </p:nvSpPr>
        <p:spPr>
          <a:xfrm>
            <a:off x="6446520" y="1188720"/>
            <a:ext cx="493740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NATURAL ORDER (AS STORED)</a:t>
            </a:r>
            <a:endParaRPr lang="en-US" sz="1100" b="0" u="none" strike="noStrike">
              <a:solidFill>
                <a:srgbClr val="000000"/>
              </a:solidFill>
              <a:effectLst/>
              <a:uFillTx/>
              <a:latin typeface="Arial"/>
            </a:endParaRPr>
          </a:p>
        </p:txBody>
      </p:sp>
      <p:sp>
        <p:nvSpPr>
          <p:cNvPr id="473" name="Shape 4"/>
          <p:cNvSpPr/>
          <p:nvPr/>
        </p:nvSpPr>
        <p:spPr>
          <a:xfrm>
            <a:off x="6729840" y="2011680"/>
            <a:ext cx="360" cy="1005840"/>
          </a:xfrm>
          <a:prstGeom prst="line">
            <a:avLst/>
          </a:prstGeom>
          <a:ln w="15875">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74" name="Shape 5"/>
          <p:cNvSpPr/>
          <p:nvPr/>
        </p:nvSpPr>
        <p:spPr>
          <a:xfrm>
            <a:off x="7360920" y="2011680"/>
            <a:ext cx="1892520" cy="1005840"/>
          </a:xfrm>
          <a:prstGeom prst="line">
            <a:avLst/>
          </a:prstGeom>
          <a:ln w="22225">
            <a:solidFill>
              <a:srgbClr val="D9832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75" name="Shape 6"/>
          <p:cNvSpPr/>
          <p:nvPr/>
        </p:nvSpPr>
        <p:spPr>
          <a:xfrm>
            <a:off x="7991640" y="2011680"/>
            <a:ext cx="360" cy="1005840"/>
          </a:xfrm>
          <a:prstGeom prst="line">
            <a:avLst/>
          </a:prstGeom>
          <a:ln w="15875">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76" name="Shape 7"/>
          <p:cNvSpPr/>
          <p:nvPr/>
        </p:nvSpPr>
        <p:spPr>
          <a:xfrm>
            <a:off x="8622720" y="2011680"/>
            <a:ext cx="1892880" cy="1005840"/>
          </a:xfrm>
          <a:prstGeom prst="line">
            <a:avLst/>
          </a:prstGeom>
          <a:ln w="22225">
            <a:solidFill>
              <a:srgbClr val="D9832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77" name="Shape 8"/>
          <p:cNvSpPr/>
          <p:nvPr/>
        </p:nvSpPr>
        <p:spPr>
          <a:xfrm flipV="1">
            <a:off x="7360920" y="2011680"/>
            <a:ext cx="1892520" cy="1005840"/>
          </a:xfrm>
          <a:prstGeom prst="line">
            <a:avLst/>
          </a:prstGeom>
          <a:ln w="22225">
            <a:solidFill>
              <a:srgbClr val="D9832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78" name="Shape 9"/>
          <p:cNvSpPr/>
          <p:nvPr/>
        </p:nvSpPr>
        <p:spPr>
          <a:xfrm>
            <a:off x="9884520" y="2011680"/>
            <a:ext cx="360" cy="1005840"/>
          </a:xfrm>
          <a:prstGeom prst="line">
            <a:avLst/>
          </a:prstGeom>
          <a:ln w="15875">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79" name="Shape 10"/>
          <p:cNvSpPr/>
          <p:nvPr/>
        </p:nvSpPr>
        <p:spPr>
          <a:xfrm flipV="1">
            <a:off x="8622720" y="2011680"/>
            <a:ext cx="1892880" cy="1005840"/>
          </a:xfrm>
          <a:prstGeom prst="line">
            <a:avLst/>
          </a:prstGeom>
          <a:ln w="22225">
            <a:solidFill>
              <a:srgbClr val="D9832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80" name="Shape 11"/>
          <p:cNvSpPr/>
          <p:nvPr/>
        </p:nvSpPr>
        <p:spPr>
          <a:xfrm>
            <a:off x="11146320" y="2011680"/>
            <a:ext cx="360" cy="1005840"/>
          </a:xfrm>
          <a:prstGeom prst="line">
            <a:avLst/>
          </a:prstGeom>
          <a:ln w="15875">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81" name="Shape 12"/>
          <p:cNvSpPr/>
          <p:nvPr/>
        </p:nvSpPr>
        <p:spPr>
          <a:xfrm>
            <a:off x="6446520" y="1554480"/>
            <a:ext cx="566640" cy="456840"/>
          </a:xfrm>
          <a:prstGeom prst="roundRect">
            <a:avLst>
              <a:gd name="adj" fmla="val 16000"/>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82" name="Text 13"/>
          <p:cNvSpPr/>
          <p:nvPr/>
        </p:nvSpPr>
        <p:spPr>
          <a:xfrm>
            <a:off x="6446520" y="1554480"/>
            <a:ext cx="5666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onsolas"/>
                <a:ea typeface="Consolas"/>
              </a:rPr>
              <a:t>x0</a:t>
            </a:r>
            <a:endParaRPr lang="en-US" sz="1100" b="0" u="none" strike="noStrike">
              <a:solidFill>
                <a:srgbClr val="000000"/>
              </a:solidFill>
              <a:effectLst/>
              <a:uFillTx/>
              <a:latin typeface="Arial"/>
            </a:endParaRPr>
          </a:p>
        </p:txBody>
      </p:sp>
      <p:sp>
        <p:nvSpPr>
          <p:cNvPr id="483" name="Shape 14"/>
          <p:cNvSpPr/>
          <p:nvPr/>
        </p:nvSpPr>
        <p:spPr>
          <a:xfrm>
            <a:off x="7077600" y="1554480"/>
            <a:ext cx="566640" cy="456840"/>
          </a:xfrm>
          <a:prstGeom prst="roundRect">
            <a:avLst>
              <a:gd name="adj" fmla="val 16000"/>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84" name="Text 15"/>
          <p:cNvSpPr/>
          <p:nvPr/>
        </p:nvSpPr>
        <p:spPr>
          <a:xfrm>
            <a:off x="7077600" y="1554480"/>
            <a:ext cx="5666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onsolas"/>
                <a:ea typeface="Consolas"/>
              </a:rPr>
              <a:t>x1</a:t>
            </a:r>
            <a:endParaRPr lang="en-US" sz="1100" b="0" u="none" strike="noStrike">
              <a:solidFill>
                <a:srgbClr val="000000"/>
              </a:solidFill>
              <a:effectLst/>
              <a:uFillTx/>
              <a:latin typeface="Arial"/>
            </a:endParaRPr>
          </a:p>
        </p:txBody>
      </p:sp>
      <p:sp>
        <p:nvSpPr>
          <p:cNvPr id="485" name="Shape 16"/>
          <p:cNvSpPr/>
          <p:nvPr/>
        </p:nvSpPr>
        <p:spPr>
          <a:xfrm>
            <a:off x="7708320" y="1554480"/>
            <a:ext cx="566640" cy="456840"/>
          </a:xfrm>
          <a:prstGeom prst="roundRect">
            <a:avLst>
              <a:gd name="adj" fmla="val 16000"/>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86" name="Text 17"/>
          <p:cNvSpPr/>
          <p:nvPr/>
        </p:nvSpPr>
        <p:spPr>
          <a:xfrm>
            <a:off x="7708320" y="1554480"/>
            <a:ext cx="5666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onsolas"/>
                <a:ea typeface="Consolas"/>
              </a:rPr>
              <a:t>x2</a:t>
            </a:r>
            <a:endParaRPr lang="en-US" sz="1100" b="0" u="none" strike="noStrike">
              <a:solidFill>
                <a:srgbClr val="000000"/>
              </a:solidFill>
              <a:effectLst/>
              <a:uFillTx/>
              <a:latin typeface="Arial"/>
            </a:endParaRPr>
          </a:p>
        </p:txBody>
      </p:sp>
      <p:sp>
        <p:nvSpPr>
          <p:cNvPr id="487" name="Shape 18"/>
          <p:cNvSpPr/>
          <p:nvPr/>
        </p:nvSpPr>
        <p:spPr>
          <a:xfrm>
            <a:off x="8339400" y="1554480"/>
            <a:ext cx="566640" cy="456840"/>
          </a:xfrm>
          <a:prstGeom prst="roundRect">
            <a:avLst>
              <a:gd name="adj" fmla="val 16000"/>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88" name="Text 19"/>
          <p:cNvSpPr/>
          <p:nvPr/>
        </p:nvSpPr>
        <p:spPr>
          <a:xfrm>
            <a:off x="8339400" y="1554480"/>
            <a:ext cx="5666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onsolas"/>
                <a:ea typeface="Consolas"/>
              </a:rPr>
              <a:t>x3</a:t>
            </a:r>
            <a:endParaRPr lang="en-US" sz="1100" b="0" u="none" strike="noStrike">
              <a:solidFill>
                <a:srgbClr val="000000"/>
              </a:solidFill>
              <a:effectLst/>
              <a:uFillTx/>
              <a:latin typeface="Arial"/>
            </a:endParaRPr>
          </a:p>
        </p:txBody>
      </p:sp>
      <p:sp>
        <p:nvSpPr>
          <p:cNvPr id="489" name="Shape 20"/>
          <p:cNvSpPr/>
          <p:nvPr/>
        </p:nvSpPr>
        <p:spPr>
          <a:xfrm>
            <a:off x="8970120" y="1554480"/>
            <a:ext cx="566640" cy="456840"/>
          </a:xfrm>
          <a:prstGeom prst="roundRect">
            <a:avLst>
              <a:gd name="adj" fmla="val 16000"/>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90" name="Text 21"/>
          <p:cNvSpPr/>
          <p:nvPr/>
        </p:nvSpPr>
        <p:spPr>
          <a:xfrm>
            <a:off x="8970120" y="1554480"/>
            <a:ext cx="5666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onsolas"/>
                <a:ea typeface="Consolas"/>
              </a:rPr>
              <a:t>x4</a:t>
            </a:r>
            <a:endParaRPr lang="en-US" sz="1100" b="0" u="none" strike="noStrike">
              <a:solidFill>
                <a:srgbClr val="000000"/>
              </a:solidFill>
              <a:effectLst/>
              <a:uFillTx/>
              <a:latin typeface="Arial"/>
            </a:endParaRPr>
          </a:p>
        </p:txBody>
      </p:sp>
      <p:sp>
        <p:nvSpPr>
          <p:cNvPr id="491" name="Shape 22"/>
          <p:cNvSpPr/>
          <p:nvPr/>
        </p:nvSpPr>
        <p:spPr>
          <a:xfrm>
            <a:off x="9601200" y="1554480"/>
            <a:ext cx="566640" cy="456840"/>
          </a:xfrm>
          <a:prstGeom prst="roundRect">
            <a:avLst>
              <a:gd name="adj" fmla="val 16000"/>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92" name="Text 23"/>
          <p:cNvSpPr/>
          <p:nvPr/>
        </p:nvSpPr>
        <p:spPr>
          <a:xfrm>
            <a:off x="9601200" y="1554480"/>
            <a:ext cx="5666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onsolas"/>
                <a:ea typeface="Consolas"/>
              </a:rPr>
              <a:t>x5</a:t>
            </a:r>
            <a:endParaRPr lang="en-US" sz="1100" b="0" u="none" strike="noStrike">
              <a:solidFill>
                <a:srgbClr val="000000"/>
              </a:solidFill>
              <a:effectLst/>
              <a:uFillTx/>
              <a:latin typeface="Arial"/>
            </a:endParaRPr>
          </a:p>
        </p:txBody>
      </p:sp>
      <p:sp>
        <p:nvSpPr>
          <p:cNvPr id="493" name="Shape 24"/>
          <p:cNvSpPr/>
          <p:nvPr/>
        </p:nvSpPr>
        <p:spPr>
          <a:xfrm>
            <a:off x="10232280" y="1554480"/>
            <a:ext cx="566640" cy="456840"/>
          </a:xfrm>
          <a:prstGeom prst="roundRect">
            <a:avLst>
              <a:gd name="adj" fmla="val 16000"/>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94" name="Text 25"/>
          <p:cNvSpPr/>
          <p:nvPr/>
        </p:nvSpPr>
        <p:spPr>
          <a:xfrm>
            <a:off x="10232280" y="1554480"/>
            <a:ext cx="5666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onsolas"/>
                <a:ea typeface="Consolas"/>
              </a:rPr>
              <a:t>x6</a:t>
            </a:r>
            <a:endParaRPr lang="en-US" sz="1100" b="0" u="none" strike="noStrike">
              <a:solidFill>
                <a:srgbClr val="000000"/>
              </a:solidFill>
              <a:effectLst/>
              <a:uFillTx/>
              <a:latin typeface="Arial"/>
            </a:endParaRPr>
          </a:p>
        </p:txBody>
      </p:sp>
      <p:sp>
        <p:nvSpPr>
          <p:cNvPr id="495" name="Shape 26"/>
          <p:cNvSpPr/>
          <p:nvPr/>
        </p:nvSpPr>
        <p:spPr>
          <a:xfrm>
            <a:off x="10863000" y="1554480"/>
            <a:ext cx="566640" cy="456840"/>
          </a:xfrm>
          <a:prstGeom prst="roundRect">
            <a:avLst>
              <a:gd name="adj" fmla="val 16000"/>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96" name="Text 27"/>
          <p:cNvSpPr/>
          <p:nvPr/>
        </p:nvSpPr>
        <p:spPr>
          <a:xfrm>
            <a:off x="10863000" y="1554480"/>
            <a:ext cx="5666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onsolas"/>
                <a:ea typeface="Consolas"/>
              </a:rPr>
              <a:t>x7</a:t>
            </a:r>
            <a:endParaRPr lang="en-US" sz="1100" b="0" u="none" strike="noStrike">
              <a:solidFill>
                <a:srgbClr val="000000"/>
              </a:solidFill>
              <a:effectLst/>
              <a:uFillTx/>
              <a:latin typeface="Arial"/>
            </a:endParaRPr>
          </a:p>
        </p:txBody>
      </p:sp>
      <p:sp>
        <p:nvSpPr>
          <p:cNvPr id="497" name="Shape 28"/>
          <p:cNvSpPr/>
          <p:nvPr/>
        </p:nvSpPr>
        <p:spPr>
          <a:xfrm>
            <a:off x="6446520" y="3017520"/>
            <a:ext cx="566640" cy="456840"/>
          </a:xfrm>
          <a:prstGeom prst="roundRect">
            <a:avLst>
              <a:gd name="adj" fmla="val 16000"/>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98" name="Text 29"/>
          <p:cNvSpPr/>
          <p:nvPr/>
        </p:nvSpPr>
        <p:spPr>
          <a:xfrm>
            <a:off x="6446520" y="3017520"/>
            <a:ext cx="5666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onsolas"/>
                <a:ea typeface="Consolas"/>
              </a:rPr>
              <a:t>x0</a:t>
            </a:r>
            <a:endParaRPr lang="en-US" sz="1100" b="0" u="none" strike="noStrike">
              <a:solidFill>
                <a:srgbClr val="000000"/>
              </a:solidFill>
              <a:effectLst/>
              <a:uFillTx/>
              <a:latin typeface="Arial"/>
            </a:endParaRPr>
          </a:p>
        </p:txBody>
      </p:sp>
      <p:sp>
        <p:nvSpPr>
          <p:cNvPr id="499" name="Shape 30"/>
          <p:cNvSpPr/>
          <p:nvPr/>
        </p:nvSpPr>
        <p:spPr>
          <a:xfrm>
            <a:off x="7077600" y="3017520"/>
            <a:ext cx="566640" cy="456840"/>
          </a:xfrm>
          <a:prstGeom prst="roundRect">
            <a:avLst>
              <a:gd name="adj" fmla="val 16000"/>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00" name="Text 31"/>
          <p:cNvSpPr/>
          <p:nvPr/>
        </p:nvSpPr>
        <p:spPr>
          <a:xfrm>
            <a:off x="7077600" y="3017520"/>
            <a:ext cx="5666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onsolas"/>
                <a:ea typeface="Consolas"/>
              </a:rPr>
              <a:t>x4</a:t>
            </a:r>
            <a:endParaRPr lang="en-US" sz="1100" b="0" u="none" strike="noStrike">
              <a:solidFill>
                <a:srgbClr val="000000"/>
              </a:solidFill>
              <a:effectLst/>
              <a:uFillTx/>
              <a:latin typeface="Arial"/>
            </a:endParaRPr>
          </a:p>
        </p:txBody>
      </p:sp>
      <p:sp>
        <p:nvSpPr>
          <p:cNvPr id="501" name="Shape 32"/>
          <p:cNvSpPr/>
          <p:nvPr/>
        </p:nvSpPr>
        <p:spPr>
          <a:xfrm>
            <a:off x="7708320" y="3017520"/>
            <a:ext cx="566640" cy="456840"/>
          </a:xfrm>
          <a:prstGeom prst="roundRect">
            <a:avLst>
              <a:gd name="adj" fmla="val 16000"/>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02" name="Text 33"/>
          <p:cNvSpPr/>
          <p:nvPr/>
        </p:nvSpPr>
        <p:spPr>
          <a:xfrm>
            <a:off x="7708320" y="3017520"/>
            <a:ext cx="5666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onsolas"/>
                <a:ea typeface="Consolas"/>
              </a:rPr>
              <a:t>x2</a:t>
            </a:r>
            <a:endParaRPr lang="en-US" sz="1100" b="0" u="none" strike="noStrike">
              <a:solidFill>
                <a:srgbClr val="000000"/>
              </a:solidFill>
              <a:effectLst/>
              <a:uFillTx/>
              <a:latin typeface="Arial"/>
            </a:endParaRPr>
          </a:p>
        </p:txBody>
      </p:sp>
      <p:sp>
        <p:nvSpPr>
          <p:cNvPr id="503" name="Shape 34"/>
          <p:cNvSpPr/>
          <p:nvPr/>
        </p:nvSpPr>
        <p:spPr>
          <a:xfrm>
            <a:off x="8339400" y="3017520"/>
            <a:ext cx="566640" cy="456840"/>
          </a:xfrm>
          <a:prstGeom prst="roundRect">
            <a:avLst>
              <a:gd name="adj" fmla="val 16000"/>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04" name="Text 35"/>
          <p:cNvSpPr/>
          <p:nvPr/>
        </p:nvSpPr>
        <p:spPr>
          <a:xfrm>
            <a:off x="8339400" y="3017520"/>
            <a:ext cx="5666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onsolas"/>
                <a:ea typeface="Consolas"/>
              </a:rPr>
              <a:t>x6</a:t>
            </a:r>
            <a:endParaRPr lang="en-US" sz="1100" b="0" u="none" strike="noStrike">
              <a:solidFill>
                <a:srgbClr val="000000"/>
              </a:solidFill>
              <a:effectLst/>
              <a:uFillTx/>
              <a:latin typeface="Arial"/>
            </a:endParaRPr>
          </a:p>
        </p:txBody>
      </p:sp>
      <p:sp>
        <p:nvSpPr>
          <p:cNvPr id="505" name="Shape 36"/>
          <p:cNvSpPr/>
          <p:nvPr/>
        </p:nvSpPr>
        <p:spPr>
          <a:xfrm>
            <a:off x="8970120" y="3017520"/>
            <a:ext cx="566640" cy="456840"/>
          </a:xfrm>
          <a:prstGeom prst="roundRect">
            <a:avLst>
              <a:gd name="adj" fmla="val 16000"/>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06" name="Text 37"/>
          <p:cNvSpPr/>
          <p:nvPr/>
        </p:nvSpPr>
        <p:spPr>
          <a:xfrm>
            <a:off x="8970120" y="3017520"/>
            <a:ext cx="5666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onsolas"/>
                <a:ea typeface="Consolas"/>
              </a:rPr>
              <a:t>x1</a:t>
            </a:r>
            <a:endParaRPr lang="en-US" sz="1100" b="0" u="none" strike="noStrike">
              <a:solidFill>
                <a:srgbClr val="000000"/>
              </a:solidFill>
              <a:effectLst/>
              <a:uFillTx/>
              <a:latin typeface="Arial"/>
            </a:endParaRPr>
          </a:p>
        </p:txBody>
      </p:sp>
      <p:sp>
        <p:nvSpPr>
          <p:cNvPr id="507" name="Shape 38"/>
          <p:cNvSpPr/>
          <p:nvPr/>
        </p:nvSpPr>
        <p:spPr>
          <a:xfrm>
            <a:off x="9601200" y="3017520"/>
            <a:ext cx="566640" cy="456840"/>
          </a:xfrm>
          <a:prstGeom prst="roundRect">
            <a:avLst>
              <a:gd name="adj" fmla="val 16000"/>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08" name="Text 39"/>
          <p:cNvSpPr/>
          <p:nvPr/>
        </p:nvSpPr>
        <p:spPr>
          <a:xfrm>
            <a:off x="9601200" y="3017520"/>
            <a:ext cx="5666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onsolas"/>
                <a:ea typeface="Consolas"/>
              </a:rPr>
              <a:t>x5</a:t>
            </a:r>
            <a:endParaRPr lang="en-US" sz="1100" b="0" u="none" strike="noStrike">
              <a:solidFill>
                <a:srgbClr val="000000"/>
              </a:solidFill>
              <a:effectLst/>
              <a:uFillTx/>
              <a:latin typeface="Arial"/>
            </a:endParaRPr>
          </a:p>
        </p:txBody>
      </p:sp>
      <p:sp>
        <p:nvSpPr>
          <p:cNvPr id="509" name="Shape 40"/>
          <p:cNvSpPr/>
          <p:nvPr/>
        </p:nvSpPr>
        <p:spPr>
          <a:xfrm>
            <a:off x="10232280" y="3017520"/>
            <a:ext cx="566640" cy="456840"/>
          </a:xfrm>
          <a:prstGeom prst="roundRect">
            <a:avLst>
              <a:gd name="adj" fmla="val 16000"/>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10" name="Text 41"/>
          <p:cNvSpPr/>
          <p:nvPr/>
        </p:nvSpPr>
        <p:spPr>
          <a:xfrm>
            <a:off x="10232280" y="3017520"/>
            <a:ext cx="5666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onsolas"/>
                <a:ea typeface="Consolas"/>
              </a:rPr>
              <a:t>x3</a:t>
            </a:r>
            <a:endParaRPr lang="en-US" sz="1100" b="0" u="none" strike="noStrike">
              <a:solidFill>
                <a:srgbClr val="000000"/>
              </a:solidFill>
              <a:effectLst/>
              <a:uFillTx/>
              <a:latin typeface="Arial"/>
            </a:endParaRPr>
          </a:p>
        </p:txBody>
      </p:sp>
      <p:sp>
        <p:nvSpPr>
          <p:cNvPr id="511" name="Shape 42"/>
          <p:cNvSpPr/>
          <p:nvPr/>
        </p:nvSpPr>
        <p:spPr>
          <a:xfrm>
            <a:off x="10863000" y="3017520"/>
            <a:ext cx="566640" cy="456840"/>
          </a:xfrm>
          <a:prstGeom prst="roundRect">
            <a:avLst>
              <a:gd name="adj" fmla="val 16000"/>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12" name="Text 43"/>
          <p:cNvSpPr/>
          <p:nvPr/>
        </p:nvSpPr>
        <p:spPr>
          <a:xfrm>
            <a:off x="10863000" y="3017520"/>
            <a:ext cx="5666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onsolas"/>
                <a:ea typeface="Consolas"/>
              </a:rPr>
              <a:t>x7</a:t>
            </a:r>
            <a:endParaRPr lang="en-US" sz="1100" b="0" u="none" strike="noStrike">
              <a:solidFill>
                <a:srgbClr val="000000"/>
              </a:solidFill>
              <a:effectLst/>
              <a:uFillTx/>
              <a:latin typeface="Arial"/>
            </a:endParaRPr>
          </a:p>
        </p:txBody>
      </p:sp>
      <p:sp>
        <p:nvSpPr>
          <p:cNvPr id="513" name="Text 44"/>
          <p:cNvSpPr/>
          <p:nvPr/>
        </p:nvSpPr>
        <p:spPr>
          <a:xfrm>
            <a:off x="6446520" y="3566160"/>
            <a:ext cx="493740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BIT-REVERSED ORDER (FED TO STAGES)</a:t>
            </a:r>
            <a:endParaRPr lang="en-US" sz="1100" b="0" u="none" strike="noStrike">
              <a:solidFill>
                <a:srgbClr val="000000"/>
              </a:solidFill>
              <a:effectLst/>
              <a:uFillTx/>
              <a:latin typeface="Arial"/>
            </a:endParaRPr>
          </a:p>
        </p:txBody>
      </p:sp>
      <p:sp>
        <p:nvSpPr>
          <p:cNvPr id="514" name="Shape 45"/>
          <p:cNvSpPr/>
          <p:nvPr/>
        </p:nvSpPr>
        <p:spPr>
          <a:xfrm>
            <a:off x="6446520" y="4023360"/>
            <a:ext cx="4937400" cy="2194200"/>
          </a:xfrm>
          <a:prstGeom prst="roundRect">
            <a:avLst>
              <a:gd name="adj" fmla="val 2500"/>
            </a:avLst>
          </a:prstGeom>
          <a:solidFill>
            <a:srgbClr val="FFFFFF"/>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15" name="Text 46"/>
          <p:cNvSpPr/>
          <p:nvPr/>
        </p:nvSpPr>
        <p:spPr>
          <a:xfrm>
            <a:off x="6629400" y="4133160"/>
            <a:ext cx="4571640" cy="20113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Amber lines show samples that move; teal lines show the four fixed points (x0, x2, x5, x7 stay in place). The bit-reversed order x0,x4,x2,x6,x1,x5,x3,x7 is exactly the order the leaves appeared in the decomposition tree, read left to right: bit-reversal is the flattened, iterative equivalent of the recursive even/odd splitting.</a:t>
            </a:r>
            <a:endParaRPr lang="en-US" sz="1300" b="0" u="none" strike="noStrike">
              <a:solidFill>
                <a:srgbClr val="000000"/>
              </a:solidFill>
              <a:effectLst/>
              <a:uFillTx/>
              <a:latin typeface="Arial"/>
            </a:endParaRPr>
          </a:p>
        </p:txBody>
      </p:sp>
      <p:sp>
        <p:nvSpPr>
          <p:cNvPr id="516" name="Shape 47"/>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517" name="Shape 48"/>
          <p:cNvSpPr/>
          <p:nvPr/>
        </p:nvSpPr>
        <p:spPr>
          <a:xfrm>
            <a:off x="502920" y="6473880"/>
            <a:ext cx="424944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518" name="Text 49"/>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000000"/>
              </a:solidFill>
              <a:effectLst/>
              <a:uFillTx/>
              <a:latin typeface="Arial"/>
            </a:endParaRPr>
          </a:p>
        </p:txBody>
      </p:sp>
      <p:sp>
        <p:nvSpPr>
          <p:cNvPr id="519" name="Text 50"/>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FFT8 (DIT)     16</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520"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3A · FFT8 WITH DIT</a:t>
            </a:r>
            <a:endParaRPr lang="en-US" sz="1150" b="0" u="none" strike="noStrike">
              <a:solidFill>
                <a:srgbClr val="000000"/>
              </a:solidFill>
              <a:effectLst/>
              <a:uFillTx/>
              <a:latin typeface="Arial"/>
            </a:endParaRPr>
          </a:p>
        </p:txBody>
      </p:sp>
      <p:sp>
        <p:nvSpPr>
          <p:cNvPr id="521"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Twiddle Factor Values for N=8</a:t>
            </a:r>
            <a:endParaRPr lang="en-US" sz="2600" b="0" u="none" strike="noStrike">
              <a:solidFill>
                <a:srgbClr val="000000"/>
              </a:solidFill>
              <a:effectLst/>
              <a:uFillTx/>
              <a:latin typeface="Arial"/>
            </a:endParaRPr>
          </a:p>
        </p:txBody>
      </p:sp>
      <p:graphicFrame>
        <p:nvGraphicFramePr>
          <p:cNvPr id="522" name="Table 0"/>
          <p:cNvGraphicFramePr/>
          <p:nvPr/>
        </p:nvGraphicFramePr>
        <p:xfrm>
          <a:off x="502920" y="1234440"/>
          <a:ext cx="5943240" cy="2633040"/>
        </p:xfrm>
        <a:graphic>
          <a:graphicData uri="http://schemas.openxmlformats.org/drawingml/2006/table">
            <a:tbl>
              <a:tblPr/>
              <a:tblGrid>
                <a:gridCol w="1485720"/>
                <a:gridCol w="1485720"/>
                <a:gridCol w="1485720"/>
                <a:gridCol w="1485720"/>
              </a:tblGrid>
              <a:tr h="292320">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k</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Angle</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W₈ᵏ = cos - j sin</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Rectangular value</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0</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0°</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cos 0 - j sin 0</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 + j0</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45°</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cos 45 - j sin 45</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0.7071 - j0.7071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2</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90°</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cos 90 - j sin 90</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0 - j1 = -j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3</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135°</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cos 135 - j sin 135</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-0.7071 - j0.7071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180°</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cos 180 - j sin 180</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 + j0</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5</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225°</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cos 225 - j sin 225</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-0.7071 + j0.7071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6</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270°</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cos 270 - j sin 270</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0 + j1 = 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7</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315°</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cos 315 - j sin 315</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0.7071 + j0.7071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bl>
          </a:graphicData>
        </a:graphic>
      </p:graphicFrame>
      <p:sp>
        <p:nvSpPr>
          <p:cNvPr id="523" name="Shape 2"/>
          <p:cNvSpPr/>
          <p:nvPr/>
        </p:nvSpPr>
        <p:spPr>
          <a:xfrm>
            <a:off x="6720840" y="1188720"/>
            <a:ext cx="4937400" cy="4845960"/>
          </a:xfrm>
          <a:prstGeom prst="roundRect">
            <a:avLst>
              <a:gd name="adj" fmla="val 1132"/>
            </a:avLst>
          </a:prstGeom>
          <a:solidFill>
            <a:srgbClr val="FFFFFF"/>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24" name="Shape 3"/>
          <p:cNvSpPr/>
          <p:nvPr/>
        </p:nvSpPr>
        <p:spPr>
          <a:xfrm>
            <a:off x="7909560" y="2103120"/>
            <a:ext cx="2559960" cy="2559960"/>
          </a:xfrm>
          <a:prstGeom prst="ellipse">
            <a:avLst/>
          </a:prstGeom>
          <a:solidFill>
            <a:srgbClr val="F3F7FC"/>
          </a:solidFill>
          <a:ln w="22225">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25" name="Shape 4"/>
          <p:cNvSpPr/>
          <p:nvPr/>
        </p:nvSpPr>
        <p:spPr>
          <a:xfrm>
            <a:off x="7680960" y="3383280"/>
            <a:ext cx="3017520" cy="360"/>
          </a:xfrm>
          <a:prstGeom prst="line">
            <a:avLst/>
          </a:prstGeom>
          <a:ln w="12700">
            <a:solidFill>
              <a:srgbClr val="D7DEE8"/>
            </a:solidFill>
            <a:round/>
            <a:tailEnd len="med" type="triangle" w="me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526" name="Shape 5"/>
          <p:cNvSpPr/>
          <p:nvPr/>
        </p:nvSpPr>
        <p:spPr>
          <a:xfrm>
            <a:off x="9189720" y="1874520"/>
            <a:ext cx="360" cy="3017520"/>
          </a:xfrm>
          <a:prstGeom prst="line">
            <a:avLst/>
          </a:prstGeom>
          <a:ln w="12700">
            <a:solidFill>
              <a:srgbClr val="D7DEE8"/>
            </a:solidFill>
            <a:round/>
            <a:tailEnd len="med" type="triangle" w="me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27" name="Text 6"/>
          <p:cNvSpPr/>
          <p:nvPr/>
        </p:nvSpPr>
        <p:spPr>
          <a:xfrm>
            <a:off x="10515600" y="3401640"/>
            <a:ext cx="36540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i="1" u="none" strike="noStrike">
                <a:solidFill>
                  <a:srgbClr val="5C6B7A"/>
                </a:solidFill>
                <a:effectLst/>
                <a:uFillTx/>
                <a:latin typeface="Calibri"/>
                <a:ea typeface="Calibri"/>
              </a:rPr>
              <a:t>Re</a:t>
            </a:r>
            <a:endParaRPr lang="en-US" sz="900" b="0" u="none" strike="noStrike">
              <a:solidFill>
                <a:srgbClr val="000000"/>
              </a:solidFill>
              <a:effectLst/>
              <a:uFillTx/>
              <a:latin typeface="Arial"/>
            </a:endParaRPr>
          </a:p>
        </p:txBody>
      </p:sp>
      <p:sp>
        <p:nvSpPr>
          <p:cNvPr id="528" name="Text 7"/>
          <p:cNvSpPr/>
          <p:nvPr/>
        </p:nvSpPr>
        <p:spPr>
          <a:xfrm>
            <a:off x="9235440" y="1828800"/>
            <a:ext cx="36540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i="1" u="none" strike="noStrike">
                <a:solidFill>
                  <a:srgbClr val="5C6B7A"/>
                </a:solidFill>
                <a:effectLst/>
                <a:uFillTx/>
                <a:latin typeface="Calibri"/>
                <a:ea typeface="Calibri"/>
              </a:rPr>
              <a:t>Im</a:t>
            </a:r>
            <a:endParaRPr lang="en-US" sz="900" b="0" u="none" strike="noStrike">
              <a:solidFill>
                <a:srgbClr val="000000"/>
              </a:solidFill>
              <a:effectLst/>
              <a:uFillTx/>
              <a:latin typeface="Arial"/>
            </a:endParaRPr>
          </a:p>
        </p:txBody>
      </p:sp>
      <p:sp>
        <p:nvSpPr>
          <p:cNvPr id="529" name="Shape 8"/>
          <p:cNvSpPr/>
          <p:nvPr/>
        </p:nvSpPr>
        <p:spPr>
          <a:xfrm>
            <a:off x="9189720" y="3383280"/>
            <a:ext cx="1280160" cy="360"/>
          </a:xfrm>
          <a:prstGeom prst="line">
            <a:avLst/>
          </a:prstGeom>
          <a:ln w="12700">
            <a:solidFill>
              <a:srgbClr val="D98324"/>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530" name="Shape 9"/>
          <p:cNvSpPr/>
          <p:nvPr/>
        </p:nvSpPr>
        <p:spPr>
          <a:xfrm>
            <a:off x="10378440" y="3291840"/>
            <a:ext cx="182520" cy="182520"/>
          </a:xfrm>
          <a:prstGeom prst="ellipse">
            <a:avLst/>
          </a:prstGeom>
          <a:solidFill>
            <a:srgbClr val="D98324"/>
          </a:solidFill>
          <a:ln w="6350">
            <a:solidFill>
              <a:srgbClr val="D9832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31" name="Text 10"/>
          <p:cNvSpPr/>
          <p:nvPr/>
        </p:nvSpPr>
        <p:spPr>
          <a:xfrm>
            <a:off x="10533960" y="3163680"/>
            <a:ext cx="1005480" cy="438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D98324"/>
                </a:solidFill>
                <a:effectLst/>
                <a:uFillTx/>
                <a:latin typeface="Calibri"/>
                <a:ea typeface="Calibri"/>
              </a:rPr>
              <a:t>k=0</a:t>
            </a:r>
            <a:endParaRPr lang="en-US" sz="1100" b="0" u="none" strike="noStrike">
              <a:solidFill>
                <a:srgbClr val="000000"/>
              </a:solidFill>
              <a:effectLst/>
              <a:uFillTx/>
              <a:latin typeface="Arial"/>
            </a:endParaRPr>
          </a:p>
          <a:p>
            <a:pPr algn="ctr" defTabSz="914400">
              <a:lnSpc>
                <a:spcPct val="100000"/>
              </a:lnSpc>
              <a:tabLst>
                <a:tab pos="0" algn="l"/>
              </a:tabLst>
            </a:pPr>
            <a:r>
              <a:rPr lang="en-US" sz="850" b="0" u="none" strike="noStrike">
                <a:solidFill>
                  <a:srgbClr val="5C6B7A"/>
                </a:solidFill>
                <a:effectLst/>
                <a:uFillTx/>
                <a:latin typeface="Calibri"/>
                <a:ea typeface="Calibri"/>
              </a:rPr>
              <a:t>1</a:t>
            </a:r>
            <a:endParaRPr lang="en-US" sz="850" b="0" u="none" strike="noStrike">
              <a:solidFill>
                <a:srgbClr val="000000"/>
              </a:solidFill>
              <a:effectLst/>
              <a:uFillTx/>
              <a:latin typeface="Arial"/>
            </a:endParaRPr>
          </a:p>
        </p:txBody>
      </p:sp>
      <p:sp>
        <p:nvSpPr>
          <p:cNvPr id="532" name="Shape 11"/>
          <p:cNvSpPr/>
          <p:nvPr/>
        </p:nvSpPr>
        <p:spPr>
          <a:xfrm flipV="1">
            <a:off x="9189720" y="2477880"/>
            <a:ext cx="905040" cy="905400"/>
          </a:xfrm>
          <a:prstGeom prst="line">
            <a:avLst/>
          </a:prstGeom>
          <a:ln w="12700">
            <a:solidFill>
              <a:srgbClr val="0E838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33" name="Shape 12"/>
          <p:cNvSpPr/>
          <p:nvPr/>
        </p:nvSpPr>
        <p:spPr>
          <a:xfrm>
            <a:off x="10003320" y="2386800"/>
            <a:ext cx="182520" cy="182520"/>
          </a:xfrm>
          <a:prstGeom prst="ellipse">
            <a:avLst/>
          </a:prstGeom>
          <a:solidFill>
            <a:srgbClr val="0E8388"/>
          </a:solidFill>
          <a:ln w="6350">
            <a:solidFill>
              <a:srgbClr val="0E838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34" name="Text 13"/>
          <p:cNvSpPr/>
          <p:nvPr/>
        </p:nvSpPr>
        <p:spPr>
          <a:xfrm>
            <a:off x="9992880" y="1857600"/>
            <a:ext cx="1005480" cy="438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E8388"/>
                </a:solidFill>
                <a:effectLst/>
                <a:uFillTx/>
                <a:latin typeface="Calibri"/>
                <a:ea typeface="Calibri"/>
              </a:rPr>
              <a:t>k=1</a:t>
            </a:r>
            <a:endParaRPr lang="en-US" sz="1100" b="0" u="none" strike="noStrike">
              <a:solidFill>
                <a:srgbClr val="000000"/>
              </a:solidFill>
              <a:effectLst/>
              <a:uFillTx/>
              <a:latin typeface="Arial"/>
            </a:endParaRPr>
          </a:p>
          <a:p>
            <a:pPr algn="ctr" defTabSz="914400">
              <a:lnSpc>
                <a:spcPct val="100000"/>
              </a:lnSpc>
              <a:tabLst>
                <a:tab pos="0" algn="l"/>
              </a:tabLst>
            </a:pPr>
            <a:r>
              <a:rPr lang="en-US" sz="850" b="0" u="none" strike="noStrike">
                <a:solidFill>
                  <a:srgbClr val="5C6B7A"/>
                </a:solidFill>
                <a:effectLst/>
                <a:uFillTx/>
                <a:latin typeface="Calibri"/>
                <a:ea typeface="Calibri"/>
              </a:rPr>
              <a:t>0.71-0.71j</a:t>
            </a:r>
            <a:endParaRPr lang="en-US" sz="850" b="0" u="none" strike="noStrike">
              <a:solidFill>
                <a:srgbClr val="000000"/>
              </a:solidFill>
              <a:effectLst/>
              <a:uFillTx/>
              <a:latin typeface="Arial"/>
            </a:endParaRPr>
          </a:p>
        </p:txBody>
      </p:sp>
      <p:sp>
        <p:nvSpPr>
          <p:cNvPr id="535" name="Shape 14"/>
          <p:cNvSpPr/>
          <p:nvPr/>
        </p:nvSpPr>
        <p:spPr>
          <a:xfrm>
            <a:off x="9189720" y="2103120"/>
            <a:ext cx="360" cy="1280160"/>
          </a:xfrm>
          <a:prstGeom prst="line">
            <a:avLst/>
          </a:prstGeom>
          <a:ln w="12700">
            <a:solidFill>
              <a:srgbClr val="D9832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36" name="Shape 15"/>
          <p:cNvSpPr/>
          <p:nvPr/>
        </p:nvSpPr>
        <p:spPr>
          <a:xfrm>
            <a:off x="9098280" y="2011680"/>
            <a:ext cx="182520" cy="182520"/>
          </a:xfrm>
          <a:prstGeom prst="ellipse">
            <a:avLst/>
          </a:prstGeom>
          <a:solidFill>
            <a:srgbClr val="D98324"/>
          </a:solidFill>
          <a:ln w="6350">
            <a:solidFill>
              <a:srgbClr val="D9832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37" name="Text 16"/>
          <p:cNvSpPr/>
          <p:nvPr/>
        </p:nvSpPr>
        <p:spPr>
          <a:xfrm>
            <a:off x="8686800" y="1316880"/>
            <a:ext cx="1005480" cy="438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D98324"/>
                </a:solidFill>
                <a:effectLst/>
                <a:uFillTx/>
                <a:latin typeface="Calibri"/>
                <a:ea typeface="Calibri"/>
              </a:rPr>
              <a:t>k=2</a:t>
            </a:r>
            <a:endParaRPr lang="en-US" sz="1100" b="0" u="none" strike="noStrike">
              <a:solidFill>
                <a:srgbClr val="000000"/>
              </a:solidFill>
              <a:effectLst/>
              <a:uFillTx/>
              <a:latin typeface="Arial"/>
            </a:endParaRPr>
          </a:p>
          <a:p>
            <a:pPr algn="ctr" defTabSz="914400">
              <a:lnSpc>
                <a:spcPct val="100000"/>
              </a:lnSpc>
              <a:tabLst>
                <a:tab pos="0" algn="l"/>
              </a:tabLst>
            </a:pPr>
            <a:r>
              <a:rPr lang="en-US" sz="850" b="0" u="none" strike="noStrike">
                <a:solidFill>
                  <a:srgbClr val="5C6B7A"/>
                </a:solidFill>
                <a:effectLst/>
                <a:uFillTx/>
                <a:latin typeface="Calibri"/>
                <a:ea typeface="Calibri"/>
              </a:rPr>
              <a:t>-j</a:t>
            </a:r>
            <a:endParaRPr lang="en-US" sz="850" b="0" u="none" strike="noStrike">
              <a:solidFill>
                <a:srgbClr val="000000"/>
              </a:solidFill>
              <a:effectLst/>
              <a:uFillTx/>
              <a:latin typeface="Arial"/>
            </a:endParaRPr>
          </a:p>
        </p:txBody>
      </p:sp>
      <p:sp>
        <p:nvSpPr>
          <p:cNvPr id="538" name="Shape 17"/>
          <p:cNvSpPr/>
          <p:nvPr/>
        </p:nvSpPr>
        <p:spPr>
          <a:xfrm>
            <a:off x="8284320" y="2477880"/>
            <a:ext cx="905400" cy="905400"/>
          </a:xfrm>
          <a:prstGeom prst="line">
            <a:avLst/>
          </a:prstGeom>
          <a:ln w="12700">
            <a:solidFill>
              <a:srgbClr val="0E838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39" name="Shape 18"/>
          <p:cNvSpPr/>
          <p:nvPr/>
        </p:nvSpPr>
        <p:spPr>
          <a:xfrm>
            <a:off x="8193240" y="2386800"/>
            <a:ext cx="182520" cy="182520"/>
          </a:xfrm>
          <a:prstGeom prst="ellipse">
            <a:avLst/>
          </a:prstGeom>
          <a:solidFill>
            <a:srgbClr val="0E8388"/>
          </a:solidFill>
          <a:ln w="6350">
            <a:solidFill>
              <a:srgbClr val="0E838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40" name="Text 19"/>
          <p:cNvSpPr/>
          <p:nvPr/>
        </p:nvSpPr>
        <p:spPr>
          <a:xfrm>
            <a:off x="7380720" y="1857600"/>
            <a:ext cx="1005480" cy="438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E8388"/>
                </a:solidFill>
                <a:effectLst/>
                <a:uFillTx/>
                <a:latin typeface="Calibri"/>
                <a:ea typeface="Calibri"/>
              </a:rPr>
              <a:t>k=3</a:t>
            </a:r>
            <a:endParaRPr lang="en-US" sz="1100" b="0" u="none" strike="noStrike">
              <a:solidFill>
                <a:srgbClr val="000000"/>
              </a:solidFill>
              <a:effectLst/>
              <a:uFillTx/>
              <a:latin typeface="Arial"/>
            </a:endParaRPr>
          </a:p>
          <a:p>
            <a:pPr algn="ctr" defTabSz="914400">
              <a:lnSpc>
                <a:spcPct val="100000"/>
              </a:lnSpc>
              <a:tabLst>
                <a:tab pos="0" algn="l"/>
              </a:tabLst>
            </a:pPr>
            <a:r>
              <a:rPr lang="en-US" sz="850" b="0" u="none" strike="noStrike">
                <a:solidFill>
                  <a:srgbClr val="5C6B7A"/>
                </a:solidFill>
                <a:effectLst/>
                <a:uFillTx/>
                <a:latin typeface="Calibri"/>
                <a:ea typeface="Calibri"/>
              </a:rPr>
              <a:t>-0.71-0.71j</a:t>
            </a:r>
            <a:endParaRPr lang="en-US" sz="850" b="0" u="none" strike="noStrike">
              <a:solidFill>
                <a:srgbClr val="000000"/>
              </a:solidFill>
              <a:effectLst/>
              <a:uFillTx/>
              <a:latin typeface="Arial"/>
            </a:endParaRPr>
          </a:p>
        </p:txBody>
      </p:sp>
      <p:sp>
        <p:nvSpPr>
          <p:cNvPr id="541" name="Shape 20"/>
          <p:cNvSpPr/>
          <p:nvPr/>
        </p:nvSpPr>
        <p:spPr>
          <a:xfrm>
            <a:off x="7909560" y="3383280"/>
            <a:ext cx="1280160" cy="360"/>
          </a:xfrm>
          <a:prstGeom prst="line">
            <a:avLst/>
          </a:prstGeom>
          <a:ln w="12700">
            <a:solidFill>
              <a:srgbClr val="D98324"/>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542" name="Shape 21"/>
          <p:cNvSpPr/>
          <p:nvPr/>
        </p:nvSpPr>
        <p:spPr>
          <a:xfrm>
            <a:off x="7818120" y="3291840"/>
            <a:ext cx="182520" cy="182520"/>
          </a:xfrm>
          <a:prstGeom prst="ellipse">
            <a:avLst/>
          </a:prstGeom>
          <a:solidFill>
            <a:srgbClr val="D98324"/>
          </a:solidFill>
          <a:ln w="6350">
            <a:solidFill>
              <a:srgbClr val="D9832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43" name="Text 22"/>
          <p:cNvSpPr/>
          <p:nvPr/>
        </p:nvSpPr>
        <p:spPr>
          <a:xfrm>
            <a:off x="6839640" y="3163680"/>
            <a:ext cx="1005480" cy="438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D98324"/>
                </a:solidFill>
                <a:effectLst/>
                <a:uFillTx/>
                <a:latin typeface="Calibri"/>
                <a:ea typeface="Calibri"/>
              </a:rPr>
              <a:t>k=4</a:t>
            </a:r>
            <a:endParaRPr lang="en-US" sz="1100" b="0" u="none" strike="noStrike">
              <a:solidFill>
                <a:srgbClr val="000000"/>
              </a:solidFill>
              <a:effectLst/>
              <a:uFillTx/>
              <a:latin typeface="Arial"/>
            </a:endParaRPr>
          </a:p>
          <a:p>
            <a:pPr algn="ctr" defTabSz="914400">
              <a:lnSpc>
                <a:spcPct val="100000"/>
              </a:lnSpc>
              <a:tabLst>
                <a:tab pos="0" algn="l"/>
              </a:tabLst>
            </a:pPr>
            <a:r>
              <a:rPr lang="en-US" sz="850" b="0" u="none" strike="noStrike">
                <a:solidFill>
                  <a:srgbClr val="5C6B7A"/>
                </a:solidFill>
                <a:effectLst/>
                <a:uFillTx/>
                <a:latin typeface="Calibri"/>
                <a:ea typeface="Calibri"/>
              </a:rPr>
              <a:t>-1</a:t>
            </a:r>
            <a:endParaRPr lang="en-US" sz="850" b="0" u="none" strike="noStrike">
              <a:solidFill>
                <a:srgbClr val="000000"/>
              </a:solidFill>
              <a:effectLst/>
              <a:uFillTx/>
              <a:latin typeface="Arial"/>
            </a:endParaRPr>
          </a:p>
        </p:txBody>
      </p:sp>
      <p:sp>
        <p:nvSpPr>
          <p:cNvPr id="544" name="Shape 23"/>
          <p:cNvSpPr/>
          <p:nvPr/>
        </p:nvSpPr>
        <p:spPr>
          <a:xfrm flipV="1">
            <a:off x="8284320" y="3383280"/>
            <a:ext cx="905400" cy="905040"/>
          </a:xfrm>
          <a:prstGeom prst="line">
            <a:avLst/>
          </a:prstGeom>
          <a:ln w="12700">
            <a:solidFill>
              <a:srgbClr val="0E838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45" name="Shape 24"/>
          <p:cNvSpPr/>
          <p:nvPr/>
        </p:nvSpPr>
        <p:spPr>
          <a:xfrm>
            <a:off x="8193240" y="4196880"/>
            <a:ext cx="182520" cy="182520"/>
          </a:xfrm>
          <a:prstGeom prst="ellipse">
            <a:avLst/>
          </a:prstGeom>
          <a:solidFill>
            <a:srgbClr val="0E8388"/>
          </a:solidFill>
          <a:ln w="6350">
            <a:solidFill>
              <a:srgbClr val="0E838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46" name="Text 25"/>
          <p:cNvSpPr/>
          <p:nvPr/>
        </p:nvSpPr>
        <p:spPr>
          <a:xfrm>
            <a:off x="7380720" y="4469760"/>
            <a:ext cx="1005480" cy="438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E8388"/>
                </a:solidFill>
                <a:effectLst/>
                <a:uFillTx/>
                <a:latin typeface="Calibri"/>
                <a:ea typeface="Calibri"/>
              </a:rPr>
              <a:t>k=5</a:t>
            </a:r>
            <a:endParaRPr lang="en-US" sz="1100" b="0" u="none" strike="noStrike">
              <a:solidFill>
                <a:srgbClr val="000000"/>
              </a:solidFill>
              <a:effectLst/>
              <a:uFillTx/>
              <a:latin typeface="Arial"/>
            </a:endParaRPr>
          </a:p>
          <a:p>
            <a:pPr algn="ctr" defTabSz="914400">
              <a:lnSpc>
                <a:spcPct val="100000"/>
              </a:lnSpc>
              <a:tabLst>
                <a:tab pos="0" algn="l"/>
              </a:tabLst>
            </a:pPr>
            <a:r>
              <a:rPr lang="en-US" sz="850" b="0" u="none" strike="noStrike">
                <a:solidFill>
                  <a:srgbClr val="5C6B7A"/>
                </a:solidFill>
                <a:effectLst/>
                <a:uFillTx/>
                <a:latin typeface="Calibri"/>
                <a:ea typeface="Calibri"/>
              </a:rPr>
              <a:t>-0.71+0.71j</a:t>
            </a:r>
            <a:endParaRPr lang="en-US" sz="850" b="0" u="none" strike="noStrike">
              <a:solidFill>
                <a:srgbClr val="000000"/>
              </a:solidFill>
              <a:effectLst/>
              <a:uFillTx/>
              <a:latin typeface="Arial"/>
            </a:endParaRPr>
          </a:p>
        </p:txBody>
      </p:sp>
      <p:sp>
        <p:nvSpPr>
          <p:cNvPr id="547" name="Shape 26"/>
          <p:cNvSpPr/>
          <p:nvPr/>
        </p:nvSpPr>
        <p:spPr>
          <a:xfrm>
            <a:off x="9189720" y="3383280"/>
            <a:ext cx="360" cy="1280160"/>
          </a:xfrm>
          <a:prstGeom prst="line">
            <a:avLst/>
          </a:prstGeom>
          <a:ln w="12700">
            <a:solidFill>
              <a:srgbClr val="D9832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48" name="Shape 27"/>
          <p:cNvSpPr/>
          <p:nvPr/>
        </p:nvSpPr>
        <p:spPr>
          <a:xfrm>
            <a:off x="9098280" y="4572000"/>
            <a:ext cx="182520" cy="182520"/>
          </a:xfrm>
          <a:prstGeom prst="ellipse">
            <a:avLst/>
          </a:prstGeom>
          <a:solidFill>
            <a:srgbClr val="D98324"/>
          </a:solidFill>
          <a:ln w="6350">
            <a:solidFill>
              <a:srgbClr val="D9832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49" name="Text 28"/>
          <p:cNvSpPr/>
          <p:nvPr/>
        </p:nvSpPr>
        <p:spPr>
          <a:xfrm>
            <a:off x="8686800" y="5010840"/>
            <a:ext cx="1005480" cy="438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D98324"/>
                </a:solidFill>
                <a:effectLst/>
                <a:uFillTx/>
                <a:latin typeface="Calibri"/>
                <a:ea typeface="Calibri"/>
              </a:rPr>
              <a:t>k=6</a:t>
            </a:r>
            <a:endParaRPr lang="en-US" sz="1100" b="0" u="none" strike="noStrike">
              <a:solidFill>
                <a:srgbClr val="000000"/>
              </a:solidFill>
              <a:effectLst/>
              <a:uFillTx/>
              <a:latin typeface="Arial"/>
            </a:endParaRPr>
          </a:p>
          <a:p>
            <a:pPr algn="ctr" defTabSz="914400">
              <a:lnSpc>
                <a:spcPct val="100000"/>
              </a:lnSpc>
              <a:tabLst>
                <a:tab pos="0" algn="l"/>
              </a:tabLst>
            </a:pPr>
            <a:r>
              <a:rPr lang="en-US" sz="850" b="0" u="none" strike="noStrike">
                <a:solidFill>
                  <a:srgbClr val="5C6B7A"/>
                </a:solidFill>
                <a:effectLst/>
                <a:uFillTx/>
                <a:latin typeface="Calibri"/>
                <a:ea typeface="Calibri"/>
              </a:rPr>
              <a:t>j</a:t>
            </a:r>
            <a:endParaRPr lang="en-US" sz="850" b="0" u="none" strike="noStrike">
              <a:solidFill>
                <a:srgbClr val="000000"/>
              </a:solidFill>
              <a:effectLst/>
              <a:uFillTx/>
              <a:latin typeface="Arial"/>
            </a:endParaRPr>
          </a:p>
        </p:txBody>
      </p:sp>
      <p:sp>
        <p:nvSpPr>
          <p:cNvPr id="550" name="Shape 29"/>
          <p:cNvSpPr/>
          <p:nvPr/>
        </p:nvSpPr>
        <p:spPr>
          <a:xfrm>
            <a:off x="9189720" y="3383280"/>
            <a:ext cx="905040" cy="905040"/>
          </a:xfrm>
          <a:prstGeom prst="line">
            <a:avLst/>
          </a:prstGeom>
          <a:ln w="12700">
            <a:solidFill>
              <a:srgbClr val="0E838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51" name="Shape 30"/>
          <p:cNvSpPr/>
          <p:nvPr/>
        </p:nvSpPr>
        <p:spPr>
          <a:xfrm>
            <a:off x="10003320" y="4196880"/>
            <a:ext cx="182520" cy="182520"/>
          </a:xfrm>
          <a:prstGeom prst="ellipse">
            <a:avLst/>
          </a:prstGeom>
          <a:solidFill>
            <a:srgbClr val="0E8388"/>
          </a:solidFill>
          <a:ln w="6350">
            <a:solidFill>
              <a:srgbClr val="0E838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52" name="Text 31"/>
          <p:cNvSpPr/>
          <p:nvPr/>
        </p:nvSpPr>
        <p:spPr>
          <a:xfrm>
            <a:off x="9992880" y="4469760"/>
            <a:ext cx="1005480" cy="438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E8388"/>
                </a:solidFill>
                <a:effectLst/>
                <a:uFillTx/>
                <a:latin typeface="Calibri"/>
                <a:ea typeface="Calibri"/>
              </a:rPr>
              <a:t>k=7</a:t>
            </a:r>
            <a:endParaRPr lang="en-US" sz="1100" b="0" u="none" strike="noStrike">
              <a:solidFill>
                <a:srgbClr val="000000"/>
              </a:solidFill>
              <a:effectLst/>
              <a:uFillTx/>
              <a:latin typeface="Arial"/>
            </a:endParaRPr>
          </a:p>
          <a:p>
            <a:pPr algn="ctr" defTabSz="914400">
              <a:lnSpc>
                <a:spcPct val="100000"/>
              </a:lnSpc>
              <a:tabLst>
                <a:tab pos="0" algn="l"/>
              </a:tabLst>
            </a:pPr>
            <a:r>
              <a:rPr lang="en-US" sz="850" b="0" u="none" strike="noStrike">
                <a:solidFill>
                  <a:srgbClr val="5C6B7A"/>
                </a:solidFill>
                <a:effectLst/>
                <a:uFillTx/>
                <a:latin typeface="Calibri"/>
                <a:ea typeface="Calibri"/>
              </a:rPr>
              <a:t>0.71+0.71j</a:t>
            </a:r>
            <a:endParaRPr lang="en-US" sz="850" b="0" u="none" strike="noStrike">
              <a:solidFill>
                <a:srgbClr val="000000"/>
              </a:solidFill>
              <a:effectLst/>
              <a:uFillTx/>
              <a:latin typeface="Arial"/>
            </a:endParaRPr>
          </a:p>
        </p:txBody>
      </p:sp>
      <p:sp>
        <p:nvSpPr>
          <p:cNvPr id="553" name="Shape 32"/>
          <p:cNvSpPr/>
          <p:nvPr/>
        </p:nvSpPr>
        <p:spPr>
          <a:xfrm>
            <a:off x="9153000" y="3346560"/>
            <a:ext cx="72720" cy="72720"/>
          </a:xfrm>
          <a:prstGeom prst="ellipse">
            <a:avLst/>
          </a:prstGeom>
          <a:solidFill>
            <a:srgbClr val="132A4A"/>
          </a:solidFill>
          <a:ln w="6350">
            <a:solidFill>
              <a:srgbClr val="132A4A"/>
            </a:solidFill>
            <a:round/>
          </a:ln>
        </p:spPr>
        <p:style>
          <a:lnRef idx="0"/>
          <a:fillRef idx="0"/>
          <a:effectRef idx="0"/>
          <a:fontRef idx="minor"/>
        </p:style>
        <p:txBody>
          <a:bodyPr lIns="90000" tIns="6840" rIns="90000" bIns="6840" anchor="t">
            <a:noAutofit/>
          </a:bodyPr>
          <a:p>
            <a:endParaRPr lang="en-US" sz="1800" b="0" u="none" strike="noStrike">
              <a:solidFill>
                <a:schemeClr val="dk1"/>
              </a:solidFill>
              <a:effectLst/>
              <a:uFillTx/>
              <a:latin typeface="Calibri"/>
            </a:endParaRPr>
          </a:p>
        </p:txBody>
      </p:sp>
      <p:sp>
        <p:nvSpPr>
          <p:cNvPr id="554" name="Shape 33"/>
          <p:cNvSpPr/>
          <p:nvPr/>
        </p:nvSpPr>
        <p:spPr>
          <a:xfrm>
            <a:off x="6967800" y="5687640"/>
            <a:ext cx="145800" cy="145800"/>
          </a:xfrm>
          <a:prstGeom prst="ellipse">
            <a:avLst/>
          </a:prstGeom>
          <a:solidFill>
            <a:srgbClr val="D98324"/>
          </a:solidFill>
          <a:ln w="6350">
            <a:solidFill>
              <a:srgbClr val="D9832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55" name="Text 34"/>
          <p:cNvSpPr/>
          <p:nvPr/>
        </p:nvSpPr>
        <p:spPr>
          <a:xfrm>
            <a:off x="7178040" y="5641920"/>
            <a:ext cx="237708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5C6B7A"/>
                </a:solidFill>
                <a:effectLst/>
                <a:uFillTx/>
                <a:latin typeface="Calibri"/>
                <a:ea typeface="Calibri"/>
              </a:rPr>
              <a:t>trivial: 1, -1, j, -j (no multiplier)</a:t>
            </a:r>
            <a:endParaRPr lang="en-US" sz="1100" b="0" u="none" strike="noStrike">
              <a:solidFill>
                <a:srgbClr val="000000"/>
              </a:solidFill>
              <a:effectLst/>
              <a:uFillTx/>
              <a:latin typeface="Arial"/>
            </a:endParaRPr>
          </a:p>
        </p:txBody>
      </p:sp>
      <p:sp>
        <p:nvSpPr>
          <p:cNvPr id="556" name="Shape 35"/>
          <p:cNvSpPr/>
          <p:nvPr/>
        </p:nvSpPr>
        <p:spPr>
          <a:xfrm>
            <a:off x="9619560" y="5687640"/>
            <a:ext cx="145800" cy="145800"/>
          </a:xfrm>
          <a:prstGeom prst="ellipse">
            <a:avLst/>
          </a:prstGeom>
          <a:solidFill>
            <a:srgbClr val="0E8388"/>
          </a:solidFill>
          <a:ln w="6350">
            <a:solidFill>
              <a:srgbClr val="0E838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57" name="Text 36"/>
          <p:cNvSpPr/>
          <p:nvPr/>
        </p:nvSpPr>
        <p:spPr>
          <a:xfrm>
            <a:off x="9829800" y="5641920"/>
            <a:ext cx="173700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5C6B7A"/>
                </a:solidFill>
                <a:effectLst/>
                <a:uFillTx/>
                <a:latin typeface="Calibri"/>
                <a:ea typeface="Calibri"/>
              </a:rPr>
              <a:t>general complex multiply</a:t>
            </a:r>
            <a:endParaRPr lang="en-US" sz="1100" b="0" u="none" strike="noStrike">
              <a:solidFill>
                <a:srgbClr val="000000"/>
              </a:solidFill>
              <a:effectLst/>
              <a:uFillTx/>
              <a:latin typeface="Arial"/>
            </a:endParaRPr>
          </a:p>
        </p:txBody>
      </p:sp>
      <p:sp>
        <p:nvSpPr>
          <p:cNvPr id="558" name="Text 37"/>
          <p:cNvSpPr/>
          <p:nvPr/>
        </p:nvSpPr>
        <p:spPr>
          <a:xfrm>
            <a:off x="502920" y="5623560"/>
            <a:ext cx="5943240" cy="73116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i="1" u="none" strike="noStrike">
                <a:solidFill>
                  <a:srgbClr val="5C6B7A"/>
                </a:solidFill>
                <a:effectLst/>
                <a:uFillTx/>
                <a:latin typeface="Calibri"/>
                <a:ea typeface="Calibri"/>
              </a:rPr>
              <a:t>Four of the eight values (k = 0, 2, 4, 6) are trivial: multiplying by them needs only a sign flip and/or a swap, no real multiplier. This matters directly for the hardware operation count.</a:t>
            </a:r>
            <a:endParaRPr lang="en-US" sz="1300" b="0" u="none" strike="noStrike">
              <a:solidFill>
                <a:srgbClr val="000000"/>
              </a:solidFill>
              <a:effectLst/>
              <a:uFillTx/>
              <a:latin typeface="Arial"/>
            </a:endParaRPr>
          </a:p>
        </p:txBody>
      </p:sp>
      <p:sp>
        <p:nvSpPr>
          <p:cNvPr id="559" name="Shape 38"/>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560" name="Shape 39"/>
          <p:cNvSpPr/>
          <p:nvPr/>
        </p:nvSpPr>
        <p:spPr>
          <a:xfrm>
            <a:off x="502920" y="6473880"/>
            <a:ext cx="451512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561" name="Text 40"/>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000000"/>
              </a:solidFill>
              <a:effectLst/>
              <a:uFillTx/>
              <a:latin typeface="Arial"/>
            </a:endParaRPr>
          </a:p>
        </p:txBody>
      </p:sp>
      <p:sp>
        <p:nvSpPr>
          <p:cNvPr id="562" name="Text 41"/>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FFT8 (DIT)     17</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563"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3A · FFT8 WITH DIT</a:t>
            </a:r>
            <a:endParaRPr lang="en-US" sz="1150" b="0" u="none" strike="noStrike">
              <a:solidFill>
                <a:srgbClr val="000000"/>
              </a:solidFill>
              <a:effectLst/>
              <a:uFillTx/>
              <a:latin typeface="Arial"/>
            </a:endParaRPr>
          </a:p>
        </p:txBody>
      </p:sp>
      <p:sp>
        <p:nvSpPr>
          <p:cNvPr id="564"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The 8-Point FFT (DIT): Three Stages</a:t>
            </a:r>
            <a:endParaRPr lang="en-US" sz="2600" b="0" u="none" strike="noStrike">
              <a:solidFill>
                <a:srgbClr val="000000"/>
              </a:solidFill>
              <a:effectLst/>
              <a:uFillTx/>
              <a:latin typeface="Arial"/>
            </a:endParaRPr>
          </a:p>
        </p:txBody>
      </p:sp>
      <p:sp>
        <p:nvSpPr>
          <p:cNvPr id="565" name="Shape 2"/>
          <p:cNvSpPr/>
          <p:nvPr/>
        </p:nvSpPr>
        <p:spPr>
          <a:xfrm>
            <a:off x="502920" y="1234440"/>
            <a:ext cx="5120280" cy="639720"/>
          </a:xfrm>
          <a:prstGeom prst="roundRect">
            <a:avLst>
              <a:gd name="adj" fmla="val 8571"/>
            </a:avLst>
          </a:prstGeom>
          <a:solidFill>
            <a:srgbClr val="132A4A"/>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66" name="Text 3"/>
          <p:cNvSpPr/>
          <p:nvPr/>
        </p:nvSpPr>
        <p:spPr>
          <a:xfrm>
            <a:off x="502920" y="1234440"/>
            <a:ext cx="5120280" cy="639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800" b="1" u="none" strike="noStrike">
                <a:solidFill>
                  <a:srgbClr val="FFFFFF"/>
                </a:solidFill>
                <a:effectLst/>
                <a:uFillTx/>
                <a:latin typeface="Cambria"/>
                <a:ea typeface="Cambria"/>
              </a:rPr>
              <a:t>Stages = log</a:t>
            </a:r>
            <a:r>
              <a:rPr lang="en-US" sz="1800" b="1" u="none" strike="noStrike" baseline="-40000">
                <a:solidFill>
                  <a:srgbClr val="FFFFFF"/>
                </a:solidFill>
                <a:effectLst/>
                <a:uFillTx/>
                <a:latin typeface="Cambria"/>
                <a:ea typeface="Cambria"/>
              </a:rPr>
              <a:t>2</a:t>
            </a:r>
            <a:r>
              <a:rPr lang="en-US" sz="1800" b="1" u="none" strike="noStrike">
                <a:solidFill>
                  <a:srgbClr val="FFFFFF"/>
                </a:solidFill>
                <a:effectLst/>
                <a:uFillTx/>
                <a:latin typeface="Cambria"/>
                <a:ea typeface="Cambria"/>
              </a:rPr>
              <a:t>(8) = 3</a:t>
            </a:r>
            <a:endParaRPr lang="en-US" sz="1800" b="0" u="none" strike="noStrike">
              <a:solidFill>
                <a:srgbClr val="000000"/>
              </a:solidFill>
              <a:effectLst/>
              <a:uFillTx/>
              <a:latin typeface="Arial"/>
            </a:endParaRPr>
          </a:p>
        </p:txBody>
      </p:sp>
      <p:sp>
        <p:nvSpPr>
          <p:cNvPr id="567" name="Text 4"/>
          <p:cNvSpPr/>
          <p:nvPr/>
        </p:nvSpPr>
        <p:spPr>
          <a:xfrm>
            <a:off x="502920" y="2057400"/>
            <a:ext cx="5120280" cy="118836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Each stage corresponds to one level of the recursive decomposition tree, read bottom-up: combine 1-point results into 2-point, 2-point into 4-point, 4-point into the final 8-point result.</a:t>
            </a:r>
            <a:endParaRPr lang="en-US" sz="1300" b="0" u="none" strike="noStrike">
              <a:solidFill>
                <a:srgbClr val="000000"/>
              </a:solidFill>
              <a:effectLst/>
              <a:uFillTx/>
              <a:latin typeface="Arial"/>
            </a:endParaRPr>
          </a:p>
        </p:txBody>
      </p:sp>
      <p:sp>
        <p:nvSpPr>
          <p:cNvPr id="568" name="Shape 5"/>
          <p:cNvSpPr/>
          <p:nvPr/>
        </p:nvSpPr>
        <p:spPr>
          <a:xfrm>
            <a:off x="502920" y="3337560"/>
            <a:ext cx="5120280" cy="1371240"/>
          </a:xfrm>
          <a:prstGeom prst="roundRect">
            <a:avLst>
              <a:gd name="adj" fmla="val 4000"/>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69" name="Text 6"/>
          <p:cNvSpPr/>
          <p:nvPr/>
        </p:nvSpPr>
        <p:spPr>
          <a:xfrm>
            <a:off x="685800" y="3456360"/>
            <a:ext cx="4754520" cy="114264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Every stage has exactly N/2 = 4 butterflies, since each butterfly consumes 2 inputs and produces 2 outputs and every stage processes all 8 data points once.</a:t>
            </a:r>
            <a:endParaRPr lang="en-US" sz="1300" b="0" u="none" strike="noStrike">
              <a:solidFill>
                <a:srgbClr val="000000"/>
              </a:solidFill>
              <a:effectLst/>
              <a:uFillTx/>
              <a:latin typeface="Arial"/>
            </a:endParaRPr>
          </a:p>
          <a:p>
            <a:pPr defTabSz="914400">
              <a:lnSpc>
                <a:spcPct val="118000"/>
              </a:lnSpc>
              <a:tabLst>
                <a:tab pos="0" algn="l"/>
              </a:tabLst>
            </a:pPr>
            <a:endParaRPr lang="en-US" sz="137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16202E"/>
                </a:solidFill>
                <a:effectLst/>
                <a:uFillTx/>
                <a:latin typeface="Calibri"/>
                <a:ea typeface="Calibri"/>
              </a:rPr>
              <a:t>(N/2) x log₂N = 4 x 3 = 12 butterflies total.</a:t>
            </a:r>
            <a:endParaRPr lang="en-US" sz="1300" b="0" u="none" strike="noStrike">
              <a:solidFill>
                <a:srgbClr val="000000"/>
              </a:solidFill>
              <a:effectLst/>
              <a:uFillTx/>
              <a:latin typeface="Arial"/>
            </a:endParaRPr>
          </a:p>
        </p:txBody>
      </p:sp>
      <p:graphicFrame>
        <p:nvGraphicFramePr>
          <p:cNvPr id="570" name="Table 0"/>
          <p:cNvGraphicFramePr/>
          <p:nvPr/>
        </p:nvGraphicFramePr>
        <p:xfrm>
          <a:off x="6446520" y="1234440"/>
          <a:ext cx="4937400" cy="1170000"/>
        </p:xfrm>
        <a:graphic>
          <a:graphicData uri="http://schemas.openxmlformats.org/drawingml/2006/table">
            <a:tbl>
              <a:tblPr/>
              <a:tblGrid>
                <a:gridCol w="548640"/>
                <a:gridCol w="1371600"/>
                <a:gridCol w="731520"/>
                <a:gridCol w="1554480"/>
                <a:gridCol w="731520"/>
              </a:tblGrid>
              <a:tr h="292320">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Stage</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Combines</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Size</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Twiddles used</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Count</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1-pt → 2-pt</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N=2</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W₂⁰ = 1 (trivial)</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2</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2-pt → 4-pt</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N=4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W₄⁰, W₄¹</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3</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4-pt → 8-pt</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N=8</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W₈⁰..W₈³</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bl>
          </a:graphicData>
        </a:graphic>
      </p:graphicFrame>
      <p:sp>
        <p:nvSpPr>
          <p:cNvPr id="571" name="Shape 7"/>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572" name="Shape 8"/>
          <p:cNvSpPr/>
          <p:nvPr/>
        </p:nvSpPr>
        <p:spPr>
          <a:xfrm>
            <a:off x="502920" y="6473880"/>
            <a:ext cx="478080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573" name="Text 9"/>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000000"/>
              </a:solidFill>
              <a:effectLst/>
              <a:uFillTx/>
              <a:latin typeface="Arial"/>
            </a:endParaRPr>
          </a:p>
        </p:txBody>
      </p:sp>
      <p:sp>
        <p:nvSpPr>
          <p:cNvPr id="574" name="Text 10"/>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FFT8 (DIT)     18</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575"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3A · FFT8 WITH DIT</a:t>
            </a:r>
            <a:endParaRPr lang="en-US" sz="1150" b="0" u="none" strike="noStrike">
              <a:solidFill>
                <a:srgbClr val="000000"/>
              </a:solidFill>
              <a:effectLst/>
              <a:uFillTx/>
              <a:latin typeface="Arial"/>
            </a:endParaRPr>
          </a:p>
        </p:txBody>
      </p:sp>
      <p:sp>
        <p:nvSpPr>
          <p:cNvPr id="576"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DIT Stage 1 &amp; Stage 2: Building Up the Result</a:t>
            </a:r>
            <a:endParaRPr lang="en-US" sz="2600" b="0" u="none" strike="noStrike">
              <a:solidFill>
                <a:srgbClr val="000000"/>
              </a:solidFill>
              <a:effectLst/>
              <a:uFillTx/>
              <a:latin typeface="Arial"/>
            </a:endParaRPr>
          </a:p>
        </p:txBody>
      </p:sp>
      <p:sp>
        <p:nvSpPr>
          <p:cNvPr id="577" name="Text 2"/>
          <p:cNvSpPr/>
          <p:nvPr/>
        </p:nvSpPr>
        <p:spPr>
          <a:xfrm>
            <a:off x="502920" y="1188720"/>
            <a:ext cx="52117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STAGE 1 · FOUR TRIVIAL 2-POINT BUTTERFLIES</a:t>
            </a:r>
            <a:endParaRPr lang="en-US" sz="1100" b="0" u="none" strike="noStrike">
              <a:solidFill>
                <a:srgbClr val="000000"/>
              </a:solidFill>
              <a:effectLst/>
              <a:uFillTx/>
              <a:latin typeface="Arial"/>
            </a:endParaRPr>
          </a:p>
        </p:txBody>
      </p:sp>
      <p:graphicFrame>
        <p:nvGraphicFramePr>
          <p:cNvPr id="578" name="Table 0"/>
          <p:cNvGraphicFramePr/>
          <p:nvPr/>
        </p:nvGraphicFramePr>
        <p:xfrm>
          <a:off x="502920" y="1481400"/>
          <a:ext cx="5211720" cy="1462680"/>
        </p:xfrm>
        <a:graphic>
          <a:graphicData uri="http://schemas.openxmlformats.org/drawingml/2006/table">
            <a:tbl>
              <a:tblPr/>
              <a:tblGrid>
                <a:gridCol w="1042200"/>
                <a:gridCol w="1042200"/>
                <a:gridCol w="1042200"/>
                <a:gridCol w="1042200"/>
                <a:gridCol w="1042200"/>
              </a:tblGrid>
              <a:tr h="292320">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BFly</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Inputs</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Twiddle</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A+B</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A-B</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x0,x4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W₂⁰=1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x0+x4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x0-x4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2</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x2,x6</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W₂⁰=1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x2+x6</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x2-x6</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3</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x1,x5</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W₂⁰=1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x1+x5</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x1-x5</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x3,x7</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W₂⁰=1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x3+x7</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x3-x7</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bl>
          </a:graphicData>
        </a:graphic>
      </p:graphicFrame>
      <p:sp>
        <p:nvSpPr>
          <p:cNvPr id="579" name="Text 3"/>
          <p:cNvSpPr/>
          <p:nvPr/>
        </p:nvSpPr>
        <p:spPr>
          <a:xfrm>
            <a:off x="502920" y="3063240"/>
            <a:ext cx="5211720" cy="50256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i="1" u="none" strike="noStrike">
                <a:solidFill>
                  <a:srgbClr val="5C6B7A"/>
                </a:solidFill>
                <a:effectLst/>
                <a:uFillTx/>
                <a:latin typeface="Calibri"/>
                <a:ea typeface="Calibri"/>
              </a:rPr>
              <a:t>Every Stage-1 twiddle is trivial (W₂⁰=1): only additions and subtractions, no genuine multiply. Each butterfly writes back in place.</a:t>
            </a:r>
            <a:endParaRPr lang="en-US" sz="1300" b="0" u="none" strike="noStrike">
              <a:solidFill>
                <a:srgbClr val="000000"/>
              </a:solidFill>
              <a:effectLst/>
              <a:uFillTx/>
              <a:latin typeface="Arial"/>
            </a:endParaRPr>
          </a:p>
        </p:txBody>
      </p:sp>
      <p:sp>
        <p:nvSpPr>
          <p:cNvPr id="580" name="Text 4"/>
          <p:cNvSpPr/>
          <p:nvPr/>
        </p:nvSpPr>
        <p:spPr>
          <a:xfrm>
            <a:off x="6446520" y="1188720"/>
            <a:ext cx="493740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STAGE 2 · COMBINE INTO FOUR-POINT RESULTS</a:t>
            </a:r>
            <a:endParaRPr lang="en-US" sz="1100" b="0" u="none" strike="noStrike">
              <a:solidFill>
                <a:srgbClr val="000000"/>
              </a:solidFill>
              <a:effectLst/>
              <a:uFillTx/>
              <a:latin typeface="Arial"/>
            </a:endParaRPr>
          </a:p>
        </p:txBody>
      </p:sp>
      <p:graphicFrame>
        <p:nvGraphicFramePr>
          <p:cNvPr id="581" name="Table 1"/>
          <p:cNvGraphicFramePr/>
          <p:nvPr/>
        </p:nvGraphicFramePr>
        <p:xfrm>
          <a:off x="6446520" y="1481400"/>
          <a:ext cx="4937400" cy="1462680"/>
        </p:xfrm>
        <a:graphic>
          <a:graphicData uri="http://schemas.openxmlformats.org/drawingml/2006/table">
            <a:tbl>
              <a:tblPr/>
              <a:tblGrid>
                <a:gridCol w="457200"/>
                <a:gridCol w="365760"/>
                <a:gridCol w="1737360"/>
                <a:gridCol w="914400"/>
                <a:gridCol w="1463040"/>
              </a:tblGrid>
              <a:tr h="292320">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Grp</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k</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Inputs</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Twiddle</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Outputs</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A</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0</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(x0+x4),(x2+x6)</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W₄⁰=1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sum, diff</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A</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(x0-x4),(x2-x6)</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W₄¹=-j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sum, diff (rotated)</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B</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0</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(x1+x5),(x3+x7)</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W₄⁰=1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sum, diff</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B</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(x1-x5),(x3-x7)</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W₄¹=-j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sum, diff (rotated)</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bl>
          </a:graphicData>
        </a:graphic>
      </p:graphicFrame>
      <p:sp>
        <p:nvSpPr>
          <p:cNvPr id="582" name="Text 5"/>
          <p:cNvSpPr/>
          <p:nvPr/>
        </p:nvSpPr>
        <p:spPr>
          <a:xfrm>
            <a:off x="6446520" y="3063240"/>
            <a:ext cx="4937400" cy="82260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i="1" u="none" strike="noStrike">
                <a:solidFill>
                  <a:srgbClr val="5C6B7A"/>
                </a:solidFill>
                <a:effectLst/>
                <a:uFillTx/>
                <a:latin typeface="Calibri"/>
                <a:ea typeface="Calibri"/>
              </a:rPr>
              <a:t>Group A produces E[0..3] (even samples), Group B produces O[0..3] (odd samples). W₄¹=-j is trivial: it swaps real/imaginary parts and flips a sign, no true multiplier needed.</a:t>
            </a:r>
            <a:endParaRPr lang="en-US" sz="1300" b="0" u="none" strike="noStrike">
              <a:solidFill>
                <a:srgbClr val="000000"/>
              </a:solidFill>
              <a:effectLst/>
              <a:uFillTx/>
              <a:latin typeface="Arial"/>
            </a:endParaRPr>
          </a:p>
        </p:txBody>
      </p:sp>
      <p:sp>
        <p:nvSpPr>
          <p:cNvPr id="583" name="Shape 6"/>
          <p:cNvSpPr/>
          <p:nvPr/>
        </p:nvSpPr>
        <p:spPr>
          <a:xfrm>
            <a:off x="502920" y="3794760"/>
            <a:ext cx="11155320" cy="1279800"/>
          </a:xfrm>
          <a:prstGeom prst="roundRect">
            <a:avLst>
              <a:gd name="adj" fmla="val 4286"/>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84" name="Text 7"/>
          <p:cNvSpPr/>
          <p:nvPr/>
        </p:nvSpPr>
        <p:spPr>
          <a:xfrm>
            <a:off x="685800" y="3931920"/>
            <a:ext cx="10789560" cy="100548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Butterflies per stage: 4 (= N/2) in both Stage 1 and Stage 2. Stage 1 works on bit-reversed input pairs; Stage 2 combines the four 2-point results into two 4-point DFTs, E[k] and O[k], ready for the final combination in Stage 3.</a:t>
            </a:r>
            <a:endParaRPr lang="en-US" sz="1300" b="0" u="none" strike="noStrike">
              <a:solidFill>
                <a:srgbClr val="000000"/>
              </a:solidFill>
              <a:effectLst/>
              <a:uFillTx/>
              <a:latin typeface="Arial"/>
            </a:endParaRPr>
          </a:p>
        </p:txBody>
      </p:sp>
      <p:sp>
        <p:nvSpPr>
          <p:cNvPr id="585" name="Shape 8"/>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586" name="Shape 9"/>
          <p:cNvSpPr/>
          <p:nvPr/>
        </p:nvSpPr>
        <p:spPr>
          <a:xfrm>
            <a:off x="502920" y="6473880"/>
            <a:ext cx="504612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587" name="Text 10"/>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000000"/>
              </a:solidFill>
              <a:effectLst/>
              <a:uFillTx/>
              <a:latin typeface="Arial"/>
            </a:endParaRPr>
          </a:p>
        </p:txBody>
      </p:sp>
      <p:sp>
        <p:nvSpPr>
          <p:cNvPr id="588" name="Text 11"/>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FFT8 (DIT)     19</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589"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3A · FFT8 WITH DIT</a:t>
            </a:r>
            <a:endParaRPr lang="en-US" sz="1150" b="0" u="none" strike="noStrike">
              <a:solidFill>
                <a:srgbClr val="000000"/>
              </a:solidFill>
              <a:effectLst/>
              <a:uFillTx/>
              <a:latin typeface="Arial"/>
            </a:endParaRPr>
          </a:p>
        </p:txBody>
      </p:sp>
      <p:sp>
        <p:nvSpPr>
          <p:cNvPr id="590"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DIT Stage 3: Final Combination Into X[k]</a:t>
            </a:r>
            <a:endParaRPr lang="en-US" sz="2600" b="0" u="none" strike="noStrike">
              <a:solidFill>
                <a:srgbClr val="000000"/>
              </a:solidFill>
              <a:effectLst/>
              <a:uFillTx/>
              <a:latin typeface="Arial"/>
            </a:endParaRPr>
          </a:p>
        </p:txBody>
      </p:sp>
      <p:sp>
        <p:nvSpPr>
          <p:cNvPr id="591" name="Text 2"/>
          <p:cNvSpPr/>
          <p:nvPr/>
        </p:nvSpPr>
        <p:spPr>
          <a:xfrm>
            <a:off x="502920" y="1188720"/>
            <a:ext cx="11155320" cy="50256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Inputs: the two 4-point results, E[k] (Group A) and O[k] (Group B), combined with the full set of 8-point twiddle factors.</a:t>
            </a:r>
            <a:endParaRPr lang="en-US" sz="1300" b="0" u="none" strike="noStrike">
              <a:solidFill>
                <a:srgbClr val="000000"/>
              </a:solidFill>
              <a:effectLst/>
              <a:uFillTx/>
              <a:latin typeface="Arial"/>
            </a:endParaRPr>
          </a:p>
        </p:txBody>
      </p:sp>
      <p:graphicFrame>
        <p:nvGraphicFramePr>
          <p:cNvPr id="592" name="Table 0"/>
          <p:cNvGraphicFramePr/>
          <p:nvPr/>
        </p:nvGraphicFramePr>
        <p:xfrm>
          <a:off x="502920" y="1828800"/>
          <a:ext cx="11155320" cy="1462680"/>
        </p:xfrm>
        <a:graphic>
          <a:graphicData uri="http://schemas.openxmlformats.org/drawingml/2006/table">
            <a:tbl>
              <a:tblPr/>
              <a:tblGrid>
                <a:gridCol w="640080"/>
                <a:gridCol w="1280160"/>
                <a:gridCol w="1280160"/>
                <a:gridCol w="2468880"/>
                <a:gridCol w="2743200"/>
                <a:gridCol w="2743200"/>
              </a:tblGrid>
              <a:tr h="292320">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k</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E[k]</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O[k]</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Twiddle W₈ᵏ</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X[k]=E[k]+W₈ᵏO[k]</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X[k+4]=E[k]-W₈ᵏO[k]</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0</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E[0]</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O[0]</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X[0]</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E[1]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O[1]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0.7071-j0.7071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X[5]</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2</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E[2]</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O[2]</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X[2]</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X[6]</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3</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E[3]</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O[3]</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-0.7071-j0.7071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X[3]</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X[7]</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bl>
          </a:graphicData>
        </a:graphic>
      </p:graphicFrame>
      <p:sp>
        <p:nvSpPr>
          <p:cNvPr id="593" name="Shape 3"/>
          <p:cNvSpPr/>
          <p:nvPr/>
        </p:nvSpPr>
        <p:spPr>
          <a:xfrm>
            <a:off x="502920" y="3794760"/>
            <a:ext cx="11155320" cy="1371240"/>
          </a:xfrm>
          <a:prstGeom prst="roundRect">
            <a:avLst>
              <a:gd name="adj" fmla="val 4000"/>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94" name="Text 4"/>
          <p:cNvSpPr/>
          <p:nvPr/>
        </p:nvSpPr>
        <p:spPr>
          <a:xfrm>
            <a:off x="685800" y="3931920"/>
            <a:ext cx="10789560" cy="10969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This is exactly the equation pair from Section 2, evaluated four times. Only k=1 and k=3 need a genuine complex multiplication (by W₈¹ and W₈³); k=0 and k=2 use trivial twiddle factors (1 and -j). After this stage the outputs X[0]..X[7] are already in natural order, no permutation needed for DIT.</a:t>
            </a:r>
            <a:endParaRPr lang="en-US" sz="1300" b="0" u="none" strike="noStrike">
              <a:solidFill>
                <a:srgbClr val="000000"/>
              </a:solidFill>
              <a:effectLst/>
              <a:uFillTx/>
              <a:latin typeface="Arial"/>
            </a:endParaRPr>
          </a:p>
        </p:txBody>
      </p:sp>
      <p:sp>
        <p:nvSpPr>
          <p:cNvPr id="595" name="Shape 5"/>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596" name="Shape 6"/>
          <p:cNvSpPr/>
          <p:nvPr/>
        </p:nvSpPr>
        <p:spPr>
          <a:xfrm>
            <a:off x="502920" y="6473880"/>
            <a:ext cx="531180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597" name="Text 7"/>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000000"/>
              </a:solidFill>
              <a:effectLst/>
              <a:uFillTx/>
              <a:latin typeface="Arial"/>
            </a:endParaRPr>
          </a:p>
        </p:txBody>
      </p:sp>
      <p:sp>
        <p:nvSpPr>
          <p:cNvPr id="598" name="Text 8"/>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FFT8 (DIT)     20</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599"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3A · FFT8 WITH DIT</a:t>
            </a:r>
            <a:endParaRPr lang="en-US" sz="1150" b="0" u="none" strike="noStrike">
              <a:solidFill>
                <a:srgbClr val="000000"/>
              </a:solidFill>
              <a:effectLst/>
              <a:uFillTx/>
              <a:latin typeface="Arial"/>
            </a:endParaRPr>
          </a:p>
        </p:txBody>
      </p:sp>
      <p:sp>
        <p:nvSpPr>
          <p:cNvPr id="600"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Complete Flow Graph (DIT)</a:t>
            </a:r>
            <a:endParaRPr lang="en-US" sz="2600" b="0" u="none" strike="noStrike">
              <a:solidFill>
                <a:srgbClr val="000000"/>
              </a:solidFill>
              <a:effectLst/>
              <a:uFillTx/>
              <a:latin typeface="Arial"/>
            </a:endParaRPr>
          </a:p>
        </p:txBody>
      </p:sp>
      <p:sp>
        <p:nvSpPr>
          <p:cNvPr id="601" name="Text 2"/>
          <p:cNvSpPr/>
          <p:nvPr/>
        </p:nvSpPr>
        <p:spPr>
          <a:xfrm>
            <a:off x="502920" y="1298520"/>
            <a:ext cx="1371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5C6B7A"/>
                </a:solidFill>
                <a:effectLst/>
                <a:uFillTx/>
                <a:latin typeface="Calibri"/>
                <a:ea typeface="Calibri"/>
              </a:rPr>
              <a:t>Bit-reversed input</a:t>
            </a:r>
            <a:endParaRPr lang="en-US" sz="1100" b="0" u="none" strike="noStrike">
              <a:solidFill>
                <a:srgbClr val="000000"/>
              </a:solidFill>
              <a:effectLst/>
              <a:uFillTx/>
              <a:latin typeface="Arial"/>
            </a:endParaRPr>
          </a:p>
        </p:txBody>
      </p:sp>
      <p:sp>
        <p:nvSpPr>
          <p:cNvPr id="602" name="Text 3"/>
          <p:cNvSpPr/>
          <p:nvPr/>
        </p:nvSpPr>
        <p:spPr>
          <a:xfrm>
            <a:off x="2263320" y="1298520"/>
            <a:ext cx="182844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Stage 1</a:t>
            </a:r>
            <a:endParaRPr lang="en-US" sz="1100" b="0" u="none" strike="noStrike">
              <a:solidFill>
                <a:srgbClr val="000000"/>
              </a:solidFill>
              <a:effectLst/>
              <a:uFillTx/>
              <a:latin typeface="Arial"/>
            </a:endParaRPr>
          </a:p>
        </p:txBody>
      </p:sp>
      <p:sp>
        <p:nvSpPr>
          <p:cNvPr id="603" name="Text 4"/>
          <p:cNvSpPr/>
          <p:nvPr/>
        </p:nvSpPr>
        <p:spPr>
          <a:xfrm>
            <a:off x="4869360" y="1298520"/>
            <a:ext cx="182844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Stage 2</a:t>
            </a:r>
            <a:endParaRPr lang="en-US" sz="1100" b="0" u="none" strike="noStrike">
              <a:solidFill>
                <a:srgbClr val="000000"/>
              </a:solidFill>
              <a:effectLst/>
              <a:uFillTx/>
              <a:latin typeface="Arial"/>
            </a:endParaRPr>
          </a:p>
        </p:txBody>
      </p:sp>
      <p:sp>
        <p:nvSpPr>
          <p:cNvPr id="604" name="Text 5"/>
          <p:cNvSpPr/>
          <p:nvPr/>
        </p:nvSpPr>
        <p:spPr>
          <a:xfrm>
            <a:off x="7475400" y="1298520"/>
            <a:ext cx="182844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Stage 3</a:t>
            </a:r>
            <a:endParaRPr lang="en-US" sz="1100" b="0" u="none" strike="noStrike">
              <a:solidFill>
                <a:srgbClr val="000000"/>
              </a:solidFill>
              <a:effectLst/>
              <a:uFillTx/>
              <a:latin typeface="Arial"/>
            </a:endParaRPr>
          </a:p>
        </p:txBody>
      </p:sp>
      <p:sp>
        <p:nvSpPr>
          <p:cNvPr id="605" name="Text 6"/>
          <p:cNvSpPr/>
          <p:nvPr/>
        </p:nvSpPr>
        <p:spPr>
          <a:xfrm>
            <a:off x="9921240" y="1298520"/>
            <a:ext cx="191988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5C6B7A"/>
                </a:solidFill>
                <a:effectLst/>
                <a:uFillTx/>
                <a:latin typeface="Calibri"/>
                <a:ea typeface="Calibri"/>
              </a:rPr>
              <a:t>Output (natural order)</a:t>
            </a:r>
            <a:endParaRPr lang="en-US" sz="1100" b="0" u="none" strike="noStrike">
              <a:solidFill>
                <a:srgbClr val="000000"/>
              </a:solidFill>
              <a:effectLst/>
              <a:uFillTx/>
              <a:latin typeface="Arial"/>
            </a:endParaRPr>
          </a:p>
        </p:txBody>
      </p:sp>
      <p:sp>
        <p:nvSpPr>
          <p:cNvPr id="606" name="Shape 7"/>
          <p:cNvSpPr/>
          <p:nvPr/>
        </p:nvSpPr>
        <p:spPr>
          <a:xfrm>
            <a:off x="1874520" y="1828800"/>
            <a:ext cx="964440" cy="20556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07" name="Shape 8"/>
          <p:cNvSpPr/>
          <p:nvPr/>
        </p:nvSpPr>
        <p:spPr>
          <a:xfrm flipV="1">
            <a:off x="1874520" y="2171520"/>
            <a:ext cx="964440" cy="2059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08" name="Shape 9"/>
          <p:cNvSpPr/>
          <p:nvPr/>
        </p:nvSpPr>
        <p:spPr>
          <a:xfrm flipV="1">
            <a:off x="3515760" y="1828800"/>
            <a:ext cx="964800" cy="20556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09" name="Shape 10"/>
          <p:cNvSpPr/>
          <p:nvPr/>
        </p:nvSpPr>
        <p:spPr>
          <a:xfrm>
            <a:off x="3515760" y="2171520"/>
            <a:ext cx="964800" cy="2059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10" name="Shape 11"/>
          <p:cNvSpPr/>
          <p:nvPr/>
        </p:nvSpPr>
        <p:spPr>
          <a:xfrm>
            <a:off x="1874520" y="2926080"/>
            <a:ext cx="964440" cy="20556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11" name="Shape 12"/>
          <p:cNvSpPr/>
          <p:nvPr/>
        </p:nvSpPr>
        <p:spPr>
          <a:xfrm flipV="1">
            <a:off x="1874520" y="3268800"/>
            <a:ext cx="964440" cy="2059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12" name="Shape 13"/>
          <p:cNvSpPr/>
          <p:nvPr/>
        </p:nvSpPr>
        <p:spPr>
          <a:xfrm flipV="1">
            <a:off x="3515760" y="2926080"/>
            <a:ext cx="964800" cy="20556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13" name="Shape 14"/>
          <p:cNvSpPr/>
          <p:nvPr/>
        </p:nvSpPr>
        <p:spPr>
          <a:xfrm>
            <a:off x="3515760" y="3268800"/>
            <a:ext cx="964800" cy="2059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14" name="Shape 15"/>
          <p:cNvSpPr/>
          <p:nvPr/>
        </p:nvSpPr>
        <p:spPr>
          <a:xfrm>
            <a:off x="1874520" y="4023360"/>
            <a:ext cx="964440" cy="20556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15" name="Shape 16"/>
          <p:cNvSpPr/>
          <p:nvPr/>
        </p:nvSpPr>
        <p:spPr>
          <a:xfrm flipV="1">
            <a:off x="1874520" y="4366080"/>
            <a:ext cx="964440" cy="2059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16" name="Shape 17"/>
          <p:cNvSpPr/>
          <p:nvPr/>
        </p:nvSpPr>
        <p:spPr>
          <a:xfrm flipV="1">
            <a:off x="3515760" y="4023360"/>
            <a:ext cx="964800" cy="20556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17" name="Shape 18"/>
          <p:cNvSpPr/>
          <p:nvPr/>
        </p:nvSpPr>
        <p:spPr>
          <a:xfrm>
            <a:off x="3515760" y="4366080"/>
            <a:ext cx="964800" cy="2059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18" name="Shape 19"/>
          <p:cNvSpPr/>
          <p:nvPr/>
        </p:nvSpPr>
        <p:spPr>
          <a:xfrm>
            <a:off x="1874520" y="5120640"/>
            <a:ext cx="964440" cy="20556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19" name="Shape 20"/>
          <p:cNvSpPr/>
          <p:nvPr/>
        </p:nvSpPr>
        <p:spPr>
          <a:xfrm flipV="1">
            <a:off x="1874520" y="5463360"/>
            <a:ext cx="964440" cy="2059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20" name="Shape 21"/>
          <p:cNvSpPr/>
          <p:nvPr/>
        </p:nvSpPr>
        <p:spPr>
          <a:xfrm flipV="1">
            <a:off x="3515760" y="5120640"/>
            <a:ext cx="964800" cy="20556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21" name="Shape 22"/>
          <p:cNvSpPr/>
          <p:nvPr/>
        </p:nvSpPr>
        <p:spPr>
          <a:xfrm>
            <a:off x="3515760" y="5463360"/>
            <a:ext cx="964800" cy="2059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22" name="Shape 23"/>
          <p:cNvSpPr/>
          <p:nvPr/>
        </p:nvSpPr>
        <p:spPr>
          <a:xfrm>
            <a:off x="4480560" y="1828800"/>
            <a:ext cx="964440" cy="4798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23" name="Shape 24"/>
          <p:cNvSpPr/>
          <p:nvPr/>
        </p:nvSpPr>
        <p:spPr>
          <a:xfrm flipV="1">
            <a:off x="4480560" y="2445840"/>
            <a:ext cx="964440" cy="48024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24" name="Shape 25"/>
          <p:cNvSpPr/>
          <p:nvPr/>
        </p:nvSpPr>
        <p:spPr>
          <a:xfrm flipV="1">
            <a:off x="6121800" y="1828800"/>
            <a:ext cx="964800" cy="4798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25" name="Shape 26"/>
          <p:cNvSpPr/>
          <p:nvPr/>
        </p:nvSpPr>
        <p:spPr>
          <a:xfrm>
            <a:off x="6121800" y="2445840"/>
            <a:ext cx="964800" cy="48024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26" name="Shape 27"/>
          <p:cNvSpPr/>
          <p:nvPr/>
        </p:nvSpPr>
        <p:spPr>
          <a:xfrm>
            <a:off x="4480560" y="2377440"/>
            <a:ext cx="964440" cy="4798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27" name="Shape 28"/>
          <p:cNvSpPr/>
          <p:nvPr/>
        </p:nvSpPr>
        <p:spPr>
          <a:xfrm flipV="1">
            <a:off x="4480560" y="2994480"/>
            <a:ext cx="964440" cy="48024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28" name="Shape 29"/>
          <p:cNvSpPr/>
          <p:nvPr/>
        </p:nvSpPr>
        <p:spPr>
          <a:xfrm flipV="1">
            <a:off x="6121800" y="2377440"/>
            <a:ext cx="964800" cy="4798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29" name="Shape 30"/>
          <p:cNvSpPr/>
          <p:nvPr/>
        </p:nvSpPr>
        <p:spPr>
          <a:xfrm>
            <a:off x="6121800" y="2994480"/>
            <a:ext cx="964800" cy="48024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30" name="Shape 31"/>
          <p:cNvSpPr/>
          <p:nvPr/>
        </p:nvSpPr>
        <p:spPr>
          <a:xfrm>
            <a:off x="4480560" y="4023360"/>
            <a:ext cx="964440" cy="4798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31" name="Shape 32"/>
          <p:cNvSpPr/>
          <p:nvPr/>
        </p:nvSpPr>
        <p:spPr>
          <a:xfrm flipV="1">
            <a:off x="4480560" y="4640400"/>
            <a:ext cx="964440" cy="48024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32" name="Shape 33"/>
          <p:cNvSpPr/>
          <p:nvPr/>
        </p:nvSpPr>
        <p:spPr>
          <a:xfrm flipV="1">
            <a:off x="6121800" y="4023360"/>
            <a:ext cx="964800" cy="4798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33" name="Shape 34"/>
          <p:cNvSpPr/>
          <p:nvPr/>
        </p:nvSpPr>
        <p:spPr>
          <a:xfrm>
            <a:off x="6121800" y="4640400"/>
            <a:ext cx="964800" cy="48024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34" name="Shape 35"/>
          <p:cNvSpPr/>
          <p:nvPr/>
        </p:nvSpPr>
        <p:spPr>
          <a:xfrm>
            <a:off x="4480560" y="4572000"/>
            <a:ext cx="964440" cy="4798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35" name="Shape 36"/>
          <p:cNvSpPr/>
          <p:nvPr/>
        </p:nvSpPr>
        <p:spPr>
          <a:xfrm flipV="1">
            <a:off x="4480560" y="5189040"/>
            <a:ext cx="964440" cy="48024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36" name="Shape 37"/>
          <p:cNvSpPr/>
          <p:nvPr/>
        </p:nvSpPr>
        <p:spPr>
          <a:xfrm flipV="1">
            <a:off x="6121800" y="4572000"/>
            <a:ext cx="964800" cy="4798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37" name="Shape 38"/>
          <p:cNvSpPr/>
          <p:nvPr/>
        </p:nvSpPr>
        <p:spPr>
          <a:xfrm>
            <a:off x="6121800" y="5189040"/>
            <a:ext cx="964800" cy="48024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38" name="Shape 39"/>
          <p:cNvSpPr/>
          <p:nvPr/>
        </p:nvSpPr>
        <p:spPr>
          <a:xfrm>
            <a:off x="7086600" y="1828800"/>
            <a:ext cx="964440" cy="10285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39" name="Shape 40"/>
          <p:cNvSpPr/>
          <p:nvPr/>
        </p:nvSpPr>
        <p:spPr>
          <a:xfrm flipV="1">
            <a:off x="7086600" y="2994480"/>
            <a:ext cx="964440" cy="10288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40" name="Shape 41"/>
          <p:cNvSpPr/>
          <p:nvPr/>
        </p:nvSpPr>
        <p:spPr>
          <a:xfrm flipV="1">
            <a:off x="8727840" y="1828800"/>
            <a:ext cx="964800" cy="10285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41" name="Shape 42"/>
          <p:cNvSpPr/>
          <p:nvPr/>
        </p:nvSpPr>
        <p:spPr>
          <a:xfrm>
            <a:off x="8727840" y="2994480"/>
            <a:ext cx="964800" cy="10288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42" name="Shape 43"/>
          <p:cNvSpPr/>
          <p:nvPr/>
        </p:nvSpPr>
        <p:spPr>
          <a:xfrm>
            <a:off x="7086600" y="2377440"/>
            <a:ext cx="964440" cy="10285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43" name="Shape 44"/>
          <p:cNvSpPr/>
          <p:nvPr/>
        </p:nvSpPr>
        <p:spPr>
          <a:xfrm flipV="1">
            <a:off x="7086600" y="3543120"/>
            <a:ext cx="964440" cy="10288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44" name="Shape 45"/>
          <p:cNvSpPr/>
          <p:nvPr/>
        </p:nvSpPr>
        <p:spPr>
          <a:xfrm flipV="1">
            <a:off x="8727840" y="2377440"/>
            <a:ext cx="964800" cy="10285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45" name="Shape 46"/>
          <p:cNvSpPr/>
          <p:nvPr/>
        </p:nvSpPr>
        <p:spPr>
          <a:xfrm>
            <a:off x="8727840" y="3543120"/>
            <a:ext cx="964800" cy="10288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46" name="Shape 47"/>
          <p:cNvSpPr/>
          <p:nvPr/>
        </p:nvSpPr>
        <p:spPr>
          <a:xfrm>
            <a:off x="7086600" y="2926080"/>
            <a:ext cx="964440" cy="10285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47" name="Shape 48"/>
          <p:cNvSpPr/>
          <p:nvPr/>
        </p:nvSpPr>
        <p:spPr>
          <a:xfrm flipV="1">
            <a:off x="7086600" y="4091760"/>
            <a:ext cx="964440" cy="10288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48" name="Shape 49"/>
          <p:cNvSpPr/>
          <p:nvPr/>
        </p:nvSpPr>
        <p:spPr>
          <a:xfrm flipV="1">
            <a:off x="8727840" y="2926080"/>
            <a:ext cx="964800" cy="10285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49" name="Shape 50"/>
          <p:cNvSpPr/>
          <p:nvPr/>
        </p:nvSpPr>
        <p:spPr>
          <a:xfrm>
            <a:off x="8727840" y="4091760"/>
            <a:ext cx="964800" cy="10288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50" name="Shape 51"/>
          <p:cNvSpPr/>
          <p:nvPr/>
        </p:nvSpPr>
        <p:spPr>
          <a:xfrm>
            <a:off x="7086600" y="3474720"/>
            <a:ext cx="964440" cy="10285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51" name="Shape 52"/>
          <p:cNvSpPr/>
          <p:nvPr/>
        </p:nvSpPr>
        <p:spPr>
          <a:xfrm flipV="1">
            <a:off x="7086600" y="4640400"/>
            <a:ext cx="964440" cy="10288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52" name="Shape 53"/>
          <p:cNvSpPr/>
          <p:nvPr/>
        </p:nvSpPr>
        <p:spPr>
          <a:xfrm flipV="1">
            <a:off x="8727840" y="3474720"/>
            <a:ext cx="964800" cy="10285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53" name="Shape 54"/>
          <p:cNvSpPr/>
          <p:nvPr/>
        </p:nvSpPr>
        <p:spPr>
          <a:xfrm>
            <a:off x="8727840" y="4640400"/>
            <a:ext cx="964800" cy="10288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54" name="Shape 55"/>
          <p:cNvSpPr/>
          <p:nvPr/>
        </p:nvSpPr>
        <p:spPr>
          <a:xfrm>
            <a:off x="1824120" y="177840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55" name="Shape 56"/>
          <p:cNvSpPr/>
          <p:nvPr/>
        </p:nvSpPr>
        <p:spPr>
          <a:xfrm>
            <a:off x="1824120" y="232704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56" name="Shape 57"/>
          <p:cNvSpPr/>
          <p:nvPr/>
        </p:nvSpPr>
        <p:spPr>
          <a:xfrm>
            <a:off x="1824120" y="287568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57" name="Shape 58"/>
          <p:cNvSpPr/>
          <p:nvPr/>
        </p:nvSpPr>
        <p:spPr>
          <a:xfrm>
            <a:off x="1824120" y="342432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58" name="Shape 59"/>
          <p:cNvSpPr/>
          <p:nvPr/>
        </p:nvSpPr>
        <p:spPr>
          <a:xfrm>
            <a:off x="1824120" y="397296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59" name="Shape 60"/>
          <p:cNvSpPr/>
          <p:nvPr/>
        </p:nvSpPr>
        <p:spPr>
          <a:xfrm>
            <a:off x="1824120" y="452160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60" name="Shape 61"/>
          <p:cNvSpPr/>
          <p:nvPr/>
        </p:nvSpPr>
        <p:spPr>
          <a:xfrm>
            <a:off x="1824120" y="507024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61" name="Shape 62"/>
          <p:cNvSpPr/>
          <p:nvPr/>
        </p:nvSpPr>
        <p:spPr>
          <a:xfrm>
            <a:off x="1824120" y="561888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62" name="Shape 63"/>
          <p:cNvSpPr/>
          <p:nvPr/>
        </p:nvSpPr>
        <p:spPr>
          <a:xfrm>
            <a:off x="4430160" y="177840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63" name="Shape 64"/>
          <p:cNvSpPr/>
          <p:nvPr/>
        </p:nvSpPr>
        <p:spPr>
          <a:xfrm>
            <a:off x="4430160" y="232704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64" name="Shape 65"/>
          <p:cNvSpPr/>
          <p:nvPr/>
        </p:nvSpPr>
        <p:spPr>
          <a:xfrm>
            <a:off x="4430160" y="287568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65" name="Shape 66"/>
          <p:cNvSpPr/>
          <p:nvPr/>
        </p:nvSpPr>
        <p:spPr>
          <a:xfrm>
            <a:off x="4430160" y="342432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66" name="Shape 67"/>
          <p:cNvSpPr/>
          <p:nvPr/>
        </p:nvSpPr>
        <p:spPr>
          <a:xfrm>
            <a:off x="4430160" y="397296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67" name="Shape 68"/>
          <p:cNvSpPr/>
          <p:nvPr/>
        </p:nvSpPr>
        <p:spPr>
          <a:xfrm>
            <a:off x="4430160" y="452160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68" name="Shape 69"/>
          <p:cNvSpPr/>
          <p:nvPr/>
        </p:nvSpPr>
        <p:spPr>
          <a:xfrm>
            <a:off x="4430160" y="507024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69" name="Shape 70"/>
          <p:cNvSpPr/>
          <p:nvPr/>
        </p:nvSpPr>
        <p:spPr>
          <a:xfrm>
            <a:off x="4430160" y="561888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70" name="Shape 71"/>
          <p:cNvSpPr/>
          <p:nvPr/>
        </p:nvSpPr>
        <p:spPr>
          <a:xfrm>
            <a:off x="7036200" y="177840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71" name="Shape 72"/>
          <p:cNvSpPr/>
          <p:nvPr/>
        </p:nvSpPr>
        <p:spPr>
          <a:xfrm>
            <a:off x="7036200" y="232704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72" name="Shape 73"/>
          <p:cNvSpPr/>
          <p:nvPr/>
        </p:nvSpPr>
        <p:spPr>
          <a:xfrm>
            <a:off x="7036200" y="287568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73" name="Shape 74"/>
          <p:cNvSpPr/>
          <p:nvPr/>
        </p:nvSpPr>
        <p:spPr>
          <a:xfrm>
            <a:off x="7036200" y="342432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74" name="Shape 75"/>
          <p:cNvSpPr/>
          <p:nvPr/>
        </p:nvSpPr>
        <p:spPr>
          <a:xfrm>
            <a:off x="7036200" y="397296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75" name="Shape 76"/>
          <p:cNvSpPr/>
          <p:nvPr/>
        </p:nvSpPr>
        <p:spPr>
          <a:xfrm>
            <a:off x="7036200" y="452160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76" name="Shape 77"/>
          <p:cNvSpPr/>
          <p:nvPr/>
        </p:nvSpPr>
        <p:spPr>
          <a:xfrm>
            <a:off x="7036200" y="507024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77" name="Shape 78"/>
          <p:cNvSpPr/>
          <p:nvPr/>
        </p:nvSpPr>
        <p:spPr>
          <a:xfrm>
            <a:off x="7036200" y="561888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78" name="Shape 79"/>
          <p:cNvSpPr/>
          <p:nvPr/>
        </p:nvSpPr>
        <p:spPr>
          <a:xfrm>
            <a:off x="9642240" y="177840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79" name="Shape 80"/>
          <p:cNvSpPr/>
          <p:nvPr/>
        </p:nvSpPr>
        <p:spPr>
          <a:xfrm>
            <a:off x="9642240" y="232704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80" name="Shape 81"/>
          <p:cNvSpPr/>
          <p:nvPr/>
        </p:nvSpPr>
        <p:spPr>
          <a:xfrm>
            <a:off x="9642240" y="287568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81" name="Shape 82"/>
          <p:cNvSpPr/>
          <p:nvPr/>
        </p:nvSpPr>
        <p:spPr>
          <a:xfrm>
            <a:off x="9642240" y="342432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82" name="Shape 83"/>
          <p:cNvSpPr/>
          <p:nvPr/>
        </p:nvSpPr>
        <p:spPr>
          <a:xfrm>
            <a:off x="9642240" y="397296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83" name="Shape 84"/>
          <p:cNvSpPr/>
          <p:nvPr/>
        </p:nvSpPr>
        <p:spPr>
          <a:xfrm>
            <a:off x="9642240" y="452160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84" name="Shape 85"/>
          <p:cNvSpPr/>
          <p:nvPr/>
        </p:nvSpPr>
        <p:spPr>
          <a:xfrm>
            <a:off x="9642240" y="507024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85" name="Shape 86"/>
          <p:cNvSpPr/>
          <p:nvPr/>
        </p:nvSpPr>
        <p:spPr>
          <a:xfrm>
            <a:off x="9642240" y="561888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686" name="Shape 87"/>
          <p:cNvSpPr/>
          <p:nvPr/>
        </p:nvSpPr>
        <p:spPr>
          <a:xfrm>
            <a:off x="2839320" y="1956960"/>
            <a:ext cx="676440" cy="292320"/>
          </a:xfrm>
          <a:prstGeom prst="roundRect">
            <a:avLst>
              <a:gd name="adj" fmla="val 15625"/>
            </a:avLst>
          </a:prstGeom>
          <a:solidFill>
            <a:srgbClr val="FFFFFF"/>
          </a:solidFill>
          <a:ln w="19050">
            <a:solidFill>
              <a:srgbClr val="0E838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87" name="Text 88"/>
          <p:cNvSpPr/>
          <p:nvPr/>
        </p:nvSpPr>
        <p:spPr>
          <a:xfrm>
            <a:off x="2839320" y="1956960"/>
            <a:ext cx="676440" cy="292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E8388"/>
                </a:solidFill>
                <a:effectLst/>
                <a:uFillTx/>
                <a:latin typeface="Consolas"/>
                <a:ea typeface="Consolas"/>
              </a:rPr>
              <a:t>1</a:t>
            </a:r>
            <a:endParaRPr lang="en-US" sz="1100" b="0" u="none" strike="noStrike">
              <a:solidFill>
                <a:srgbClr val="000000"/>
              </a:solidFill>
              <a:effectLst/>
              <a:uFillTx/>
              <a:latin typeface="Arial"/>
            </a:endParaRPr>
          </a:p>
        </p:txBody>
      </p:sp>
      <p:sp>
        <p:nvSpPr>
          <p:cNvPr id="688" name="Shape 89"/>
          <p:cNvSpPr/>
          <p:nvPr/>
        </p:nvSpPr>
        <p:spPr>
          <a:xfrm>
            <a:off x="2839320" y="3054240"/>
            <a:ext cx="676440" cy="292320"/>
          </a:xfrm>
          <a:prstGeom prst="roundRect">
            <a:avLst>
              <a:gd name="adj" fmla="val 15625"/>
            </a:avLst>
          </a:prstGeom>
          <a:solidFill>
            <a:srgbClr val="FFFFFF"/>
          </a:solidFill>
          <a:ln w="19050">
            <a:solidFill>
              <a:srgbClr val="0E838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89" name="Text 90"/>
          <p:cNvSpPr/>
          <p:nvPr/>
        </p:nvSpPr>
        <p:spPr>
          <a:xfrm>
            <a:off x="2839320" y="3054240"/>
            <a:ext cx="676440" cy="292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E8388"/>
                </a:solidFill>
                <a:effectLst/>
                <a:uFillTx/>
                <a:latin typeface="Consolas"/>
                <a:ea typeface="Consolas"/>
              </a:rPr>
              <a:t>1</a:t>
            </a:r>
            <a:endParaRPr lang="en-US" sz="1100" b="0" u="none" strike="noStrike">
              <a:solidFill>
                <a:srgbClr val="000000"/>
              </a:solidFill>
              <a:effectLst/>
              <a:uFillTx/>
              <a:latin typeface="Arial"/>
            </a:endParaRPr>
          </a:p>
        </p:txBody>
      </p:sp>
      <p:sp>
        <p:nvSpPr>
          <p:cNvPr id="690" name="Shape 91"/>
          <p:cNvSpPr/>
          <p:nvPr/>
        </p:nvSpPr>
        <p:spPr>
          <a:xfrm>
            <a:off x="2839320" y="4151520"/>
            <a:ext cx="676440" cy="292320"/>
          </a:xfrm>
          <a:prstGeom prst="roundRect">
            <a:avLst>
              <a:gd name="adj" fmla="val 15625"/>
            </a:avLst>
          </a:prstGeom>
          <a:solidFill>
            <a:srgbClr val="FFFFFF"/>
          </a:solidFill>
          <a:ln w="19050">
            <a:solidFill>
              <a:srgbClr val="0E838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91" name="Text 92"/>
          <p:cNvSpPr/>
          <p:nvPr/>
        </p:nvSpPr>
        <p:spPr>
          <a:xfrm>
            <a:off x="2839320" y="4151520"/>
            <a:ext cx="676440" cy="292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E8388"/>
                </a:solidFill>
                <a:effectLst/>
                <a:uFillTx/>
                <a:latin typeface="Consolas"/>
                <a:ea typeface="Consolas"/>
              </a:rPr>
              <a:t>1</a:t>
            </a:r>
            <a:endParaRPr lang="en-US" sz="1100" b="0" u="none" strike="noStrike">
              <a:solidFill>
                <a:srgbClr val="000000"/>
              </a:solidFill>
              <a:effectLst/>
              <a:uFillTx/>
              <a:latin typeface="Arial"/>
            </a:endParaRPr>
          </a:p>
        </p:txBody>
      </p:sp>
      <p:sp>
        <p:nvSpPr>
          <p:cNvPr id="692" name="Shape 93"/>
          <p:cNvSpPr/>
          <p:nvPr/>
        </p:nvSpPr>
        <p:spPr>
          <a:xfrm>
            <a:off x="2839320" y="5248800"/>
            <a:ext cx="676440" cy="292320"/>
          </a:xfrm>
          <a:prstGeom prst="roundRect">
            <a:avLst>
              <a:gd name="adj" fmla="val 15625"/>
            </a:avLst>
          </a:prstGeom>
          <a:solidFill>
            <a:srgbClr val="FFFFFF"/>
          </a:solidFill>
          <a:ln w="19050">
            <a:solidFill>
              <a:srgbClr val="0E838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93" name="Text 94"/>
          <p:cNvSpPr/>
          <p:nvPr/>
        </p:nvSpPr>
        <p:spPr>
          <a:xfrm>
            <a:off x="2839320" y="5248800"/>
            <a:ext cx="676440" cy="292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E8388"/>
                </a:solidFill>
                <a:effectLst/>
                <a:uFillTx/>
                <a:latin typeface="Consolas"/>
                <a:ea typeface="Consolas"/>
              </a:rPr>
              <a:t>1</a:t>
            </a:r>
            <a:endParaRPr lang="en-US" sz="1100" b="0" u="none" strike="noStrike">
              <a:solidFill>
                <a:srgbClr val="000000"/>
              </a:solidFill>
              <a:effectLst/>
              <a:uFillTx/>
              <a:latin typeface="Arial"/>
            </a:endParaRPr>
          </a:p>
        </p:txBody>
      </p:sp>
      <p:sp>
        <p:nvSpPr>
          <p:cNvPr id="694" name="Shape 95"/>
          <p:cNvSpPr/>
          <p:nvPr/>
        </p:nvSpPr>
        <p:spPr>
          <a:xfrm>
            <a:off x="5445360" y="2231280"/>
            <a:ext cx="676440" cy="292320"/>
          </a:xfrm>
          <a:prstGeom prst="roundRect">
            <a:avLst>
              <a:gd name="adj" fmla="val 15625"/>
            </a:avLst>
          </a:prstGeom>
          <a:solidFill>
            <a:srgbClr val="FFFFFF"/>
          </a:solidFill>
          <a:ln w="19050">
            <a:solidFill>
              <a:srgbClr val="0E838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95" name="Text 96"/>
          <p:cNvSpPr/>
          <p:nvPr/>
        </p:nvSpPr>
        <p:spPr>
          <a:xfrm>
            <a:off x="5445360" y="2231280"/>
            <a:ext cx="676440" cy="292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E8388"/>
                </a:solidFill>
                <a:effectLst/>
                <a:uFillTx/>
                <a:latin typeface="Consolas"/>
                <a:ea typeface="Consolas"/>
              </a:rPr>
              <a:t>1</a:t>
            </a:r>
            <a:endParaRPr lang="en-US" sz="1100" b="0" u="none" strike="noStrike">
              <a:solidFill>
                <a:srgbClr val="000000"/>
              </a:solidFill>
              <a:effectLst/>
              <a:uFillTx/>
              <a:latin typeface="Arial"/>
            </a:endParaRPr>
          </a:p>
        </p:txBody>
      </p:sp>
      <p:sp>
        <p:nvSpPr>
          <p:cNvPr id="696" name="Shape 97"/>
          <p:cNvSpPr/>
          <p:nvPr/>
        </p:nvSpPr>
        <p:spPr>
          <a:xfrm>
            <a:off x="5445360" y="2779920"/>
            <a:ext cx="676440" cy="292320"/>
          </a:xfrm>
          <a:prstGeom prst="roundRect">
            <a:avLst>
              <a:gd name="adj" fmla="val 15625"/>
            </a:avLst>
          </a:prstGeom>
          <a:solidFill>
            <a:srgbClr val="FFFFFF"/>
          </a:solidFill>
          <a:ln w="19050">
            <a:solidFill>
              <a:srgbClr val="D9832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97" name="Text 98"/>
          <p:cNvSpPr/>
          <p:nvPr/>
        </p:nvSpPr>
        <p:spPr>
          <a:xfrm>
            <a:off x="5445360" y="2779920"/>
            <a:ext cx="676440" cy="292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D98324"/>
                </a:solidFill>
                <a:effectLst/>
                <a:uFillTx/>
                <a:latin typeface="Consolas"/>
                <a:ea typeface="Consolas"/>
              </a:rPr>
              <a:t>-j</a:t>
            </a:r>
            <a:endParaRPr lang="en-US" sz="1100" b="0" u="none" strike="noStrike">
              <a:solidFill>
                <a:srgbClr val="000000"/>
              </a:solidFill>
              <a:effectLst/>
              <a:uFillTx/>
              <a:latin typeface="Arial"/>
            </a:endParaRPr>
          </a:p>
        </p:txBody>
      </p:sp>
      <p:sp>
        <p:nvSpPr>
          <p:cNvPr id="698" name="Shape 99"/>
          <p:cNvSpPr/>
          <p:nvPr/>
        </p:nvSpPr>
        <p:spPr>
          <a:xfrm>
            <a:off x="5445360" y="4425840"/>
            <a:ext cx="676440" cy="292320"/>
          </a:xfrm>
          <a:prstGeom prst="roundRect">
            <a:avLst>
              <a:gd name="adj" fmla="val 15625"/>
            </a:avLst>
          </a:prstGeom>
          <a:solidFill>
            <a:srgbClr val="FFFFFF"/>
          </a:solidFill>
          <a:ln w="19050">
            <a:solidFill>
              <a:srgbClr val="0E838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99" name="Text 100"/>
          <p:cNvSpPr/>
          <p:nvPr/>
        </p:nvSpPr>
        <p:spPr>
          <a:xfrm>
            <a:off x="5445360" y="4425840"/>
            <a:ext cx="676440" cy="292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E8388"/>
                </a:solidFill>
                <a:effectLst/>
                <a:uFillTx/>
                <a:latin typeface="Consolas"/>
                <a:ea typeface="Consolas"/>
              </a:rPr>
              <a:t>1</a:t>
            </a:r>
            <a:endParaRPr lang="en-US" sz="1100" b="0" u="none" strike="noStrike">
              <a:solidFill>
                <a:srgbClr val="000000"/>
              </a:solidFill>
              <a:effectLst/>
              <a:uFillTx/>
              <a:latin typeface="Arial"/>
            </a:endParaRPr>
          </a:p>
        </p:txBody>
      </p:sp>
      <p:sp>
        <p:nvSpPr>
          <p:cNvPr id="700" name="Shape 101"/>
          <p:cNvSpPr/>
          <p:nvPr/>
        </p:nvSpPr>
        <p:spPr>
          <a:xfrm>
            <a:off x="5445360" y="4974480"/>
            <a:ext cx="676440" cy="292320"/>
          </a:xfrm>
          <a:prstGeom prst="roundRect">
            <a:avLst>
              <a:gd name="adj" fmla="val 15625"/>
            </a:avLst>
          </a:prstGeom>
          <a:solidFill>
            <a:srgbClr val="FFFFFF"/>
          </a:solidFill>
          <a:ln w="19050">
            <a:solidFill>
              <a:srgbClr val="D9832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01" name="Text 102"/>
          <p:cNvSpPr/>
          <p:nvPr/>
        </p:nvSpPr>
        <p:spPr>
          <a:xfrm>
            <a:off x="5445360" y="4974480"/>
            <a:ext cx="676440" cy="292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D98324"/>
                </a:solidFill>
                <a:effectLst/>
                <a:uFillTx/>
                <a:latin typeface="Consolas"/>
                <a:ea typeface="Consolas"/>
              </a:rPr>
              <a:t>-j</a:t>
            </a:r>
            <a:endParaRPr lang="en-US" sz="1100" b="0" u="none" strike="noStrike">
              <a:solidFill>
                <a:srgbClr val="000000"/>
              </a:solidFill>
              <a:effectLst/>
              <a:uFillTx/>
              <a:latin typeface="Arial"/>
            </a:endParaRPr>
          </a:p>
        </p:txBody>
      </p:sp>
      <p:sp>
        <p:nvSpPr>
          <p:cNvPr id="702" name="Shape 103"/>
          <p:cNvSpPr/>
          <p:nvPr/>
        </p:nvSpPr>
        <p:spPr>
          <a:xfrm>
            <a:off x="8051400" y="2779920"/>
            <a:ext cx="676440" cy="292320"/>
          </a:xfrm>
          <a:prstGeom prst="roundRect">
            <a:avLst>
              <a:gd name="adj" fmla="val 15625"/>
            </a:avLst>
          </a:prstGeom>
          <a:solidFill>
            <a:srgbClr val="FFFFFF"/>
          </a:solidFill>
          <a:ln w="19050">
            <a:solidFill>
              <a:srgbClr val="0E838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03" name="Text 104"/>
          <p:cNvSpPr/>
          <p:nvPr/>
        </p:nvSpPr>
        <p:spPr>
          <a:xfrm>
            <a:off x="8051400" y="2779920"/>
            <a:ext cx="676440" cy="292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E8388"/>
                </a:solidFill>
                <a:effectLst/>
                <a:uFillTx/>
                <a:latin typeface="Consolas"/>
                <a:ea typeface="Consolas"/>
              </a:rPr>
              <a:t>1</a:t>
            </a:r>
            <a:endParaRPr lang="en-US" sz="1100" b="0" u="none" strike="noStrike">
              <a:solidFill>
                <a:srgbClr val="000000"/>
              </a:solidFill>
              <a:effectLst/>
              <a:uFillTx/>
              <a:latin typeface="Arial"/>
            </a:endParaRPr>
          </a:p>
        </p:txBody>
      </p:sp>
      <p:sp>
        <p:nvSpPr>
          <p:cNvPr id="704" name="Shape 105"/>
          <p:cNvSpPr/>
          <p:nvPr/>
        </p:nvSpPr>
        <p:spPr>
          <a:xfrm>
            <a:off x="8051400" y="3328560"/>
            <a:ext cx="676440" cy="292320"/>
          </a:xfrm>
          <a:prstGeom prst="roundRect">
            <a:avLst>
              <a:gd name="adj" fmla="val 15625"/>
            </a:avLst>
          </a:prstGeom>
          <a:solidFill>
            <a:srgbClr val="FFFFFF"/>
          </a:solidFill>
          <a:ln w="19050">
            <a:solidFill>
              <a:srgbClr val="D9832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05" name="Text 106"/>
          <p:cNvSpPr/>
          <p:nvPr/>
        </p:nvSpPr>
        <p:spPr>
          <a:xfrm>
            <a:off x="8051400" y="3328560"/>
            <a:ext cx="676440" cy="292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D98324"/>
                </a:solidFill>
                <a:effectLst/>
                <a:uFillTx/>
                <a:latin typeface="Consolas"/>
                <a:ea typeface="Consolas"/>
              </a:rPr>
              <a:t>W8^1</a:t>
            </a:r>
            <a:endParaRPr lang="en-US" sz="1100" b="0" u="none" strike="noStrike">
              <a:solidFill>
                <a:srgbClr val="000000"/>
              </a:solidFill>
              <a:effectLst/>
              <a:uFillTx/>
              <a:latin typeface="Arial"/>
            </a:endParaRPr>
          </a:p>
        </p:txBody>
      </p:sp>
      <p:sp>
        <p:nvSpPr>
          <p:cNvPr id="706" name="Shape 107"/>
          <p:cNvSpPr/>
          <p:nvPr/>
        </p:nvSpPr>
        <p:spPr>
          <a:xfrm>
            <a:off x="8051400" y="3877200"/>
            <a:ext cx="676440" cy="292320"/>
          </a:xfrm>
          <a:prstGeom prst="roundRect">
            <a:avLst>
              <a:gd name="adj" fmla="val 15625"/>
            </a:avLst>
          </a:prstGeom>
          <a:solidFill>
            <a:srgbClr val="FFFFFF"/>
          </a:solidFill>
          <a:ln w="19050">
            <a:solidFill>
              <a:srgbClr val="D9832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07" name="Text 108"/>
          <p:cNvSpPr/>
          <p:nvPr/>
        </p:nvSpPr>
        <p:spPr>
          <a:xfrm>
            <a:off x="8051400" y="3877200"/>
            <a:ext cx="676440" cy="292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D98324"/>
                </a:solidFill>
                <a:effectLst/>
                <a:uFillTx/>
                <a:latin typeface="Consolas"/>
                <a:ea typeface="Consolas"/>
              </a:rPr>
              <a:t>-j</a:t>
            </a:r>
            <a:endParaRPr lang="en-US" sz="1100" b="0" u="none" strike="noStrike">
              <a:solidFill>
                <a:srgbClr val="000000"/>
              </a:solidFill>
              <a:effectLst/>
              <a:uFillTx/>
              <a:latin typeface="Arial"/>
            </a:endParaRPr>
          </a:p>
        </p:txBody>
      </p:sp>
      <p:sp>
        <p:nvSpPr>
          <p:cNvPr id="708" name="Shape 109"/>
          <p:cNvSpPr/>
          <p:nvPr/>
        </p:nvSpPr>
        <p:spPr>
          <a:xfrm>
            <a:off x="8051400" y="4425840"/>
            <a:ext cx="676440" cy="292320"/>
          </a:xfrm>
          <a:prstGeom prst="roundRect">
            <a:avLst>
              <a:gd name="adj" fmla="val 15625"/>
            </a:avLst>
          </a:prstGeom>
          <a:solidFill>
            <a:srgbClr val="FFFFFF"/>
          </a:solidFill>
          <a:ln w="19050">
            <a:solidFill>
              <a:srgbClr val="D9832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09" name="Text 110"/>
          <p:cNvSpPr/>
          <p:nvPr/>
        </p:nvSpPr>
        <p:spPr>
          <a:xfrm>
            <a:off x="8051400" y="4425840"/>
            <a:ext cx="676440" cy="292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D98324"/>
                </a:solidFill>
                <a:effectLst/>
                <a:uFillTx/>
                <a:latin typeface="Consolas"/>
                <a:ea typeface="Consolas"/>
              </a:rPr>
              <a:t>W8^3</a:t>
            </a:r>
            <a:endParaRPr lang="en-US" sz="1100" b="0" u="none" strike="noStrike">
              <a:solidFill>
                <a:srgbClr val="000000"/>
              </a:solidFill>
              <a:effectLst/>
              <a:uFillTx/>
              <a:latin typeface="Arial"/>
            </a:endParaRPr>
          </a:p>
        </p:txBody>
      </p:sp>
      <p:sp>
        <p:nvSpPr>
          <p:cNvPr id="710" name="Text 111"/>
          <p:cNvSpPr/>
          <p:nvPr/>
        </p:nvSpPr>
        <p:spPr>
          <a:xfrm>
            <a:off x="502920" y="1700640"/>
            <a:ext cx="12340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trike="noStrike">
                <a:solidFill>
                  <a:srgbClr val="132A4A"/>
                </a:solidFill>
                <a:effectLst/>
                <a:uFillTx/>
                <a:latin typeface="Consolas"/>
                <a:ea typeface="Consolas"/>
              </a:rPr>
              <a:t>x[0]=1</a:t>
            </a:r>
            <a:endParaRPr lang="en-US" sz="1100" b="0" u="none" strike="noStrike">
              <a:solidFill>
                <a:srgbClr val="000000"/>
              </a:solidFill>
              <a:effectLst/>
              <a:uFillTx/>
              <a:latin typeface="Arial"/>
            </a:endParaRPr>
          </a:p>
        </p:txBody>
      </p:sp>
      <p:sp>
        <p:nvSpPr>
          <p:cNvPr id="711" name="Text 112"/>
          <p:cNvSpPr/>
          <p:nvPr/>
        </p:nvSpPr>
        <p:spPr>
          <a:xfrm>
            <a:off x="502920" y="2249280"/>
            <a:ext cx="12340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trike="noStrike">
                <a:solidFill>
                  <a:srgbClr val="132A4A"/>
                </a:solidFill>
                <a:effectLst/>
                <a:uFillTx/>
                <a:latin typeface="Consolas"/>
                <a:ea typeface="Consolas"/>
              </a:rPr>
              <a:t>x[4]=5</a:t>
            </a:r>
            <a:endParaRPr lang="en-US" sz="1100" b="0" u="none" strike="noStrike">
              <a:solidFill>
                <a:srgbClr val="000000"/>
              </a:solidFill>
              <a:effectLst/>
              <a:uFillTx/>
              <a:latin typeface="Arial"/>
            </a:endParaRPr>
          </a:p>
        </p:txBody>
      </p:sp>
      <p:sp>
        <p:nvSpPr>
          <p:cNvPr id="712" name="Text 113"/>
          <p:cNvSpPr/>
          <p:nvPr/>
        </p:nvSpPr>
        <p:spPr>
          <a:xfrm>
            <a:off x="502920" y="2797920"/>
            <a:ext cx="12340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trike="noStrike">
                <a:solidFill>
                  <a:srgbClr val="132A4A"/>
                </a:solidFill>
                <a:effectLst/>
                <a:uFillTx/>
                <a:latin typeface="Consolas"/>
                <a:ea typeface="Consolas"/>
              </a:rPr>
              <a:t>x[2]=3</a:t>
            </a:r>
            <a:endParaRPr lang="en-US" sz="1100" b="0" u="none" strike="noStrike">
              <a:solidFill>
                <a:srgbClr val="000000"/>
              </a:solidFill>
              <a:effectLst/>
              <a:uFillTx/>
              <a:latin typeface="Arial"/>
            </a:endParaRPr>
          </a:p>
        </p:txBody>
      </p:sp>
      <p:sp>
        <p:nvSpPr>
          <p:cNvPr id="713" name="Text 114"/>
          <p:cNvSpPr/>
          <p:nvPr/>
        </p:nvSpPr>
        <p:spPr>
          <a:xfrm>
            <a:off x="502920" y="3346560"/>
            <a:ext cx="12340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trike="noStrike">
                <a:solidFill>
                  <a:srgbClr val="132A4A"/>
                </a:solidFill>
                <a:effectLst/>
                <a:uFillTx/>
                <a:latin typeface="Consolas"/>
                <a:ea typeface="Consolas"/>
              </a:rPr>
              <a:t>x[6]=7</a:t>
            </a:r>
            <a:endParaRPr lang="en-US" sz="1100" b="0" u="none" strike="noStrike">
              <a:solidFill>
                <a:srgbClr val="000000"/>
              </a:solidFill>
              <a:effectLst/>
              <a:uFillTx/>
              <a:latin typeface="Arial"/>
            </a:endParaRPr>
          </a:p>
        </p:txBody>
      </p:sp>
      <p:sp>
        <p:nvSpPr>
          <p:cNvPr id="714" name="Text 115"/>
          <p:cNvSpPr/>
          <p:nvPr/>
        </p:nvSpPr>
        <p:spPr>
          <a:xfrm>
            <a:off x="502920" y="3895200"/>
            <a:ext cx="12340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trike="noStrike">
                <a:solidFill>
                  <a:srgbClr val="132A4A"/>
                </a:solidFill>
                <a:effectLst/>
                <a:uFillTx/>
                <a:latin typeface="Consolas"/>
                <a:ea typeface="Consolas"/>
              </a:rPr>
              <a:t>x[1]=2</a:t>
            </a:r>
            <a:endParaRPr lang="en-US" sz="1100" b="0" u="none" strike="noStrike">
              <a:solidFill>
                <a:srgbClr val="000000"/>
              </a:solidFill>
              <a:effectLst/>
              <a:uFillTx/>
              <a:latin typeface="Arial"/>
            </a:endParaRPr>
          </a:p>
        </p:txBody>
      </p:sp>
      <p:sp>
        <p:nvSpPr>
          <p:cNvPr id="715" name="Text 116"/>
          <p:cNvSpPr/>
          <p:nvPr/>
        </p:nvSpPr>
        <p:spPr>
          <a:xfrm>
            <a:off x="502920" y="4443840"/>
            <a:ext cx="12340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trike="noStrike">
                <a:solidFill>
                  <a:srgbClr val="132A4A"/>
                </a:solidFill>
                <a:effectLst/>
                <a:uFillTx/>
                <a:latin typeface="Consolas"/>
                <a:ea typeface="Consolas"/>
              </a:rPr>
              <a:t>x[5]=6</a:t>
            </a:r>
            <a:endParaRPr lang="en-US" sz="1100" b="0" u="none" strike="noStrike">
              <a:solidFill>
                <a:srgbClr val="000000"/>
              </a:solidFill>
              <a:effectLst/>
              <a:uFillTx/>
              <a:latin typeface="Arial"/>
            </a:endParaRPr>
          </a:p>
        </p:txBody>
      </p:sp>
      <p:sp>
        <p:nvSpPr>
          <p:cNvPr id="716" name="Text 117"/>
          <p:cNvSpPr/>
          <p:nvPr/>
        </p:nvSpPr>
        <p:spPr>
          <a:xfrm>
            <a:off x="502920" y="4992480"/>
            <a:ext cx="12340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trike="noStrike">
                <a:solidFill>
                  <a:srgbClr val="132A4A"/>
                </a:solidFill>
                <a:effectLst/>
                <a:uFillTx/>
                <a:latin typeface="Consolas"/>
                <a:ea typeface="Consolas"/>
              </a:rPr>
              <a:t>x[3]=4</a:t>
            </a:r>
            <a:endParaRPr lang="en-US" sz="1100" b="0" u="none" strike="noStrike">
              <a:solidFill>
                <a:srgbClr val="000000"/>
              </a:solidFill>
              <a:effectLst/>
              <a:uFillTx/>
              <a:latin typeface="Arial"/>
            </a:endParaRPr>
          </a:p>
        </p:txBody>
      </p:sp>
      <p:sp>
        <p:nvSpPr>
          <p:cNvPr id="717" name="Text 118"/>
          <p:cNvSpPr/>
          <p:nvPr/>
        </p:nvSpPr>
        <p:spPr>
          <a:xfrm>
            <a:off x="502920" y="5541120"/>
            <a:ext cx="12340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trike="noStrike">
                <a:solidFill>
                  <a:srgbClr val="132A4A"/>
                </a:solidFill>
                <a:effectLst/>
                <a:uFillTx/>
                <a:latin typeface="Consolas"/>
                <a:ea typeface="Consolas"/>
              </a:rPr>
              <a:t>x[7]=8</a:t>
            </a:r>
            <a:endParaRPr lang="en-US" sz="1100" b="0" u="none" strike="noStrike">
              <a:solidFill>
                <a:srgbClr val="000000"/>
              </a:solidFill>
              <a:effectLst/>
              <a:uFillTx/>
              <a:latin typeface="Arial"/>
            </a:endParaRPr>
          </a:p>
        </p:txBody>
      </p:sp>
      <p:sp>
        <p:nvSpPr>
          <p:cNvPr id="718" name="Shape 119"/>
          <p:cNvSpPr/>
          <p:nvPr/>
        </p:nvSpPr>
        <p:spPr>
          <a:xfrm>
            <a:off x="9966960" y="1636920"/>
            <a:ext cx="1142640" cy="383760"/>
          </a:xfrm>
          <a:prstGeom prst="roundRect">
            <a:avLst>
              <a:gd name="adj" fmla="val 14286"/>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19" name="Text 120"/>
          <p:cNvSpPr/>
          <p:nvPr/>
        </p:nvSpPr>
        <p:spPr>
          <a:xfrm>
            <a:off x="9966960" y="1636920"/>
            <a:ext cx="114264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onsolas"/>
                <a:ea typeface="Consolas"/>
              </a:rPr>
              <a:t>X[0]</a:t>
            </a:r>
            <a:endParaRPr lang="en-US" sz="1100" b="0" u="none" strike="noStrike">
              <a:solidFill>
                <a:srgbClr val="000000"/>
              </a:solidFill>
              <a:effectLst/>
              <a:uFillTx/>
              <a:latin typeface="Arial"/>
            </a:endParaRPr>
          </a:p>
        </p:txBody>
      </p:sp>
      <p:sp>
        <p:nvSpPr>
          <p:cNvPr id="720" name="Shape 121"/>
          <p:cNvSpPr/>
          <p:nvPr/>
        </p:nvSpPr>
        <p:spPr>
          <a:xfrm>
            <a:off x="9966960" y="2185560"/>
            <a:ext cx="1142640" cy="383760"/>
          </a:xfrm>
          <a:prstGeom prst="roundRect">
            <a:avLst>
              <a:gd name="adj" fmla="val 14286"/>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21" name="Text 122"/>
          <p:cNvSpPr/>
          <p:nvPr/>
        </p:nvSpPr>
        <p:spPr>
          <a:xfrm>
            <a:off x="9966960" y="2185560"/>
            <a:ext cx="114264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onsolas"/>
                <a:ea typeface="Consolas"/>
              </a:rPr>
              <a:t>X[1]</a:t>
            </a:r>
            <a:endParaRPr lang="en-US" sz="1100" b="0" u="none" strike="noStrike">
              <a:solidFill>
                <a:srgbClr val="000000"/>
              </a:solidFill>
              <a:effectLst/>
              <a:uFillTx/>
              <a:latin typeface="Arial"/>
            </a:endParaRPr>
          </a:p>
        </p:txBody>
      </p:sp>
      <p:sp>
        <p:nvSpPr>
          <p:cNvPr id="722" name="Shape 123"/>
          <p:cNvSpPr/>
          <p:nvPr/>
        </p:nvSpPr>
        <p:spPr>
          <a:xfrm>
            <a:off x="9966960" y="2734200"/>
            <a:ext cx="1142640" cy="383760"/>
          </a:xfrm>
          <a:prstGeom prst="roundRect">
            <a:avLst>
              <a:gd name="adj" fmla="val 14286"/>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23" name="Text 124"/>
          <p:cNvSpPr/>
          <p:nvPr/>
        </p:nvSpPr>
        <p:spPr>
          <a:xfrm>
            <a:off x="9966960" y="2734200"/>
            <a:ext cx="114264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onsolas"/>
                <a:ea typeface="Consolas"/>
              </a:rPr>
              <a:t>X[2]</a:t>
            </a:r>
            <a:endParaRPr lang="en-US" sz="1100" b="0" u="none" strike="noStrike">
              <a:solidFill>
                <a:srgbClr val="000000"/>
              </a:solidFill>
              <a:effectLst/>
              <a:uFillTx/>
              <a:latin typeface="Arial"/>
            </a:endParaRPr>
          </a:p>
        </p:txBody>
      </p:sp>
      <p:sp>
        <p:nvSpPr>
          <p:cNvPr id="724" name="Shape 125"/>
          <p:cNvSpPr/>
          <p:nvPr/>
        </p:nvSpPr>
        <p:spPr>
          <a:xfrm>
            <a:off x="9966960" y="3282840"/>
            <a:ext cx="1142640" cy="383760"/>
          </a:xfrm>
          <a:prstGeom prst="roundRect">
            <a:avLst>
              <a:gd name="adj" fmla="val 14286"/>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25" name="Text 126"/>
          <p:cNvSpPr/>
          <p:nvPr/>
        </p:nvSpPr>
        <p:spPr>
          <a:xfrm>
            <a:off x="9966960" y="3282840"/>
            <a:ext cx="114264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onsolas"/>
                <a:ea typeface="Consolas"/>
              </a:rPr>
              <a:t>X[3]</a:t>
            </a:r>
            <a:endParaRPr lang="en-US" sz="1100" b="0" u="none" strike="noStrike">
              <a:solidFill>
                <a:srgbClr val="000000"/>
              </a:solidFill>
              <a:effectLst/>
              <a:uFillTx/>
              <a:latin typeface="Arial"/>
            </a:endParaRPr>
          </a:p>
        </p:txBody>
      </p:sp>
      <p:sp>
        <p:nvSpPr>
          <p:cNvPr id="726" name="Shape 127"/>
          <p:cNvSpPr/>
          <p:nvPr/>
        </p:nvSpPr>
        <p:spPr>
          <a:xfrm>
            <a:off x="9966960" y="3831480"/>
            <a:ext cx="1142640" cy="383760"/>
          </a:xfrm>
          <a:prstGeom prst="roundRect">
            <a:avLst>
              <a:gd name="adj" fmla="val 14286"/>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27" name="Text 128"/>
          <p:cNvSpPr/>
          <p:nvPr/>
        </p:nvSpPr>
        <p:spPr>
          <a:xfrm>
            <a:off x="9966960" y="3831480"/>
            <a:ext cx="114264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onsolas"/>
                <a:ea typeface="Consolas"/>
              </a:rPr>
              <a:t>X[4]</a:t>
            </a:r>
            <a:endParaRPr lang="en-US" sz="1100" b="0" u="none" strike="noStrike">
              <a:solidFill>
                <a:srgbClr val="000000"/>
              </a:solidFill>
              <a:effectLst/>
              <a:uFillTx/>
              <a:latin typeface="Arial"/>
            </a:endParaRPr>
          </a:p>
        </p:txBody>
      </p:sp>
      <p:sp>
        <p:nvSpPr>
          <p:cNvPr id="728" name="Shape 129"/>
          <p:cNvSpPr/>
          <p:nvPr/>
        </p:nvSpPr>
        <p:spPr>
          <a:xfrm>
            <a:off x="9966960" y="4380120"/>
            <a:ext cx="1142640" cy="383760"/>
          </a:xfrm>
          <a:prstGeom prst="roundRect">
            <a:avLst>
              <a:gd name="adj" fmla="val 14286"/>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29" name="Text 130"/>
          <p:cNvSpPr/>
          <p:nvPr/>
        </p:nvSpPr>
        <p:spPr>
          <a:xfrm>
            <a:off x="9966960" y="4380120"/>
            <a:ext cx="114264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onsolas"/>
                <a:ea typeface="Consolas"/>
              </a:rPr>
              <a:t>X[5]</a:t>
            </a:r>
            <a:endParaRPr lang="en-US" sz="1100" b="0" u="none" strike="noStrike">
              <a:solidFill>
                <a:srgbClr val="000000"/>
              </a:solidFill>
              <a:effectLst/>
              <a:uFillTx/>
              <a:latin typeface="Arial"/>
            </a:endParaRPr>
          </a:p>
        </p:txBody>
      </p:sp>
      <p:sp>
        <p:nvSpPr>
          <p:cNvPr id="730" name="Shape 131"/>
          <p:cNvSpPr/>
          <p:nvPr/>
        </p:nvSpPr>
        <p:spPr>
          <a:xfrm>
            <a:off x="9966960" y="4928760"/>
            <a:ext cx="1142640" cy="383760"/>
          </a:xfrm>
          <a:prstGeom prst="roundRect">
            <a:avLst>
              <a:gd name="adj" fmla="val 14286"/>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31" name="Text 132"/>
          <p:cNvSpPr/>
          <p:nvPr/>
        </p:nvSpPr>
        <p:spPr>
          <a:xfrm>
            <a:off x="9966960" y="4928760"/>
            <a:ext cx="114264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onsolas"/>
                <a:ea typeface="Consolas"/>
              </a:rPr>
              <a:t>X[6]</a:t>
            </a:r>
            <a:endParaRPr lang="en-US" sz="1100" b="0" u="none" strike="noStrike">
              <a:solidFill>
                <a:srgbClr val="000000"/>
              </a:solidFill>
              <a:effectLst/>
              <a:uFillTx/>
              <a:latin typeface="Arial"/>
            </a:endParaRPr>
          </a:p>
        </p:txBody>
      </p:sp>
      <p:sp>
        <p:nvSpPr>
          <p:cNvPr id="732" name="Shape 133"/>
          <p:cNvSpPr/>
          <p:nvPr/>
        </p:nvSpPr>
        <p:spPr>
          <a:xfrm>
            <a:off x="9966960" y="5477400"/>
            <a:ext cx="1142640" cy="383760"/>
          </a:xfrm>
          <a:prstGeom prst="roundRect">
            <a:avLst>
              <a:gd name="adj" fmla="val 14286"/>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33" name="Text 134"/>
          <p:cNvSpPr/>
          <p:nvPr/>
        </p:nvSpPr>
        <p:spPr>
          <a:xfrm>
            <a:off x="9966960" y="5477400"/>
            <a:ext cx="114264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onsolas"/>
                <a:ea typeface="Consolas"/>
              </a:rPr>
              <a:t>X[7]</a:t>
            </a:r>
            <a:endParaRPr lang="en-US" sz="1100" b="0" u="none" strike="noStrike">
              <a:solidFill>
                <a:srgbClr val="000000"/>
              </a:solidFill>
              <a:effectLst/>
              <a:uFillTx/>
              <a:latin typeface="Arial"/>
            </a:endParaRPr>
          </a:p>
        </p:txBody>
      </p:sp>
      <p:sp>
        <p:nvSpPr>
          <p:cNvPr id="734" name="Text 135"/>
          <p:cNvSpPr/>
          <p:nvPr/>
        </p:nvSpPr>
        <p:spPr>
          <a:xfrm>
            <a:off x="502920" y="6053400"/>
            <a:ext cx="11155320" cy="4111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100" b="0" i="1" u="none" strike="noStrike">
                <a:solidFill>
                  <a:srgbClr val="5C6B7A"/>
                </a:solidFill>
                <a:effectLst/>
                <a:uFillTx/>
                <a:latin typeface="Calibri"/>
                <a:ea typeface="Calibri"/>
              </a:rPr>
              <a:t>Read left to right. Each box is one butterfly with its twiddle factor (teal = trivial 1, amber = other). The span doubles every stage: 1, 2, then 4 rows apart.</a:t>
            </a:r>
            <a:endParaRPr lang="en-US" sz="1100" b="0" u="none" strike="noStrike">
              <a:solidFill>
                <a:srgbClr val="000000"/>
              </a:solidFill>
              <a:effectLst/>
              <a:uFillTx/>
              <a:latin typeface="Arial"/>
            </a:endParaRPr>
          </a:p>
        </p:txBody>
      </p:sp>
      <p:sp>
        <p:nvSpPr>
          <p:cNvPr id="735" name="Shape 136"/>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736" name="Shape 137"/>
          <p:cNvSpPr/>
          <p:nvPr/>
        </p:nvSpPr>
        <p:spPr>
          <a:xfrm>
            <a:off x="502920" y="6473880"/>
            <a:ext cx="557748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737" name="Text 138"/>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000000"/>
              </a:solidFill>
              <a:effectLst/>
              <a:uFillTx/>
              <a:latin typeface="Arial"/>
            </a:endParaRPr>
          </a:p>
        </p:txBody>
      </p:sp>
      <p:sp>
        <p:nvSpPr>
          <p:cNvPr id="738" name="Text 139"/>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FFT8 (DIT)     21</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739"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3A · FFT8 WITH DIT</a:t>
            </a:r>
            <a:endParaRPr lang="en-US" sz="1150" b="0" u="none" strike="noStrike">
              <a:solidFill>
                <a:srgbClr val="000000"/>
              </a:solidFill>
              <a:effectLst/>
              <a:uFillTx/>
              <a:latin typeface="Arial"/>
            </a:endParaRPr>
          </a:p>
        </p:txBody>
      </p:sp>
      <p:sp>
        <p:nvSpPr>
          <p:cNvPr id="740"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DIT Worked Example: Input</a:t>
            </a:r>
            <a:endParaRPr lang="en-US" sz="2600" b="0" u="none" strike="noStrike">
              <a:solidFill>
                <a:srgbClr val="000000"/>
              </a:solidFill>
              <a:effectLst/>
              <a:uFillTx/>
              <a:latin typeface="Arial"/>
            </a:endParaRPr>
          </a:p>
        </p:txBody>
      </p:sp>
      <p:sp>
        <p:nvSpPr>
          <p:cNvPr id="741" name="Text 2"/>
          <p:cNvSpPr/>
          <p:nvPr/>
        </p:nvSpPr>
        <p:spPr>
          <a:xfrm>
            <a:off x="502920" y="1280160"/>
            <a:ext cx="512028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INPUT SEQUENCE, NATURAL ORDER</a:t>
            </a:r>
            <a:endParaRPr lang="en-US" sz="1100" b="0" u="none" strike="noStrike">
              <a:solidFill>
                <a:srgbClr val="000000"/>
              </a:solidFill>
              <a:effectLst/>
              <a:uFillTx/>
              <a:latin typeface="Arial"/>
            </a:endParaRPr>
          </a:p>
        </p:txBody>
      </p:sp>
      <p:sp>
        <p:nvSpPr>
          <p:cNvPr id="742" name="Shape 3"/>
          <p:cNvSpPr/>
          <p:nvPr/>
        </p:nvSpPr>
        <p:spPr>
          <a:xfrm>
            <a:off x="502920" y="1600200"/>
            <a:ext cx="603000" cy="502560"/>
          </a:xfrm>
          <a:prstGeom prst="roundRect">
            <a:avLst>
              <a:gd name="adj" fmla="val 14545"/>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43" name="Text 4"/>
          <p:cNvSpPr/>
          <p:nvPr/>
        </p:nvSpPr>
        <p:spPr>
          <a:xfrm>
            <a:off x="502920" y="1600200"/>
            <a:ext cx="60300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x0=1</a:t>
            </a:r>
            <a:endParaRPr lang="en-US" sz="1100" b="0" u="none" strike="noStrike">
              <a:solidFill>
                <a:srgbClr val="000000"/>
              </a:solidFill>
              <a:effectLst/>
              <a:uFillTx/>
              <a:latin typeface="Arial"/>
            </a:endParaRPr>
          </a:p>
        </p:txBody>
      </p:sp>
      <p:sp>
        <p:nvSpPr>
          <p:cNvPr id="744" name="Shape 5"/>
          <p:cNvSpPr/>
          <p:nvPr/>
        </p:nvSpPr>
        <p:spPr>
          <a:xfrm>
            <a:off x="1161360" y="1600200"/>
            <a:ext cx="603000" cy="502560"/>
          </a:xfrm>
          <a:prstGeom prst="roundRect">
            <a:avLst>
              <a:gd name="adj" fmla="val 14545"/>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45" name="Text 6"/>
          <p:cNvSpPr/>
          <p:nvPr/>
        </p:nvSpPr>
        <p:spPr>
          <a:xfrm>
            <a:off x="1161360" y="1600200"/>
            <a:ext cx="60300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x1=2</a:t>
            </a:r>
            <a:endParaRPr lang="en-US" sz="1100" b="0" u="none" strike="noStrike">
              <a:solidFill>
                <a:srgbClr val="000000"/>
              </a:solidFill>
              <a:effectLst/>
              <a:uFillTx/>
              <a:latin typeface="Arial"/>
            </a:endParaRPr>
          </a:p>
        </p:txBody>
      </p:sp>
      <p:sp>
        <p:nvSpPr>
          <p:cNvPr id="746" name="Shape 7"/>
          <p:cNvSpPr/>
          <p:nvPr/>
        </p:nvSpPr>
        <p:spPr>
          <a:xfrm>
            <a:off x="1819800" y="1600200"/>
            <a:ext cx="603000" cy="502560"/>
          </a:xfrm>
          <a:prstGeom prst="roundRect">
            <a:avLst>
              <a:gd name="adj" fmla="val 14545"/>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47" name="Text 8"/>
          <p:cNvSpPr/>
          <p:nvPr/>
        </p:nvSpPr>
        <p:spPr>
          <a:xfrm>
            <a:off x="1819800" y="1600200"/>
            <a:ext cx="60300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x2=3</a:t>
            </a:r>
            <a:endParaRPr lang="en-US" sz="1100" b="0" u="none" strike="noStrike">
              <a:solidFill>
                <a:srgbClr val="000000"/>
              </a:solidFill>
              <a:effectLst/>
              <a:uFillTx/>
              <a:latin typeface="Arial"/>
            </a:endParaRPr>
          </a:p>
        </p:txBody>
      </p:sp>
      <p:sp>
        <p:nvSpPr>
          <p:cNvPr id="748" name="Shape 9"/>
          <p:cNvSpPr/>
          <p:nvPr/>
        </p:nvSpPr>
        <p:spPr>
          <a:xfrm>
            <a:off x="2477880" y="1600200"/>
            <a:ext cx="603000" cy="502560"/>
          </a:xfrm>
          <a:prstGeom prst="roundRect">
            <a:avLst>
              <a:gd name="adj" fmla="val 14545"/>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49" name="Text 10"/>
          <p:cNvSpPr/>
          <p:nvPr/>
        </p:nvSpPr>
        <p:spPr>
          <a:xfrm>
            <a:off x="2477880" y="1600200"/>
            <a:ext cx="60300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x3=4</a:t>
            </a:r>
            <a:endParaRPr lang="en-US" sz="1100" b="0" u="none" strike="noStrike">
              <a:solidFill>
                <a:srgbClr val="000000"/>
              </a:solidFill>
              <a:effectLst/>
              <a:uFillTx/>
              <a:latin typeface="Arial"/>
            </a:endParaRPr>
          </a:p>
        </p:txBody>
      </p:sp>
      <p:sp>
        <p:nvSpPr>
          <p:cNvPr id="750" name="Shape 11"/>
          <p:cNvSpPr/>
          <p:nvPr/>
        </p:nvSpPr>
        <p:spPr>
          <a:xfrm>
            <a:off x="3136320" y="1600200"/>
            <a:ext cx="603000" cy="502560"/>
          </a:xfrm>
          <a:prstGeom prst="roundRect">
            <a:avLst>
              <a:gd name="adj" fmla="val 14545"/>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51" name="Text 12"/>
          <p:cNvSpPr/>
          <p:nvPr/>
        </p:nvSpPr>
        <p:spPr>
          <a:xfrm>
            <a:off x="3136320" y="1600200"/>
            <a:ext cx="60300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x4=5</a:t>
            </a:r>
            <a:endParaRPr lang="en-US" sz="1100" b="0" u="none" strike="noStrike">
              <a:solidFill>
                <a:srgbClr val="000000"/>
              </a:solidFill>
              <a:effectLst/>
              <a:uFillTx/>
              <a:latin typeface="Arial"/>
            </a:endParaRPr>
          </a:p>
        </p:txBody>
      </p:sp>
      <p:sp>
        <p:nvSpPr>
          <p:cNvPr id="752" name="Shape 13"/>
          <p:cNvSpPr/>
          <p:nvPr/>
        </p:nvSpPr>
        <p:spPr>
          <a:xfrm>
            <a:off x="3794760" y="1600200"/>
            <a:ext cx="603000" cy="502560"/>
          </a:xfrm>
          <a:prstGeom prst="roundRect">
            <a:avLst>
              <a:gd name="adj" fmla="val 14545"/>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53" name="Text 14"/>
          <p:cNvSpPr/>
          <p:nvPr/>
        </p:nvSpPr>
        <p:spPr>
          <a:xfrm>
            <a:off x="3794760" y="1600200"/>
            <a:ext cx="60300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x5=6</a:t>
            </a:r>
            <a:endParaRPr lang="en-US" sz="1100" b="0" u="none" strike="noStrike">
              <a:solidFill>
                <a:srgbClr val="000000"/>
              </a:solidFill>
              <a:effectLst/>
              <a:uFillTx/>
              <a:latin typeface="Arial"/>
            </a:endParaRPr>
          </a:p>
        </p:txBody>
      </p:sp>
      <p:sp>
        <p:nvSpPr>
          <p:cNvPr id="754" name="Shape 15"/>
          <p:cNvSpPr/>
          <p:nvPr/>
        </p:nvSpPr>
        <p:spPr>
          <a:xfrm>
            <a:off x="4453200" y="1600200"/>
            <a:ext cx="603000" cy="502560"/>
          </a:xfrm>
          <a:prstGeom prst="roundRect">
            <a:avLst>
              <a:gd name="adj" fmla="val 14545"/>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55" name="Text 16"/>
          <p:cNvSpPr/>
          <p:nvPr/>
        </p:nvSpPr>
        <p:spPr>
          <a:xfrm>
            <a:off x="4453200" y="1600200"/>
            <a:ext cx="60300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x6=7</a:t>
            </a:r>
            <a:endParaRPr lang="en-US" sz="1100" b="0" u="none" strike="noStrike">
              <a:solidFill>
                <a:srgbClr val="000000"/>
              </a:solidFill>
              <a:effectLst/>
              <a:uFillTx/>
              <a:latin typeface="Arial"/>
            </a:endParaRPr>
          </a:p>
        </p:txBody>
      </p:sp>
      <p:sp>
        <p:nvSpPr>
          <p:cNvPr id="756" name="Shape 17"/>
          <p:cNvSpPr/>
          <p:nvPr/>
        </p:nvSpPr>
        <p:spPr>
          <a:xfrm>
            <a:off x="5111640" y="1600200"/>
            <a:ext cx="603000" cy="502560"/>
          </a:xfrm>
          <a:prstGeom prst="roundRect">
            <a:avLst>
              <a:gd name="adj" fmla="val 14545"/>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57" name="Text 18"/>
          <p:cNvSpPr/>
          <p:nvPr/>
        </p:nvSpPr>
        <p:spPr>
          <a:xfrm>
            <a:off x="5111640" y="1600200"/>
            <a:ext cx="60300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x7=8</a:t>
            </a:r>
            <a:endParaRPr lang="en-US" sz="1100" b="0" u="none" strike="noStrike">
              <a:solidFill>
                <a:srgbClr val="000000"/>
              </a:solidFill>
              <a:effectLst/>
              <a:uFillTx/>
              <a:latin typeface="Arial"/>
            </a:endParaRPr>
          </a:p>
        </p:txBody>
      </p:sp>
      <p:sp>
        <p:nvSpPr>
          <p:cNvPr id="758" name="Text 19"/>
          <p:cNvSpPr/>
          <p:nvPr/>
        </p:nvSpPr>
        <p:spPr>
          <a:xfrm>
            <a:off x="502920" y="2377440"/>
            <a:ext cx="54860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REORDERED BY BIT-REVERSAL, READY FOR STAGES</a:t>
            </a:r>
            <a:endParaRPr lang="en-US" sz="1100" b="0" u="none" strike="noStrike">
              <a:solidFill>
                <a:srgbClr val="000000"/>
              </a:solidFill>
              <a:effectLst/>
              <a:uFillTx/>
              <a:latin typeface="Arial"/>
            </a:endParaRPr>
          </a:p>
        </p:txBody>
      </p:sp>
      <p:sp>
        <p:nvSpPr>
          <p:cNvPr id="759" name="Shape 20"/>
          <p:cNvSpPr/>
          <p:nvPr/>
        </p:nvSpPr>
        <p:spPr>
          <a:xfrm>
            <a:off x="502920" y="2697480"/>
            <a:ext cx="603000" cy="502560"/>
          </a:xfrm>
          <a:prstGeom prst="roundRect">
            <a:avLst>
              <a:gd name="adj" fmla="val 14545"/>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60" name="Text 21"/>
          <p:cNvSpPr/>
          <p:nvPr/>
        </p:nvSpPr>
        <p:spPr>
          <a:xfrm>
            <a:off x="502920" y="2697480"/>
            <a:ext cx="60300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x0=1</a:t>
            </a:r>
            <a:endParaRPr lang="en-US" sz="1100" b="0" u="none" strike="noStrike">
              <a:solidFill>
                <a:srgbClr val="000000"/>
              </a:solidFill>
              <a:effectLst/>
              <a:uFillTx/>
              <a:latin typeface="Arial"/>
            </a:endParaRPr>
          </a:p>
        </p:txBody>
      </p:sp>
      <p:sp>
        <p:nvSpPr>
          <p:cNvPr id="761" name="Shape 22"/>
          <p:cNvSpPr/>
          <p:nvPr/>
        </p:nvSpPr>
        <p:spPr>
          <a:xfrm>
            <a:off x="1161360" y="2697480"/>
            <a:ext cx="603000" cy="502560"/>
          </a:xfrm>
          <a:prstGeom prst="roundRect">
            <a:avLst>
              <a:gd name="adj" fmla="val 14545"/>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62" name="Text 23"/>
          <p:cNvSpPr/>
          <p:nvPr/>
        </p:nvSpPr>
        <p:spPr>
          <a:xfrm>
            <a:off x="1161360" y="2697480"/>
            <a:ext cx="60300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x4=5</a:t>
            </a:r>
            <a:endParaRPr lang="en-US" sz="1100" b="0" u="none" strike="noStrike">
              <a:solidFill>
                <a:srgbClr val="000000"/>
              </a:solidFill>
              <a:effectLst/>
              <a:uFillTx/>
              <a:latin typeface="Arial"/>
            </a:endParaRPr>
          </a:p>
        </p:txBody>
      </p:sp>
      <p:sp>
        <p:nvSpPr>
          <p:cNvPr id="763" name="Shape 24"/>
          <p:cNvSpPr/>
          <p:nvPr/>
        </p:nvSpPr>
        <p:spPr>
          <a:xfrm>
            <a:off x="1819800" y="2697480"/>
            <a:ext cx="603000" cy="502560"/>
          </a:xfrm>
          <a:prstGeom prst="roundRect">
            <a:avLst>
              <a:gd name="adj" fmla="val 14545"/>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64" name="Text 25"/>
          <p:cNvSpPr/>
          <p:nvPr/>
        </p:nvSpPr>
        <p:spPr>
          <a:xfrm>
            <a:off x="1819800" y="2697480"/>
            <a:ext cx="60300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x2=3</a:t>
            </a:r>
            <a:endParaRPr lang="en-US" sz="1100" b="0" u="none" strike="noStrike">
              <a:solidFill>
                <a:srgbClr val="000000"/>
              </a:solidFill>
              <a:effectLst/>
              <a:uFillTx/>
              <a:latin typeface="Arial"/>
            </a:endParaRPr>
          </a:p>
        </p:txBody>
      </p:sp>
      <p:sp>
        <p:nvSpPr>
          <p:cNvPr id="765" name="Shape 26"/>
          <p:cNvSpPr/>
          <p:nvPr/>
        </p:nvSpPr>
        <p:spPr>
          <a:xfrm>
            <a:off x="2477880" y="2697480"/>
            <a:ext cx="603000" cy="502560"/>
          </a:xfrm>
          <a:prstGeom prst="roundRect">
            <a:avLst>
              <a:gd name="adj" fmla="val 14545"/>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66" name="Text 27"/>
          <p:cNvSpPr/>
          <p:nvPr/>
        </p:nvSpPr>
        <p:spPr>
          <a:xfrm>
            <a:off x="2477880" y="2697480"/>
            <a:ext cx="60300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x6=7</a:t>
            </a:r>
            <a:endParaRPr lang="en-US" sz="1100" b="0" u="none" strike="noStrike">
              <a:solidFill>
                <a:srgbClr val="000000"/>
              </a:solidFill>
              <a:effectLst/>
              <a:uFillTx/>
              <a:latin typeface="Arial"/>
            </a:endParaRPr>
          </a:p>
        </p:txBody>
      </p:sp>
      <p:sp>
        <p:nvSpPr>
          <p:cNvPr id="767" name="Shape 28"/>
          <p:cNvSpPr/>
          <p:nvPr/>
        </p:nvSpPr>
        <p:spPr>
          <a:xfrm>
            <a:off x="3136320" y="2697480"/>
            <a:ext cx="603000" cy="502560"/>
          </a:xfrm>
          <a:prstGeom prst="roundRect">
            <a:avLst>
              <a:gd name="adj" fmla="val 14545"/>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68" name="Text 29"/>
          <p:cNvSpPr/>
          <p:nvPr/>
        </p:nvSpPr>
        <p:spPr>
          <a:xfrm>
            <a:off x="3136320" y="2697480"/>
            <a:ext cx="60300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x1=2</a:t>
            </a:r>
            <a:endParaRPr lang="en-US" sz="1100" b="0" u="none" strike="noStrike">
              <a:solidFill>
                <a:srgbClr val="000000"/>
              </a:solidFill>
              <a:effectLst/>
              <a:uFillTx/>
              <a:latin typeface="Arial"/>
            </a:endParaRPr>
          </a:p>
        </p:txBody>
      </p:sp>
      <p:sp>
        <p:nvSpPr>
          <p:cNvPr id="769" name="Shape 30"/>
          <p:cNvSpPr/>
          <p:nvPr/>
        </p:nvSpPr>
        <p:spPr>
          <a:xfrm>
            <a:off x="3794760" y="2697480"/>
            <a:ext cx="603000" cy="502560"/>
          </a:xfrm>
          <a:prstGeom prst="roundRect">
            <a:avLst>
              <a:gd name="adj" fmla="val 14545"/>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70" name="Text 31"/>
          <p:cNvSpPr/>
          <p:nvPr/>
        </p:nvSpPr>
        <p:spPr>
          <a:xfrm>
            <a:off x="3794760" y="2697480"/>
            <a:ext cx="60300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x5=6</a:t>
            </a:r>
            <a:endParaRPr lang="en-US" sz="1100" b="0" u="none" strike="noStrike">
              <a:solidFill>
                <a:srgbClr val="000000"/>
              </a:solidFill>
              <a:effectLst/>
              <a:uFillTx/>
              <a:latin typeface="Arial"/>
            </a:endParaRPr>
          </a:p>
        </p:txBody>
      </p:sp>
      <p:sp>
        <p:nvSpPr>
          <p:cNvPr id="771" name="Shape 32"/>
          <p:cNvSpPr/>
          <p:nvPr/>
        </p:nvSpPr>
        <p:spPr>
          <a:xfrm>
            <a:off x="4453200" y="2697480"/>
            <a:ext cx="603000" cy="502560"/>
          </a:xfrm>
          <a:prstGeom prst="roundRect">
            <a:avLst>
              <a:gd name="adj" fmla="val 14545"/>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72" name="Text 33"/>
          <p:cNvSpPr/>
          <p:nvPr/>
        </p:nvSpPr>
        <p:spPr>
          <a:xfrm>
            <a:off x="4453200" y="2697480"/>
            <a:ext cx="60300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x3=4</a:t>
            </a:r>
            <a:endParaRPr lang="en-US" sz="1100" b="0" u="none" strike="noStrike">
              <a:solidFill>
                <a:srgbClr val="000000"/>
              </a:solidFill>
              <a:effectLst/>
              <a:uFillTx/>
              <a:latin typeface="Arial"/>
            </a:endParaRPr>
          </a:p>
        </p:txBody>
      </p:sp>
      <p:sp>
        <p:nvSpPr>
          <p:cNvPr id="773" name="Shape 34"/>
          <p:cNvSpPr/>
          <p:nvPr/>
        </p:nvSpPr>
        <p:spPr>
          <a:xfrm>
            <a:off x="5111640" y="2697480"/>
            <a:ext cx="603000" cy="502560"/>
          </a:xfrm>
          <a:prstGeom prst="roundRect">
            <a:avLst>
              <a:gd name="adj" fmla="val 14545"/>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74" name="Text 35"/>
          <p:cNvSpPr/>
          <p:nvPr/>
        </p:nvSpPr>
        <p:spPr>
          <a:xfrm>
            <a:off x="5111640" y="2697480"/>
            <a:ext cx="60300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x7=8</a:t>
            </a:r>
            <a:endParaRPr lang="en-US" sz="1100" b="0" u="none" strike="noStrike">
              <a:solidFill>
                <a:srgbClr val="000000"/>
              </a:solidFill>
              <a:effectLst/>
              <a:uFillTx/>
              <a:latin typeface="Arial"/>
            </a:endParaRPr>
          </a:p>
        </p:txBody>
      </p:sp>
      <p:sp>
        <p:nvSpPr>
          <p:cNvPr id="775" name="Shape 36"/>
          <p:cNvSpPr/>
          <p:nvPr/>
        </p:nvSpPr>
        <p:spPr>
          <a:xfrm>
            <a:off x="502920" y="3520440"/>
            <a:ext cx="11155320" cy="2285640"/>
          </a:xfrm>
          <a:prstGeom prst="roundRect">
            <a:avLst>
              <a:gd name="adj" fmla="val 2400"/>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76" name="Text 37"/>
          <p:cNvSpPr/>
          <p:nvPr/>
        </p:nvSpPr>
        <p:spPr>
          <a:xfrm>
            <a:off x="731520" y="3657600"/>
            <a:ext cx="10698120" cy="20113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Plan for the next slides: starting from the bit-reversed sequence [1, 5, 3, 7, 2, 6, 4, 8], every butterfly in all three stages is calculated explicitly, which two numbers go in, which twiddle factor is used, and what the sum and difference are. No step is skipped and no result is only stated.</a:t>
            </a:r>
            <a:endParaRPr lang="en-US" sz="1300" b="0" u="none" strike="noStrike">
              <a:solidFill>
                <a:srgbClr val="000000"/>
              </a:solidFill>
              <a:effectLst/>
              <a:uFillTx/>
              <a:latin typeface="Arial"/>
            </a:endParaRPr>
          </a:p>
          <a:p>
            <a:pPr defTabSz="914400">
              <a:lnSpc>
                <a:spcPct val="118000"/>
              </a:lnSpc>
              <a:tabLst>
                <a:tab pos="0" algn="l"/>
              </a:tabLst>
            </a:pPr>
            <a:endParaRPr lang="en-US" sz="143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16202E"/>
                </a:solidFill>
                <a:effectLst/>
                <a:uFillTx/>
                <a:latin typeface="Calibri"/>
                <a:ea typeface="Calibri"/>
              </a:rPr>
              <a:t>At the end, the eight outputs X[0]..X[7] are checked against the direct DFT summation, to confirm the FFT and DFT produce identical numbers.</a:t>
            </a:r>
            <a:endParaRPr lang="en-US" sz="1300" b="0" u="none" strike="noStrike">
              <a:solidFill>
                <a:srgbClr val="000000"/>
              </a:solidFill>
              <a:effectLst/>
              <a:uFillTx/>
              <a:latin typeface="Arial"/>
            </a:endParaRPr>
          </a:p>
        </p:txBody>
      </p:sp>
      <p:sp>
        <p:nvSpPr>
          <p:cNvPr id="777" name="Shape 38"/>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778" name="Shape 39"/>
          <p:cNvSpPr/>
          <p:nvPr/>
        </p:nvSpPr>
        <p:spPr>
          <a:xfrm>
            <a:off x="502920" y="6473880"/>
            <a:ext cx="584316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779" name="Text 40"/>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000000"/>
              </a:solidFill>
              <a:effectLst/>
              <a:uFillTx/>
              <a:latin typeface="Arial"/>
            </a:endParaRPr>
          </a:p>
        </p:txBody>
      </p:sp>
      <p:sp>
        <p:nvSpPr>
          <p:cNvPr id="780" name="Text 41"/>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FFT8 (DIT)     22</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781"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3A · FFT8 WITH DIT</a:t>
            </a:r>
            <a:endParaRPr lang="en-US" sz="1150" b="0" u="none" strike="noStrike">
              <a:solidFill>
                <a:srgbClr val="000000"/>
              </a:solidFill>
              <a:effectLst/>
              <a:uFillTx/>
              <a:latin typeface="Arial"/>
            </a:endParaRPr>
          </a:p>
        </p:txBody>
      </p:sp>
      <p:sp>
        <p:nvSpPr>
          <p:cNvPr id="782"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DIT Numerical Calculation: Stage 1 &amp; 2</a:t>
            </a:r>
            <a:endParaRPr lang="en-US" sz="2600" b="0" u="none" strike="noStrike">
              <a:solidFill>
                <a:srgbClr val="000000"/>
              </a:solidFill>
              <a:effectLst/>
              <a:uFillTx/>
              <a:latin typeface="Arial"/>
            </a:endParaRPr>
          </a:p>
        </p:txBody>
      </p:sp>
      <p:sp>
        <p:nvSpPr>
          <p:cNvPr id="783" name="Text 2"/>
          <p:cNvSpPr/>
          <p:nvPr/>
        </p:nvSpPr>
        <p:spPr>
          <a:xfrm>
            <a:off x="502920" y="1188720"/>
            <a:ext cx="52117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STAGE 1 · FOUR TRIVIAL 2-POINT BUTTERFLIES</a:t>
            </a:r>
            <a:endParaRPr lang="en-US" sz="1100" b="0" u="none" strike="noStrike">
              <a:solidFill>
                <a:srgbClr val="000000"/>
              </a:solidFill>
              <a:effectLst/>
              <a:uFillTx/>
              <a:latin typeface="Arial"/>
            </a:endParaRPr>
          </a:p>
        </p:txBody>
      </p:sp>
      <p:graphicFrame>
        <p:nvGraphicFramePr>
          <p:cNvPr id="784" name="Table 0"/>
          <p:cNvGraphicFramePr/>
          <p:nvPr/>
        </p:nvGraphicFramePr>
        <p:xfrm>
          <a:off x="502920" y="1481400"/>
          <a:ext cx="4297320" cy="1462680"/>
        </p:xfrm>
        <a:graphic>
          <a:graphicData uri="http://schemas.openxmlformats.org/drawingml/2006/table">
            <a:tbl>
              <a:tblPr/>
              <a:tblGrid>
                <a:gridCol w="1280160"/>
                <a:gridCol w="640080"/>
                <a:gridCol w="640080"/>
                <a:gridCol w="457200"/>
                <a:gridCol w="640080"/>
                <a:gridCol w="640080"/>
              </a:tblGrid>
              <a:tr h="292320">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BFly</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A</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B</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Tw</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A+B</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A-B</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 (x0,x4)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5</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6</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2 (x2,x6)</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3</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7</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10</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3 (x1,x5)</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2</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6</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8</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 (x3,x7)</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8</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12</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bl>
          </a:graphicData>
        </a:graphic>
      </p:graphicFrame>
      <p:sp>
        <p:nvSpPr>
          <p:cNvPr id="785" name="Text 3"/>
          <p:cNvSpPr/>
          <p:nvPr/>
        </p:nvSpPr>
        <p:spPr>
          <a:xfrm>
            <a:off x="502920" y="3063240"/>
            <a:ext cx="5211720" cy="50256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i="1" u="none" strike="noStrike">
                <a:solidFill>
                  <a:srgbClr val="5C6B7A"/>
                </a:solidFill>
                <a:effectLst/>
                <a:uFillTx/>
                <a:latin typeface="Calibri"/>
                <a:ea typeface="Calibri"/>
              </a:rPr>
              <a:t>All values here are real since the twiddle factor is 1 in every Stage-1 butterfly. Complex values first appear in Stage 2.</a:t>
            </a:r>
            <a:endParaRPr lang="en-US" sz="1300" b="0" u="none" strike="noStrike">
              <a:solidFill>
                <a:srgbClr val="000000"/>
              </a:solidFill>
              <a:effectLst/>
              <a:uFillTx/>
              <a:latin typeface="Arial"/>
            </a:endParaRPr>
          </a:p>
        </p:txBody>
      </p:sp>
      <p:sp>
        <p:nvSpPr>
          <p:cNvPr id="786" name="Text 4"/>
          <p:cNvSpPr/>
          <p:nvPr/>
        </p:nvSpPr>
        <p:spPr>
          <a:xfrm>
            <a:off x="6446520" y="1188720"/>
            <a:ext cx="493740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STAGE 2 · COMBINE INTO FOUR-POINT RESULTS</a:t>
            </a:r>
            <a:endParaRPr lang="en-US" sz="1100" b="0" u="none" strike="noStrike">
              <a:solidFill>
                <a:srgbClr val="000000"/>
              </a:solidFill>
              <a:effectLst/>
              <a:uFillTx/>
              <a:latin typeface="Arial"/>
            </a:endParaRPr>
          </a:p>
        </p:txBody>
      </p:sp>
      <p:graphicFrame>
        <p:nvGraphicFramePr>
          <p:cNvPr id="787" name="Table 1"/>
          <p:cNvGraphicFramePr/>
          <p:nvPr/>
        </p:nvGraphicFramePr>
        <p:xfrm>
          <a:off x="6446520" y="1481400"/>
          <a:ext cx="4937400" cy="1462680"/>
        </p:xfrm>
        <a:graphic>
          <a:graphicData uri="http://schemas.openxmlformats.org/drawingml/2006/table">
            <a:tbl>
              <a:tblPr/>
              <a:tblGrid>
                <a:gridCol w="457200"/>
                <a:gridCol w="365760"/>
                <a:gridCol w="640080"/>
                <a:gridCol w="640080"/>
                <a:gridCol w="457200"/>
                <a:gridCol w="1188720"/>
                <a:gridCol w="1188720"/>
              </a:tblGrid>
              <a:tr h="292320">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Grp</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k</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A</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B</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Tw</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A+WB</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A-WB</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A</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0</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6</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10</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16</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A</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-4+4j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-4-4j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B</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0</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8</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12</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20</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B</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-4+4j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-4-4j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bl>
          </a:graphicData>
        </a:graphic>
      </p:graphicFrame>
      <p:sp>
        <p:nvSpPr>
          <p:cNvPr id="788" name="Text 5"/>
          <p:cNvSpPr/>
          <p:nvPr/>
        </p:nvSpPr>
        <p:spPr>
          <a:xfrm>
            <a:off x="6446520" y="3063240"/>
            <a:ext cx="4937400" cy="59400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Stage 2 outputs: E[0..3] = 16, -4+4j, -4, -4-4j.  O[0..3] = 20, -4+4j, -4, -4-4j.</a:t>
            </a:r>
            <a:endParaRPr lang="en-US" sz="1300" b="0" u="none" strike="noStrike">
              <a:solidFill>
                <a:srgbClr val="000000"/>
              </a:solidFill>
              <a:effectLst/>
              <a:uFillTx/>
              <a:latin typeface="Arial"/>
            </a:endParaRPr>
          </a:p>
        </p:txBody>
      </p:sp>
      <p:sp>
        <p:nvSpPr>
          <p:cNvPr id="789" name="Shape 6"/>
          <p:cNvSpPr/>
          <p:nvPr/>
        </p:nvSpPr>
        <p:spPr>
          <a:xfrm>
            <a:off x="502920" y="3794760"/>
            <a:ext cx="11155320" cy="1279800"/>
          </a:xfrm>
          <a:prstGeom prst="roundRect">
            <a:avLst>
              <a:gd name="adj" fmla="val 4286"/>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90" name="Text 7"/>
          <p:cNvSpPr/>
          <p:nvPr/>
        </p:nvSpPr>
        <p:spPr>
          <a:xfrm>
            <a:off x="685800" y="3931920"/>
            <a:ext cx="10789560" cy="100548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W4^1 = -j is a trivial rotation: multiplying by -j swaps real and imaginary parts and negates one of them, so (-j)(-4) = 4j needs only a sign flip and a swap, not a general complex multiplier.</a:t>
            </a:r>
            <a:endParaRPr lang="en-US" sz="1300" b="0" u="none" strike="noStrike">
              <a:solidFill>
                <a:srgbClr val="000000"/>
              </a:solidFill>
              <a:effectLst/>
              <a:uFillTx/>
              <a:latin typeface="Arial"/>
            </a:endParaRPr>
          </a:p>
        </p:txBody>
      </p:sp>
      <p:sp>
        <p:nvSpPr>
          <p:cNvPr id="791" name="Shape 8"/>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792" name="Shape 9"/>
          <p:cNvSpPr/>
          <p:nvPr/>
        </p:nvSpPr>
        <p:spPr>
          <a:xfrm>
            <a:off x="502920" y="6473880"/>
            <a:ext cx="610884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793" name="Text 10"/>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000000"/>
              </a:solidFill>
              <a:effectLst/>
              <a:uFillTx/>
              <a:latin typeface="Arial"/>
            </a:endParaRPr>
          </a:p>
        </p:txBody>
      </p:sp>
      <p:sp>
        <p:nvSpPr>
          <p:cNvPr id="794" name="Text 11"/>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FFT8 (DIT)     23</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795"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3A · FFT8 WITH DIT</a:t>
            </a:r>
            <a:endParaRPr lang="en-US" sz="1150" b="0" u="none" strike="noStrike">
              <a:solidFill>
                <a:srgbClr val="000000"/>
              </a:solidFill>
              <a:effectLst/>
              <a:uFillTx/>
              <a:latin typeface="Arial"/>
            </a:endParaRPr>
          </a:p>
        </p:txBody>
      </p:sp>
      <p:sp>
        <p:nvSpPr>
          <p:cNvPr id="796"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DIT Numerical Calculation: Stage 3 &amp; Final</a:t>
            </a:r>
            <a:endParaRPr lang="en-US" sz="2600" b="0" u="none" strike="noStrike">
              <a:solidFill>
                <a:srgbClr val="000000"/>
              </a:solidFill>
              <a:effectLst/>
              <a:uFillTx/>
              <a:latin typeface="Arial"/>
            </a:endParaRPr>
          </a:p>
        </p:txBody>
      </p:sp>
      <p:graphicFrame>
        <p:nvGraphicFramePr>
          <p:cNvPr id="797" name="Table 0"/>
          <p:cNvGraphicFramePr/>
          <p:nvPr/>
        </p:nvGraphicFramePr>
        <p:xfrm>
          <a:off x="502920" y="1280160"/>
          <a:ext cx="11155320" cy="1462680"/>
        </p:xfrm>
        <a:graphic>
          <a:graphicData uri="http://schemas.openxmlformats.org/drawingml/2006/table">
            <a:tbl>
              <a:tblPr/>
              <a:tblGrid>
                <a:gridCol w="548640"/>
                <a:gridCol w="1463040"/>
                <a:gridCol w="1463040"/>
                <a:gridCol w="2194560"/>
                <a:gridCol w="2651760"/>
                <a:gridCol w="2834640"/>
              </a:tblGrid>
              <a:tr h="292320">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k</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A=E[k]</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B=O[k]</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Twiddle W₈ᵏ</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X[k]=A+WB</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X[k+4]=A-WB</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0</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16</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20</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36</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-4+4j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-4+4j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0.7071-0.7071j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-4+9.657j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-4-1.657j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2</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-4+4j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-4-4j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3</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-4-4j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-4-4j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-0.7071-0.7071j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-4+1.657j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-4-9.657j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bl>
          </a:graphicData>
        </a:graphic>
      </p:graphicFrame>
      <p:sp>
        <p:nvSpPr>
          <p:cNvPr id="798" name="Text 2"/>
          <p:cNvSpPr/>
          <p:nvPr/>
        </p:nvSpPr>
        <p:spPr>
          <a:xfrm>
            <a:off x="502920" y="2926080"/>
            <a:ext cx="11155320" cy="50256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i="1" u="none" strike="noStrike">
                <a:solidFill>
                  <a:srgbClr val="5C6B7A"/>
                </a:solidFill>
                <a:effectLst/>
                <a:uFillTx/>
                <a:latin typeface="Calibri"/>
                <a:ea typeface="Calibri"/>
              </a:rPr>
              <a:t>For k=1 and k=3, W8^k times B is a full complex multiplication, e.g. for k=1: (0.7071-0.7071j)(-4+4j) = 0 + j5.657. These are the only two genuine complex multiplications in the entire 8-point transform.</a:t>
            </a:r>
            <a:endParaRPr lang="en-US" sz="1300" b="0" u="none" strike="noStrike">
              <a:solidFill>
                <a:srgbClr val="000000"/>
              </a:solidFill>
              <a:effectLst/>
              <a:uFillTx/>
              <a:latin typeface="Arial"/>
            </a:endParaRPr>
          </a:p>
        </p:txBody>
      </p:sp>
      <p:sp>
        <p:nvSpPr>
          <p:cNvPr id="799" name="Text 3"/>
          <p:cNvSpPr/>
          <p:nvPr/>
        </p:nvSpPr>
        <p:spPr>
          <a:xfrm>
            <a:off x="502920" y="361188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FINAL OUTPUTS X[0]..X[7], NATURAL ORDER (NO PERMUTATION NEEDED FOR DIT)</a:t>
            </a:r>
            <a:endParaRPr lang="en-US" sz="1100" b="0" u="none" strike="noStrike">
              <a:solidFill>
                <a:srgbClr val="000000"/>
              </a:solidFill>
              <a:effectLst/>
              <a:uFillTx/>
              <a:latin typeface="Arial"/>
            </a:endParaRPr>
          </a:p>
        </p:txBody>
      </p:sp>
      <p:graphicFrame>
        <p:nvGraphicFramePr>
          <p:cNvPr id="800" name="Table 1"/>
          <p:cNvGraphicFramePr/>
          <p:nvPr/>
        </p:nvGraphicFramePr>
        <p:xfrm>
          <a:off x="502920" y="3931920"/>
          <a:ext cx="11155320" cy="585000"/>
        </p:xfrm>
        <a:graphic>
          <a:graphicData uri="http://schemas.openxmlformats.org/drawingml/2006/table">
            <a:tbl>
              <a:tblPr/>
              <a:tblGrid>
                <a:gridCol w="1394280"/>
                <a:gridCol w="1394280"/>
                <a:gridCol w="1394280"/>
                <a:gridCol w="1394280"/>
                <a:gridCol w="1394280"/>
                <a:gridCol w="1394280"/>
                <a:gridCol w="1394280"/>
                <a:gridCol w="1394280"/>
              </a:tblGrid>
              <a:tr h="292320">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X[0]</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0E8388"/>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X[1]</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0E8388"/>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X[2]</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0E8388"/>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X[3]</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0E8388"/>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X[4]</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0E8388"/>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X[5]</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0E8388"/>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X[6]</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0E8388"/>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X[7]</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0E8388"/>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36</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-4+9.657j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-4+4j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-4+1.657j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-4-1.657j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-4-4j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-4-9.657j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bl>
          </a:graphicData>
        </a:graphic>
      </p:graphicFrame>
      <p:sp>
        <p:nvSpPr>
          <p:cNvPr id="801" name="Shape 4"/>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802" name="Shape 5"/>
          <p:cNvSpPr/>
          <p:nvPr/>
        </p:nvSpPr>
        <p:spPr>
          <a:xfrm>
            <a:off x="502920" y="6473880"/>
            <a:ext cx="637416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803" name="Text 6"/>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000000"/>
              </a:solidFill>
              <a:effectLst/>
              <a:uFillTx/>
              <a:latin typeface="Arial"/>
            </a:endParaRPr>
          </a:p>
        </p:txBody>
      </p:sp>
      <p:sp>
        <p:nvSpPr>
          <p:cNvPr id="804" name="Text 7"/>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FFT8 (DIT)     24</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805"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3A · FFT8 WITH DIT</a:t>
            </a:r>
            <a:endParaRPr lang="en-US" sz="1150" b="0" u="none" strike="noStrike">
              <a:solidFill>
                <a:srgbClr val="000000"/>
              </a:solidFill>
              <a:effectLst/>
              <a:uFillTx/>
              <a:latin typeface="Arial"/>
            </a:endParaRPr>
          </a:p>
        </p:txBody>
      </p:sp>
      <p:sp>
        <p:nvSpPr>
          <p:cNvPr id="806"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Verifying the DIT Result Against Direct DFT</a:t>
            </a:r>
            <a:endParaRPr lang="en-US" sz="2600" b="0" u="none" strike="noStrike">
              <a:solidFill>
                <a:srgbClr val="000000"/>
              </a:solidFill>
              <a:effectLst/>
              <a:uFillTx/>
              <a:latin typeface="Arial"/>
            </a:endParaRPr>
          </a:p>
        </p:txBody>
      </p:sp>
      <p:sp>
        <p:nvSpPr>
          <p:cNvPr id="807" name="Shape 2"/>
          <p:cNvSpPr/>
          <p:nvPr/>
        </p:nvSpPr>
        <p:spPr>
          <a:xfrm>
            <a:off x="502920" y="1234440"/>
            <a:ext cx="5211720" cy="1234080"/>
          </a:xfrm>
          <a:prstGeom prst="roundRect">
            <a:avLst>
              <a:gd name="adj" fmla="val 4444"/>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08" name="Text 3"/>
          <p:cNvSpPr/>
          <p:nvPr/>
        </p:nvSpPr>
        <p:spPr>
          <a:xfrm>
            <a:off x="685800" y="1325880"/>
            <a:ext cx="4845960" cy="10969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Cross-check 1: X[0] must equal the sum of all samples.</a:t>
            </a:r>
            <a:endParaRPr lang="en-US" sz="1300" b="0" u="none" strike="noStrike">
              <a:solidFill>
                <a:srgbClr val="000000"/>
              </a:solidFill>
              <a:effectLst/>
              <a:uFillTx/>
              <a:latin typeface="Arial"/>
            </a:endParaRPr>
          </a:p>
          <a:p>
            <a:pPr defTabSz="914400">
              <a:lnSpc>
                <a:spcPct val="118000"/>
              </a:lnSpc>
              <a:tabLst>
                <a:tab pos="0" algn="l"/>
              </a:tabLst>
            </a:pPr>
            <a:endParaRPr lang="en-US" sz="132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16202E"/>
                </a:solidFill>
                <a:effectLst/>
                <a:uFillTx/>
                <a:latin typeface="Calibri"/>
                <a:ea typeface="Calibri"/>
              </a:rPr>
              <a:t>X[0] = 1+2+3+4+5+6+7+8 = 36, matches the FFT result X[0]=36.</a:t>
            </a:r>
            <a:endParaRPr lang="en-US" sz="1300" b="0" u="none" strike="noStrike">
              <a:solidFill>
                <a:srgbClr val="000000"/>
              </a:solidFill>
              <a:effectLst/>
              <a:uFillTx/>
              <a:latin typeface="Arial"/>
            </a:endParaRPr>
          </a:p>
        </p:txBody>
      </p:sp>
      <p:sp>
        <p:nvSpPr>
          <p:cNvPr id="809" name="Shape 4"/>
          <p:cNvSpPr/>
          <p:nvPr/>
        </p:nvSpPr>
        <p:spPr>
          <a:xfrm>
            <a:off x="502920" y="2606040"/>
            <a:ext cx="5211720" cy="1234080"/>
          </a:xfrm>
          <a:prstGeom prst="roundRect">
            <a:avLst>
              <a:gd name="adj" fmla="val 4444"/>
            </a:avLst>
          </a:prstGeom>
          <a:solidFill>
            <a:srgbClr val="FBF0E2"/>
          </a:solidFill>
          <a:ln w="12700">
            <a:solidFill>
              <a:srgbClr val="E7CDA0"/>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10" name="Text 5"/>
          <p:cNvSpPr/>
          <p:nvPr/>
        </p:nvSpPr>
        <p:spPr>
          <a:xfrm>
            <a:off x="685800" y="2697480"/>
            <a:ext cx="4845960" cy="10969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Cross-check 2: direct evaluation of X[1] from the DFT definition.</a:t>
            </a:r>
            <a:endParaRPr lang="en-US" sz="1300" b="0" u="none" strike="noStrike">
              <a:solidFill>
                <a:srgbClr val="000000"/>
              </a:solidFill>
              <a:effectLst/>
              <a:uFillTx/>
              <a:latin typeface="Arial"/>
            </a:endParaRPr>
          </a:p>
          <a:p>
            <a:pPr defTabSz="914400">
              <a:lnSpc>
                <a:spcPct val="118000"/>
              </a:lnSpc>
              <a:tabLst>
                <a:tab pos="0" algn="l"/>
              </a:tabLst>
            </a:pPr>
            <a:endParaRPr lang="en-US" sz="132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16202E"/>
                </a:solidFill>
                <a:effectLst/>
                <a:uFillTx/>
                <a:latin typeface="Calibri"/>
                <a:ea typeface="Calibri"/>
              </a:rPr>
              <a:t>X[1] = sum of x[n] W8^n = -4 + j(4+4sqrt2) = -4+j9.657, matches the FFT result.</a:t>
            </a:r>
            <a:endParaRPr lang="en-US" sz="1300" b="0" u="none" strike="noStrike">
              <a:solidFill>
                <a:srgbClr val="000000"/>
              </a:solidFill>
              <a:effectLst/>
              <a:uFillTx/>
              <a:latin typeface="Arial"/>
            </a:endParaRPr>
          </a:p>
        </p:txBody>
      </p:sp>
      <p:sp>
        <p:nvSpPr>
          <p:cNvPr id="811" name="Text 6"/>
          <p:cNvSpPr/>
          <p:nvPr/>
        </p:nvSpPr>
        <p:spPr>
          <a:xfrm>
            <a:off x="502920" y="4023360"/>
            <a:ext cx="52117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CROSS-CHECK 3 · CONJUGATE SYMMETRY (x[n] REAL)</a:t>
            </a:r>
            <a:endParaRPr lang="en-US" sz="1100" b="0" u="none" strike="noStrike">
              <a:solidFill>
                <a:srgbClr val="000000"/>
              </a:solidFill>
              <a:effectLst/>
              <a:uFillTx/>
              <a:latin typeface="Arial"/>
            </a:endParaRPr>
          </a:p>
        </p:txBody>
      </p:sp>
      <p:graphicFrame>
        <p:nvGraphicFramePr>
          <p:cNvPr id="812" name="Table 0"/>
          <p:cNvGraphicFramePr/>
          <p:nvPr/>
        </p:nvGraphicFramePr>
        <p:xfrm>
          <a:off x="502920" y="4297680"/>
          <a:ext cx="5211720" cy="1462680"/>
        </p:xfrm>
        <a:graphic>
          <a:graphicData uri="http://schemas.openxmlformats.org/drawingml/2006/table">
            <a:tbl>
              <a:tblPr/>
              <a:tblGrid>
                <a:gridCol w="1188720"/>
                <a:gridCol w="2286000"/>
                <a:gridCol w="1737360"/>
              </a:tblGrid>
              <a:tr h="292320">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Pair</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Expected: X[N-k]=X[k]*</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FFT result</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X[7] vs X[1]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conj(-4+9.657j)=-4-9.657j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X[7]=-4-9.657j ✓</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X[6] vs X[2]</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conj(-4+4j)=-4-4j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X[6]=-4-4j ✓</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X[5] vs X[3]</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conj(-4+1.657j)=-4-1.657j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X[5]=-4-1.657j ✓</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must be purely real (Nyquist)</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X[4]=-4 ✓</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bl>
          </a:graphicData>
        </a:graphic>
      </p:graphicFrame>
      <p:sp>
        <p:nvSpPr>
          <p:cNvPr id="813" name="Shape 7"/>
          <p:cNvSpPr/>
          <p:nvPr/>
        </p:nvSpPr>
        <p:spPr>
          <a:xfrm>
            <a:off x="6446520" y="1234440"/>
            <a:ext cx="4937400" cy="5120280"/>
          </a:xfrm>
          <a:prstGeom prst="roundRect">
            <a:avLst>
              <a:gd name="adj" fmla="val 1111"/>
            </a:avLst>
          </a:prstGeom>
          <a:solidFill>
            <a:srgbClr val="132A4A"/>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14" name="Text 8"/>
          <p:cNvSpPr/>
          <p:nvPr/>
        </p:nvSpPr>
        <p:spPr>
          <a:xfrm>
            <a:off x="6675120" y="1463040"/>
            <a:ext cx="4480200" cy="411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000" b="1" u="none" strike="noStrike">
                <a:solidFill>
                  <a:srgbClr val="FFFFFF"/>
                </a:solidFill>
                <a:effectLst/>
                <a:uFillTx/>
                <a:latin typeface="Cambria"/>
                <a:ea typeface="Cambria"/>
              </a:rPr>
              <a:t>Every check agrees.</a:t>
            </a:r>
            <a:endParaRPr lang="en-US" sz="2000" b="0" u="none" strike="noStrike">
              <a:solidFill>
                <a:srgbClr val="000000"/>
              </a:solidFill>
              <a:effectLst/>
              <a:uFillTx/>
              <a:latin typeface="Arial"/>
            </a:endParaRPr>
          </a:p>
        </p:txBody>
      </p:sp>
      <p:sp>
        <p:nvSpPr>
          <p:cNvPr id="815" name="Text 9"/>
          <p:cNvSpPr/>
          <p:nvPr/>
        </p:nvSpPr>
        <p:spPr>
          <a:xfrm>
            <a:off x="6675120" y="2011680"/>
            <a:ext cx="4480200" cy="402300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EAF1FB"/>
                </a:solidFill>
                <a:effectLst/>
                <a:uFillTx/>
                <a:latin typeface="Calibri"/>
                <a:ea typeface="Calibri"/>
              </a:rPr>
              <a:t>The 12-butterfly FFT computation and the 64-multiply direct DFT summation produce numerically identical results, as they must: the FFT is an algorithm for computing the DFT, not a different transform. Every intermediate value traced through the three stages, bit-reversal, and twiddle multiplications checks out against the brute-force definition.</a:t>
            </a:r>
            <a:endParaRPr lang="en-US" sz="1300" b="0" u="none" strike="noStrike">
              <a:solidFill>
                <a:srgbClr val="000000"/>
              </a:solidFill>
              <a:effectLst/>
              <a:uFillTx/>
              <a:latin typeface="Arial"/>
            </a:endParaRPr>
          </a:p>
          <a:p>
            <a:pPr defTabSz="914400">
              <a:lnSpc>
                <a:spcPct val="118000"/>
              </a:lnSpc>
              <a:tabLst>
                <a:tab pos="0" algn="l"/>
              </a:tabLst>
            </a:pPr>
            <a:endParaRPr lang="en-US" sz="143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EAF1FB"/>
                </a:solidFill>
                <a:effectLst/>
                <a:uFillTx/>
                <a:latin typeface="Calibri"/>
                <a:ea typeface="Calibri"/>
              </a:rPr>
              <a:t>This is the confirmation that the entire radix-2 DIT derivation, from the split-by-parity algebra through the butterfly flow graph, is correct and can be trusted as the basis for a hardware implementation.</a:t>
            </a:r>
            <a:endParaRPr lang="en-US" sz="1300" b="0" u="none" strike="noStrike">
              <a:solidFill>
                <a:srgbClr val="000000"/>
              </a:solidFill>
              <a:effectLst/>
              <a:uFillTx/>
              <a:latin typeface="Arial"/>
            </a:endParaRPr>
          </a:p>
        </p:txBody>
      </p:sp>
      <p:sp>
        <p:nvSpPr>
          <p:cNvPr id="816" name="Shape 10"/>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817" name="Shape 11"/>
          <p:cNvSpPr/>
          <p:nvPr/>
        </p:nvSpPr>
        <p:spPr>
          <a:xfrm>
            <a:off x="502920" y="6473880"/>
            <a:ext cx="663984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818" name="Text 12"/>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000000"/>
              </a:solidFill>
              <a:effectLst/>
              <a:uFillTx/>
              <a:latin typeface="Arial"/>
            </a:endParaRPr>
          </a:p>
        </p:txBody>
      </p:sp>
      <p:sp>
        <p:nvSpPr>
          <p:cNvPr id="819" name="Text 13"/>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FFT8 (DIT)     25</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820"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3B · FFT8 WITH DIF</a:t>
            </a:r>
            <a:endParaRPr lang="en-US" sz="1150" b="0" u="none" strike="noStrike">
              <a:solidFill>
                <a:srgbClr val="000000"/>
              </a:solidFill>
              <a:effectLst/>
              <a:uFillTx/>
              <a:latin typeface="Arial"/>
            </a:endParaRPr>
          </a:p>
        </p:txBody>
      </p:sp>
      <p:sp>
        <p:nvSpPr>
          <p:cNvPr id="821"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Complete Flow Graph (DIF)</a:t>
            </a:r>
            <a:endParaRPr lang="en-US" sz="2600" b="0" u="none" strike="noStrike">
              <a:solidFill>
                <a:srgbClr val="000000"/>
              </a:solidFill>
              <a:effectLst/>
              <a:uFillTx/>
              <a:latin typeface="Arial"/>
            </a:endParaRPr>
          </a:p>
        </p:txBody>
      </p:sp>
      <p:sp>
        <p:nvSpPr>
          <p:cNvPr id="822" name="Text 2"/>
          <p:cNvSpPr/>
          <p:nvPr/>
        </p:nvSpPr>
        <p:spPr>
          <a:xfrm>
            <a:off x="502920" y="1298520"/>
            <a:ext cx="1371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5C6B7A"/>
                </a:solidFill>
                <a:effectLst/>
                <a:uFillTx/>
                <a:latin typeface="Calibri"/>
                <a:ea typeface="Calibri"/>
              </a:rPr>
              <a:t>Natural-order input</a:t>
            </a:r>
            <a:endParaRPr lang="en-US" sz="1100" b="0" u="none" strike="noStrike">
              <a:solidFill>
                <a:srgbClr val="000000"/>
              </a:solidFill>
              <a:effectLst/>
              <a:uFillTx/>
              <a:latin typeface="Arial"/>
            </a:endParaRPr>
          </a:p>
        </p:txBody>
      </p:sp>
      <p:sp>
        <p:nvSpPr>
          <p:cNvPr id="823" name="Text 3"/>
          <p:cNvSpPr/>
          <p:nvPr/>
        </p:nvSpPr>
        <p:spPr>
          <a:xfrm>
            <a:off x="2263320" y="1298520"/>
            <a:ext cx="182844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Stage 1</a:t>
            </a:r>
            <a:endParaRPr lang="en-US" sz="1100" b="0" u="none" strike="noStrike">
              <a:solidFill>
                <a:srgbClr val="000000"/>
              </a:solidFill>
              <a:effectLst/>
              <a:uFillTx/>
              <a:latin typeface="Arial"/>
            </a:endParaRPr>
          </a:p>
        </p:txBody>
      </p:sp>
      <p:sp>
        <p:nvSpPr>
          <p:cNvPr id="824" name="Text 4"/>
          <p:cNvSpPr/>
          <p:nvPr/>
        </p:nvSpPr>
        <p:spPr>
          <a:xfrm>
            <a:off x="4869360" y="1298520"/>
            <a:ext cx="182844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Stage 2</a:t>
            </a:r>
            <a:endParaRPr lang="en-US" sz="1100" b="0" u="none" strike="noStrike">
              <a:solidFill>
                <a:srgbClr val="000000"/>
              </a:solidFill>
              <a:effectLst/>
              <a:uFillTx/>
              <a:latin typeface="Arial"/>
            </a:endParaRPr>
          </a:p>
        </p:txBody>
      </p:sp>
      <p:sp>
        <p:nvSpPr>
          <p:cNvPr id="825" name="Text 5"/>
          <p:cNvSpPr/>
          <p:nvPr/>
        </p:nvSpPr>
        <p:spPr>
          <a:xfrm>
            <a:off x="7475400" y="1298520"/>
            <a:ext cx="182844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Stage 3</a:t>
            </a:r>
            <a:endParaRPr lang="en-US" sz="1100" b="0" u="none" strike="noStrike">
              <a:solidFill>
                <a:srgbClr val="000000"/>
              </a:solidFill>
              <a:effectLst/>
              <a:uFillTx/>
              <a:latin typeface="Arial"/>
            </a:endParaRPr>
          </a:p>
        </p:txBody>
      </p:sp>
      <p:sp>
        <p:nvSpPr>
          <p:cNvPr id="826" name="Text 6"/>
          <p:cNvSpPr/>
          <p:nvPr/>
        </p:nvSpPr>
        <p:spPr>
          <a:xfrm>
            <a:off x="9921240" y="1298520"/>
            <a:ext cx="191988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5C6B7A"/>
                </a:solidFill>
                <a:effectLst/>
                <a:uFillTx/>
                <a:latin typeface="Calibri"/>
                <a:ea typeface="Calibri"/>
              </a:rPr>
              <a:t>Output (bit-reversed order)</a:t>
            </a:r>
            <a:endParaRPr lang="en-US" sz="1100" b="0" u="none" strike="noStrike">
              <a:solidFill>
                <a:srgbClr val="000000"/>
              </a:solidFill>
              <a:effectLst/>
              <a:uFillTx/>
              <a:latin typeface="Arial"/>
            </a:endParaRPr>
          </a:p>
        </p:txBody>
      </p:sp>
      <p:sp>
        <p:nvSpPr>
          <p:cNvPr id="827" name="Shape 7"/>
          <p:cNvSpPr/>
          <p:nvPr/>
        </p:nvSpPr>
        <p:spPr>
          <a:xfrm>
            <a:off x="1874520" y="1828800"/>
            <a:ext cx="964440" cy="10285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28" name="Shape 8"/>
          <p:cNvSpPr/>
          <p:nvPr/>
        </p:nvSpPr>
        <p:spPr>
          <a:xfrm flipV="1">
            <a:off x="1874520" y="2994480"/>
            <a:ext cx="964440" cy="10288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29" name="Shape 9"/>
          <p:cNvSpPr/>
          <p:nvPr/>
        </p:nvSpPr>
        <p:spPr>
          <a:xfrm flipV="1">
            <a:off x="3515760" y="1828800"/>
            <a:ext cx="964800" cy="10285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30" name="Shape 10"/>
          <p:cNvSpPr/>
          <p:nvPr/>
        </p:nvSpPr>
        <p:spPr>
          <a:xfrm>
            <a:off x="3515760" y="2994480"/>
            <a:ext cx="964800" cy="10288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31" name="Shape 11"/>
          <p:cNvSpPr/>
          <p:nvPr/>
        </p:nvSpPr>
        <p:spPr>
          <a:xfrm>
            <a:off x="1874520" y="2377440"/>
            <a:ext cx="964440" cy="10285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32" name="Shape 12"/>
          <p:cNvSpPr/>
          <p:nvPr/>
        </p:nvSpPr>
        <p:spPr>
          <a:xfrm flipV="1">
            <a:off x="1874520" y="3543120"/>
            <a:ext cx="964440" cy="10288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33" name="Shape 13"/>
          <p:cNvSpPr/>
          <p:nvPr/>
        </p:nvSpPr>
        <p:spPr>
          <a:xfrm flipV="1">
            <a:off x="3515760" y="2377440"/>
            <a:ext cx="964800" cy="10285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34" name="Shape 14"/>
          <p:cNvSpPr/>
          <p:nvPr/>
        </p:nvSpPr>
        <p:spPr>
          <a:xfrm>
            <a:off x="3515760" y="3543120"/>
            <a:ext cx="964800" cy="10288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35" name="Shape 15"/>
          <p:cNvSpPr/>
          <p:nvPr/>
        </p:nvSpPr>
        <p:spPr>
          <a:xfrm>
            <a:off x="1874520" y="2926080"/>
            <a:ext cx="964440" cy="10285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36" name="Shape 16"/>
          <p:cNvSpPr/>
          <p:nvPr/>
        </p:nvSpPr>
        <p:spPr>
          <a:xfrm flipV="1">
            <a:off x="1874520" y="4091760"/>
            <a:ext cx="964440" cy="10288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37" name="Shape 17"/>
          <p:cNvSpPr/>
          <p:nvPr/>
        </p:nvSpPr>
        <p:spPr>
          <a:xfrm flipV="1">
            <a:off x="3515760" y="2926080"/>
            <a:ext cx="964800" cy="10285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38" name="Shape 18"/>
          <p:cNvSpPr/>
          <p:nvPr/>
        </p:nvSpPr>
        <p:spPr>
          <a:xfrm>
            <a:off x="3515760" y="4091760"/>
            <a:ext cx="964800" cy="10288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39" name="Shape 19"/>
          <p:cNvSpPr/>
          <p:nvPr/>
        </p:nvSpPr>
        <p:spPr>
          <a:xfrm>
            <a:off x="1874520" y="3474720"/>
            <a:ext cx="964440" cy="10285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40" name="Shape 20"/>
          <p:cNvSpPr/>
          <p:nvPr/>
        </p:nvSpPr>
        <p:spPr>
          <a:xfrm flipV="1">
            <a:off x="1874520" y="4640400"/>
            <a:ext cx="964440" cy="10288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41" name="Shape 21"/>
          <p:cNvSpPr/>
          <p:nvPr/>
        </p:nvSpPr>
        <p:spPr>
          <a:xfrm flipV="1">
            <a:off x="3515760" y="3474720"/>
            <a:ext cx="964800" cy="10285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42" name="Shape 22"/>
          <p:cNvSpPr/>
          <p:nvPr/>
        </p:nvSpPr>
        <p:spPr>
          <a:xfrm>
            <a:off x="3515760" y="4640400"/>
            <a:ext cx="964800" cy="10288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43" name="Shape 23"/>
          <p:cNvSpPr/>
          <p:nvPr/>
        </p:nvSpPr>
        <p:spPr>
          <a:xfrm>
            <a:off x="4480560" y="1828800"/>
            <a:ext cx="964440" cy="4798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44" name="Shape 24"/>
          <p:cNvSpPr/>
          <p:nvPr/>
        </p:nvSpPr>
        <p:spPr>
          <a:xfrm flipV="1">
            <a:off x="4480560" y="2445840"/>
            <a:ext cx="964440" cy="48024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45" name="Shape 25"/>
          <p:cNvSpPr/>
          <p:nvPr/>
        </p:nvSpPr>
        <p:spPr>
          <a:xfrm flipV="1">
            <a:off x="6121800" y="1828800"/>
            <a:ext cx="964800" cy="4798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46" name="Shape 26"/>
          <p:cNvSpPr/>
          <p:nvPr/>
        </p:nvSpPr>
        <p:spPr>
          <a:xfrm>
            <a:off x="6121800" y="2445840"/>
            <a:ext cx="964800" cy="48024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47" name="Shape 27"/>
          <p:cNvSpPr/>
          <p:nvPr/>
        </p:nvSpPr>
        <p:spPr>
          <a:xfrm>
            <a:off x="4480560" y="2377440"/>
            <a:ext cx="964440" cy="4798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48" name="Shape 28"/>
          <p:cNvSpPr/>
          <p:nvPr/>
        </p:nvSpPr>
        <p:spPr>
          <a:xfrm flipV="1">
            <a:off x="4480560" y="2994480"/>
            <a:ext cx="964440" cy="48024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49" name="Shape 29"/>
          <p:cNvSpPr/>
          <p:nvPr/>
        </p:nvSpPr>
        <p:spPr>
          <a:xfrm flipV="1">
            <a:off x="6121800" y="2377440"/>
            <a:ext cx="964800" cy="4798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50" name="Shape 30"/>
          <p:cNvSpPr/>
          <p:nvPr/>
        </p:nvSpPr>
        <p:spPr>
          <a:xfrm>
            <a:off x="6121800" y="2994480"/>
            <a:ext cx="964800" cy="48024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51" name="Shape 31"/>
          <p:cNvSpPr/>
          <p:nvPr/>
        </p:nvSpPr>
        <p:spPr>
          <a:xfrm>
            <a:off x="4480560" y="4023360"/>
            <a:ext cx="964440" cy="4798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52" name="Shape 32"/>
          <p:cNvSpPr/>
          <p:nvPr/>
        </p:nvSpPr>
        <p:spPr>
          <a:xfrm flipV="1">
            <a:off x="4480560" y="4640400"/>
            <a:ext cx="964440" cy="48024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53" name="Shape 33"/>
          <p:cNvSpPr/>
          <p:nvPr/>
        </p:nvSpPr>
        <p:spPr>
          <a:xfrm flipV="1">
            <a:off x="6121800" y="4023360"/>
            <a:ext cx="964800" cy="4798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54" name="Shape 34"/>
          <p:cNvSpPr/>
          <p:nvPr/>
        </p:nvSpPr>
        <p:spPr>
          <a:xfrm>
            <a:off x="6121800" y="4640400"/>
            <a:ext cx="964800" cy="48024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55" name="Shape 35"/>
          <p:cNvSpPr/>
          <p:nvPr/>
        </p:nvSpPr>
        <p:spPr>
          <a:xfrm>
            <a:off x="4480560" y="4572000"/>
            <a:ext cx="964440" cy="4798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56" name="Shape 36"/>
          <p:cNvSpPr/>
          <p:nvPr/>
        </p:nvSpPr>
        <p:spPr>
          <a:xfrm flipV="1">
            <a:off x="4480560" y="5189040"/>
            <a:ext cx="964440" cy="48024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57" name="Shape 37"/>
          <p:cNvSpPr/>
          <p:nvPr/>
        </p:nvSpPr>
        <p:spPr>
          <a:xfrm flipV="1">
            <a:off x="6121800" y="4572000"/>
            <a:ext cx="964800" cy="47988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58" name="Shape 38"/>
          <p:cNvSpPr/>
          <p:nvPr/>
        </p:nvSpPr>
        <p:spPr>
          <a:xfrm>
            <a:off x="6121800" y="5189040"/>
            <a:ext cx="964800" cy="48024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59" name="Shape 39"/>
          <p:cNvSpPr/>
          <p:nvPr/>
        </p:nvSpPr>
        <p:spPr>
          <a:xfrm>
            <a:off x="7086600" y="1828800"/>
            <a:ext cx="964440" cy="20556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60" name="Shape 40"/>
          <p:cNvSpPr/>
          <p:nvPr/>
        </p:nvSpPr>
        <p:spPr>
          <a:xfrm flipV="1">
            <a:off x="7086600" y="2171520"/>
            <a:ext cx="964440" cy="2059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61" name="Shape 41"/>
          <p:cNvSpPr/>
          <p:nvPr/>
        </p:nvSpPr>
        <p:spPr>
          <a:xfrm flipV="1">
            <a:off x="8727840" y="1828800"/>
            <a:ext cx="964800" cy="20556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62" name="Shape 42"/>
          <p:cNvSpPr/>
          <p:nvPr/>
        </p:nvSpPr>
        <p:spPr>
          <a:xfrm>
            <a:off x="8727840" y="2171520"/>
            <a:ext cx="964800" cy="2059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63" name="Shape 43"/>
          <p:cNvSpPr/>
          <p:nvPr/>
        </p:nvSpPr>
        <p:spPr>
          <a:xfrm>
            <a:off x="7086600" y="2926080"/>
            <a:ext cx="964440" cy="20556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64" name="Shape 44"/>
          <p:cNvSpPr/>
          <p:nvPr/>
        </p:nvSpPr>
        <p:spPr>
          <a:xfrm flipV="1">
            <a:off x="7086600" y="3268800"/>
            <a:ext cx="964440" cy="2059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65" name="Shape 45"/>
          <p:cNvSpPr/>
          <p:nvPr/>
        </p:nvSpPr>
        <p:spPr>
          <a:xfrm flipV="1">
            <a:off x="8727840" y="2926080"/>
            <a:ext cx="964800" cy="20556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66" name="Shape 46"/>
          <p:cNvSpPr/>
          <p:nvPr/>
        </p:nvSpPr>
        <p:spPr>
          <a:xfrm>
            <a:off x="8727840" y="3268800"/>
            <a:ext cx="964800" cy="2059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67" name="Shape 47"/>
          <p:cNvSpPr/>
          <p:nvPr/>
        </p:nvSpPr>
        <p:spPr>
          <a:xfrm>
            <a:off x="7086600" y="4023360"/>
            <a:ext cx="964440" cy="20556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68" name="Shape 48"/>
          <p:cNvSpPr/>
          <p:nvPr/>
        </p:nvSpPr>
        <p:spPr>
          <a:xfrm flipV="1">
            <a:off x="7086600" y="4366080"/>
            <a:ext cx="964440" cy="2059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69" name="Shape 49"/>
          <p:cNvSpPr/>
          <p:nvPr/>
        </p:nvSpPr>
        <p:spPr>
          <a:xfrm flipV="1">
            <a:off x="8727840" y="4023360"/>
            <a:ext cx="964800" cy="20556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70" name="Shape 50"/>
          <p:cNvSpPr/>
          <p:nvPr/>
        </p:nvSpPr>
        <p:spPr>
          <a:xfrm>
            <a:off x="8727840" y="4366080"/>
            <a:ext cx="964800" cy="2059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71" name="Shape 51"/>
          <p:cNvSpPr/>
          <p:nvPr/>
        </p:nvSpPr>
        <p:spPr>
          <a:xfrm>
            <a:off x="7086600" y="5120640"/>
            <a:ext cx="964440" cy="20556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72" name="Shape 52"/>
          <p:cNvSpPr/>
          <p:nvPr/>
        </p:nvSpPr>
        <p:spPr>
          <a:xfrm flipV="1">
            <a:off x="7086600" y="5463360"/>
            <a:ext cx="964440" cy="2059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73" name="Shape 53"/>
          <p:cNvSpPr/>
          <p:nvPr/>
        </p:nvSpPr>
        <p:spPr>
          <a:xfrm flipV="1">
            <a:off x="8727840" y="5120640"/>
            <a:ext cx="964800" cy="20556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74" name="Shape 54"/>
          <p:cNvSpPr/>
          <p:nvPr/>
        </p:nvSpPr>
        <p:spPr>
          <a:xfrm>
            <a:off x="8727840" y="5463360"/>
            <a:ext cx="964800" cy="205920"/>
          </a:xfrm>
          <a:prstGeom prst="line">
            <a:avLst/>
          </a:prstGeom>
          <a:ln w="19050">
            <a:solidFill>
              <a:srgbClr val="9FB0C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75" name="Shape 55"/>
          <p:cNvSpPr/>
          <p:nvPr/>
        </p:nvSpPr>
        <p:spPr>
          <a:xfrm>
            <a:off x="1824120" y="177840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876" name="Shape 56"/>
          <p:cNvSpPr/>
          <p:nvPr/>
        </p:nvSpPr>
        <p:spPr>
          <a:xfrm>
            <a:off x="1824120" y="232704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877" name="Shape 57"/>
          <p:cNvSpPr/>
          <p:nvPr/>
        </p:nvSpPr>
        <p:spPr>
          <a:xfrm>
            <a:off x="1824120" y="287568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878" name="Shape 58"/>
          <p:cNvSpPr/>
          <p:nvPr/>
        </p:nvSpPr>
        <p:spPr>
          <a:xfrm>
            <a:off x="1824120" y="342432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879" name="Shape 59"/>
          <p:cNvSpPr/>
          <p:nvPr/>
        </p:nvSpPr>
        <p:spPr>
          <a:xfrm>
            <a:off x="1824120" y="397296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880" name="Shape 60"/>
          <p:cNvSpPr/>
          <p:nvPr/>
        </p:nvSpPr>
        <p:spPr>
          <a:xfrm>
            <a:off x="1824120" y="452160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881" name="Shape 61"/>
          <p:cNvSpPr/>
          <p:nvPr/>
        </p:nvSpPr>
        <p:spPr>
          <a:xfrm>
            <a:off x="1824120" y="507024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882" name="Shape 62"/>
          <p:cNvSpPr/>
          <p:nvPr/>
        </p:nvSpPr>
        <p:spPr>
          <a:xfrm>
            <a:off x="1824120" y="561888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883" name="Shape 63"/>
          <p:cNvSpPr/>
          <p:nvPr/>
        </p:nvSpPr>
        <p:spPr>
          <a:xfrm>
            <a:off x="4430160" y="177840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884" name="Shape 64"/>
          <p:cNvSpPr/>
          <p:nvPr/>
        </p:nvSpPr>
        <p:spPr>
          <a:xfrm>
            <a:off x="4430160" y="232704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885" name="Shape 65"/>
          <p:cNvSpPr/>
          <p:nvPr/>
        </p:nvSpPr>
        <p:spPr>
          <a:xfrm>
            <a:off x="4430160" y="287568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886" name="Shape 66"/>
          <p:cNvSpPr/>
          <p:nvPr/>
        </p:nvSpPr>
        <p:spPr>
          <a:xfrm>
            <a:off x="4430160" y="342432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887" name="Shape 67"/>
          <p:cNvSpPr/>
          <p:nvPr/>
        </p:nvSpPr>
        <p:spPr>
          <a:xfrm>
            <a:off x="4430160" y="397296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888" name="Shape 68"/>
          <p:cNvSpPr/>
          <p:nvPr/>
        </p:nvSpPr>
        <p:spPr>
          <a:xfrm>
            <a:off x="4430160" y="452160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889" name="Shape 69"/>
          <p:cNvSpPr/>
          <p:nvPr/>
        </p:nvSpPr>
        <p:spPr>
          <a:xfrm>
            <a:off x="4430160" y="507024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890" name="Shape 70"/>
          <p:cNvSpPr/>
          <p:nvPr/>
        </p:nvSpPr>
        <p:spPr>
          <a:xfrm>
            <a:off x="4430160" y="561888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891" name="Shape 71"/>
          <p:cNvSpPr/>
          <p:nvPr/>
        </p:nvSpPr>
        <p:spPr>
          <a:xfrm>
            <a:off x="7036200" y="177840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892" name="Shape 72"/>
          <p:cNvSpPr/>
          <p:nvPr/>
        </p:nvSpPr>
        <p:spPr>
          <a:xfrm>
            <a:off x="7036200" y="232704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893" name="Shape 73"/>
          <p:cNvSpPr/>
          <p:nvPr/>
        </p:nvSpPr>
        <p:spPr>
          <a:xfrm>
            <a:off x="7036200" y="287568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894" name="Shape 74"/>
          <p:cNvSpPr/>
          <p:nvPr/>
        </p:nvSpPr>
        <p:spPr>
          <a:xfrm>
            <a:off x="7036200" y="342432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895" name="Shape 75"/>
          <p:cNvSpPr/>
          <p:nvPr/>
        </p:nvSpPr>
        <p:spPr>
          <a:xfrm>
            <a:off x="7036200" y="397296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896" name="Shape 76"/>
          <p:cNvSpPr/>
          <p:nvPr/>
        </p:nvSpPr>
        <p:spPr>
          <a:xfrm>
            <a:off x="7036200" y="452160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897" name="Shape 77"/>
          <p:cNvSpPr/>
          <p:nvPr/>
        </p:nvSpPr>
        <p:spPr>
          <a:xfrm>
            <a:off x="7036200" y="507024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898" name="Shape 78"/>
          <p:cNvSpPr/>
          <p:nvPr/>
        </p:nvSpPr>
        <p:spPr>
          <a:xfrm>
            <a:off x="7036200" y="561888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899" name="Shape 79"/>
          <p:cNvSpPr/>
          <p:nvPr/>
        </p:nvSpPr>
        <p:spPr>
          <a:xfrm>
            <a:off x="9642240" y="177840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900" name="Shape 80"/>
          <p:cNvSpPr/>
          <p:nvPr/>
        </p:nvSpPr>
        <p:spPr>
          <a:xfrm>
            <a:off x="9642240" y="232704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901" name="Shape 81"/>
          <p:cNvSpPr/>
          <p:nvPr/>
        </p:nvSpPr>
        <p:spPr>
          <a:xfrm>
            <a:off x="9642240" y="287568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902" name="Shape 82"/>
          <p:cNvSpPr/>
          <p:nvPr/>
        </p:nvSpPr>
        <p:spPr>
          <a:xfrm>
            <a:off x="9642240" y="342432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903" name="Shape 83"/>
          <p:cNvSpPr/>
          <p:nvPr/>
        </p:nvSpPr>
        <p:spPr>
          <a:xfrm>
            <a:off x="9642240" y="397296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904" name="Shape 84"/>
          <p:cNvSpPr/>
          <p:nvPr/>
        </p:nvSpPr>
        <p:spPr>
          <a:xfrm>
            <a:off x="9642240" y="452160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905" name="Shape 85"/>
          <p:cNvSpPr/>
          <p:nvPr/>
        </p:nvSpPr>
        <p:spPr>
          <a:xfrm>
            <a:off x="9642240" y="507024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906" name="Shape 86"/>
          <p:cNvSpPr/>
          <p:nvPr/>
        </p:nvSpPr>
        <p:spPr>
          <a:xfrm>
            <a:off x="9642240" y="5618880"/>
            <a:ext cx="100080" cy="100080"/>
          </a:xfrm>
          <a:prstGeom prst="ellipse">
            <a:avLst/>
          </a:prstGeom>
          <a:solidFill>
            <a:srgbClr val="132A4A"/>
          </a:solidFill>
          <a:ln w="6350">
            <a:solidFill>
              <a:srgbClr val="132A4A"/>
            </a:solidFill>
            <a:round/>
          </a:ln>
        </p:spPr>
        <p:style>
          <a:lnRef idx="0"/>
          <a:fillRef idx="0"/>
          <a:effectRef idx="0"/>
          <a:fontRef idx="minor"/>
        </p:style>
        <p:txBody>
          <a:bodyPr lIns="90000" tIns="26280" rIns="90000" bIns="26280" anchor="t">
            <a:noAutofit/>
          </a:bodyPr>
          <a:p>
            <a:endParaRPr lang="en-US" sz="1800" b="0" u="none" strike="noStrike">
              <a:solidFill>
                <a:schemeClr val="dk1"/>
              </a:solidFill>
              <a:effectLst/>
              <a:uFillTx/>
              <a:latin typeface="Calibri"/>
            </a:endParaRPr>
          </a:p>
        </p:txBody>
      </p:sp>
      <p:sp>
        <p:nvSpPr>
          <p:cNvPr id="907" name="Shape 87"/>
          <p:cNvSpPr/>
          <p:nvPr/>
        </p:nvSpPr>
        <p:spPr>
          <a:xfrm>
            <a:off x="2839320" y="2779920"/>
            <a:ext cx="676440" cy="292320"/>
          </a:xfrm>
          <a:prstGeom prst="roundRect">
            <a:avLst>
              <a:gd name="adj" fmla="val 15625"/>
            </a:avLst>
          </a:prstGeom>
          <a:solidFill>
            <a:srgbClr val="FFFFFF"/>
          </a:solidFill>
          <a:ln w="19050">
            <a:solidFill>
              <a:srgbClr val="0E838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08" name="Text 88"/>
          <p:cNvSpPr/>
          <p:nvPr/>
        </p:nvSpPr>
        <p:spPr>
          <a:xfrm>
            <a:off x="2839320" y="2779920"/>
            <a:ext cx="676440" cy="292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E8388"/>
                </a:solidFill>
                <a:effectLst/>
                <a:uFillTx/>
                <a:latin typeface="Consolas"/>
                <a:ea typeface="Consolas"/>
              </a:rPr>
              <a:t>1</a:t>
            </a:r>
            <a:endParaRPr lang="en-US" sz="1100" b="0" u="none" strike="noStrike">
              <a:solidFill>
                <a:srgbClr val="000000"/>
              </a:solidFill>
              <a:effectLst/>
              <a:uFillTx/>
              <a:latin typeface="Arial"/>
            </a:endParaRPr>
          </a:p>
        </p:txBody>
      </p:sp>
      <p:sp>
        <p:nvSpPr>
          <p:cNvPr id="909" name="Shape 89"/>
          <p:cNvSpPr/>
          <p:nvPr/>
        </p:nvSpPr>
        <p:spPr>
          <a:xfrm>
            <a:off x="2839320" y="3328560"/>
            <a:ext cx="676440" cy="292320"/>
          </a:xfrm>
          <a:prstGeom prst="roundRect">
            <a:avLst>
              <a:gd name="adj" fmla="val 15625"/>
            </a:avLst>
          </a:prstGeom>
          <a:solidFill>
            <a:srgbClr val="FFFFFF"/>
          </a:solidFill>
          <a:ln w="19050">
            <a:solidFill>
              <a:srgbClr val="D9832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10" name="Text 90"/>
          <p:cNvSpPr/>
          <p:nvPr/>
        </p:nvSpPr>
        <p:spPr>
          <a:xfrm>
            <a:off x="2839320" y="3328560"/>
            <a:ext cx="676440" cy="292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D98324"/>
                </a:solidFill>
                <a:effectLst/>
                <a:uFillTx/>
                <a:latin typeface="Consolas"/>
                <a:ea typeface="Consolas"/>
              </a:rPr>
              <a:t>W8^1</a:t>
            </a:r>
            <a:endParaRPr lang="en-US" sz="1100" b="0" u="none" strike="noStrike">
              <a:solidFill>
                <a:srgbClr val="000000"/>
              </a:solidFill>
              <a:effectLst/>
              <a:uFillTx/>
              <a:latin typeface="Arial"/>
            </a:endParaRPr>
          </a:p>
        </p:txBody>
      </p:sp>
      <p:sp>
        <p:nvSpPr>
          <p:cNvPr id="911" name="Shape 91"/>
          <p:cNvSpPr/>
          <p:nvPr/>
        </p:nvSpPr>
        <p:spPr>
          <a:xfrm>
            <a:off x="2839320" y="3877200"/>
            <a:ext cx="676440" cy="292320"/>
          </a:xfrm>
          <a:prstGeom prst="roundRect">
            <a:avLst>
              <a:gd name="adj" fmla="val 15625"/>
            </a:avLst>
          </a:prstGeom>
          <a:solidFill>
            <a:srgbClr val="FFFFFF"/>
          </a:solidFill>
          <a:ln w="19050">
            <a:solidFill>
              <a:srgbClr val="D9832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12" name="Text 92"/>
          <p:cNvSpPr/>
          <p:nvPr/>
        </p:nvSpPr>
        <p:spPr>
          <a:xfrm>
            <a:off x="2839320" y="3877200"/>
            <a:ext cx="676440" cy="292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D98324"/>
                </a:solidFill>
                <a:effectLst/>
                <a:uFillTx/>
                <a:latin typeface="Consolas"/>
                <a:ea typeface="Consolas"/>
              </a:rPr>
              <a:t>-j</a:t>
            </a:r>
            <a:endParaRPr lang="en-US" sz="1100" b="0" u="none" strike="noStrike">
              <a:solidFill>
                <a:srgbClr val="000000"/>
              </a:solidFill>
              <a:effectLst/>
              <a:uFillTx/>
              <a:latin typeface="Arial"/>
            </a:endParaRPr>
          </a:p>
        </p:txBody>
      </p:sp>
      <p:sp>
        <p:nvSpPr>
          <p:cNvPr id="913" name="Shape 93"/>
          <p:cNvSpPr/>
          <p:nvPr/>
        </p:nvSpPr>
        <p:spPr>
          <a:xfrm>
            <a:off x="2839320" y="4425840"/>
            <a:ext cx="676440" cy="292320"/>
          </a:xfrm>
          <a:prstGeom prst="roundRect">
            <a:avLst>
              <a:gd name="adj" fmla="val 15625"/>
            </a:avLst>
          </a:prstGeom>
          <a:solidFill>
            <a:srgbClr val="FFFFFF"/>
          </a:solidFill>
          <a:ln w="19050">
            <a:solidFill>
              <a:srgbClr val="D9832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14" name="Text 94"/>
          <p:cNvSpPr/>
          <p:nvPr/>
        </p:nvSpPr>
        <p:spPr>
          <a:xfrm>
            <a:off x="2839320" y="4425840"/>
            <a:ext cx="676440" cy="292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D98324"/>
                </a:solidFill>
                <a:effectLst/>
                <a:uFillTx/>
                <a:latin typeface="Consolas"/>
                <a:ea typeface="Consolas"/>
              </a:rPr>
              <a:t>W8^3</a:t>
            </a:r>
            <a:endParaRPr lang="en-US" sz="1100" b="0" u="none" strike="noStrike">
              <a:solidFill>
                <a:srgbClr val="000000"/>
              </a:solidFill>
              <a:effectLst/>
              <a:uFillTx/>
              <a:latin typeface="Arial"/>
            </a:endParaRPr>
          </a:p>
        </p:txBody>
      </p:sp>
      <p:sp>
        <p:nvSpPr>
          <p:cNvPr id="915" name="Shape 95"/>
          <p:cNvSpPr/>
          <p:nvPr/>
        </p:nvSpPr>
        <p:spPr>
          <a:xfrm>
            <a:off x="5445360" y="2231280"/>
            <a:ext cx="676440" cy="292320"/>
          </a:xfrm>
          <a:prstGeom prst="roundRect">
            <a:avLst>
              <a:gd name="adj" fmla="val 15625"/>
            </a:avLst>
          </a:prstGeom>
          <a:solidFill>
            <a:srgbClr val="FFFFFF"/>
          </a:solidFill>
          <a:ln w="19050">
            <a:solidFill>
              <a:srgbClr val="0E838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16" name="Text 96"/>
          <p:cNvSpPr/>
          <p:nvPr/>
        </p:nvSpPr>
        <p:spPr>
          <a:xfrm>
            <a:off x="5445360" y="2231280"/>
            <a:ext cx="676440" cy="292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E8388"/>
                </a:solidFill>
                <a:effectLst/>
                <a:uFillTx/>
                <a:latin typeface="Consolas"/>
                <a:ea typeface="Consolas"/>
              </a:rPr>
              <a:t>1</a:t>
            </a:r>
            <a:endParaRPr lang="en-US" sz="1100" b="0" u="none" strike="noStrike">
              <a:solidFill>
                <a:srgbClr val="000000"/>
              </a:solidFill>
              <a:effectLst/>
              <a:uFillTx/>
              <a:latin typeface="Arial"/>
            </a:endParaRPr>
          </a:p>
        </p:txBody>
      </p:sp>
      <p:sp>
        <p:nvSpPr>
          <p:cNvPr id="917" name="Shape 97"/>
          <p:cNvSpPr/>
          <p:nvPr/>
        </p:nvSpPr>
        <p:spPr>
          <a:xfrm>
            <a:off x="5445360" y="2779920"/>
            <a:ext cx="676440" cy="292320"/>
          </a:xfrm>
          <a:prstGeom prst="roundRect">
            <a:avLst>
              <a:gd name="adj" fmla="val 15625"/>
            </a:avLst>
          </a:prstGeom>
          <a:solidFill>
            <a:srgbClr val="FFFFFF"/>
          </a:solidFill>
          <a:ln w="19050">
            <a:solidFill>
              <a:srgbClr val="D9832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18" name="Text 98"/>
          <p:cNvSpPr/>
          <p:nvPr/>
        </p:nvSpPr>
        <p:spPr>
          <a:xfrm>
            <a:off x="5445360" y="2779920"/>
            <a:ext cx="676440" cy="292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D98324"/>
                </a:solidFill>
                <a:effectLst/>
                <a:uFillTx/>
                <a:latin typeface="Consolas"/>
                <a:ea typeface="Consolas"/>
              </a:rPr>
              <a:t>-j</a:t>
            </a:r>
            <a:endParaRPr lang="en-US" sz="1100" b="0" u="none" strike="noStrike">
              <a:solidFill>
                <a:srgbClr val="000000"/>
              </a:solidFill>
              <a:effectLst/>
              <a:uFillTx/>
              <a:latin typeface="Arial"/>
            </a:endParaRPr>
          </a:p>
        </p:txBody>
      </p:sp>
      <p:sp>
        <p:nvSpPr>
          <p:cNvPr id="919" name="Shape 99"/>
          <p:cNvSpPr/>
          <p:nvPr/>
        </p:nvSpPr>
        <p:spPr>
          <a:xfrm>
            <a:off x="5445360" y="4425840"/>
            <a:ext cx="676440" cy="292320"/>
          </a:xfrm>
          <a:prstGeom prst="roundRect">
            <a:avLst>
              <a:gd name="adj" fmla="val 15625"/>
            </a:avLst>
          </a:prstGeom>
          <a:solidFill>
            <a:srgbClr val="FFFFFF"/>
          </a:solidFill>
          <a:ln w="19050">
            <a:solidFill>
              <a:srgbClr val="0E838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20" name="Text 100"/>
          <p:cNvSpPr/>
          <p:nvPr/>
        </p:nvSpPr>
        <p:spPr>
          <a:xfrm>
            <a:off x="5445360" y="4425840"/>
            <a:ext cx="676440" cy="292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E8388"/>
                </a:solidFill>
                <a:effectLst/>
                <a:uFillTx/>
                <a:latin typeface="Consolas"/>
                <a:ea typeface="Consolas"/>
              </a:rPr>
              <a:t>1</a:t>
            </a:r>
            <a:endParaRPr lang="en-US" sz="1100" b="0" u="none" strike="noStrike">
              <a:solidFill>
                <a:srgbClr val="000000"/>
              </a:solidFill>
              <a:effectLst/>
              <a:uFillTx/>
              <a:latin typeface="Arial"/>
            </a:endParaRPr>
          </a:p>
        </p:txBody>
      </p:sp>
      <p:sp>
        <p:nvSpPr>
          <p:cNvPr id="921" name="Shape 101"/>
          <p:cNvSpPr/>
          <p:nvPr/>
        </p:nvSpPr>
        <p:spPr>
          <a:xfrm>
            <a:off x="5445360" y="4974480"/>
            <a:ext cx="676440" cy="292320"/>
          </a:xfrm>
          <a:prstGeom prst="roundRect">
            <a:avLst>
              <a:gd name="adj" fmla="val 15625"/>
            </a:avLst>
          </a:prstGeom>
          <a:solidFill>
            <a:srgbClr val="FFFFFF"/>
          </a:solidFill>
          <a:ln w="19050">
            <a:solidFill>
              <a:srgbClr val="D9832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22" name="Text 102"/>
          <p:cNvSpPr/>
          <p:nvPr/>
        </p:nvSpPr>
        <p:spPr>
          <a:xfrm>
            <a:off x="5445360" y="4974480"/>
            <a:ext cx="676440" cy="292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D98324"/>
                </a:solidFill>
                <a:effectLst/>
                <a:uFillTx/>
                <a:latin typeface="Consolas"/>
                <a:ea typeface="Consolas"/>
              </a:rPr>
              <a:t>-j</a:t>
            </a:r>
            <a:endParaRPr lang="en-US" sz="1100" b="0" u="none" strike="noStrike">
              <a:solidFill>
                <a:srgbClr val="000000"/>
              </a:solidFill>
              <a:effectLst/>
              <a:uFillTx/>
              <a:latin typeface="Arial"/>
            </a:endParaRPr>
          </a:p>
        </p:txBody>
      </p:sp>
      <p:sp>
        <p:nvSpPr>
          <p:cNvPr id="923" name="Shape 103"/>
          <p:cNvSpPr/>
          <p:nvPr/>
        </p:nvSpPr>
        <p:spPr>
          <a:xfrm>
            <a:off x="8051400" y="1956960"/>
            <a:ext cx="676440" cy="292320"/>
          </a:xfrm>
          <a:prstGeom prst="roundRect">
            <a:avLst>
              <a:gd name="adj" fmla="val 15625"/>
            </a:avLst>
          </a:prstGeom>
          <a:solidFill>
            <a:srgbClr val="FFFFFF"/>
          </a:solidFill>
          <a:ln w="19050">
            <a:solidFill>
              <a:srgbClr val="0E838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24" name="Text 104"/>
          <p:cNvSpPr/>
          <p:nvPr/>
        </p:nvSpPr>
        <p:spPr>
          <a:xfrm>
            <a:off x="8051400" y="1956960"/>
            <a:ext cx="676440" cy="292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E8388"/>
                </a:solidFill>
                <a:effectLst/>
                <a:uFillTx/>
                <a:latin typeface="Consolas"/>
                <a:ea typeface="Consolas"/>
              </a:rPr>
              <a:t>1</a:t>
            </a:r>
            <a:endParaRPr lang="en-US" sz="1100" b="0" u="none" strike="noStrike">
              <a:solidFill>
                <a:srgbClr val="000000"/>
              </a:solidFill>
              <a:effectLst/>
              <a:uFillTx/>
              <a:latin typeface="Arial"/>
            </a:endParaRPr>
          </a:p>
        </p:txBody>
      </p:sp>
      <p:sp>
        <p:nvSpPr>
          <p:cNvPr id="925" name="Shape 105"/>
          <p:cNvSpPr/>
          <p:nvPr/>
        </p:nvSpPr>
        <p:spPr>
          <a:xfrm>
            <a:off x="8051400" y="3054240"/>
            <a:ext cx="676440" cy="292320"/>
          </a:xfrm>
          <a:prstGeom prst="roundRect">
            <a:avLst>
              <a:gd name="adj" fmla="val 15625"/>
            </a:avLst>
          </a:prstGeom>
          <a:solidFill>
            <a:srgbClr val="FFFFFF"/>
          </a:solidFill>
          <a:ln w="19050">
            <a:solidFill>
              <a:srgbClr val="0E838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26" name="Text 106"/>
          <p:cNvSpPr/>
          <p:nvPr/>
        </p:nvSpPr>
        <p:spPr>
          <a:xfrm>
            <a:off x="8051400" y="3054240"/>
            <a:ext cx="676440" cy="292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E8388"/>
                </a:solidFill>
                <a:effectLst/>
                <a:uFillTx/>
                <a:latin typeface="Consolas"/>
                <a:ea typeface="Consolas"/>
              </a:rPr>
              <a:t>1</a:t>
            </a:r>
            <a:endParaRPr lang="en-US" sz="1100" b="0" u="none" strike="noStrike">
              <a:solidFill>
                <a:srgbClr val="000000"/>
              </a:solidFill>
              <a:effectLst/>
              <a:uFillTx/>
              <a:latin typeface="Arial"/>
            </a:endParaRPr>
          </a:p>
        </p:txBody>
      </p:sp>
      <p:sp>
        <p:nvSpPr>
          <p:cNvPr id="927" name="Shape 107"/>
          <p:cNvSpPr/>
          <p:nvPr/>
        </p:nvSpPr>
        <p:spPr>
          <a:xfrm>
            <a:off x="8051400" y="4151520"/>
            <a:ext cx="676440" cy="292320"/>
          </a:xfrm>
          <a:prstGeom prst="roundRect">
            <a:avLst>
              <a:gd name="adj" fmla="val 15625"/>
            </a:avLst>
          </a:prstGeom>
          <a:solidFill>
            <a:srgbClr val="FFFFFF"/>
          </a:solidFill>
          <a:ln w="19050">
            <a:solidFill>
              <a:srgbClr val="0E838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28" name="Text 108"/>
          <p:cNvSpPr/>
          <p:nvPr/>
        </p:nvSpPr>
        <p:spPr>
          <a:xfrm>
            <a:off x="8051400" y="4151520"/>
            <a:ext cx="676440" cy="292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E8388"/>
                </a:solidFill>
                <a:effectLst/>
                <a:uFillTx/>
                <a:latin typeface="Consolas"/>
                <a:ea typeface="Consolas"/>
              </a:rPr>
              <a:t>1</a:t>
            </a:r>
            <a:endParaRPr lang="en-US" sz="1100" b="0" u="none" strike="noStrike">
              <a:solidFill>
                <a:srgbClr val="000000"/>
              </a:solidFill>
              <a:effectLst/>
              <a:uFillTx/>
              <a:latin typeface="Arial"/>
            </a:endParaRPr>
          </a:p>
        </p:txBody>
      </p:sp>
      <p:sp>
        <p:nvSpPr>
          <p:cNvPr id="929" name="Shape 109"/>
          <p:cNvSpPr/>
          <p:nvPr/>
        </p:nvSpPr>
        <p:spPr>
          <a:xfrm>
            <a:off x="8051400" y="5248800"/>
            <a:ext cx="676440" cy="292320"/>
          </a:xfrm>
          <a:prstGeom prst="roundRect">
            <a:avLst>
              <a:gd name="adj" fmla="val 15625"/>
            </a:avLst>
          </a:prstGeom>
          <a:solidFill>
            <a:srgbClr val="FFFFFF"/>
          </a:solidFill>
          <a:ln w="19050">
            <a:solidFill>
              <a:srgbClr val="0E838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30" name="Text 110"/>
          <p:cNvSpPr/>
          <p:nvPr/>
        </p:nvSpPr>
        <p:spPr>
          <a:xfrm>
            <a:off x="8051400" y="5248800"/>
            <a:ext cx="676440" cy="292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E8388"/>
                </a:solidFill>
                <a:effectLst/>
                <a:uFillTx/>
                <a:latin typeface="Consolas"/>
                <a:ea typeface="Consolas"/>
              </a:rPr>
              <a:t>1</a:t>
            </a:r>
            <a:endParaRPr lang="en-US" sz="1100" b="0" u="none" strike="noStrike">
              <a:solidFill>
                <a:srgbClr val="000000"/>
              </a:solidFill>
              <a:effectLst/>
              <a:uFillTx/>
              <a:latin typeface="Arial"/>
            </a:endParaRPr>
          </a:p>
        </p:txBody>
      </p:sp>
      <p:sp>
        <p:nvSpPr>
          <p:cNvPr id="931" name="Text 111"/>
          <p:cNvSpPr/>
          <p:nvPr/>
        </p:nvSpPr>
        <p:spPr>
          <a:xfrm>
            <a:off x="502920" y="1700640"/>
            <a:ext cx="12340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trike="noStrike">
                <a:solidFill>
                  <a:srgbClr val="132A4A"/>
                </a:solidFill>
                <a:effectLst/>
                <a:uFillTx/>
                <a:latin typeface="Consolas"/>
                <a:ea typeface="Consolas"/>
              </a:rPr>
              <a:t>x[0]=1</a:t>
            </a:r>
            <a:endParaRPr lang="en-US" sz="1100" b="0" u="none" strike="noStrike">
              <a:solidFill>
                <a:srgbClr val="000000"/>
              </a:solidFill>
              <a:effectLst/>
              <a:uFillTx/>
              <a:latin typeface="Arial"/>
            </a:endParaRPr>
          </a:p>
        </p:txBody>
      </p:sp>
      <p:sp>
        <p:nvSpPr>
          <p:cNvPr id="932" name="Text 112"/>
          <p:cNvSpPr/>
          <p:nvPr/>
        </p:nvSpPr>
        <p:spPr>
          <a:xfrm>
            <a:off x="502920" y="2249280"/>
            <a:ext cx="12340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trike="noStrike">
                <a:solidFill>
                  <a:srgbClr val="132A4A"/>
                </a:solidFill>
                <a:effectLst/>
                <a:uFillTx/>
                <a:latin typeface="Consolas"/>
                <a:ea typeface="Consolas"/>
              </a:rPr>
              <a:t>x[1]=2</a:t>
            </a:r>
            <a:endParaRPr lang="en-US" sz="1100" b="0" u="none" strike="noStrike">
              <a:solidFill>
                <a:srgbClr val="000000"/>
              </a:solidFill>
              <a:effectLst/>
              <a:uFillTx/>
              <a:latin typeface="Arial"/>
            </a:endParaRPr>
          </a:p>
        </p:txBody>
      </p:sp>
      <p:sp>
        <p:nvSpPr>
          <p:cNvPr id="933" name="Text 113"/>
          <p:cNvSpPr/>
          <p:nvPr/>
        </p:nvSpPr>
        <p:spPr>
          <a:xfrm>
            <a:off x="502920" y="2797920"/>
            <a:ext cx="12340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trike="noStrike">
                <a:solidFill>
                  <a:srgbClr val="132A4A"/>
                </a:solidFill>
                <a:effectLst/>
                <a:uFillTx/>
                <a:latin typeface="Consolas"/>
                <a:ea typeface="Consolas"/>
              </a:rPr>
              <a:t>x[2]=3</a:t>
            </a:r>
            <a:endParaRPr lang="en-US" sz="1100" b="0" u="none" strike="noStrike">
              <a:solidFill>
                <a:srgbClr val="000000"/>
              </a:solidFill>
              <a:effectLst/>
              <a:uFillTx/>
              <a:latin typeface="Arial"/>
            </a:endParaRPr>
          </a:p>
        </p:txBody>
      </p:sp>
      <p:sp>
        <p:nvSpPr>
          <p:cNvPr id="934" name="Text 114"/>
          <p:cNvSpPr/>
          <p:nvPr/>
        </p:nvSpPr>
        <p:spPr>
          <a:xfrm>
            <a:off x="502920" y="3346560"/>
            <a:ext cx="12340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trike="noStrike">
                <a:solidFill>
                  <a:srgbClr val="132A4A"/>
                </a:solidFill>
                <a:effectLst/>
                <a:uFillTx/>
                <a:latin typeface="Consolas"/>
                <a:ea typeface="Consolas"/>
              </a:rPr>
              <a:t>x[3]=4</a:t>
            </a:r>
            <a:endParaRPr lang="en-US" sz="1100" b="0" u="none" strike="noStrike">
              <a:solidFill>
                <a:srgbClr val="000000"/>
              </a:solidFill>
              <a:effectLst/>
              <a:uFillTx/>
              <a:latin typeface="Arial"/>
            </a:endParaRPr>
          </a:p>
        </p:txBody>
      </p:sp>
      <p:sp>
        <p:nvSpPr>
          <p:cNvPr id="935" name="Text 115"/>
          <p:cNvSpPr/>
          <p:nvPr/>
        </p:nvSpPr>
        <p:spPr>
          <a:xfrm>
            <a:off x="502920" y="3895200"/>
            <a:ext cx="12340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trike="noStrike">
                <a:solidFill>
                  <a:srgbClr val="132A4A"/>
                </a:solidFill>
                <a:effectLst/>
                <a:uFillTx/>
                <a:latin typeface="Consolas"/>
                <a:ea typeface="Consolas"/>
              </a:rPr>
              <a:t>x[4]=5</a:t>
            </a:r>
            <a:endParaRPr lang="en-US" sz="1100" b="0" u="none" strike="noStrike">
              <a:solidFill>
                <a:srgbClr val="000000"/>
              </a:solidFill>
              <a:effectLst/>
              <a:uFillTx/>
              <a:latin typeface="Arial"/>
            </a:endParaRPr>
          </a:p>
        </p:txBody>
      </p:sp>
      <p:sp>
        <p:nvSpPr>
          <p:cNvPr id="936" name="Text 116"/>
          <p:cNvSpPr/>
          <p:nvPr/>
        </p:nvSpPr>
        <p:spPr>
          <a:xfrm>
            <a:off x="502920" y="4443840"/>
            <a:ext cx="12340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trike="noStrike">
                <a:solidFill>
                  <a:srgbClr val="132A4A"/>
                </a:solidFill>
                <a:effectLst/>
                <a:uFillTx/>
                <a:latin typeface="Consolas"/>
                <a:ea typeface="Consolas"/>
              </a:rPr>
              <a:t>x[5]=6</a:t>
            </a:r>
            <a:endParaRPr lang="en-US" sz="1100" b="0" u="none" strike="noStrike">
              <a:solidFill>
                <a:srgbClr val="000000"/>
              </a:solidFill>
              <a:effectLst/>
              <a:uFillTx/>
              <a:latin typeface="Arial"/>
            </a:endParaRPr>
          </a:p>
        </p:txBody>
      </p:sp>
      <p:sp>
        <p:nvSpPr>
          <p:cNvPr id="937" name="Text 117"/>
          <p:cNvSpPr/>
          <p:nvPr/>
        </p:nvSpPr>
        <p:spPr>
          <a:xfrm>
            <a:off x="502920" y="4992480"/>
            <a:ext cx="12340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trike="noStrike">
                <a:solidFill>
                  <a:srgbClr val="132A4A"/>
                </a:solidFill>
                <a:effectLst/>
                <a:uFillTx/>
                <a:latin typeface="Consolas"/>
                <a:ea typeface="Consolas"/>
              </a:rPr>
              <a:t>x[6]=7</a:t>
            </a:r>
            <a:endParaRPr lang="en-US" sz="1100" b="0" u="none" strike="noStrike">
              <a:solidFill>
                <a:srgbClr val="000000"/>
              </a:solidFill>
              <a:effectLst/>
              <a:uFillTx/>
              <a:latin typeface="Arial"/>
            </a:endParaRPr>
          </a:p>
        </p:txBody>
      </p:sp>
      <p:sp>
        <p:nvSpPr>
          <p:cNvPr id="938" name="Text 118"/>
          <p:cNvSpPr/>
          <p:nvPr/>
        </p:nvSpPr>
        <p:spPr>
          <a:xfrm>
            <a:off x="502920" y="5541120"/>
            <a:ext cx="12340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trike="noStrike">
                <a:solidFill>
                  <a:srgbClr val="132A4A"/>
                </a:solidFill>
                <a:effectLst/>
                <a:uFillTx/>
                <a:latin typeface="Consolas"/>
                <a:ea typeface="Consolas"/>
              </a:rPr>
              <a:t>x[7]=8</a:t>
            </a:r>
            <a:endParaRPr lang="en-US" sz="1100" b="0" u="none" strike="noStrike">
              <a:solidFill>
                <a:srgbClr val="000000"/>
              </a:solidFill>
              <a:effectLst/>
              <a:uFillTx/>
              <a:latin typeface="Arial"/>
            </a:endParaRPr>
          </a:p>
        </p:txBody>
      </p:sp>
      <p:sp>
        <p:nvSpPr>
          <p:cNvPr id="939" name="Shape 119"/>
          <p:cNvSpPr/>
          <p:nvPr/>
        </p:nvSpPr>
        <p:spPr>
          <a:xfrm>
            <a:off x="9966960" y="1636920"/>
            <a:ext cx="1142640" cy="383760"/>
          </a:xfrm>
          <a:prstGeom prst="roundRect">
            <a:avLst>
              <a:gd name="adj" fmla="val 14286"/>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40" name="Text 120"/>
          <p:cNvSpPr/>
          <p:nvPr/>
        </p:nvSpPr>
        <p:spPr>
          <a:xfrm>
            <a:off x="9966960" y="1636920"/>
            <a:ext cx="114264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onsolas"/>
                <a:ea typeface="Consolas"/>
              </a:rPr>
              <a:t>X[0]</a:t>
            </a:r>
            <a:endParaRPr lang="en-US" sz="1100" b="0" u="none" strike="noStrike">
              <a:solidFill>
                <a:srgbClr val="000000"/>
              </a:solidFill>
              <a:effectLst/>
              <a:uFillTx/>
              <a:latin typeface="Arial"/>
            </a:endParaRPr>
          </a:p>
        </p:txBody>
      </p:sp>
      <p:sp>
        <p:nvSpPr>
          <p:cNvPr id="941" name="Shape 121"/>
          <p:cNvSpPr/>
          <p:nvPr/>
        </p:nvSpPr>
        <p:spPr>
          <a:xfrm>
            <a:off x="9966960" y="2185560"/>
            <a:ext cx="1142640" cy="383760"/>
          </a:xfrm>
          <a:prstGeom prst="roundRect">
            <a:avLst>
              <a:gd name="adj" fmla="val 14286"/>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42" name="Text 122"/>
          <p:cNvSpPr/>
          <p:nvPr/>
        </p:nvSpPr>
        <p:spPr>
          <a:xfrm>
            <a:off x="9966960" y="2185560"/>
            <a:ext cx="114264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onsolas"/>
                <a:ea typeface="Consolas"/>
              </a:rPr>
              <a:t>X[4]</a:t>
            </a:r>
            <a:endParaRPr lang="en-US" sz="1100" b="0" u="none" strike="noStrike">
              <a:solidFill>
                <a:srgbClr val="000000"/>
              </a:solidFill>
              <a:effectLst/>
              <a:uFillTx/>
              <a:latin typeface="Arial"/>
            </a:endParaRPr>
          </a:p>
        </p:txBody>
      </p:sp>
      <p:sp>
        <p:nvSpPr>
          <p:cNvPr id="943" name="Shape 123"/>
          <p:cNvSpPr/>
          <p:nvPr/>
        </p:nvSpPr>
        <p:spPr>
          <a:xfrm>
            <a:off x="9966960" y="2734200"/>
            <a:ext cx="1142640" cy="383760"/>
          </a:xfrm>
          <a:prstGeom prst="roundRect">
            <a:avLst>
              <a:gd name="adj" fmla="val 14286"/>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44" name="Text 124"/>
          <p:cNvSpPr/>
          <p:nvPr/>
        </p:nvSpPr>
        <p:spPr>
          <a:xfrm>
            <a:off x="9966960" y="2734200"/>
            <a:ext cx="114264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onsolas"/>
                <a:ea typeface="Consolas"/>
              </a:rPr>
              <a:t>X[2]</a:t>
            </a:r>
            <a:endParaRPr lang="en-US" sz="1100" b="0" u="none" strike="noStrike">
              <a:solidFill>
                <a:srgbClr val="000000"/>
              </a:solidFill>
              <a:effectLst/>
              <a:uFillTx/>
              <a:latin typeface="Arial"/>
            </a:endParaRPr>
          </a:p>
        </p:txBody>
      </p:sp>
      <p:sp>
        <p:nvSpPr>
          <p:cNvPr id="945" name="Shape 125"/>
          <p:cNvSpPr/>
          <p:nvPr/>
        </p:nvSpPr>
        <p:spPr>
          <a:xfrm>
            <a:off x="9966960" y="3282840"/>
            <a:ext cx="1142640" cy="383760"/>
          </a:xfrm>
          <a:prstGeom prst="roundRect">
            <a:avLst>
              <a:gd name="adj" fmla="val 14286"/>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46" name="Text 126"/>
          <p:cNvSpPr/>
          <p:nvPr/>
        </p:nvSpPr>
        <p:spPr>
          <a:xfrm>
            <a:off x="9966960" y="3282840"/>
            <a:ext cx="114264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onsolas"/>
                <a:ea typeface="Consolas"/>
              </a:rPr>
              <a:t>X[6]</a:t>
            </a:r>
            <a:endParaRPr lang="en-US" sz="1100" b="0" u="none" strike="noStrike">
              <a:solidFill>
                <a:srgbClr val="000000"/>
              </a:solidFill>
              <a:effectLst/>
              <a:uFillTx/>
              <a:latin typeface="Arial"/>
            </a:endParaRPr>
          </a:p>
        </p:txBody>
      </p:sp>
      <p:sp>
        <p:nvSpPr>
          <p:cNvPr id="947" name="Shape 127"/>
          <p:cNvSpPr/>
          <p:nvPr/>
        </p:nvSpPr>
        <p:spPr>
          <a:xfrm>
            <a:off x="9966960" y="3831480"/>
            <a:ext cx="1142640" cy="383760"/>
          </a:xfrm>
          <a:prstGeom prst="roundRect">
            <a:avLst>
              <a:gd name="adj" fmla="val 14286"/>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48" name="Text 128"/>
          <p:cNvSpPr/>
          <p:nvPr/>
        </p:nvSpPr>
        <p:spPr>
          <a:xfrm>
            <a:off x="9966960" y="3831480"/>
            <a:ext cx="114264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onsolas"/>
                <a:ea typeface="Consolas"/>
              </a:rPr>
              <a:t>X[1]</a:t>
            </a:r>
            <a:endParaRPr lang="en-US" sz="1100" b="0" u="none" strike="noStrike">
              <a:solidFill>
                <a:srgbClr val="000000"/>
              </a:solidFill>
              <a:effectLst/>
              <a:uFillTx/>
              <a:latin typeface="Arial"/>
            </a:endParaRPr>
          </a:p>
        </p:txBody>
      </p:sp>
      <p:sp>
        <p:nvSpPr>
          <p:cNvPr id="949" name="Shape 129"/>
          <p:cNvSpPr/>
          <p:nvPr/>
        </p:nvSpPr>
        <p:spPr>
          <a:xfrm>
            <a:off x="9966960" y="4380120"/>
            <a:ext cx="1142640" cy="383760"/>
          </a:xfrm>
          <a:prstGeom prst="roundRect">
            <a:avLst>
              <a:gd name="adj" fmla="val 14286"/>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50" name="Text 130"/>
          <p:cNvSpPr/>
          <p:nvPr/>
        </p:nvSpPr>
        <p:spPr>
          <a:xfrm>
            <a:off x="9966960" y="4380120"/>
            <a:ext cx="114264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onsolas"/>
                <a:ea typeface="Consolas"/>
              </a:rPr>
              <a:t>X[5]</a:t>
            </a:r>
            <a:endParaRPr lang="en-US" sz="1100" b="0" u="none" strike="noStrike">
              <a:solidFill>
                <a:srgbClr val="000000"/>
              </a:solidFill>
              <a:effectLst/>
              <a:uFillTx/>
              <a:latin typeface="Arial"/>
            </a:endParaRPr>
          </a:p>
        </p:txBody>
      </p:sp>
      <p:sp>
        <p:nvSpPr>
          <p:cNvPr id="951" name="Shape 131"/>
          <p:cNvSpPr/>
          <p:nvPr/>
        </p:nvSpPr>
        <p:spPr>
          <a:xfrm>
            <a:off x="9966960" y="4928760"/>
            <a:ext cx="1142640" cy="383760"/>
          </a:xfrm>
          <a:prstGeom prst="roundRect">
            <a:avLst>
              <a:gd name="adj" fmla="val 14286"/>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52" name="Text 132"/>
          <p:cNvSpPr/>
          <p:nvPr/>
        </p:nvSpPr>
        <p:spPr>
          <a:xfrm>
            <a:off x="9966960" y="4928760"/>
            <a:ext cx="114264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onsolas"/>
                <a:ea typeface="Consolas"/>
              </a:rPr>
              <a:t>X[3]</a:t>
            </a:r>
            <a:endParaRPr lang="en-US" sz="1100" b="0" u="none" strike="noStrike">
              <a:solidFill>
                <a:srgbClr val="000000"/>
              </a:solidFill>
              <a:effectLst/>
              <a:uFillTx/>
              <a:latin typeface="Arial"/>
            </a:endParaRPr>
          </a:p>
        </p:txBody>
      </p:sp>
      <p:sp>
        <p:nvSpPr>
          <p:cNvPr id="953" name="Shape 133"/>
          <p:cNvSpPr/>
          <p:nvPr/>
        </p:nvSpPr>
        <p:spPr>
          <a:xfrm>
            <a:off x="9966960" y="5477400"/>
            <a:ext cx="1142640" cy="383760"/>
          </a:xfrm>
          <a:prstGeom prst="roundRect">
            <a:avLst>
              <a:gd name="adj" fmla="val 14286"/>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54" name="Text 134"/>
          <p:cNvSpPr/>
          <p:nvPr/>
        </p:nvSpPr>
        <p:spPr>
          <a:xfrm>
            <a:off x="9966960" y="5477400"/>
            <a:ext cx="114264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32A4A"/>
                </a:solidFill>
                <a:effectLst/>
                <a:uFillTx/>
                <a:latin typeface="Consolas"/>
                <a:ea typeface="Consolas"/>
              </a:rPr>
              <a:t>X[7]</a:t>
            </a:r>
            <a:endParaRPr lang="en-US" sz="1100" b="0" u="none" strike="noStrike">
              <a:solidFill>
                <a:srgbClr val="000000"/>
              </a:solidFill>
              <a:effectLst/>
              <a:uFillTx/>
              <a:latin typeface="Arial"/>
            </a:endParaRPr>
          </a:p>
        </p:txBody>
      </p:sp>
      <p:sp>
        <p:nvSpPr>
          <p:cNvPr id="955" name="Text 135"/>
          <p:cNvSpPr/>
          <p:nvPr/>
        </p:nvSpPr>
        <p:spPr>
          <a:xfrm>
            <a:off x="502920" y="6053400"/>
            <a:ext cx="11155320" cy="4111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100" b="0" i="1" u="none" strike="noStrike">
                <a:solidFill>
                  <a:srgbClr val="5C6B7A"/>
                </a:solidFill>
                <a:effectLst/>
                <a:uFillTx/>
                <a:latin typeface="Calibri"/>
                <a:ea typeface="Calibri"/>
              </a:rPr>
              <a:t>The mirror image of the DIT graph: the span shrinks 4, 2, 1 and each twiddle multiplies the difference output. Outputs emerge in bit-reversed order.</a:t>
            </a:r>
            <a:endParaRPr lang="en-US" sz="1100" b="0" u="none" strike="noStrike">
              <a:solidFill>
                <a:srgbClr val="000000"/>
              </a:solidFill>
              <a:effectLst/>
              <a:uFillTx/>
              <a:latin typeface="Arial"/>
            </a:endParaRPr>
          </a:p>
        </p:txBody>
      </p:sp>
      <p:sp>
        <p:nvSpPr>
          <p:cNvPr id="956" name="Shape 136"/>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957" name="Shape 137"/>
          <p:cNvSpPr/>
          <p:nvPr/>
        </p:nvSpPr>
        <p:spPr>
          <a:xfrm>
            <a:off x="502920" y="6473880"/>
            <a:ext cx="690552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958" name="Text 138"/>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000000"/>
              </a:solidFill>
              <a:effectLst/>
              <a:uFillTx/>
              <a:latin typeface="Arial"/>
            </a:endParaRPr>
          </a:p>
        </p:txBody>
      </p:sp>
      <p:sp>
        <p:nvSpPr>
          <p:cNvPr id="959" name="Text 139"/>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FFT8 (DIF)     26</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960"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3B · FFT8 WITH DIF</a:t>
            </a:r>
            <a:endParaRPr lang="en-US" sz="1150" b="0" u="none" strike="noStrike">
              <a:solidFill>
                <a:srgbClr val="000000"/>
              </a:solidFill>
              <a:effectLst/>
              <a:uFillTx/>
              <a:latin typeface="Arial"/>
            </a:endParaRPr>
          </a:p>
        </p:txBody>
      </p:sp>
      <p:sp>
        <p:nvSpPr>
          <p:cNvPr id="961"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Worked Example, Repeated With DIF: Setup and Stage 1</a:t>
            </a:r>
            <a:endParaRPr lang="en-US" sz="2600" b="0" u="none" strike="noStrike">
              <a:solidFill>
                <a:srgbClr val="000000"/>
              </a:solidFill>
              <a:effectLst/>
              <a:uFillTx/>
              <a:latin typeface="Arial"/>
            </a:endParaRPr>
          </a:p>
        </p:txBody>
      </p:sp>
      <p:sp>
        <p:nvSpPr>
          <p:cNvPr id="962" name="Text 2"/>
          <p:cNvSpPr/>
          <p:nvPr/>
        </p:nvSpPr>
        <p:spPr>
          <a:xfrm>
            <a:off x="502920" y="1188720"/>
            <a:ext cx="11155320" cy="50256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Same input as before, x[0..7] = 1,2,...,8, now fed to the DIF flow graph in natural order (no bit-reversal needed on input this time).</a:t>
            </a:r>
            <a:endParaRPr lang="en-US" sz="1300" b="0" u="none" strike="noStrike">
              <a:solidFill>
                <a:srgbClr val="000000"/>
              </a:solidFill>
              <a:effectLst/>
              <a:uFillTx/>
              <a:latin typeface="Arial"/>
            </a:endParaRPr>
          </a:p>
        </p:txBody>
      </p:sp>
      <p:sp>
        <p:nvSpPr>
          <p:cNvPr id="963" name="Text 3"/>
          <p:cNvSpPr/>
          <p:nvPr/>
        </p:nvSpPr>
        <p:spPr>
          <a:xfrm>
            <a:off x="502920" y="1783080"/>
            <a:ext cx="52117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STAGE 1 · SPAN-4 BUTTERFLIES, TWIDDLE AFTER SUBTRACT</a:t>
            </a:r>
            <a:endParaRPr lang="en-US" sz="1100" b="0" u="none" strike="noStrike">
              <a:solidFill>
                <a:srgbClr val="000000"/>
              </a:solidFill>
              <a:effectLst/>
              <a:uFillTx/>
              <a:latin typeface="Arial"/>
            </a:endParaRPr>
          </a:p>
        </p:txBody>
      </p:sp>
      <p:graphicFrame>
        <p:nvGraphicFramePr>
          <p:cNvPr id="964" name="Table 0"/>
          <p:cNvGraphicFramePr/>
          <p:nvPr/>
        </p:nvGraphicFramePr>
        <p:xfrm>
          <a:off x="502920" y="2084760"/>
          <a:ext cx="7497720" cy="1462680"/>
        </p:xfrm>
        <a:graphic>
          <a:graphicData uri="http://schemas.openxmlformats.org/drawingml/2006/table">
            <a:tbl>
              <a:tblPr/>
              <a:tblGrid>
                <a:gridCol w="594360"/>
                <a:gridCol w="868680"/>
                <a:gridCol w="960120"/>
                <a:gridCol w="914400"/>
                <a:gridCol w="822960"/>
                <a:gridCol w="1691640"/>
                <a:gridCol w="1645920"/>
              </a:tblGrid>
              <a:tr h="292320">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n</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A=x[n]</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B=x[n+4]</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A+B → p</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A-B</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Tw W₈ⁿ</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(A-B)·Tw → q</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0</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5</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6</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2</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6</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8</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0.707-0.707j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-2.828+2.828j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2</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3</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7</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10</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3</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8</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12</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-0.707-0.707j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2.828+2.828j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bl>
          </a:graphicData>
        </a:graphic>
      </p:graphicFrame>
      <p:sp>
        <p:nvSpPr>
          <p:cNvPr id="965" name="Shape 4"/>
          <p:cNvSpPr/>
          <p:nvPr/>
        </p:nvSpPr>
        <p:spPr>
          <a:xfrm>
            <a:off x="502920" y="4160520"/>
            <a:ext cx="11155320" cy="1737000"/>
          </a:xfrm>
          <a:prstGeom prst="roundRect">
            <a:avLst>
              <a:gd name="adj" fmla="val 3158"/>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66" name="Text 5"/>
          <p:cNvSpPr/>
          <p:nvPr/>
        </p:nvSpPr>
        <p:spPr>
          <a:xfrm>
            <a:off x="731520" y="4297680"/>
            <a:ext cx="10698120" cy="146268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Notice the twiddle sits after the subtraction here, the mirror image of the DIT butterfly on slide 14. The sums p0..p3 = 6,8,10,12 feed a 4-point DIF sub-transform that will produce the even outputs X[0],X[4],X[2],X[6]. The twiddle-corrected differences q0..q3 = -4, -2.828+2.828j, 4j, 2.828+2.828j feed a second 4-point DIF sub-transform that will produce the odd outputs X[1],X[5],X[3],X[7].</a:t>
            </a:r>
            <a:endParaRPr lang="en-US" sz="1300" b="0" u="none" strike="noStrike">
              <a:solidFill>
                <a:srgbClr val="000000"/>
              </a:solidFill>
              <a:effectLst/>
              <a:uFillTx/>
              <a:latin typeface="Arial"/>
            </a:endParaRPr>
          </a:p>
        </p:txBody>
      </p:sp>
      <p:sp>
        <p:nvSpPr>
          <p:cNvPr id="967" name="Shape 6"/>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968" name="Shape 7"/>
          <p:cNvSpPr/>
          <p:nvPr/>
        </p:nvSpPr>
        <p:spPr>
          <a:xfrm>
            <a:off x="502920" y="6473880"/>
            <a:ext cx="717120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969" name="Text 8"/>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000000"/>
              </a:solidFill>
              <a:effectLst/>
              <a:uFillTx/>
              <a:latin typeface="Arial"/>
            </a:endParaRPr>
          </a:p>
        </p:txBody>
      </p:sp>
      <p:sp>
        <p:nvSpPr>
          <p:cNvPr id="970" name="Text 9"/>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FFT8 (DIF)     27</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971"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3B · FFT8 WITH DIF</a:t>
            </a:r>
            <a:endParaRPr lang="en-US" sz="1150" b="0" u="none" strike="noStrike">
              <a:solidFill>
                <a:srgbClr val="000000"/>
              </a:solidFill>
              <a:effectLst/>
              <a:uFillTx/>
              <a:latin typeface="Arial"/>
            </a:endParaRPr>
          </a:p>
        </p:txBody>
      </p:sp>
      <p:sp>
        <p:nvSpPr>
          <p:cNvPr id="972"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DIF Result: Stages 2 and 3, Same Output as DIT</a:t>
            </a:r>
            <a:endParaRPr lang="en-US" sz="2600" b="0" u="none" strike="noStrike">
              <a:solidFill>
                <a:srgbClr val="000000"/>
              </a:solidFill>
              <a:effectLst/>
              <a:uFillTx/>
              <a:latin typeface="Arial"/>
            </a:endParaRPr>
          </a:p>
        </p:txBody>
      </p:sp>
      <p:sp>
        <p:nvSpPr>
          <p:cNvPr id="973" name="Text 2"/>
          <p:cNvSpPr/>
          <p:nvPr/>
        </p:nvSpPr>
        <p:spPr>
          <a:xfrm>
            <a:off x="502920" y="1188720"/>
            <a:ext cx="52117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TOP HALF (p0..p3) → EVEN OUTPUTS</a:t>
            </a:r>
            <a:endParaRPr lang="en-US" sz="1100" b="0" u="none" strike="noStrike">
              <a:solidFill>
                <a:srgbClr val="000000"/>
              </a:solidFill>
              <a:effectLst/>
              <a:uFillTx/>
              <a:latin typeface="Arial"/>
            </a:endParaRPr>
          </a:p>
        </p:txBody>
      </p:sp>
      <p:graphicFrame>
        <p:nvGraphicFramePr>
          <p:cNvPr id="974" name="Table 0"/>
          <p:cNvGraphicFramePr/>
          <p:nvPr/>
        </p:nvGraphicFramePr>
        <p:xfrm>
          <a:off x="502920" y="1481400"/>
          <a:ext cx="5211720" cy="1462680"/>
        </p:xfrm>
        <a:graphic>
          <a:graphicData uri="http://schemas.openxmlformats.org/drawingml/2006/table">
            <a:tbl>
              <a:tblPr/>
              <a:tblGrid>
                <a:gridCol w="2286000"/>
                <a:gridCol w="1554480"/>
                <a:gridCol w="1371600"/>
              </a:tblGrid>
              <a:tr h="292320">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Stage 2 (span 2)</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Stage 3 (span 1)</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Output</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r0=p0+p2=16, s0=(p0-p2)·1=-4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X[0]=r0+r1=36</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X[0]=36</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r1=p1+p3=20, s1=(p1-p3)·(-j)=4j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X[4]=r0-r1=-4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X[4]=-4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r h="292320">
                <a:tc>
                  <a:txBody>
                    <a:bodyPr tIns="27360" bIns="27360" anchor="ctr">
                      <a:noAutofit/>
                    </a:bodyPr>
                    <a:p>
                      <a:endParaRPr lang="en-US" sz="1030" b="0" u="none" strike="noStrike">
                        <a:solidFill>
                          <a:schemeClr val="dk1"/>
                        </a:solidFill>
                        <a:effectLst/>
                        <a:uFillTx/>
                        <a:latin typeface="Calibri"/>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X[2]=s0+s1=-4+4j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X[2]=-4+4j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endParaRPr lang="en-US" sz="1030" b="0" u="none" strike="noStrike">
                        <a:solidFill>
                          <a:schemeClr val="dk1"/>
                        </a:solidFill>
                        <a:effectLst/>
                        <a:uFillTx/>
                        <a:latin typeface="Calibri"/>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X[6]=s0-s1=-4-4j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X[6]=-4-4j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bl>
          </a:graphicData>
        </a:graphic>
      </p:graphicFrame>
      <p:sp>
        <p:nvSpPr>
          <p:cNvPr id="975" name="Text 3"/>
          <p:cNvSpPr/>
          <p:nvPr/>
        </p:nvSpPr>
        <p:spPr>
          <a:xfrm>
            <a:off x="6446520" y="1188720"/>
            <a:ext cx="493740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BOTTOM HALF (q0..q3) → ODD OUTPUTS</a:t>
            </a:r>
            <a:endParaRPr lang="en-US" sz="1100" b="0" u="none" strike="noStrike">
              <a:solidFill>
                <a:srgbClr val="000000"/>
              </a:solidFill>
              <a:effectLst/>
              <a:uFillTx/>
              <a:latin typeface="Arial"/>
            </a:endParaRPr>
          </a:p>
        </p:txBody>
      </p:sp>
      <p:graphicFrame>
        <p:nvGraphicFramePr>
          <p:cNvPr id="976" name="Table 1"/>
          <p:cNvGraphicFramePr/>
          <p:nvPr/>
        </p:nvGraphicFramePr>
        <p:xfrm>
          <a:off x="6446520" y="1481400"/>
          <a:ext cx="4937400" cy="1756440"/>
        </p:xfrm>
        <a:graphic>
          <a:graphicData uri="http://schemas.openxmlformats.org/drawingml/2006/table">
            <a:tbl>
              <a:tblPr/>
              <a:tblGrid>
                <a:gridCol w="2194560"/>
                <a:gridCol w="1463040"/>
                <a:gridCol w="1280160"/>
              </a:tblGrid>
              <a:tr h="292320">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Stage 2 (span 2)</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Stage 3 (span 1)</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Output</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r0'=q0+q2=-4+4j, s0'=(q0-q2)·1=-4-4j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X[1]=r0'+r1'=-4+9.657j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X[1]=-4+9.657j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r1'=q1+q3=5.657j, s1'=(q1-q3)·(-j)=5.657j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X[5]=r0'-r1'=-4-1.657j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X[5]=-4-1.657j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r h="292320">
                <a:tc>
                  <a:txBody>
                    <a:bodyPr tIns="27360" bIns="27360" anchor="ctr">
                      <a:noAutofit/>
                    </a:bodyPr>
                    <a:p>
                      <a:endParaRPr lang="en-US" sz="1030" b="0" u="none" strike="noStrike">
                        <a:solidFill>
                          <a:schemeClr val="dk1"/>
                        </a:solidFill>
                        <a:effectLst/>
                        <a:uFillTx/>
                        <a:latin typeface="Calibri"/>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X[3]=s0'+s1'=-4+1.657j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X[3]=-4+1.657j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endParaRPr lang="en-US" sz="1030" b="0" u="none" strike="noStrike">
                        <a:solidFill>
                          <a:schemeClr val="dk1"/>
                        </a:solidFill>
                        <a:effectLst/>
                        <a:uFillTx/>
                        <a:latin typeface="Calibri"/>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X[7]=s0'-s1'=-4-9.657j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X[7]=-4-9.657j</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bl>
          </a:graphicData>
        </a:graphic>
      </p:graphicFrame>
      <p:sp>
        <p:nvSpPr>
          <p:cNvPr id="977" name="Shape 4"/>
          <p:cNvSpPr/>
          <p:nvPr/>
        </p:nvSpPr>
        <p:spPr>
          <a:xfrm>
            <a:off x="502920" y="3840480"/>
            <a:ext cx="11155320" cy="2514240"/>
          </a:xfrm>
          <a:prstGeom prst="roundRect">
            <a:avLst>
              <a:gd name="adj" fmla="val 2182"/>
            </a:avLst>
          </a:prstGeom>
          <a:solidFill>
            <a:srgbClr val="132A4A"/>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78" name="Text 5"/>
          <p:cNvSpPr/>
          <p:nvPr/>
        </p:nvSpPr>
        <p:spPr>
          <a:xfrm>
            <a:off x="731520" y="3931920"/>
            <a:ext cx="1069812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700" b="1" u="none" strike="noStrike">
                <a:solidFill>
                  <a:srgbClr val="FFFFFF"/>
                </a:solidFill>
                <a:effectLst/>
                <a:uFillTx/>
                <a:latin typeface="Cambria"/>
                <a:ea typeface="Cambria"/>
              </a:rPr>
              <a:t>Same eight numbers, opposite path.</a:t>
            </a:r>
            <a:endParaRPr lang="en-US" sz="1700" b="0" u="none" strike="noStrike">
              <a:solidFill>
                <a:srgbClr val="000000"/>
              </a:solidFill>
              <a:effectLst/>
              <a:uFillTx/>
              <a:latin typeface="Arial"/>
            </a:endParaRPr>
          </a:p>
        </p:txBody>
      </p:sp>
      <p:sp>
        <p:nvSpPr>
          <p:cNvPr id="979" name="Text 6"/>
          <p:cNvSpPr/>
          <p:nvPr/>
        </p:nvSpPr>
        <p:spPr>
          <a:xfrm>
            <a:off x="731520" y="4343400"/>
            <a:ext cx="10698120" cy="196560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EAF1FB"/>
                </a:solidFill>
                <a:effectLst/>
                <a:uFillTx/>
                <a:latin typeface="Calibri"/>
                <a:ea typeface="Calibri"/>
              </a:rPr>
              <a:t>These emerge in bit-reversed order, X[0],X[4],X[2],X[6],X[1],X[5],X[3],X[7] = 36, -4, -4+4j, -4-4j, -4+9.657j, -4-1.657j, -4+1.657j, -4-9.657j. Unscrambling with the same index permutation from the bit-reversal slide gives natural order X[0..7] = 36, -4+9.657j, -4+4j, -4+1.657j, -4, -4-1.657j, -4-4j, -4-9.657j, matching Section 3's DIT result value for value.</a:t>
            </a:r>
            <a:endParaRPr lang="en-US" sz="1300" b="0" u="none" strike="noStrike">
              <a:solidFill>
                <a:srgbClr val="000000"/>
              </a:solidFill>
              <a:effectLst/>
              <a:uFillTx/>
              <a:latin typeface="Arial"/>
            </a:endParaRPr>
          </a:p>
          <a:p>
            <a:pPr defTabSz="914400">
              <a:lnSpc>
                <a:spcPct val="118000"/>
              </a:lnSpc>
              <a:tabLst>
                <a:tab pos="0" algn="l"/>
              </a:tabLst>
            </a:pPr>
            <a:endParaRPr lang="en-US" sz="135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EAF1FB"/>
                </a:solidFill>
                <a:effectLst/>
                <a:uFillTx/>
                <a:latin typeface="Calibri"/>
                <a:ea typeface="Calibri"/>
              </a:rPr>
              <a:t>The only bookkeeping difference: DIT needed the input bit-reversed and read the output in natural order; DIF took the input in natural order and produced the output in bit-reversed order, needing one unscramble step at the end instead of the start. Both use 12 butterflies, the same twiddle factors, and the same building blocks from Section 4.</a:t>
            </a:r>
            <a:endParaRPr lang="en-US" sz="1300" b="0" u="none" strike="noStrike">
              <a:solidFill>
                <a:srgbClr val="000000"/>
              </a:solidFill>
              <a:effectLst/>
              <a:uFillTx/>
              <a:latin typeface="Arial"/>
            </a:endParaRPr>
          </a:p>
        </p:txBody>
      </p:sp>
      <p:sp>
        <p:nvSpPr>
          <p:cNvPr id="980" name="Shape 7"/>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981" name="Shape 8"/>
          <p:cNvSpPr/>
          <p:nvPr/>
        </p:nvSpPr>
        <p:spPr>
          <a:xfrm>
            <a:off x="502920" y="6473880"/>
            <a:ext cx="743688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982" name="Text 9"/>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000000"/>
              </a:solidFill>
              <a:effectLst/>
              <a:uFillTx/>
              <a:latin typeface="Arial"/>
            </a:endParaRPr>
          </a:p>
        </p:txBody>
      </p:sp>
      <p:sp>
        <p:nvSpPr>
          <p:cNvPr id="983" name="Text 10"/>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FFT8 (DIF)     28</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984"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3C · FFT8 OPERATION COUNT</a:t>
            </a:r>
            <a:endParaRPr lang="en-US" sz="1150" b="0" u="none" strike="noStrike">
              <a:solidFill>
                <a:srgbClr val="000000"/>
              </a:solidFill>
              <a:effectLst/>
              <a:uFillTx/>
              <a:latin typeface="Arial"/>
            </a:endParaRPr>
          </a:p>
        </p:txBody>
      </p:sp>
      <p:sp>
        <p:nvSpPr>
          <p:cNvPr id="985"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Operation Count for the 8-Point FFT (DIT and DIF)</a:t>
            </a:r>
            <a:endParaRPr lang="en-US" sz="2600" b="0" u="none" strike="noStrike">
              <a:solidFill>
                <a:srgbClr val="000000"/>
              </a:solidFill>
              <a:effectLst/>
              <a:uFillTx/>
              <a:latin typeface="Arial"/>
            </a:endParaRPr>
          </a:p>
        </p:txBody>
      </p:sp>
      <p:sp>
        <p:nvSpPr>
          <p:cNvPr id="986" name="Shape 2"/>
          <p:cNvSpPr/>
          <p:nvPr/>
        </p:nvSpPr>
        <p:spPr>
          <a:xfrm>
            <a:off x="502920" y="1234440"/>
            <a:ext cx="5211720" cy="594000"/>
          </a:xfrm>
          <a:prstGeom prst="roundRect">
            <a:avLst>
              <a:gd name="adj" fmla="val 9231"/>
            </a:avLst>
          </a:prstGeom>
          <a:solidFill>
            <a:srgbClr val="132A4A"/>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87" name="Text 3"/>
          <p:cNvSpPr/>
          <p:nvPr/>
        </p:nvSpPr>
        <p:spPr>
          <a:xfrm>
            <a:off x="502920" y="1234440"/>
            <a:ext cx="521172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mbria"/>
                <a:ea typeface="Cambria"/>
              </a:rPr>
              <a:t>Total butterflies = (N/2) log</a:t>
            </a:r>
            <a:r>
              <a:rPr lang="en-US" sz="1300" b="1" u="none" strike="noStrike" baseline="-40000">
                <a:solidFill>
                  <a:srgbClr val="FFFFFF"/>
                </a:solidFill>
                <a:effectLst/>
                <a:uFillTx/>
                <a:latin typeface="Cambria"/>
                <a:ea typeface="Cambria"/>
              </a:rPr>
              <a:t>2</a:t>
            </a:r>
            <a:r>
              <a:rPr lang="en-US" sz="1300" b="1" u="none" strike="noStrike">
                <a:solidFill>
                  <a:srgbClr val="FFFFFF"/>
                </a:solidFill>
                <a:effectLst/>
                <a:uFillTx/>
                <a:latin typeface="Cambria"/>
                <a:ea typeface="Cambria"/>
              </a:rPr>
              <a:t>N</a:t>
            </a:r>
            <a:endParaRPr lang="en-US" sz="1300" b="0" u="none" strike="noStrike">
              <a:solidFill>
                <a:srgbClr val="000000"/>
              </a:solidFill>
              <a:effectLst/>
              <a:uFillTx/>
              <a:latin typeface="Arial"/>
            </a:endParaRPr>
          </a:p>
        </p:txBody>
      </p:sp>
      <p:sp>
        <p:nvSpPr>
          <p:cNvPr id="988" name="Text 4"/>
          <p:cNvSpPr/>
          <p:nvPr/>
        </p:nvSpPr>
        <p:spPr>
          <a:xfrm>
            <a:off x="502920" y="2011680"/>
            <a:ext cx="5211720" cy="155412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12000"/>
              </a:lnSpc>
              <a:spcAft>
                <a:spcPts val="879"/>
              </a:spcAft>
              <a:buClr>
                <a:srgbClr val="16202E"/>
              </a:buClr>
              <a:buFont typeface="Wingdings" charset="2"/>
              <a:buChar char=""/>
            </a:pPr>
            <a:r>
              <a:rPr lang="en-US" sz="1300" b="0" u="none" strike="noStrike">
                <a:solidFill>
                  <a:srgbClr val="16202E"/>
                </a:solidFill>
                <a:effectLst/>
                <a:uFillTx/>
                <a:latin typeface="Calibri"/>
                <a:ea typeface="Calibri"/>
              </a:rPr>
              <a:t>Number of stages: log₂N. Butterflies per stage: N/2.</a:t>
            </a:r>
            <a:endParaRPr lang="en-US" sz="1300" b="0" u="none" strike="noStrike">
              <a:solidFill>
                <a:srgbClr val="000000"/>
              </a:solidFill>
              <a:effectLst/>
              <a:uFillTx/>
              <a:latin typeface="Arial"/>
            </a:endParaRPr>
          </a:p>
          <a:p>
            <a:pPr marL="228600" indent="-228600" defTabSz="914400">
              <a:lnSpc>
                <a:spcPct val="112000"/>
              </a:lnSpc>
              <a:spcAft>
                <a:spcPts val="879"/>
              </a:spcAft>
              <a:buClr>
                <a:srgbClr val="16202E"/>
              </a:buClr>
              <a:buFont typeface="Wingdings" charset="2"/>
              <a:buChar char=""/>
            </a:pPr>
            <a:r>
              <a:rPr lang="en-US" sz="1300" b="0" u="none" strike="noStrike">
                <a:solidFill>
                  <a:srgbClr val="16202E"/>
                </a:solidFill>
                <a:effectLst/>
                <a:uFillTx/>
                <a:latin typeface="Calibri"/>
                <a:ea typeface="Calibri"/>
              </a:rPr>
              <a:t>Each butterfly performs 1 complex multiply (forming B), 1 complex add, 1 complex subtract.</a:t>
            </a:r>
            <a:endParaRPr lang="en-US" sz="1300" b="0" u="none" strike="noStrike">
              <a:solidFill>
                <a:srgbClr val="000000"/>
              </a:solidFill>
              <a:effectLst/>
              <a:uFillTx/>
              <a:latin typeface="Arial"/>
            </a:endParaRPr>
          </a:p>
          <a:p>
            <a:pPr marL="228600" indent="-228600" defTabSz="914400">
              <a:lnSpc>
                <a:spcPct val="112000"/>
              </a:lnSpc>
              <a:spcAft>
                <a:spcPts val="879"/>
              </a:spcAft>
              <a:buClr>
                <a:srgbClr val="16202E"/>
              </a:buClr>
              <a:buFont typeface="Wingdings" charset="2"/>
              <a:buChar char=""/>
            </a:pPr>
            <a:r>
              <a:rPr lang="en-US" sz="1300" b="0" u="none" strike="noStrike">
                <a:solidFill>
                  <a:srgbClr val="16202E"/>
                </a:solidFill>
                <a:effectLst/>
                <a:uFillTx/>
                <a:latin typeface="Calibri"/>
                <a:ea typeface="Calibri"/>
              </a:rPr>
              <a:t>Complex multiplications total: (N/2) log₂N. Additions/subtractions total: N log₂N.</a:t>
            </a:r>
            <a:endParaRPr lang="en-US" sz="1300" b="0" u="none" strike="noStrike">
              <a:solidFill>
                <a:srgbClr val="000000"/>
              </a:solidFill>
              <a:effectLst/>
              <a:uFillTx/>
              <a:latin typeface="Arial"/>
            </a:endParaRPr>
          </a:p>
        </p:txBody>
      </p:sp>
      <p:graphicFrame>
        <p:nvGraphicFramePr>
          <p:cNvPr id="989" name="Table 0"/>
          <p:cNvGraphicFramePr/>
          <p:nvPr/>
        </p:nvGraphicFramePr>
        <p:xfrm>
          <a:off x="502920" y="3703320"/>
          <a:ext cx="5211720" cy="1755360"/>
        </p:xfrm>
        <a:graphic>
          <a:graphicData uri="http://schemas.openxmlformats.org/drawingml/2006/table">
            <a:tbl>
              <a:tblPr/>
              <a:tblGrid>
                <a:gridCol w="1737360"/>
                <a:gridCol w="1737360"/>
                <a:gridCol w="1737360"/>
              </a:tblGrid>
              <a:tr h="292320">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Quantity</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Formula</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N=8 value</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Stages</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log₂N</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3</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Butterflies/stage</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N/2</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Total butterflies</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(N/2)log₂N</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12</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Complex mult. (generic)</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(N/2)log₂N</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12</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Complex add/sub</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N log₂N</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24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bl>
          </a:graphicData>
        </a:graphic>
      </p:graphicFrame>
      <p:sp>
        <p:nvSpPr>
          <p:cNvPr id="990" name="Text 5"/>
          <p:cNvSpPr/>
          <p:nvPr/>
        </p:nvSpPr>
        <p:spPr>
          <a:xfrm>
            <a:off x="6446520" y="1234440"/>
            <a:ext cx="493740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TRIVIAL-TWIDDLE SAVINGS</a:t>
            </a:r>
            <a:endParaRPr lang="en-US" sz="1100" b="0" u="none" strike="noStrike">
              <a:solidFill>
                <a:srgbClr val="000000"/>
              </a:solidFill>
              <a:effectLst/>
              <a:uFillTx/>
              <a:latin typeface="Arial"/>
            </a:endParaRPr>
          </a:p>
        </p:txBody>
      </p:sp>
      <p:sp>
        <p:nvSpPr>
          <p:cNvPr id="991" name="Shape 6"/>
          <p:cNvSpPr/>
          <p:nvPr/>
        </p:nvSpPr>
        <p:spPr>
          <a:xfrm>
            <a:off x="6446520" y="1536120"/>
            <a:ext cx="4937400" cy="4297320"/>
          </a:xfrm>
          <a:prstGeom prst="roundRect">
            <a:avLst>
              <a:gd name="adj" fmla="val 1277"/>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92" name="Text 7"/>
          <p:cNvSpPr/>
          <p:nvPr/>
        </p:nvSpPr>
        <p:spPr>
          <a:xfrm>
            <a:off x="6583680" y="1664280"/>
            <a:ext cx="4663080" cy="402300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Some twiddle factors are trivial. W_N^k = 1, -1, j, or -j needs no general complex multiplier, only sign flips and/or a swap of real and imaginary parts.</a:t>
            </a:r>
            <a:endParaRPr lang="en-US" sz="1300" b="0" u="none" strike="noStrike">
              <a:solidFill>
                <a:srgbClr val="000000"/>
              </a:solidFill>
              <a:effectLst/>
              <a:uFillTx/>
              <a:latin typeface="Arial"/>
            </a:endParaRPr>
          </a:p>
          <a:p>
            <a:pPr defTabSz="914400">
              <a:lnSpc>
                <a:spcPct val="118000"/>
              </a:lnSpc>
              <a:tabLst>
                <a:tab pos="0" algn="l"/>
              </a:tabLst>
            </a:pPr>
            <a:endParaRPr lang="en-US" sz="135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16202E"/>
                </a:solidFill>
                <a:effectLst/>
                <a:uFillTx/>
                <a:latin typeface="Calibri"/>
                <a:ea typeface="Calibri"/>
              </a:rPr>
              <a:t>In the worked example: Stage 1 uses only W2^0=1 (4 trivial butterflies). Stage 2 uses only W4^0=1 and W4^1=-j (4 trivial butterflies). Stage 3 uses W8^0=1 and W8^2=-j (trivial) plus W8^1 and W8^3 (genuine).</a:t>
            </a:r>
            <a:endParaRPr lang="en-US" sz="1300" b="0" u="none" strike="noStrike">
              <a:solidFill>
                <a:srgbClr val="000000"/>
              </a:solidFill>
              <a:effectLst/>
              <a:uFillTx/>
              <a:latin typeface="Arial"/>
            </a:endParaRPr>
          </a:p>
          <a:p>
            <a:pPr defTabSz="914400">
              <a:lnSpc>
                <a:spcPct val="118000"/>
              </a:lnSpc>
              <a:tabLst>
                <a:tab pos="0" algn="l"/>
              </a:tabLst>
            </a:pPr>
            <a:endParaRPr lang="en-US" sz="135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16202E"/>
                </a:solidFill>
                <a:effectLst/>
                <a:uFillTx/>
                <a:latin typeface="Calibri"/>
                <a:ea typeface="Calibri"/>
              </a:rPr>
              <a:t>Result: of the 12 generic complex multiplications counted for N=8, only 2 are genuine general complex multiplications, both in Stage 3 (k=1 and k=3). The other 10 reduce to sign flips and swaps. This is why real FFT implementations special-case trivial twiddle factors instead of running every butterfly through a full multiplier.</a:t>
            </a:r>
            <a:endParaRPr lang="en-US" sz="1300" b="0" u="none" strike="noStrike">
              <a:solidFill>
                <a:srgbClr val="000000"/>
              </a:solidFill>
              <a:effectLst/>
              <a:uFillTx/>
              <a:latin typeface="Arial"/>
            </a:endParaRPr>
          </a:p>
        </p:txBody>
      </p:sp>
      <p:sp>
        <p:nvSpPr>
          <p:cNvPr id="993" name="Shape 8"/>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994" name="Shape 9"/>
          <p:cNvSpPr/>
          <p:nvPr/>
        </p:nvSpPr>
        <p:spPr>
          <a:xfrm>
            <a:off x="502920" y="6473880"/>
            <a:ext cx="770220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995" name="Text 10"/>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000000"/>
              </a:solidFill>
              <a:effectLst/>
              <a:uFillTx/>
              <a:latin typeface="Arial"/>
            </a:endParaRPr>
          </a:p>
        </p:txBody>
      </p:sp>
      <p:sp>
        <p:nvSpPr>
          <p:cNvPr id="996" name="Text 11"/>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FFT8 Operations     29</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997"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4 · FROM FFT MATHEMATICS TO HARDWARE</a:t>
            </a:r>
            <a:endParaRPr lang="en-US" sz="1150" b="0" u="none" strike="noStrike">
              <a:solidFill>
                <a:srgbClr val="000000"/>
              </a:solidFill>
              <a:effectLst/>
              <a:uFillTx/>
              <a:latin typeface="Arial"/>
            </a:endParaRPr>
          </a:p>
        </p:txBody>
      </p:sp>
      <p:sp>
        <p:nvSpPr>
          <p:cNvPr id="998"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How Every Equation Maps Onto the Flow Graph (DIT)</a:t>
            </a:r>
            <a:endParaRPr lang="en-US" sz="2600" b="0" u="none" strike="noStrike">
              <a:solidFill>
                <a:srgbClr val="000000"/>
              </a:solidFill>
              <a:effectLst/>
              <a:uFillTx/>
              <a:latin typeface="Arial"/>
            </a:endParaRPr>
          </a:p>
        </p:txBody>
      </p:sp>
      <p:graphicFrame>
        <p:nvGraphicFramePr>
          <p:cNvPr id="999" name="Table 0"/>
          <p:cNvGraphicFramePr/>
          <p:nvPr/>
        </p:nvGraphicFramePr>
        <p:xfrm>
          <a:off x="502920" y="1280160"/>
          <a:ext cx="11155320" cy="2340360"/>
        </p:xfrm>
        <a:graphic>
          <a:graphicData uri="http://schemas.openxmlformats.org/drawingml/2006/table">
            <a:tbl>
              <a:tblPr/>
              <a:tblGrid>
                <a:gridCol w="2377440"/>
                <a:gridCol w="3383280"/>
                <a:gridCol w="5394960"/>
              </a:tblGrid>
              <a:tr h="292320">
                <a:tc>
                  <a:txBody>
                    <a:bodyPr tIns="27360" bIns="27360" anchor="ctr">
                      <a:noAutofit/>
                    </a:bodyPr>
                    <a:p>
                      <a:pPr defTabSz="914400">
                        <a:lnSpc>
                          <a:spcPct val="100000"/>
                        </a:lnSpc>
                        <a:tabLst>
                          <a:tab pos="0" algn="l"/>
                        </a:tabLst>
                      </a:pPr>
                      <a:r>
                        <a:rPr lang="en-US" sz="1100" b="1" u="none" strike="noStrike">
                          <a:solidFill>
                            <a:srgbClr val="FFFFFF"/>
                          </a:solidFill>
                          <a:effectLst/>
                          <a:uFillTx/>
                          <a:latin typeface="Calibri"/>
                          <a:ea typeface="Calibri"/>
                        </a:rPr>
                        <a:t>Math element</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defTabSz="914400">
                        <a:lnSpc>
                          <a:spcPct val="100000"/>
                        </a:lnSpc>
                        <a:tabLst>
                          <a:tab pos="0" algn="l"/>
                        </a:tabLst>
                      </a:pPr>
                      <a:r>
                        <a:rPr lang="en-US" sz="1100" b="1" u="none" strike="noStrike">
                          <a:solidFill>
                            <a:srgbClr val="FFFFFF"/>
                          </a:solidFill>
                          <a:effectLst/>
                          <a:uFillTx/>
                          <a:latin typeface="Calibri"/>
                          <a:ea typeface="Calibri"/>
                        </a:rPr>
                        <a:t>Expression</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defTabSz="914400">
                        <a:lnSpc>
                          <a:spcPct val="100000"/>
                        </a:lnSpc>
                        <a:tabLst>
                          <a:tab pos="0" algn="l"/>
                        </a:tabLst>
                      </a:pPr>
                      <a:r>
                        <a:rPr lang="en-US" sz="1100" b="1" u="none" strike="noStrike">
                          <a:solidFill>
                            <a:srgbClr val="FFFFFF"/>
                          </a:solidFill>
                          <a:effectLst/>
                          <a:uFillTx/>
                          <a:latin typeface="Calibri"/>
                          <a:ea typeface="Calibri"/>
                        </a:rPr>
                        <a:t>Flow-graph element</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292320">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DFT equation</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X[k] = sum x[n] W_N^(nk)</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The full graph, start to finish, for every k</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Even/odd split</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n = 2r or 2r+1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The row a sample first enters, top or bottom half</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r h="292320">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Smaller DFTs</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E[k], O[k]</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Sub-networks feeding each butterfly stage</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Twiddle multiply</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W_N^k · O[k]</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The multiplier symbol on the lower input wire</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r h="292320">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Butterfly</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X[k]=A+B, X[k+N/2]=A-B</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The crossing wires plus the + and - nodes</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FFT stages</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log₂N columns</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Each vertical column of the graph, left to right</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r h="292320">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Final samples</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X[0]..X[N-1]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The right-hand edge of the graph, natural order</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bl>
          </a:graphicData>
        </a:graphic>
      </p:graphicFrame>
      <p:sp>
        <p:nvSpPr>
          <p:cNvPr id="1000" name="Shape 2"/>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1001" name="Shape 3"/>
          <p:cNvSpPr/>
          <p:nvPr/>
        </p:nvSpPr>
        <p:spPr>
          <a:xfrm>
            <a:off x="502920" y="6473880"/>
            <a:ext cx="796788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1002" name="Text 4"/>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000000"/>
              </a:solidFill>
              <a:effectLst/>
              <a:uFillTx/>
              <a:latin typeface="Arial"/>
            </a:endParaRPr>
          </a:p>
        </p:txBody>
      </p:sp>
      <p:sp>
        <p:nvSpPr>
          <p:cNvPr id="1003" name="Text 5"/>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Math to Hardware     30</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1004"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4 · FROM FFT MATHEMATICS TO HARDWARE</a:t>
            </a:r>
            <a:endParaRPr lang="en-US" sz="1150" b="0" u="none" strike="noStrike">
              <a:solidFill>
                <a:srgbClr val="000000"/>
              </a:solidFill>
              <a:effectLst/>
              <a:uFillTx/>
              <a:latin typeface="Arial"/>
            </a:endParaRPr>
          </a:p>
        </p:txBody>
      </p:sp>
      <p:sp>
        <p:nvSpPr>
          <p:cNvPr id="1005"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The Complex Multiplication Inside Every Butterfly</a:t>
            </a:r>
            <a:endParaRPr lang="en-US" sz="2600" b="0" u="none" strike="noStrike">
              <a:solidFill>
                <a:srgbClr val="000000"/>
              </a:solidFill>
              <a:effectLst/>
              <a:uFillTx/>
              <a:latin typeface="Arial"/>
            </a:endParaRPr>
          </a:p>
        </p:txBody>
      </p:sp>
      <p:sp>
        <p:nvSpPr>
          <p:cNvPr id="1006" name="Text 2"/>
          <p:cNvSpPr/>
          <p:nvPr/>
        </p:nvSpPr>
        <p:spPr>
          <a:xfrm>
            <a:off x="502920" y="1234440"/>
            <a:ext cx="52117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GENERAL COMPLEX MULTIPLICATION</a:t>
            </a:r>
            <a:endParaRPr lang="en-US" sz="1100" b="0" u="none" strike="noStrike">
              <a:solidFill>
                <a:srgbClr val="000000"/>
              </a:solidFill>
              <a:effectLst/>
              <a:uFillTx/>
              <a:latin typeface="Arial"/>
            </a:endParaRPr>
          </a:p>
        </p:txBody>
      </p:sp>
      <p:sp>
        <p:nvSpPr>
          <p:cNvPr id="1007" name="Shape 3"/>
          <p:cNvSpPr/>
          <p:nvPr/>
        </p:nvSpPr>
        <p:spPr>
          <a:xfrm>
            <a:off x="502920" y="1536120"/>
            <a:ext cx="5211720" cy="731160"/>
          </a:xfrm>
          <a:prstGeom prst="roundRect">
            <a:avLst>
              <a:gd name="adj" fmla="val 7500"/>
            </a:avLst>
          </a:prstGeom>
          <a:solidFill>
            <a:srgbClr val="132A4A"/>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08" name="Text 4"/>
          <p:cNvSpPr/>
          <p:nvPr/>
        </p:nvSpPr>
        <p:spPr>
          <a:xfrm>
            <a:off x="502920" y="1536120"/>
            <a:ext cx="5211720" cy="7311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mbria"/>
                <a:ea typeface="Cambria"/>
              </a:rPr>
              <a:t>(a+jb)(c+jd) = (ac-bd) + j(ad+bc)</a:t>
            </a:r>
            <a:endParaRPr lang="en-US" sz="1300" b="0" u="none" strike="noStrike">
              <a:solidFill>
                <a:srgbClr val="000000"/>
              </a:solidFill>
              <a:effectLst/>
              <a:uFillTx/>
              <a:latin typeface="Arial"/>
            </a:endParaRPr>
          </a:p>
        </p:txBody>
      </p:sp>
      <p:sp>
        <p:nvSpPr>
          <p:cNvPr id="1009" name="Text 5"/>
          <p:cNvSpPr/>
          <p:nvPr/>
        </p:nvSpPr>
        <p:spPr>
          <a:xfrm>
            <a:off x="502920" y="2423160"/>
            <a:ext cx="5211720" cy="91404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4 real multiplications (ac, bd, ad, bc) and 2 real additions/subtractions. Applied to B = W_N^k O[k]: a,b are the real/imaginary parts of W_N^k; c,d are the real/imaginary parts of O[k].</a:t>
            </a:r>
            <a:endParaRPr lang="en-US" sz="1300" b="0" u="none" strike="noStrike">
              <a:solidFill>
                <a:srgbClr val="000000"/>
              </a:solidFill>
              <a:effectLst/>
              <a:uFillTx/>
              <a:latin typeface="Arial"/>
            </a:endParaRPr>
          </a:p>
        </p:txBody>
      </p:sp>
      <p:sp>
        <p:nvSpPr>
          <p:cNvPr id="1010" name="Shape 6"/>
          <p:cNvSpPr/>
          <p:nvPr/>
        </p:nvSpPr>
        <p:spPr>
          <a:xfrm>
            <a:off x="502920" y="3474720"/>
            <a:ext cx="5211720" cy="1737000"/>
          </a:xfrm>
          <a:prstGeom prst="roundRect">
            <a:avLst>
              <a:gd name="adj" fmla="val 3158"/>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11" name="Text 7"/>
          <p:cNvSpPr/>
          <p:nvPr/>
        </p:nvSpPr>
        <p:spPr>
          <a:xfrm>
            <a:off x="685800" y="3611880"/>
            <a:ext cx="4845960" cy="146268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A real adder costs far less silicon and latency than a real multiplier, so the multiply count, not the add count, usually dominates FFT hardware cost. This is exactly why trivial twiddle factors (1, -1, j, -j) are special-cased out of the multiply count in hardware.</a:t>
            </a:r>
            <a:endParaRPr lang="en-US" sz="1300" b="0" u="none" strike="noStrike">
              <a:solidFill>
                <a:srgbClr val="000000"/>
              </a:solidFill>
              <a:effectLst/>
              <a:uFillTx/>
              <a:latin typeface="Arial"/>
            </a:endParaRPr>
          </a:p>
        </p:txBody>
      </p:sp>
      <p:sp>
        <p:nvSpPr>
          <p:cNvPr id="1012" name="Text 8"/>
          <p:cNvSpPr/>
          <p:nvPr/>
        </p:nvSpPr>
        <p:spPr>
          <a:xfrm>
            <a:off x="6446520" y="1234440"/>
            <a:ext cx="493740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SPECIAL CASE: MULTIPLYING BY j</a:t>
            </a:r>
            <a:endParaRPr lang="en-US" sz="1100" b="0" u="none" strike="noStrike">
              <a:solidFill>
                <a:srgbClr val="000000"/>
              </a:solidFill>
              <a:effectLst/>
              <a:uFillTx/>
              <a:latin typeface="Arial"/>
            </a:endParaRPr>
          </a:p>
        </p:txBody>
      </p:sp>
      <p:sp>
        <p:nvSpPr>
          <p:cNvPr id="1013" name="Shape 9"/>
          <p:cNvSpPr/>
          <p:nvPr/>
        </p:nvSpPr>
        <p:spPr>
          <a:xfrm>
            <a:off x="6446520" y="1536120"/>
            <a:ext cx="4937400" cy="731160"/>
          </a:xfrm>
          <a:prstGeom prst="roundRect">
            <a:avLst>
              <a:gd name="adj" fmla="val 7500"/>
            </a:avLst>
          </a:prstGeom>
          <a:solidFill>
            <a:srgbClr val="0E8388"/>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14" name="Text 10"/>
          <p:cNvSpPr/>
          <p:nvPr/>
        </p:nvSpPr>
        <p:spPr>
          <a:xfrm>
            <a:off x="6446520" y="1536120"/>
            <a:ext cx="4937400" cy="7311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mbria"/>
                <a:ea typeface="Cambria"/>
              </a:rPr>
              <a:t>j(a+jb) = ja + j</a:t>
            </a:r>
            <a:r>
              <a:rPr lang="en-US" sz="1300" b="1" u="none" strike="noStrike" baseline="30000">
                <a:solidFill>
                  <a:srgbClr val="FFFFFF"/>
                </a:solidFill>
                <a:effectLst/>
                <a:uFillTx/>
                <a:latin typeface="Cambria"/>
                <a:ea typeface="Cambria"/>
              </a:rPr>
              <a:t>2</a:t>
            </a:r>
            <a:r>
              <a:rPr lang="en-US" sz="1300" b="1" u="none" strike="noStrike">
                <a:solidFill>
                  <a:srgbClr val="FFFFFF"/>
                </a:solidFill>
                <a:effectLst/>
                <a:uFillTx/>
                <a:latin typeface="Cambria"/>
                <a:ea typeface="Cambria"/>
              </a:rPr>
              <a:t>b = -b + ja</a:t>
            </a:r>
            <a:endParaRPr lang="en-US" sz="1300" b="0" u="none" strike="noStrike">
              <a:solidFill>
                <a:srgbClr val="000000"/>
              </a:solidFill>
              <a:effectLst/>
              <a:uFillTx/>
              <a:latin typeface="Arial"/>
            </a:endParaRPr>
          </a:p>
        </p:txBody>
      </p:sp>
      <p:sp>
        <p:nvSpPr>
          <p:cNvPr id="1015" name="Shape 11"/>
          <p:cNvSpPr/>
          <p:nvPr/>
        </p:nvSpPr>
        <p:spPr>
          <a:xfrm>
            <a:off x="6446520" y="2423160"/>
            <a:ext cx="4937400" cy="2788560"/>
          </a:xfrm>
          <a:prstGeom prst="roundRect">
            <a:avLst>
              <a:gd name="adj" fmla="val 1967"/>
            </a:avLst>
          </a:prstGeom>
          <a:solidFill>
            <a:srgbClr val="FBF0E2"/>
          </a:solidFill>
          <a:ln w="12700">
            <a:solidFill>
              <a:srgbClr val="E7CDA0"/>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16" name="Text 12"/>
          <p:cNvSpPr/>
          <p:nvPr/>
        </p:nvSpPr>
        <p:spPr>
          <a:xfrm>
            <a:off x="6629400" y="2560320"/>
            <a:ext cx="4571640" cy="255996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Multiplying by j (or -j) only swaps the real and imaginary parts and flips one sign; multiplying by -1 only flips both signs. No real multiplier is needed at all, just wiring and a sign inversion.</a:t>
            </a:r>
            <a:endParaRPr lang="en-US" sz="1300" b="0" u="none" strike="noStrike">
              <a:solidFill>
                <a:srgbClr val="000000"/>
              </a:solidFill>
              <a:effectLst/>
              <a:uFillTx/>
              <a:latin typeface="Arial"/>
            </a:endParaRPr>
          </a:p>
          <a:p>
            <a:pPr defTabSz="914400">
              <a:lnSpc>
                <a:spcPct val="118000"/>
              </a:lnSpc>
              <a:tabLst>
                <a:tab pos="0" algn="l"/>
              </a:tabLst>
            </a:pPr>
            <a:endParaRPr lang="en-US" sz="1350" b="0" u="none" strike="noStrike">
              <a:solidFill>
                <a:srgbClr val="000000"/>
              </a:solidFill>
              <a:effectLst/>
              <a:uFillTx/>
              <a:latin typeface="Arial"/>
            </a:endParaRPr>
          </a:p>
          <a:p>
            <a:pPr defTabSz="914400">
              <a:lnSpc>
                <a:spcPct val="118000"/>
              </a:lnSpc>
              <a:tabLst>
                <a:tab pos="0" algn="l"/>
              </a:tabLst>
            </a:pPr>
            <a:r>
              <a:rPr lang="en-US" sz="1300" b="0" u="none" strike="noStrike">
                <a:solidFill>
                  <a:srgbClr val="16202E"/>
                </a:solidFill>
                <a:effectLst/>
                <a:uFillTx/>
                <a:latin typeface="Calibri"/>
                <a:ea typeface="Calibri"/>
              </a:rPr>
              <a:t>Hardware connection: an FPGA/ASIC butterfly processing element typically implements the general complex multiplier as 3 or 4 real multiplier blocks plus adders, but recognizes trivial twiddle factors in the control logic and bypasses the multiplier entirely for them.</a:t>
            </a:r>
            <a:endParaRPr lang="en-US" sz="1300" b="0" u="none" strike="noStrike">
              <a:solidFill>
                <a:srgbClr val="000000"/>
              </a:solidFill>
              <a:effectLst/>
              <a:uFillTx/>
              <a:latin typeface="Arial"/>
            </a:endParaRPr>
          </a:p>
        </p:txBody>
      </p:sp>
      <p:sp>
        <p:nvSpPr>
          <p:cNvPr id="1017" name="Shape 13"/>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1018" name="Shape 14"/>
          <p:cNvSpPr/>
          <p:nvPr/>
        </p:nvSpPr>
        <p:spPr>
          <a:xfrm>
            <a:off x="502920" y="6473880"/>
            <a:ext cx="823356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1019" name="Text 15"/>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000000"/>
              </a:solidFill>
              <a:effectLst/>
              <a:uFillTx/>
              <a:latin typeface="Arial"/>
            </a:endParaRPr>
          </a:p>
        </p:txBody>
      </p:sp>
      <p:sp>
        <p:nvSpPr>
          <p:cNvPr id="1020" name="Text 16"/>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Math to Hardware     31</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1021"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4 · FROM FFT MATHEMATICS TO HARDWARE</a:t>
            </a:r>
            <a:endParaRPr lang="en-US" sz="1150" b="0" u="none" strike="noStrike">
              <a:solidFill>
                <a:srgbClr val="000000"/>
              </a:solidFill>
              <a:effectLst/>
              <a:uFillTx/>
              <a:latin typeface="Arial"/>
            </a:endParaRPr>
          </a:p>
        </p:txBody>
      </p:sp>
      <p:sp>
        <p:nvSpPr>
          <p:cNvPr id="1022"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Identifying the Hardware Building Blocks</a:t>
            </a:r>
            <a:endParaRPr lang="en-US" sz="2600" b="0" u="none" strike="noStrike">
              <a:solidFill>
                <a:srgbClr val="000000"/>
              </a:solidFill>
              <a:effectLst/>
              <a:uFillTx/>
              <a:latin typeface="Arial"/>
            </a:endParaRPr>
          </a:p>
        </p:txBody>
      </p:sp>
      <p:sp>
        <p:nvSpPr>
          <p:cNvPr id="1023" name="Shape 2"/>
          <p:cNvSpPr/>
          <p:nvPr/>
        </p:nvSpPr>
        <p:spPr>
          <a:xfrm>
            <a:off x="502920" y="1280160"/>
            <a:ext cx="5440320" cy="1416960"/>
          </a:xfrm>
          <a:prstGeom prst="roundRect">
            <a:avLst>
              <a:gd name="adj" fmla="val 3871"/>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24" name="Text 3"/>
          <p:cNvSpPr/>
          <p:nvPr/>
        </p:nvSpPr>
        <p:spPr>
          <a:xfrm>
            <a:off x="685800" y="1389960"/>
            <a:ext cx="507456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Complex multipliers</a:t>
            </a:r>
            <a:endParaRPr lang="en-US" sz="1100" b="0" u="none" strike="noStrike">
              <a:solidFill>
                <a:srgbClr val="000000"/>
              </a:solidFill>
              <a:effectLst/>
              <a:uFillTx/>
              <a:latin typeface="Arial"/>
            </a:endParaRPr>
          </a:p>
        </p:txBody>
      </p:sp>
      <p:sp>
        <p:nvSpPr>
          <p:cNvPr id="1025" name="Text 4"/>
          <p:cNvSpPr/>
          <p:nvPr/>
        </p:nvSpPr>
        <p:spPr>
          <a:xfrm>
            <a:off x="685800" y="1737360"/>
            <a:ext cx="5074560" cy="82260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Implement B = W_N^k O[k]; the most area/power-costly block, so trivial twiddles bypass them.</a:t>
            </a:r>
            <a:endParaRPr lang="en-US" sz="1300" b="0" u="none" strike="noStrike">
              <a:solidFill>
                <a:srgbClr val="000000"/>
              </a:solidFill>
              <a:effectLst/>
              <a:uFillTx/>
              <a:latin typeface="Arial"/>
            </a:endParaRPr>
          </a:p>
        </p:txBody>
      </p:sp>
      <p:sp>
        <p:nvSpPr>
          <p:cNvPr id="1026" name="Shape 5"/>
          <p:cNvSpPr/>
          <p:nvPr/>
        </p:nvSpPr>
        <p:spPr>
          <a:xfrm>
            <a:off x="6217920" y="1280160"/>
            <a:ext cx="5440320" cy="1416960"/>
          </a:xfrm>
          <a:prstGeom prst="roundRect">
            <a:avLst>
              <a:gd name="adj" fmla="val 3871"/>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27" name="Text 6"/>
          <p:cNvSpPr/>
          <p:nvPr/>
        </p:nvSpPr>
        <p:spPr>
          <a:xfrm>
            <a:off x="6400800" y="1389960"/>
            <a:ext cx="507456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Complex adders</a:t>
            </a:r>
            <a:endParaRPr lang="en-US" sz="1100" b="0" u="none" strike="noStrike">
              <a:solidFill>
                <a:srgbClr val="000000"/>
              </a:solidFill>
              <a:effectLst/>
              <a:uFillTx/>
              <a:latin typeface="Arial"/>
            </a:endParaRPr>
          </a:p>
        </p:txBody>
      </p:sp>
      <p:sp>
        <p:nvSpPr>
          <p:cNvPr id="1028" name="Text 7"/>
          <p:cNvSpPr/>
          <p:nvPr/>
        </p:nvSpPr>
        <p:spPr>
          <a:xfrm>
            <a:off x="6400800" y="1737360"/>
            <a:ext cx="5074560" cy="82260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Form A+B and A-B; cheap, and needed twice as often as multipliers.</a:t>
            </a:r>
            <a:endParaRPr lang="en-US" sz="1300" b="0" u="none" strike="noStrike">
              <a:solidFill>
                <a:srgbClr val="000000"/>
              </a:solidFill>
              <a:effectLst/>
              <a:uFillTx/>
              <a:latin typeface="Arial"/>
            </a:endParaRPr>
          </a:p>
        </p:txBody>
      </p:sp>
      <p:sp>
        <p:nvSpPr>
          <p:cNvPr id="1029" name="Shape 8"/>
          <p:cNvSpPr/>
          <p:nvPr/>
        </p:nvSpPr>
        <p:spPr>
          <a:xfrm>
            <a:off x="502920" y="2834640"/>
            <a:ext cx="5440320" cy="1416960"/>
          </a:xfrm>
          <a:prstGeom prst="roundRect">
            <a:avLst>
              <a:gd name="adj" fmla="val 3871"/>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30" name="Text 9"/>
          <p:cNvSpPr/>
          <p:nvPr/>
        </p:nvSpPr>
        <p:spPr>
          <a:xfrm>
            <a:off x="685800" y="2944440"/>
            <a:ext cx="507456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Registers / delay lines</a:t>
            </a:r>
            <a:endParaRPr lang="en-US" sz="1100" b="0" u="none" strike="noStrike">
              <a:solidFill>
                <a:srgbClr val="000000"/>
              </a:solidFill>
              <a:effectLst/>
              <a:uFillTx/>
              <a:latin typeface="Arial"/>
            </a:endParaRPr>
          </a:p>
        </p:txBody>
      </p:sp>
      <p:sp>
        <p:nvSpPr>
          <p:cNvPr id="1031" name="Text 10"/>
          <p:cNvSpPr/>
          <p:nvPr/>
        </p:nvSpPr>
        <p:spPr>
          <a:xfrm>
            <a:off x="685800" y="3291840"/>
            <a:ext cx="5074560" cy="82260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Hold intermediate butterfly outputs between stages in pipelined or streaming designs.</a:t>
            </a:r>
            <a:endParaRPr lang="en-US" sz="1300" b="0" u="none" strike="noStrike">
              <a:solidFill>
                <a:srgbClr val="000000"/>
              </a:solidFill>
              <a:effectLst/>
              <a:uFillTx/>
              <a:latin typeface="Arial"/>
            </a:endParaRPr>
          </a:p>
        </p:txBody>
      </p:sp>
      <p:sp>
        <p:nvSpPr>
          <p:cNvPr id="1032" name="Shape 11"/>
          <p:cNvSpPr/>
          <p:nvPr/>
        </p:nvSpPr>
        <p:spPr>
          <a:xfrm>
            <a:off x="6217920" y="2834640"/>
            <a:ext cx="5440320" cy="1416960"/>
          </a:xfrm>
          <a:prstGeom prst="roundRect">
            <a:avLst>
              <a:gd name="adj" fmla="val 3871"/>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33" name="Text 12"/>
          <p:cNvSpPr/>
          <p:nvPr/>
        </p:nvSpPr>
        <p:spPr>
          <a:xfrm>
            <a:off x="6400800" y="2944440"/>
            <a:ext cx="507456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Memory (input/working RAM)</a:t>
            </a:r>
            <a:endParaRPr lang="en-US" sz="1100" b="0" u="none" strike="noStrike">
              <a:solidFill>
                <a:srgbClr val="000000"/>
              </a:solidFill>
              <a:effectLst/>
              <a:uFillTx/>
              <a:latin typeface="Arial"/>
            </a:endParaRPr>
          </a:p>
        </p:txBody>
      </p:sp>
      <p:sp>
        <p:nvSpPr>
          <p:cNvPr id="1034" name="Text 13"/>
          <p:cNvSpPr/>
          <p:nvPr/>
        </p:nvSpPr>
        <p:spPr>
          <a:xfrm>
            <a:off x="6400800" y="3291840"/>
            <a:ext cx="5074560" cy="82260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Stores samples between stages; in-place butterfly computation minimizes memory needed.</a:t>
            </a:r>
            <a:endParaRPr lang="en-US" sz="1300" b="0" u="none" strike="noStrike">
              <a:solidFill>
                <a:srgbClr val="000000"/>
              </a:solidFill>
              <a:effectLst/>
              <a:uFillTx/>
              <a:latin typeface="Arial"/>
            </a:endParaRPr>
          </a:p>
        </p:txBody>
      </p:sp>
      <p:sp>
        <p:nvSpPr>
          <p:cNvPr id="1035" name="Shape 14"/>
          <p:cNvSpPr/>
          <p:nvPr/>
        </p:nvSpPr>
        <p:spPr>
          <a:xfrm>
            <a:off x="502920" y="4389120"/>
            <a:ext cx="5440320" cy="1416960"/>
          </a:xfrm>
          <a:prstGeom prst="roundRect">
            <a:avLst>
              <a:gd name="adj" fmla="val 3871"/>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36" name="Text 15"/>
          <p:cNvSpPr/>
          <p:nvPr/>
        </p:nvSpPr>
        <p:spPr>
          <a:xfrm>
            <a:off x="685800" y="4498920"/>
            <a:ext cx="507456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Address generation / bit-reversal unit</a:t>
            </a:r>
            <a:endParaRPr lang="en-US" sz="1100" b="0" u="none" strike="noStrike">
              <a:solidFill>
                <a:srgbClr val="000000"/>
              </a:solidFill>
              <a:effectLst/>
              <a:uFillTx/>
              <a:latin typeface="Arial"/>
            </a:endParaRPr>
          </a:p>
        </p:txBody>
      </p:sp>
      <p:sp>
        <p:nvSpPr>
          <p:cNvPr id="1037" name="Text 16"/>
          <p:cNvSpPr/>
          <p:nvPr/>
        </p:nvSpPr>
        <p:spPr>
          <a:xfrm>
            <a:off x="685800" y="4846320"/>
            <a:ext cx="5074560" cy="82260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Produces the bit-reversed read/write addresses, often a small counter with reversed bit wiring.</a:t>
            </a:r>
            <a:endParaRPr lang="en-US" sz="1300" b="0" u="none" strike="noStrike">
              <a:solidFill>
                <a:srgbClr val="000000"/>
              </a:solidFill>
              <a:effectLst/>
              <a:uFillTx/>
              <a:latin typeface="Arial"/>
            </a:endParaRPr>
          </a:p>
        </p:txBody>
      </p:sp>
      <p:sp>
        <p:nvSpPr>
          <p:cNvPr id="1038" name="Shape 17"/>
          <p:cNvSpPr/>
          <p:nvPr/>
        </p:nvSpPr>
        <p:spPr>
          <a:xfrm>
            <a:off x="6217920" y="4389120"/>
            <a:ext cx="5440320" cy="1416960"/>
          </a:xfrm>
          <a:prstGeom prst="roundRect">
            <a:avLst>
              <a:gd name="adj" fmla="val 3871"/>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39" name="Text 18"/>
          <p:cNvSpPr/>
          <p:nvPr/>
        </p:nvSpPr>
        <p:spPr>
          <a:xfrm>
            <a:off x="6400800" y="4498920"/>
            <a:ext cx="507456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Twiddle-factor ROM</a:t>
            </a:r>
            <a:endParaRPr lang="en-US" sz="1100" b="0" u="none" strike="noStrike">
              <a:solidFill>
                <a:srgbClr val="000000"/>
              </a:solidFill>
              <a:effectLst/>
              <a:uFillTx/>
              <a:latin typeface="Arial"/>
            </a:endParaRPr>
          </a:p>
        </p:txBody>
      </p:sp>
      <p:sp>
        <p:nvSpPr>
          <p:cNvPr id="1040" name="Text 19"/>
          <p:cNvSpPr/>
          <p:nvPr/>
        </p:nvSpPr>
        <p:spPr>
          <a:xfrm>
            <a:off x="6400800" y="4846320"/>
            <a:ext cx="5074560" cy="82260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Stores precomputed W_N^k values; symmetry allows storing only a quarter-circle.</a:t>
            </a:r>
            <a:endParaRPr lang="en-US" sz="1300" b="0" u="none" strike="noStrike">
              <a:solidFill>
                <a:srgbClr val="000000"/>
              </a:solidFill>
              <a:effectLst/>
              <a:uFillTx/>
              <a:latin typeface="Arial"/>
            </a:endParaRPr>
          </a:p>
        </p:txBody>
      </p:sp>
      <p:sp>
        <p:nvSpPr>
          <p:cNvPr id="1041" name="Shape 20"/>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1042" name="Shape 21"/>
          <p:cNvSpPr/>
          <p:nvPr/>
        </p:nvSpPr>
        <p:spPr>
          <a:xfrm>
            <a:off x="502920" y="6473880"/>
            <a:ext cx="849924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1043" name="Text 22"/>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000000"/>
              </a:solidFill>
              <a:effectLst/>
              <a:uFillTx/>
              <a:latin typeface="Arial"/>
            </a:endParaRPr>
          </a:p>
        </p:txBody>
      </p:sp>
      <p:sp>
        <p:nvSpPr>
          <p:cNvPr id="1044" name="Text 23"/>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Math to Hardware     32</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1045"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4 · FROM FFT MATHEMATICS TO HARDWARE</a:t>
            </a:r>
            <a:endParaRPr lang="en-US" sz="1150" b="0" u="none" strike="noStrike">
              <a:solidFill>
                <a:srgbClr val="000000"/>
              </a:solidFill>
              <a:effectLst/>
              <a:uFillTx/>
              <a:latin typeface="Arial"/>
            </a:endParaRPr>
          </a:p>
        </p:txBody>
      </p:sp>
      <p:sp>
        <p:nvSpPr>
          <p:cNvPr id="1046"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Mapping Every Math Operation to RTL Hardware</a:t>
            </a:r>
            <a:endParaRPr lang="en-US" sz="2600" b="0" u="none" strike="noStrike">
              <a:solidFill>
                <a:srgbClr val="000000"/>
              </a:solidFill>
              <a:effectLst/>
              <a:uFillTx/>
              <a:latin typeface="Arial"/>
            </a:endParaRPr>
          </a:p>
        </p:txBody>
      </p:sp>
      <p:sp>
        <p:nvSpPr>
          <p:cNvPr id="1047" name="Text 2"/>
          <p:cNvSpPr/>
          <p:nvPr/>
        </p:nvSpPr>
        <p:spPr>
          <a:xfrm>
            <a:off x="502920" y="123444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CONCEPTUAL HARDWARE DATAPATH</a:t>
            </a:r>
            <a:endParaRPr lang="en-US" sz="1100" b="0" u="none" strike="noStrike">
              <a:solidFill>
                <a:srgbClr val="000000"/>
              </a:solidFill>
              <a:effectLst/>
              <a:uFillTx/>
              <a:latin typeface="Arial"/>
            </a:endParaRPr>
          </a:p>
        </p:txBody>
      </p:sp>
      <p:sp>
        <p:nvSpPr>
          <p:cNvPr id="1048" name="Shape 3"/>
          <p:cNvSpPr/>
          <p:nvPr/>
        </p:nvSpPr>
        <p:spPr>
          <a:xfrm>
            <a:off x="502920" y="1554480"/>
            <a:ext cx="1974600" cy="868320"/>
          </a:xfrm>
          <a:prstGeom prst="roundRect">
            <a:avLst>
              <a:gd name="adj" fmla="val 6316"/>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49" name="Text 4"/>
          <p:cNvSpPr/>
          <p:nvPr/>
        </p:nvSpPr>
        <p:spPr>
          <a:xfrm>
            <a:off x="548640" y="1554480"/>
            <a:ext cx="188316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Input</a:t>
            </a:r>
            <a:endParaRPr lang="en-US" sz="1100" b="0" u="none" strike="noStrike">
              <a:solidFill>
                <a:srgbClr val="000000"/>
              </a:solidFill>
              <a:effectLst/>
              <a:uFillTx/>
              <a:latin typeface="Arial"/>
            </a:endParaRPr>
          </a:p>
          <a:p>
            <a:pPr algn="ctr" defTabSz="914400">
              <a:lnSpc>
                <a:spcPct val="100000"/>
              </a:lnSpc>
              <a:tabLst>
                <a:tab pos="0" algn="l"/>
              </a:tabLst>
            </a:pPr>
            <a:r>
              <a:rPr lang="en-US" sz="1100" b="1" u="none" strike="noStrike">
                <a:solidFill>
                  <a:srgbClr val="132A4A"/>
                </a:solidFill>
                <a:effectLst/>
                <a:uFillTx/>
                <a:latin typeface="Calibri"/>
                <a:ea typeface="Calibri"/>
              </a:rPr>
              <a:t>Memory</a:t>
            </a:r>
            <a:endParaRPr lang="en-US" sz="1100" b="0" u="none" strike="noStrike">
              <a:solidFill>
                <a:srgbClr val="000000"/>
              </a:solidFill>
              <a:effectLst/>
              <a:uFillTx/>
              <a:latin typeface="Arial"/>
            </a:endParaRPr>
          </a:p>
        </p:txBody>
      </p:sp>
      <p:sp>
        <p:nvSpPr>
          <p:cNvPr id="1050" name="Shape 5"/>
          <p:cNvSpPr/>
          <p:nvPr/>
        </p:nvSpPr>
        <p:spPr>
          <a:xfrm>
            <a:off x="2505240" y="1983960"/>
            <a:ext cx="265320" cy="360"/>
          </a:xfrm>
          <a:prstGeom prst="line">
            <a:avLst/>
          </a:prstGeom>
          <a:ln w="25400">
            <a:solidFill>
              <a:srgbClr val="0E8388"/>
            </a:solidFill>
            <a:round/>
            <a:tailEnd len="med" type="triangle" w="me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1051" name="Shape 6"/>
          <p:cNvSpPr/>
          <p:nvPr/>
        </p:nvSpPr>
        <p:spPr>
          <a:xfrm>
            <a:off x="2797920" y="1554480"/>
            <a:ext cx="1974600" cy="868320"/>
          </a:xfrm>
          <a:prstGeom prst="roundRect">
            <a:avLst>
              <a:gd name="adj" fmla="val 6316"/>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52" name="Text 7"/>
          <p:cNvSpPr/>
          <p:nvPr/>
        </p:nvSpPr>
        <p:spPr>
          <a:xfrm>
            <a:off x="2843640" y="1554480"/>
            <a:ext cx="188316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Bit-Reversal /</a:t>
            </a:r>
            <a:endParaRPr lang="en-US" sz="1100" b="0" u="none" strike="noStrike">
              <a:solidFill>
                <a:srgbClr val="000000"/>
              </a:solidFill>
              <a:effectLst/>
              <a:uFillTx/>
              <a:latin typeface="Arial"/>
            </a:endParaRPr>
          </a:p>
          <a:p>
            <a:pPr algn="ctr" defTabSz="914400">
              <a:lnSpc>
                <a:spcPct val="100000"/>
              </a:lnSpc>
              <a:tabLst>
                <a:tab pos="0" algn="l"/>
              </a:tabLst>
            </a:pPr>
            <a:r>
              <a:rPr lang="en-US" sz="1100" b="1" u="none" strike="noStrike">
                <a:solidFill>
                  <a:srgbClr val="132A4A"/>
                </a:solidFill>
                <a:effectLst/>
                <a:uFillTx/>
                <a:latin typeface="Calibri"/>
                <a:ea typeface="Calibri"/>
              </a:rPr>
              <a:t>Address Gen</a:t>
            </a:r>
            <a:endParaRPr lang="en-US" sz="1100" b="0" u="none" strike="noStrike">
              <a:solidFill>
                <a:srgbClr val="000000"/>
              </a:solidFill>
              <a:effectLst/>
              <a:uFillTx/>
              <a:latin typeface="Arial"/>
            </a:endParaRPr>
          </a:p>
        </p:txBody>
      </p:sp>
      <p:sp>
        <p:nvSpPr>
          <p:cNvPr id="1053" name="Shape 8"/>
          <p:cNvSpPr/>
          <p:nvPr/>
        </p:nvSpPr>
        <p:spPr>
          <a:xfrm>
            <a:off x="4800600" y="1983960"/>
            <a:ext cx="264960" cy="360"/>
          </a:xfrm>
          <a:prstGeom prst="line">
            <a:avLst/>
          </a:prstGeom>
          <a:ln w="25400">
            <a:solidFill>
              <a:srgbClr val="0E8388"/>
            </a:solidFill>
            <a:round/>
            <a:tailEnd len="med" type="triangle" w="me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1054" name="Shape 9"/>
          <p:cNvSpPr/>
          <p:nvPr/>
        </p:nvSpPr>
        <p:spPr>
          <a:xfrm>
            <a:off x="5093280" y="1554480"/>
            <a:ext cx="1974600" cy="868320"/>
          </a:xfrm>
          <a:prstGeom prst="roundRect">
            <a:avLst>
              <a:gd name="adj" fmla="val 6316"/>
            </a:avLst>
          </a:prstGeom>
          <a:solidFill>
            <a:srgbClr val="132A4A"/>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55" name="Text 10"/>
          <p:cNvSpPr/>
          <p:nvPr/>
        </p:nvSpPr>
        <p:spPr>
          <a:xfrm>
            <a:off x="5139000" y="1554480"/>
            <a:ext cx="188316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Butterfly</a:t>
            </a:r>
            <a:endParaRPr lang="en-US" sz="1100" b="0" u="none" strike="noStrike">
              <a:solidFill>
                <a:srgbClr val="000000"/>
              </a:solidFill>
              <a:effectLst/>
              <a:uFillTx/>
              <a:latin typeface="Arial"/>
            </a:endParaRPr>
          </a:p>
          <a:p>
            <a:pPr algn="ctr" defTabSz="914400">
              <a:lnSpc>
                <a:spcPct val="100000"/>
              </a:lnSpc>
              <a:tabLst>
                <a:tab pos="0" algn="l"/>
              </a:tabLst>
            </a:pPr>
            <a:r>
              <a:rPr lang="en-US" sz="1100" b="1" u="none" strike="noStrike">
                <a:solidFill>
                  <a:srgbClr val="FFFFFF"/>
                </a:solidFill>
                <a:effectLst/>
                <a:uFillTx/>
                <a:latin typeface="Calibri"/>
                <a:ea typeface="Calibri"/>
              </a:rPr>
              <a:t>Processing Elem.</a:t>
            </a:r>
            <a:endParaRPr lang="en-US" sz="1100" b="0" u="none" strike="noStrike">
              <a:solidFill>
                <a:srgbClr val="000000"/>
              </a:solidFill>
              <a:effectLst/>
              <a:uFillTx/>
              <a:latin typeface="Arial"/>
            </a:endParaRPr>
          </a:p>
        </p:txBody>
      </p:sp>
      <p:sp>
        <p:nvSpPr>
          <p:cNvPr id="1056" name="Shape 11"/>
          <p:cNvSpPr/>
          <p:nvPr/>
        </p:nvSpPr>
        <p:spPr>
          <a:xfrm>
            <a:off x="7095600" y="1983960"/>
            <a:ext cx="265320" cy="360"/>
          </a:xfrm>
          <a:prstGeom prst="line">
            <a:avLst/>
          </a:prstGeom>
          <a:ln w="25400">
            <a:solidFill>
              <a:srgbClr val="0E8388"/>
            </a:solidFill>
            <a:round/>
            <a:tailEnd len="med" type="triangle" w="me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1057" name="Shape 12"/>
          <p:cNvSpPr/>
          <p:nvPr/>
        </p:nvSpPr>
        <p:spPr>
          <a:xfrm>
            <a:off x="7388280" y="1554480"/>
            <a:ext cx="1974600" cy="868320"/>
          </a:xfrm>
          <a:prstGeom prst="roundRect">
            <a:avLst>
              <a:gd name="adj" fmla="val 6316"/>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58" name="Text 13"/>
          <p:cNvSpPr/>
          <p:nvPr/>
        </p:nvSpPr>
        <p:spPr>
          <a:xfrm>
            <a:off x="7434000" y="1554480"/>
            <a:ext cx="188316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Twiddle ROM +</a:t>
            </a:r>
            <a:endParaRPr lang="en-US" sz="1100" b="0" u="none" strike="noStrike">
              <a:solidFill>
                <a:srgbClr val="000000"/>
              </a:solidFill>
              <a:effectLst/>
              <a:uFillTx/>
              <a:latin typeface="Arial"/>
            </a:endParaRPr>
          </a:p>
          <a:p>
            <a:pPr algn="ctr" defTabSz="914400">
              <a:lnSpc>
                <a:spcPct val="100000"/>
              </a:lnSpc>
              <a:tabLst>
                <a:tab pos="0" algn="l"/>
              </a:tabLst>
            </a:pPr>
            <a:r>
              <a:rPr lang="en-US" sz="1100" b="1" u="none" strike="noStrike">
                <a:solidFill>
                  <a:srgbClr val="132A4A"/>
                </a:solidFill>
                <a:effectLst/>
                <a:uFillTx/>
                <a:latin typeface="Calibri"/>
                <a:ea typeface="Calibri"/>
              </a:rPr>
              <a:t>Complex Mult.</a:t>
            </a:r>
            <a:endParaRPr lang="en-US" sz="1100" b="0" u="none" strike="noStrike">
              <a:solidFill>
                <a:srgbClr val="000000"/>
              </a:solidFill>
              <a:effectLst/>
              <a:uFillTx/>
              <a:latin typeface="Arial"/>
            </a:endParaRPr>
          </a:p>
        </p:txBody>
      </p:sp>
      <p:sp>
        <p:nvSpPr>
          <p:cNvPr id="1059" name="Shape 14"/>
          <p:cNvSpPr/>
          <p:nvPr/>
        </p:nvSpPr>
        <p:spPr>
          <a:xfrm>
            <a:off x="9390600" y="1983960"/>
            <a:ext cx="265320" cy="360"/>
          </a:xfrm>
          <a:prstGeom prst="line">
            <a:avLst/>
          </a:prstGeom>
          <a:ln w="25400">
            <a:solidFill>
              <a:srgbClr val="0E8388"/>
            </a:solidFill>
            <a:round/>
            <a:tailEnd len="med" type="triangle" w="me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Calibri"/>
            </a:endParaRPr>
          </a:p>
        </p:txBody>
      </p:sp>
      <p:sp>
        <p:nvSpPr>
          <p:cNvPr id="1060" name="Shape 15"/>
          <p:cNvSpPr/>
          <p:nvPr/>
        </p:nvSpPr>
        <p:spPr>
          <a:xfrm>
            <a:off x="9683640" y="1554480"/>
            <a:ext cx="1974600" cy="868320"/>
          </a:xfrm>
          <a:prstGeom prst="roundRect">
            <a:avLst>
              <a:gd name="adj" fmla="val 6316"/>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61" name="Text 16"/>
          <p:cNvSpPr/>
          <p:nvPr/>
        </p:nvSpPr>
        <p:spPr>
          <a:xfrm>
            <a:off x="9729360" y="1554480"/>
            <a:ext cx="188316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32A4A"/>
                </a:solidFill>
                <a:effectLst/>
                <a:uFillTx/>
                <a:latin typeface="Calibri"/>
                <a:ea typeface="Calibri"/>
              </a:rPr>
              <a:t>FFT</a:t>
            </a:r>
            <a:endParaRPr lang="en-US" sz="1100" b="0" u="none" strike="noStrike">
              <a:solidFill>
                <a:srgbClr val="000000"/>
              </a:solidFill>
              <a:effectLst/>
              <a:uFillTx/>
              <a:latin typeface="Arial"/>
            </a:endParaRPr>
          </a:p>
          <a:p>
            <a:pPr algn="ctr" defTabSz="914400">
              <a:lnSpc>
                <a:spcPct val="100000"/>
              </a:lnSpc>
              <a:tabLst>
                <a:tab pos="0" algn="l"/>
              </a:tabLst>
            </a:pPr>
            <a:r>
              <a:rPr lang="en-US" sz="1100" b="1" u="none" strike="noStrike">
                <a:solidFill>
                  <a:srgbClr val="132A4A"/>
                </a:solidFill>
                <a:effectLst/>
                <a:uFillTx/>
                <a:latin typeface="Calibri"/>
                <a:ea typeface="Calibri"/>
              </a:rPr>
              <a:t>Output</a:t>
            </a:r>
            <a:endParaRPr lang="en-US" sz="1100" b="0" u="none" strike="noStrike">
              <a:solidFill>
                <a:srgbClr val="000000"/>
              </a:solidFill>
              <a:effectLst/>
              <a:uFillTx/>
              <a:latin typeface="Arial"/>
            </a:endParaRPr>
          </a:p>
        </p:txBody>
      </p:sp>
      <p:graphicFrame>
        <p:nvGraphicFramePr>
          <p:cNvPr id="1062" name="Table 0"/>
          <p:cNvGraphicFramePr/>
          <p:nvPr/>
        </p:nvGraphicFramePr>
        <p:xfrm>
          <a:off x="502920" y="2743200"/>
          <a:ext cx="11155320" cy="1755360"/>
        </p:xfrm>
        <a:graphic>
          <a:graphicData uri="http://schemas.openxmlformats.org/drawingml/2006/table">
            <a:tbl>
              <a:tblPr/>
              <a:tblGrid>
                <a:gridCol w="4389120"/>
                <a:gridCol w="6766560"/>
              </a:tblGrid>
              <a:tr h="292320">
                <a:tc>
                  <a:txBody>
                    <a:bodyPr tIns="27360" bIns="27360" anchor="ctr">
                      <a:noAutofit/>
                    </a:bodyPr>
                    <a:p>
                      <a:pPr defTabSz="914400">
                        <a:lnSpc>
                          <a:spcPct val="100000"/>
                        </a:lnSpc>
                        <a:tabLst>
                          <a:tab pos="0" algn="l"/>
                        </a:tabLst>
                      </a:pPr>
                      <a:r>
                        <a:rPr lang="en-US" sz="1100" b="1" u="none" strike="noStrike">
                          <a:solidFill>
                            <a:srgbClr val="FFFFFF"/>
                          </a:solidFill>
                          <a:effectLst/>
                          <a:uFillTx/>
                          <a:latin typeface="Calibri"/>
                          <a:ea typeface="Calibri"/>
                        </a:rPr>
                        <a:t>Equation</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defTabSz="914400">
                        <a:lnSpc>
                          <a:spcPct val="100000"/>
                        </a:lnSpc>
                        <a:tabLst>
                          <a:tab pos="0" algn="l"/>
                        </a:tabLst>
                      </a:pPr>
                      <a:r>
                        <a:rPr lang="en-US" sz="1100" b="1" u="none" strike="noStrike">
                          <a:solidFill>
                            <a:srgbClr val="FFFFFF"/>
                          </a:solidFill>
                          <a:effectLst/>
                          <a:uFillTx/>
                          <a:latin typeface="Calibri"/>
                          <a:ea typeface="Calibri"/>
                        </a:rPr>
                        <a:t>RTL / hardware mapping</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292320">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X[k] = sum x[n] W_N^(nk)</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Overall datapath, top to bottom of this diagram</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A = E[k], B = W_N^k O[k]</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Register/wire A; complex multiplier + twiddle ROM produce B</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r h="292320">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X_top = A+B, X_bot = A-B</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Complex adder / subtractor pair inside the butterfly PE</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Bit-reversed index (DIT input, DIF output)</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Address generation unit driving RAM read/write</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r h="292320">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log₂N stages</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Either N/2 PEs pipelined (streaming) or 1 PE reused N/2 log₂N times (burst)</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bl>
          </a:graphicData>
        </a:graphic>
      </p:graphicFrame>
      <p:sp>
        <p:nvSpPr>
          <p:cNvPr id="1063" name="Text 17"/>
          <p:cNvSpPr/>
          <p:nvPr/>
        </p:nvSpPr>
        <p:spPr>
          <a:xfrm>
            <a:off x="502920" y="5760720"/>
            <a:ext cx="11155320" cy="45684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i="1" u="none" strike="noStrike">
                <a:solidFill>
                  <a:srgbClr val="5C6B7A"/>
                </a:solidFill>
                <a:effectLst/>
                <a:uFillTx/>
                <a:latin typeface="Calibri"/>
                <a:ea typeface="Calibri"/>
              </a:rPr>
              <a:t>This deck stays at the conceptual RTL-mapping level; vendor FFT IP cores add configuration for streaming width, radix mixing, and scaling on top of the same underlying algorithm.</a:t>
            </a:r>
            <a:endParaRPr lang="en-US" sz="1300" b="0" u="none" strike="noStrike">
              <a:solidFill>
                <a:srgbClr val="000000"/>
              </a:solidFill>
              <a:effectLst/>
              <a:uFillTx/>
              <a:latin typeface="Arial"/>
            </a:endParaRPr>
          </a:p>
        </p:txBody>
      </p:sp>
      <p:sp>
        <p:nvSpPr>
          <p:cNvPr id="1064" name="Shape 18"/>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1065" name="Shape 19"/>
          <p:cNvSpPr/>
          <p:nvPr/>
        </p:nvSpPr>
        <p:spPr>
          <a:xfrm>
            <a:off x="502920" y="6473880"/>
            <a:ext cx="876492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1066" name="Text 20"/>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000000"/>
              </a:solidFill>
              <a:effectLst/>
              <a:uFillTx/>
              <a:latin typeface="Arial"/>
            </a:endParaRPr>
          </a:p>
        </p:txBody>
      </p:sp>
      <p:sp>
        <p:nvSpPr>
          <p:cNvPr id="1067" name="Text 21"/>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Math to Hardware     33</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1068"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5 · FFT32 RTL DESIGN</a:t>
            </a:r>
            <a:endParaRPr lang="en-US" sz="1150" b="0" u="none" strike="noStrike">
              <a:solidFill>
                <a:srgbClr val="000000"/>
              </a:solidFill>
              <a:effectLst/>
              <a:uFillTx/>
              <a:latin typeface="Arial"/>
            </a:endParaRPr>
          </a:p>
        </p:txBody>
      </p:sp>
      <p:sp>
        <p:nvSpPr>
          <p:cNvPr id="1069"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Scaling the Design: From FFT8 to FFT32</a:t>
            </a:r>
            <a:endParaRPr lang="en-US" sz="2600" b="0" u="none" strike="noStrike">
              <a:solidFill>
                <a:srgbClr val="000000"/>
              </a:solidFill>
              <a:effectLst/>
              <a:uFillTx/>
              <a:latin typeface="Arial"/>
            </a:endParaRPr>
          </a:p>
        </p:txBody>
      </p:sp>
      <p:sp>
        <p:nvSpPr>
          <p:cNvPr id="1070" name="Text 2"/>
          <p:cNvSpPr/>
          <p:nvPr/>
        </p:nvSpPr>
        <p:spPr>
          <a:xfrm>
            <a:off x="502920" y="1188720"/>
            <a:ext cx="11155320" cy="50256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Every equation, symmetry, and hardware block from Sections 2 to 4 carries over unchanged. Only N changes, from 8 to 32, which changes the stage count, twiddle set, and butterfly count.</a:t>
            </a:r>
            <a:endParaRPr lang="en-US" sz="1300" b="0" u="none" strike="noStrike">
              <a:solidFill>
                <a:srgbClr val="000000"/>
              </a:solidFill>
              <a:effectLst/>
              <a:uFillTx/>
              <a:latin typeface="Arial"/>
            </a:endParaRPr>
          </a:p>
        </p:txBody>
      </p:sp>
      <p:graphicFrame>
        <p:nvGraphicFramePr>
          <p:cNvPr id="1071" name="Table 0"/>
          <p:cNvGraphicFramePr/>
          <p:nvPr/>
        </p:nvGraphicFramePr>
        <p:xfrm>
          <a:off x="502920" y="1828800"/>
          <a:ext cx="11155320" cy="1755360"/>
        </p:xfrm>
        <a:graphic>
          <a:graphicData uri="http://schemas.openxmlformats.org/drawingml/2006/table">
            <a:tbl>
              <a:tblPr/>
              <a:tblGrid>
                <a:gridCol w="2788920"/>
                <a:gridCol w="2788920"/>
                <a:gridCol w="2788920"/>
                <a:gridCol w="2788920"/>
              </a:tblGrid>
              <a:tr h="292320">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Quantity</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Formula</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N=8</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N=32</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Stages</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log₂N</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3</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5</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Butterflies / stage</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N/2</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16</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Total butterflies</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(N/2) log₂N</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12</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80</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Distinct twiddle factors</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N/2 (by symmetry)</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16</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Genuine complex mults</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roughly (N/2)log₂N minus trivial</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2</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34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bl>
          </a:graphicData>
        </a:graphic>
      </p:graphicFrame>
      <p:sp>
        <p:nvSpPr>
          <p:cNvPr id="1072" name="Shape 3"/>
          <p:cNvSpPr/>
          <p:nvPr/>
        </p:nvSpPr>
        <p:spPr>
          <a:xfrm>
            <a:off x="502920" y="4160520"/>
            <a:ext cx="11155320" cy="1737000"/>
          </a:xfrm>
          <a:prstGeom prst="roundRect">
            <a:avLst>
              <a:gd name="adj" fmla="val 3158"/>
            </a:avLst>
          </a:prstGeom>
          <a:solidFill>
            <a:srgbClr val="E4F3F2"/>
          </a:solidFill>
          <a:ln w="12700">
            <a:solidFill>
              <a:srgbClr val="9FD4D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73" name="Text 4"/>
          <p:cNvSpPr/>
          <p:nvPr/>
        </p:nvSpPr>
        <p:spPr>
          <a:xfrm>
            <a:off x="731520" y="4297680"/>
            <a:ext cx="10698120" cy="146268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N=32 is still a power of 2 (2^5), so the same radix-2 decimation recursion (DIT or DIF) applies: 32 -&gt; 16+16 -&gt; ... -&gt; thirty-two trivial 1-point DFTs, five levels deep. The bit-reversal permutation now reverses 5-bit indices instead of 3-bit indices, and the flow graph gains two more columns of butterflies, each still with N/2 = 16 butterflies. The design decisions that matter at this larger size are fixed-point word length, bit growth across five stages instead of three, and which RTL architecture to build, covered on the following slides.</a:t>
            </a:r>
            <a:endParaRPr lang="en-US" sz="1300" b="0" u="none" strike="noStrike">
              <a:solidFill>
                <a:srgbClr val="000000"/>
              </a:solidFill>
              <a:effectLst/>
              <a:uFillTx/>
              <a:latin typeface="Arial"/>
            </a:endParaRPr>
          </a:p>
        </p:txBody>
      </p:sp>
      <p:sp>
        <p:nvSpPr>
          <p:cNvPr id="1074" name="Shape 5"/>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1075" name="Shape 6"/>
          <p:cNvSpPr/>
          <p:nvPr/>
        </p:nvSpPr>
        <p:spPr>
          <a:xfrm>
            <a:off x="502920" y="6473880"/>
            <a:ext cx="903060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1076" name="Text 7"/>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000000"/>
              </a:solidFill>
              <a:effectLst/>
              <a:uFillTx/>
              <a:latin typeface="Arial"/>
            </a:endParaRPr>
          </a:p>
        </p:txBody>
      </p:sp>
      <p:sp>
        <p:nvSpPr>
          <p:cNvPr id="1077" name="Text 8"/>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FFT32 RTL Design     34</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1078"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5 · FFT32 RTL DESIGN</a:t>
            </a:r>
            <a:endParaRPr lang="en-US" sz="1150" b="0" u="none" strike="noStrike">
              <a:solidFill>
                <a:srgbClr val="000000"/>
              </a:solidFill>
              <a:effectLst/>
              <a:uFillTx/>
              <a:latin typeface="Arial"/>
            </a:endParaRPr>
          </a:p>
        </p:txBody>
      </p:sp>
      <p:sp>
        <p:nvSpPr>
          <p:cNvPr id="1079"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Fixed-Point Representation for FFT32</a:t>
            </a:r>
            <a:endParaRPr lang="en-US" sz="2600" b="0" u="none" strike="noStrike">
              <a:solidFill>
                <a:srgbClr val="000000"/>
              </a:solidFill>
              <a:effectLst/>
              <a:uFillTx/>
              <a:latin typeface="Arial"/>
            </a:endParaRPr>
          </a:p>
        </p:txBody>
      </p:sp>
      <p:graphicFrame>
        <p:nvGraphicFramePr>
          <p:cNvPr id="1080" name="Table 0"/>
          <p:cNvGraphicFramePr/>
          <p:nvPr/>
        </p:nvGraphicFramePr>
        <p:xfrm>
          <a:off x="502920" y="1234440"/>
          <a:ext cx="11155320" cy="1755360"/>
        </p:xfrm>
        <a:graphic>
          <a:graphicData uri="http://schemas.openxmlformats.org/drawingml/2006/table">
            <a:tbl>
              <a:tblPr/>
              <a:tblGrid>
                <a:gridCol w="2743200"/>
                <a:gridCol w="8412480"/>
              </a:tblGrid>
              <a:tr h="292320">
                <a:tc>
                  <a:txBody>
                    <a:bodyPr tIns="27360" bIns="27360" anchor="ctr">
                      <a:noAutofit/>
                    </a:bodyPr>
                    <a:p>
                      <a:pPr defTabSz="914400">
                        <a:lnSpc>
                          <a:spcPct val="100000"/>
                        </a:lnSpc>
                        <a:tabLst>
                          <a:tab pos="0" algn="l"/>
                        </a:tabLst>
                      </a:pPr>
                      <a:r>
                        <a:rPr lang="en-US" sz="1100" b="1" u="none" strike="noStrike">
                          <a:solidFill>
                            <a:srgbClr val="FFFFFF"/>
                          </a:solidFill>
                          <a:effectLst/>
                          <a:uFillTx/>
                          <a:latin typeface="Calibri"/>
                          <a:ea typeface="Calibri"/>
                        </a:rPr>
                        <a:t>Concern</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defTabSz="914400">
                        <a:lnSpc>
                          <a:spcPct val="100000"/>
                        </a:lnSpc>
                        <a:tabLst>
                          <a:tab pos="0" algn="l"/>
                        </a:tabLst>
                      </a:pPr>
                      <a:r>
                        <a:rPr lang="en-US" sz="1100" b="1" u="none" strike="noStrike">
                          <a:solidFill>
                            <a:srgbClr val="FFFFFF"/>
                          </a:solidFill>
                          <a:effectLst/>
                          <a:uFillTx/>
                          <a:latin typeface="Calibri"/>
                          <a:ea typeface="Calibri"/>
                        </a:rPr>
                        <a:t>What it means for FFT32</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292320">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Quantization</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Input samples and W32 twiddle values are stored with a finite number of bits, introducing small rounding errors</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Dynamic range</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Signal magnitude can grow across all 5 stages; word length must cover the largest value that can occur</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r h="292320">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Bit growth</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Each complex addition can grow the required word length by up to 1 bit, across 5 stages instead of 3</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Overflow</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If word length is not grown or scaled, sums wrap around and corrupt the result</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r h="292320">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Rounding / saturation</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After each multiply, results are rounded or truncated back to a fixed word length</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bl>
          </a:graphicData>
        </a:graphic>
      </p:graphicFrame>
      <p:sp>
        <p:nvSpPr>
          <p:cNvPr id="1081" name="Shape 2"/>
          <p:cNvSpPr/>
          <p:nvPr/>
        </p:nvSpPr>
        <p:spPr>
          <a:xfrm>
            <a:off x="502920" y="4526280"/>
            <a:ext cx="11155320" cy="1416960"/>
          </a:xfrm>
          <a:prstGeom prst="roundRect">
            <a:avLst>
              <a:gd name="adj" fmla="val 3871"/>
            </a:avLst>
          </a:prstGeom>
          <a:solidFill>
            <a:srgbClr val="132A4A"/>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82" name="Text 3"/>
          <p:cNvSpPr/>
          <p:nvPr/>
        </p:nvSpPr>
        <p:spPr>
          <a:xfrm>
            <a:off x="731520" y="4663440"/>
            <a:ext cx="10698120" cy="1188360"/>
          </a:xfrm>
          <a:prstGeom prst="rect">
            <a:avLst/>
          </a:prstGeom>
          <a:noFill/>
          <a:ln w="0">
            <a:noFill/>
          </a:ln>
        </p:spPr>
        <p:style>
          <a:lnRef idx="0"/>
          <a:fillRef idx="0"/>
          <a:effectRef idx="0"/>
          <a:fontRef idx="minor"/>
        </p:style>
        <p:txBody>
          <a:bodyPr lIns="90000" tIns="45000" rIns="90000" bIns="45000" anchor="ctr">
            <a:noAutofit/>
          </a:bodyPr>
          <a:p>
            <a:pPr defTabSz="914400">
              <a:lnSpc>
                <a:spcPct val="125000"/>
              </a:lnSpc>
              <a:tabLst>
                <a:tab pos="0" algn="l"/>
              </a:tabLst>
            </a:pPr>
            <a:r>
              <a:rPr lang="en-US" sz="1300" b="1" u="none" strike="noStrike">
                <a:solidFill>
                  <a:srgbClr val="9FD4D1"/>
                </a:solidFill>
                <a:effectLst/>
                <a:uFillTx/>
                <a:latin typeface="Calibri"/>
              </a:rPr>
              <a:t>A common FFT32 choice:  </a:t>
            </a:r>
            <a:r>
              <a:rPr lang="en-US" sz="1300" b="0" u="none" strike="noStrike">
                <a:solidFill>
                  <a:srgbClr val="FFFFFF"/>
                </a:solidFill>
                <a:effectLst/>
                <a:uFillTx/>
                <a:latin typeface="Calibri"/>
              </a:rPr>
              <a:t>16-bit fixed-point, Q1.15 format (1 sign bit, 15 fractional bits), inputs pre-scaled to fit in [-1, 1). Twiddle ROM stores W32 values in the same Q1.15 format.</a:t>
            </a:r>
            <a:endParaRPr lang="en-US" sz="1300" b="0" u="none" strike="noStrike">
              <a:solidFill>
                <a:srgbClr val="000000"/>
              </a:solidFill>
              <a:effectLst/>
              <a:uFillTx/>
              <a:latin typeface="Arial"/>
            </a:endParaRPr>
          </a:p>
        </p:txBody>
      </p:sp>
      <p:sp>
        <p:nvSpPr>
          <p:cNvPr id="1083" name="Shape 4"/>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1084" name="Shape 5"/>
          <p:cNvSpPr/>
          <p:nvPr/>
        </p:nvSpPr>
        <p:spPr>
          <a:xfrm>
            <a:off x="502920" y="6473880"/>
            <a:ext cx="929592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1085" name="Text 6"/>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000000"/>
              </a:solidFill>
              <a:effectLst/>
              <a:uFillTx/>
              <a:latin typeface="Arial"/>
            </a:endParaRPr>
          </a:p>
        </p:txBody>
      </p:sp>
      <p:sp>
        <p:nvSpPr>
          <p:cNvPr id="1086" name="Text 7"/>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FFT32 RTL Design     35</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1087"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5 · FFT32 RTL DESIGN</a:t>
            </a:r>
            <a:endParaRPr lang="en-US" sz="1150" b="0" u="none" strike="noStrike">
              <a:solidFill>
                <a:srgbClr val="000000"/>
              </a:solidFill>
              <a:effectLst/>
              <a:uFillTx/>
              <a:latin typeface="Arial"/>
            </a:endParaRPr>
          </a:p>
        </p:txBody>
      </p:sp>
      <p:sp>
        <p:nvSpPr>
          <p:cNvPr id="1088"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Bit Growth Across the 5 Stages</a:t>
            </a:r>
            <a:endParaRPr lang="en-US" sz="2600" b="0" u="none" strike="noStrike">
              <a:solidFill>
                <a:srgbClr val="000000"/>
              </a:solidFill>
              <a:effectLst/>
              <a:uFillTx/>
              <a:latin typeface="Arial"/>
            </a:endParaRPr>
          </a:p>
        </p:txBody>
      </p:sp>
      <p:sp>
        <p:nvSpPr>
          <p:cNvPr id="1089" name="Shape 2"/>
          <p:cNvSpPr/>
          <p:nvPr/>
        </p:nvSpPr>
        <p:spPr>
          <a:xfrm>
            <a:off x="502920" y="1234440"/>
            <a:ext cx="5211720" cy="776880"/>
          </a:xfrm>
          <a:prstGeom prst="roundRect">
            <a:avLst>
              <a:gd name="adj" fmla="val 7059"/>
            </a:avLst>
          </a:prstGeom>
          <a:solidFill>
            <a:srgbClr val="132A4A"/>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90" name="Text 3"/>
          <p:cNvSpPr/>
          <p:nvPr/>
        </p:nvSpPr>
        <p:spPr>
          <a:xfrm>
            <a:off x="502920" y="1234440"/>
            <a:ext cx="5211720" cy="7768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mbria"/>
                <a:ea typeface="Cambria"/>
              </a:rPr>
              <a:t>a, b ∈ [-2</a:t>
            </a:r>
            <a:r>
              <a:rPr lang="en-US" sz="1300" b="1" u="none" strike="noStrike" baseline="30000">
                <a:solidFill>
                  <a:srgbClr val="FFFFFF"/>
                </a:solidFill>
                <a:effectLst/>
                <a:uFillTx/>
                <a:latin typeface="Cambria"/>
                <a:ea typeface="Cambria"/>
              </a:rPr>
              <a:t>15</a:t>
            </a:r>
            <a:r>
              <a:rPr lang="en-US" sz="1300" b="1" u="none" strike="noStrike">
                <a:solidFill>
                  <a:srgbClr val="FFFFFF"/>
                </a:solidFill>
                <a:effectLst/>
                <a:uFillTx/>
                <a:latin typeface="Cambria"/>
                <a:ea typeface="Cambria"/>
              </a:rPr>
              <a:t>, 2</a:t>
            </a:r>
            <a:r>
              <a:rPr lang="en-US" sz="1300" b="1" u="none" strike="noStrike" baseline="30000">
                <a:solidFill>
                  <a:srgbClr val="FFFFFF"/>
                </a:solidFill>
                <a:effectLst/>
                <a:uFillTx/>
                <a:latin typeface="Cambria"/>
                <a:ea typeface="Cambria"/>
              </a:rPr>
              <a:t>15</a:t>
            </a:r>
            <a:r>
              <a:rPr lang="en-US" sz="1300" b="1" u="none" strike="noStrike">
                <a:solidFill>
                  <a:srgbClr val="FFFFFF"/>
                </a:solidFill>
                <a:effectLst/>
                <a:uFillTx/>
                <a:latin typeface="Cambria"/>
                <a:ea typeface="Cambria"/>
              </a:rPr>
              <a:t>-1]  →  a+b needs 17 bits</a:t>
            </a:r>
            <a:endParaRPr lang="en-US" sz="1300" b="0" u="none" strike="noStrike">
              <a:solidFill>
                <a:srgbClr val="000000"/>
              </a:solidFill>
              <a:effectLst/>
              <a:uFillTx/>
              <a:latin typeface="Arial"/>
            </a:endParaRPr>
          </a:p>
        </p:txBody>
      </p:sp>
      <p:sp>
        <p:nvSpPr>
          <p:cNvPr id="1091" name="Text 4"/>
          <p:cNvSpPr/>
          <p:nvPr/>
        </p:nvSpPr>
        <p:spPr>
          <a:xfrm>
            <a:off x="502920" y="2148840"/>
            <a:ext cx="5211720" cy="73116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Every butterfly addition can add 1 bit of headroom in the worst case. Left unmanaged, this accumulates across all 5 stages of FFT32.</a:t>
            </a:r>
            <a:endParaRPr lang="en-US" sz="1300" b="0" u="none" strike="noStrike">
              <a:solidFill>
                <a:srgbClr val="000000"/>
              </a:solidFill>
              <a:effectLst/>
              <a:uFillTx/>
              <a:latin typeface="Arial"/>
            </a:endParaRPr>
          </a:p>
        </p:txBody>
      </p:sp>
      <p:graphicFrame>
        <p:nvGraphicFramePr>
          <p:cNvPr id="1092" name="Table 0"/>
          <p:cNvGraphicFramePr/>
          <p:nvPr/>
        </p:nvGraphicFramePr>
        <p:xfrm>
          <a:off x="502920" y="3063240"/>
          <a:ext cx="5211720" cy="1755360"/>
        </p:xfrm>
        <a:graphic>
          <a:graphicData uri="http://schemas.openxmlformats.org/drawingml/2006/table">
            <a:tbl>
              <a:tblPr/>
              <a:tblGrid>
                <a:gridCol w="1737360"/>
                <a:gridCol w="1737360"/>
                <a:gridCol w="1737360"/>
              </a:tblGrid>
              <a:tr h="292320">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Stage</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Input width</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Worst-case output width</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16 bits</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17 bits</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2</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17 bits</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18 bits</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3</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18 bits</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19 bits</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4</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19 bits</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20 bits</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r h="292320">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5</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20 bits</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algn="ctr" defTabSz="914400">
                        <a:lnSpc>
                          <a:spcPct val="100000"/>
                        </a:lnSpc>
                        <a:tabLst>
                          <a:tab pos="0" algn="l"/>
                        </a:tabLst>
                      </a:pPr>
                      <a:r>
                        <a:rPr lang="en-US" sz="1100" b="0" u="none" strike="noStrike">
                          <a:solidFill>
                            <a:srgbClr val="16202E"/>
                          </a:solidFill>
                          <a:effectLst/>
                          <a:uFillTx/>
                          <a:latin typeface="Calibri"/>
                          <a:ea typeface="Calibri"/>
                        </a:rPr>
                        <a:t>21 bits</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bl>
          </a:graphicData>
        </a:graphic>
      </p:graphicFrame>
      <p:sp>
        <p:nvSpPr>
          <p:cNvPr id="1093" name="Shape 5"/>
          <p:cNvSpPr/>
          <p:nvPr/>
        </p:nvSpPr>
        <p:spPr>
          <a:xfrm>
            <a:off x="6446520" y="1234440"/>
            <a:ext cx="4937400" cy="5028840"/>
          </a:xfrm>
          <a:prstGeom prst="roundRect">
            <a:avLst>
              <a:gd name="adj" fmla="val 1111"/>
            </a:avLst>
          </a:prstGeom>
          <a:solidFill>
            <a:srgbClr val="FFFFFF"/>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graphicFrame>
        <p:nvGraphicFramePr>
          <p:cNvPr id="1094" name="Chart 0"/>
          <p:cNvGraphicFramePr/>
          <p:nvPr/>
        </p:nvGraphicFramePr>
        <p:xfrm>
          <a:off x="6537960" y="1280160"/>
          <a:ext cx="4754520" cy="2148480"/>
        </p:xfrm>
        <a:graphic>
          <a:graphicData uri="http://schemas.openxmlformats.org/drawingml/2006/chart">
            <c:chart xmlns:c="http://schemas.openxmlformats.org/drawingml/2006/chart" xmlns:r="http://schemas.openxmlformats.org/officeDocument/2006/relationships" r:id="rId1"/>
          </a:graphicData>
        </a:graphic>
      </p:graphicFrame>
      <p:sp>
        <p:nvSpPr>
          <p:cNvPr id="1095" name="Text 6"/>
          <p:cNvSpPr/>
          <p:nvPr/>
        </p:nvSpPr>
        <p:spPr>
          <a:xfrm>
            <a:off x="6629400" y="3520440"/>
            <a:ext cx="4571640" cy="26971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100" b="0" u="none" strike="noStrike">
                <a:solidFill>
                  <a:srgbClr val="16202E"/>
                </a:solidFill>
                <a:effectLst/>
                <a:uFillTx/>
                <a:latin typeface="Calibri"/>
                <a:ea typeface="Calibri"/>
              </a:rPr>
              <a:t>Without scaling, an FFT32 datapath sized purely for worst-case growth needs up to 5 extra guard bits beyond the input width, 21 bits instead of 16.</a:t>
            </a:r>
            <a:endParaRPr lang="en-US" sz="1100" b="0" u="none" strike="noStrike">
              <a:solidFill>
                <a:srgbClr val="000000"/>
              </a:solidFill>
              <a:effectLst/>
              <a:uFillTx/>
              <a:latin typeface="Arial"/>
            </a:endParaRPr>
          </a:p>
          <a:p>
            <a:pPr defTabSz="914400">
              <a:lnSpc>
                <a:spcPct val="118000"/>
              </a:lnSpc>
              <a:tabLst>
                <a:tab pos="0" algn="l"/>
              </a:tabLst>
            </a:pPr>
            <a:endParaRPr lang="en-US" sz="1100" b="0" u="none" strike="noStrike">
              <a:solidFill>
                <a:srgbClr val="000000"/>
              </a:solidFill>
              <a:effectLst/>
              <a:uFillTx/>
              <a:latin typeface="Arial"/>
            </a:endParaRPr>
          </a:p>
          <a:p>
            <a:pPr defTabSz="914400">
              <a:lnSpc>
                <a:spcPct val="118000"/>
              </a:lnSpc>
              <a:tabLst>
                <a:tab pos="0" algn="l"/>
              </a:tabLst>
            </a:pPr>
            <a:r>
              <a:rPr lang="en-US" sz="1100" b="0" u="none" strike="noStrike">
                <a:solidFill>
                  <a:srgbClr val="16202E"/>
                </a:solidFill>
                <a:effectLst/>
                <a:uFillTx/>
                <a:latin typeface="Calibri"/>
                <a:ea typeface="Calibri"/>
              </a:rPr>
              <a:t>This is rarely implemented directly: real signals almost never hit the worst case at every stage simultaneously, and 5 extra bits of multiplier and adder width is expensive in area and power.</a:t>
            </a:r>
            <a:endParaRPr lang="en-US" sz="1100" b="0" u="none" strike="noStrike">
              <a:solidFill>
                <a:srgbClr val="000000"/>
              </a:solidFill>
              <a:effectLst/>
              <a:uFillTx/>
              <a:latin typeface="Arial"/>
            </a:endParaRPr>
          </a:p>
          <a:p>
            <a:pPr defTabSz="914400">
              <a:lnSpc>
                <a:spcPct val="118000"/>
              </a:lnSpc>
              <a:tabLst>
                <a:tab pos="0" algn="l"/>
              </a:tabLst>
            </a:pPr>
            <a:endParaRPr lang="en-US" sz="1100" b="0" u="none" strike="noStrike">
              <a:solidFill>
                <a:srgbClr val="000000"/>
              </a:solidFill>
              <a:effectLst/>
              <a:uFillTx/>
              <a:latin typeface="Arial"/>
            </a:endParaRPr>
          </a:p>
          <a:p>
            <a:pPr defTabSz="914400">
              <a:lnSpc>
                <a:spcPct val="118000"/>
              </a:lnSpc>
              <a:tabLst>
                <a:tab pos="0" algn="l"/>
              </a:tabLst>
            </a:pPr>
            <a:r>
              <a:rPr lang="en-US" sz="1100" b="0" u="none" strike="noStrike">
                <a:solidFill>
                  <a:srgbClr val="16202E"/>
                </a:solidFill>
                <a:effectLst/>
                <a:uFillTx/>
                <a:latin typeface="Calibri"/>
                <a:ea typeface="Calibri"/>
              </a:rPr>
              <a:t>The scaling strategies on the next slide (block scaling, stage scaling, saturation, guard bits) are exactly how real FFT32 RTL designs avoid paying for this worst-case width at every stage while still guaranteeing no overflow.</a:t>
            </a:r>
            <a:endParaRPr lang="en-US" sz="1100" b="0" u="none" strike="noStrike">
              <a:solidFill>
                <a:srgbClr val="000000"/>
              </a:solidFill>
              <a:effectLst/>
              <a:uFillTx/>
              <a:latin typeface="Arial"/>
            </a:endParaRPr>
          </a:p>
        </p:txBody>
      </p:sp>
      <p:sp>
        <p:nvSpPr>
          <p:cNvPr id="1096" name="Shape 7"/>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1097" name="Shape 8"/>
          <p:cNvSpPr/>
          <p:nvPr/>
        </p:nvSpPr>
        <p:spPr>
          <a:xfrm>
            <a:off x="502920" y="6473880"/>
            <a:ext cx="956160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1098" name="Text 9"/>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000000"/>
              </a:solidFill>
              <a:effectLst/>
              <a:uFillTx/>
              <a:latin typeface="Arial"/>
            </a:endParaRPr>
          </a:p>
        </p:txBody>
      </p:sp>
      <p:sp>
        <p:nvSpPr>
          <p:cNvPr id="1099" name="Text 10"/>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FFT32 RTL Design     36</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1100"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5 · FFT32 RTL DESIGN</a:t>
            </a:r>
            <a:endParaRPr lang="en-US" sz="1150" b="0" u="none" strike="noStrike">
              <a:solidFill>
                <a:srgbClr val="000000"/>
              </a:solidFill>
              <a:effectLst/>
              <a:uFillTx/>
              <a:latin typeface="Arial"/>
            </a:endParaRPr>
          </a:p>
        </p:txBody>
      </p:sp>
      <p:sp>
        <p:nvSpPr>
          <p:cNvPr id="1101"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Scaling Strategies for FFT32</a:t>
            </a:r>
            <a:endParaRPr lang="en-US" sz="2600" b="0" u="none" strike="noStrike">
              <a:solidFill>
                <a:srgbClr val="000000"/>
              </a:solidFill>
              <a:effectLst/>
              <a:uFillTx/>
              <a:latin typeface="Arial"/>
            </a:endParaRPr>
          </a:p>
        </p:txBody>
      </p:sp>
      <p:sp>
        <p:nvSpPr>
          <p:cNvPr id="1102" name="Shape 2"/>
          <p:cNvSpPr/>
          <p:nvPr/>
        </p:nvSpPr>
        <p:spPr>
          <a:xfrm>
            <a:off x="502920" y="1280160"/>
            <a:ext cx="11155320" cy="1170000"/>
          </a:xfrm>
          <a:prstGeom prst="roundRect">
            <a:avLst>
              <a:gd name="adj" fmla="val 4688"/>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03" name="Text 3"/>
          <p:cNvSpPr/>
          <p:nvPr/>
        </p:nvSpPr>
        <p:spPr>
          <a:xfrm>
            <a:off x="685800" y="1389960"/>
            <a:ext cx="1078956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Block scaling</a:t>
            </a:r>
            <a:endParaRPr lang="en-US" sz="1100" b="0" u="none" strike="noStrike">
              <a:solidFill>
                <a:srgbClr val="000000"/>
              </a:solidFill>
              <a:effectLst/>
              <a:uFillTx/>
              <a:latin typeface="Arial"/>
            </a:endParaRPr>
          </a:p>
        </p:txBody>
      </p:sp>
      <p:sp>
        <p:nvSpPr>
          <p:cNvPr id="1104" name="Text 4"/>
          <p:cNvSpPr/>
          <p:nvPr/>
        </p:nvSpPr>
        <p:spPr>
          <a:xfrm>
            <a:off x="685800" y="1719000"/>
            <a:ext cx="10789560" cy="62136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Scale the whole 32-point data block once, before or after the transform. Simple to control, but needs a full pass to find the scale factor.</a:t>
            </a:r>
            <a:endParaRPr lang="en-US" sz="1300" b="0" u="none" strike="noStrike">
              <a:solidFill>
                <a:srgbClr val="000000"/>
              </a:solidFill>
              <a:effectLst/>
              <a:uFillTx/>
              <a:latin typeface="Arial"/>
            </a:endParaRPr>
          </a:p>
        </p:txBody>
      </p:sp>
      <p:sp>
        <p:nvSpPr>
          <p:cNvPr id="1105" name="Shape 5"/>
          <p:cNvSpPr/>
          <p:nvPr/>
        </p:nvSpPr>
        <p:spPr>
          <a:xfrm>
            <a:off x="502920" y="2578680"/>
            <a:ext cx="11155320" cy="1170000"/>
          </a:xfrm>
          <a:prstGeom prst="roundRect">
            <a:avLst>
              <a:gd name="adj" fmla="val 4688"/>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06" name="Text 6"/>
          <p:cNvSpPr/>
          <p:nvPr/>
        </p:nvSpPr>
        <p:spPr>
          <a:xfrm>
            <a:off x="685800" y="2688480"/>
            <a:ext cx="1078956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Stage scaling (block floating-point)</a:t>
            </a:r>
            <a:endParaRPr lang="en-US" sz="1100" b="0" u="none" strike="noStrike">
              <a:solidFill>
                <a:srgbClr val="000000"/>
              </a:solidFill>
              <a:effectLst/>
              <a:uFillTx/>
              <a:latin typeface="Arial"/>
            </a:endParaRPr>
          </a:p>
        </p:txBody>
      </p:sp>
      <p:sp>
        <p:nvSpPr>
          <p:cNvPr id="1107" name="Text 7"/>
          <p:cNvSpPr/>
          <p:nvPr/>
        </p:nvSpPr>
        <p:spPr>
          <a:xfrm>
            <a:off x="685800" y="3017520"/>
            <a:ext cx="10789560" cy="62136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Divide by 2, a free right-shift, after every stage to bound growth. Common choice for FFT32: keeps word length constant at 16 bits across all 5 stages.</a:t>
            </a:r>
            <a:endParaRPr lang="en-US" sz="1300" b="0" u="none" strike="noStrike">
              <a:solidFill>
                <a:srgbClr val="000000"/>
              </a:solidFill>
              <a:effectLst/>
              <a:uFillTx/>
              <a:latin typeface="Arial"/>
            </a:endParaRPr>
          </a:p>
        </p:txBody>
      </p:sp>
      <p:sp>
        <p:nvSpPr>
          <p:cNvPr id="1108" name="Shape 8"/>
          <p:cNvSpPr/>
          <p:nvPr/>
        </p:nvSpPr>
        <p:spPr>
          <a:xfrm>
            <a:off x="502920" y="3877200"/>
            <a:ext cx="11155320" cy="1170000"/>
          </a:xfrm>
          <a:prstGeom prst="roundRect">
            <a:avLst>
              <a:gd name="adj" fmla="val 4688"/>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09" name="Text 9"/>
          <p:cNvSpPr/>
          <p:nvPr/>
        </p:nvSpPr>
        <p:spPr>
          <a:xfrm>
            <a:off x="685800" y="3986640"/>
            <a:ext cx="1078956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Saturation</a:t>
            </a:r>
            <a:endParaRPr lang="en-US" sz="1100" b="0" u="none" strike="noStrike">
              <a:solidFill>
                <a:srgbClr val="000000"/>
              </a:solidFill>
              <a:effectLst/>
              <a:uFillTx/>
              <a:latin typeface="Arial"/>
            </a:endParaRPr>
          </a:p>
        </p:txBody>
      </p:sp>
      <p:sp>
        <p:nvSpPr>
          <p:cNvPr id="1110" name="Text 10"/>
          <p:cNvSpPr/>
          <p:nvPr/>
        </p:nvSpPr>
        <p:spPr>
          <a:xfrm>
            <a:off x="685800" y="4316040"/>
            <a:ext cx="10789560" cy="62136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Clip rather than wrap on overflow, trading a bounded error for guaranteed stability. Used as a safety net alongside scaling.</a:t>
            </a:r>
            <a:endParaRPr lang="en-US" sz="1300" b="0" u="none" strike="noStrike">
              <a:solidFill>
                <a:srgbClr val="000000"/>
              </a:solidFill>
              <a:effectLst/>
              <a:uFillTx/>
              <a:latin typeface="Arial"/>
            </a:endParaRPr>
          </a:p>
        </p:txBody>
      </p:sp>
      <p:sp>
        <p:nvSpPr>
          <p:cNvPr id="1111" name="Shape 11"/>
          <p:cNvSpPr/>
          <p:nvPr/>
        </p:nvSpPr>
        <p:spPr>
          <a:xfrm>
            <a:off x="502920" y="5175360"/>
            <a:ext cx="11155320" cy="1170000"/>
          </a:xfrm>
          <a:prstGeom prst="roundRect">
            <a:avLst>
              <a:gd name="adj" fmla="val 4688"/>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12" name="Text 12"/>
          <p:cNvSpPr/>
          <p:nvPr/>
        </p:nvSpPr>
        <p:spPr>
          <a:xfrm>
            <a:off x="685800" y="5285160"/>
            <a:ext cx="1078956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0E8388"/>
                </a:solidFill>
                <a:effectLst/>
                <a:uFillTx/>
                <a:latin typeface="Calibri"/>
                <a:ea typeface="Calibri"/>
              </a:rPr>
              <a:t>Guard bits</a:t>
            </a:r>
            <a:endParaRPr lang="en-US" sz="1100" b="0" u="none" strike="noStrike">
              <a:solidFill>
                <a:srgbClr val="000000"/>
              </a:solidFill>
              <a:effectLst/>
              <a:uFillTx/>
              <a:latin typeface="Arial"/>
            </a:endParaRPr>
          </a:p>
        </p:txBody>
      </p:sp>
      <p:sp>
        <p:nvSpPr>
          <p:cNvPr id="1113" name="Text 13"/>
          <p:cNvSpPr/>
          <p:nvPr/>
        </p:nvSpPr>
        <p:spPr>
          <a:xfrm>
            <a:off x="685800" y="5614560"/>
            <a:ext cx="10789560" cy="62136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16202E"/>
                </a:solidFill>
                <a:effectLst/>
                <a:uFillTx/>
                <a:latin typeface="Calibri"/>
                <a:ea typeface="Calibri"/>
              </a:rPr>
              <a:t>Carry a few extra fractional/integer bits through the pipeline and truncate only at the end. Trades area for accuracy without per-stage rescaling.</a:t>
            </a:r>
            <a:endParaRPr lang="en-US" sz="1300" b="0" u="none" strike="noStrike">
              <a:solidFill>
                <a:srgbClr val="000000"/>
              </a:solidFill>
              <a:effectLst/>
              <a:uFillTx/>
              <a:latin typeface="Arial"/>
            </a:endParaRPr>
          </a:p>
        </p:txBody>
      </p:sp>
      <p:sp>
        <p:nvSpPr>
          <p:cNvPr id="1114" name="Shape 14"/>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1115" name="Shape 15"/>
          <p:cNvSpPr/>
          <p:nvPr/>
        </p:nvSpPr>
        <p:spPr>
          <a:xfrm>
            <a:off x="502920" y="6473880"/>
            <a:ext cx="982728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1116" name="Text 16"/>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000000"/>
              </a:solidFill>
              <a:effectLst/>
              <a:uFillTx/>
              <a:latin typeface="Arial"/>
            </a:endParaRPr>
          </a:p>
        </p:txBody>
      </p:sp>
      <p:sp>
        <p:nvSpPr>
          <p:cNvPr id="1117" name="Text 17"/>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FFT32 RTL Design     37</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1118"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5 · FFT32 RTL DESIGN</a:t>
            </a:r>
            <a:endParaRPr lang="en-US" sz="1150" b="0" u="none" strike="noStrike">
              <a:solidFill>
                <a:srgbClr val="000000"/>
              </a:solidFill>
              <a:effectLst/>
              <a:uFillTx/>
              <a:latin typeface="Arial"/>
            </a:endParaRPr>
          </a:p>
        </p:txBody>
      </p:sp>
      <p:sp>
        <p:nvSpPr>
          <p:cNvPr id="1119"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RTL Architecture Options for FFT32</a:t>
            </a:r>
            <a:endParaRPr lang="en-US" sz="2600" b="0" u="none" strike="noStrike">
              <a:solidFill>
                <a:srgbClr val="000000"/>
              </a:solidFill>
              <a:effectLst/>
              <a:uFillTx/>
              <a:latin typeface="Arial"/>
            </a:endParaRPr>
          </a:p>
        </p:txBody>
      </p:sp>
      <p:graphicFrame>
        <p:nvGraphicFramePr>
          <p:cNvPr id="1120" name="Table 0"/>
          <p:cNvGraphicFramePr/>
          <p:nvPr/>
        </p:nvGraphicFramePr>
        <p:xfrm>
          <a:off x="502920" y="1234440"/>
          <a:ext cx="11155320" cy="1559880"/>
        </p:xfrm>
        <a:graphic>
          <a:graphicData uri="http://schemas.openxmlformats.org/drawingml/2006/table">
            <a:tbl>
              <a:tblPr/>
              <a:tblGrid>
                <a:gridCol w="2743200"/>
                <a:gridCol w="3931920"/>
                <a:gridCol w="1554480"/>
                <a:gridCol w="2926080"/>
              </a:tblGrid>
              <a:tr h="292320">
                <a:tc>
                  <a:txBody>
                    <a:bodyPr tIns="27360" bIns="27360" anchor="ctr">
                      <a:noAutofit/>
                    </a:bodyPr>
                    <a:p>
                      <a:pPr defTabSz="914400">
                        <a:lnSpc>
                          <a:spcPct val="100000"/>
                        </a:lnSpc>
                        <a:tabLst>
                          <a:tab pos="0" algn="l"/>
                        </a:tabLst>
                      </a:pPr>
                      <a:r>
                        <a:rPr lang="en-US" sz="1100" b="1" u="none" strike="noStrike">
                          <a:solidFill>
                            <a:srgbClr val="FFFFFF"/>
                          </a:solidFill>
                          <a:effectLst/>
                          <a:uFillTx/>
                          <a:latin typeface="Calibri"/>
                          <a:ea typeface="Calibri"/>
                        </a:rPr>
                        <a:t>Architecture</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defTabSz="914400">
                        <a:lnSpc>
                          <a:spcPct val="100000"/>
                        </a:lnSpc>
                        <a:tabLst>
                          <a:tab pos="0" algn="l"/>
                        </a:tabLst>
                      </a:pPr>
                      <a:r>
                        <a:rPr lang="en-US" sz="1100" b="1" u="none" strike="noStrike">
                          <a:solidFill>
                            <a:srgbClr val="FFFFFF"/>
                          </a:solidFill>
                          <a:effectLst/>
                          <a:uFillTx/>
                          <a:latin typeface="Calibri"/>
                          <a:ea typeface="Calibri"/>
                        </a:rPr>
                        <a:t>Idea</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defTabSz="914400">
                        <a:lnSpc>
                          <a:spcPct val="100000"/>
                        </a:lnSpc>
                        <a:tabLst>
                          <a:tab pos="0" algn="l"/>
                        </a:tabLst>
                      </a:pPr>
                      <a:r>
                        <a:rPr lang="en-US" sz="1100" b="1" u="none" strike="noStrike">
                          <a:solidFill>
                            <a:srgbClr val="FFFFFF"/>
                          </a:solidFill>
                          <a:effectLst/>
                          <a:uFillTx/>
                          <a:latin typeface="Calibri"/>
                          <a:ea typeface="Calibri"/>
                        </a:rPr>
                        <a:t>Area</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defTabSz="914400">
                        <a:lnSpc>
                          <a:spcPct val="100000"/>
                        </a:lnSpc>
                        <a:tabLst>
                          <a:tab pos="0" algn="l"/>
                        </a:tabLst>
                      </a:pPr>
                      <a:r>
                        <a:rPr lang="en-US" sz="1100" b="1" u="none" strike="noStrike">
                          <a:solidFill>
                            <a:srgbClr val="FFFFFF"/>
                          </a:solidFill>
                          <a:effectLst/>
                          <a:uFillTx/>
                          <a:latin typeface="Calibri"/>
                          <a:ea typeface="Calibri"/>
                        </a:rPr>
                        <a:t>Throughput</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292320">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Memory-based (burst)</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1 butterfly PE reused for all 5 stages, RAM holds intermediate data</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Smallest</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Slowest, N/2 log₂N cycles per frame</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Single-path Delay Feedback (SDF)</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1 PE per stage, feedback shift registers reorder data in place</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Small-medium</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1 sample in per cycle, steady pipeline</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r h="292320">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Multi-path Delay Commutator (MDC)</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Multiple parallel data paths, each with its own PE per stage</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Medium-large</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Multiple samples in per cycle</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Fully parallel / streaming array</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One PE per butterfly in the entire flow graph, no reuse</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Largest</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Highest, full flow graph computed every cycle</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bl>
          </a:graphicData>
        </a:graphic>
      </p:graphicFrame>
      <p:sp>
        <p:nvSpPr>
          <p:cNvPr id="1121" name="Text 2"/>
          <p:cNvSpPr/>
          <p:nvPr/>
        </p:nvSpPr>
        <p:spPr>
          <a:xfrm>
            <a:off x="502920" y="4434840"/>
            <a:ext cx="11155320" cy="137124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i="1" u="none" strike="noStrike">
                <a:solidFill>
                  <a:srgbClr val="5C6B7A"/>
                </a:solidFill>
                <a:effectLst/>
                <a:uFillTx/>
                <a:latin typeface="Calibri"/>
                <a:ea typeface="Calibri"/>
              </a:rPr>
              <a:t>For a 32-point transform, SDF is the most common choice in FPGA designs: it needs only log₂N = 5 butterfly processing elements and N-1 = 31 delay registers total, far less memory than a fully parallel array, while still accepting one new sample every clock cycle. Memory-based (burst) designs trade that throughput for the smallest possible area, useful when the FFT is not the timing bottleneck.</a:t>
            </a:r>
            <a:endParaRPr lang="en-US" sz="1300" b="0" u="none" strike="noStrike">
              <a:solidFill>
                <a:srgbClr val="000000"/>
              </a:solidFill>
              <a:effectLst/>
              <a:uFillTx/>
              <a:latin typeface="Arial"/>
            </a:endParaRPr>
          </a:p>
        </p:txBody>
      </p:sp>
      <p:sp>
        <p:nvSpPr>
          <p:cNvPr id="1122" name="Shape 3"/>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1123" name="Shape 4"/>
          <p:cNvSpPr/>
          <p:nvPr/>
        </p:nvSpPr>
        <p:spPr>
          <a:xfrm>
            <a:off x="502920" y="6473880"/>
            <a:ext cx="1009296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1124" name="Text 5"/>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000000"/>
              </a:solidFill>
              <a:effectLst/>
              <a:uFillTx/>
              <a:latin typeface="Arial"/>
            </a:endParaRPr>
          </a:p>
        </p:txBody>
      </p:sp>
      <p:sp>
        <p:nvSpPr>
          <p:cNvPr id="1125" name="Text 6"/>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FFT32 RTL Design     38</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1126"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SECTION 5 · FFT32 RTL DESIGN</a:t>
            </a:r>
            <a:endParaRPr lang="en-US" sz="1150" b="0" u="none" strike="noStrike">
              <a:solidFill>
                <a:srgbClr val="000000"/>
              </a:solidFill>
              <a:effectLst/>
              <a:uFillTx/>
              <a:latin typeface="Arial"/>
            </a:endParaRPr>
          </a:p>
        </p:txBody>
      </p:sp>
      <p:sp>
        <p:nvSpPr>
          <p:cNvPr id="1127"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Summary: FFT32 RTL Design Choices</a:t>
            </a:r>
            <a:endParaRPr lang="en-US" sz="2600" b="0" u="none" strike="noStrike">
              <a:solidFill>
                <a:srgbClr val="000000"/>
              </a:solidFill>
              <a:effectLst/>
              <a:uFillTx/>
              <a:latin typeface="Arial"/>
            </a:endParaRPr>
          </a:p>
        </p:txBody>
      </p:sp>
      <p:graphicFrame>
        <p:nvGraphicFramePr>
          <p:cNvPr id="1128" name="Table 0"/>
          <p:cNvGraphicFramePr/>
          <p:nvPr/>
        </p:nvGraphicFramePr>
        <p:xfrm>
          <a:off x="502920" y="1234440"/>
          <a:ext cx="11155320" cy="2048040"/>
        </p:xfrm>
        <a:graphic>
          <a:graphicData uri="http://schemas.openxmlformats.org/drawingml/2006/table">
            <a:tbl>
              <a:tblPr/>
              <a:tblGrid>
                <a:gridCol w="2377440"/>
                <a:gridCol w="4206240"/>
                <a:gridCol w="4572000"/>
              </a:tblGrid>
              <a:tr h="292320">
                <a:tc>
                  <a:txBody>
                    <a:bodyPr tIns="27360" bIns="27360" anchor="ctr">
                      <a:noAutofit/>
                    </a:bodyPr>
                    <a:p>
                      <a:pPr defTabSz="914400">
                        <a:lnSpc>
                          <a:spcPct val="100000"/>
                        </a:lnSpc>
                        <a:tabLst>
                          <a:tab pos="0" algn="l"/>
                        </a:tabLst>
                      </a:pPr>
                      <a:r>
                        <a:rPr lang="en-US" sz="1100" b="1" u="none" strike="noStrike">
                          <a:solidFill>
                            <a:srgbClr val="FFFFFF"/>
                          </a:solidFill>
                          <a:effectLst/>
                          <a:uFillTx/>
                          <a:latin typeface="Calibri"/>
                          <a:ea typeface="Calibri"/>
                        </a:rPr>
                        <a:t>Design decision</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defTabSz="914400">
                        <a:lnSpc>
                          <a:spcPct val="100000"/>
                        </a:lnSpc>
                        <a:tabLst>
                          <a:tab pos="0" algn="l"/>
                        </a:tabLst>
                      </a:pPr>
                      <a:r>
                        <a:rPr lang="en-US" sz="1100" b="1" u="none" strike="noStrike">
                          <a:solidFill>
                            <a:srgbClr val="FFFFFF"/>
                          </a:solidFill>
                          <a:effectLst/>
                          <a:uFillTx/>
                          <a:latin typeface="Calibri"/>
                          <a:ea typeface="Calibri"/>
                        </a:rPr>
                        <a:t>Recommended choice for FFT32</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c>
                  <a:txBody>
                    <a:bodyPr tIns="27360" bIns="27360" anchor="ctr">
                      <a:noAutofit/>
                    </a:bodyPr>
                    <a:p>
                      <a:pPr defTabSz="914400">
                        <a:lnSpc>
                          <a:spcPct val="100000"/>
                        </a:lnSpc>
                        <a:tabLst>
                          <a:tab pos="0" algn="l"/>
                        </a:tabLst>
                      </a:pPr>
                      <a:r>
                        <a:rPr lang="en-US" sz="1100" b="1" u="none" strike="noStrike">
                          <a:solidFill>
                            <a:srgbClr val="FFFFFF"/>
                          </a:solidFill>
                          <a:effectLst/>
                          <a:uFillTx/>
                          <a:latin typeface="Calibri"/>
                          <a:ea typeface="Calibri"/>
                        </a:rPr>
                        <a:t>Why</a:t>
                      </a:r>
                      <a:endParaRPr lang="en-US" sz="1100" b="0" u="none" strike="noStrike">
                        <a:solidFill>
                          <a:srgbClr val="FFFFFF"/>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132A4A"/>
                    </a:solidFill>
                  </a:tcPr>
                </a:tc>
              </a:tr>
              <a:tr h="292320">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Transform size</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N=32 (2^5), 5 stages</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Power of 2 required for radix-2 decomposition</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Number format</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16-bit fixed-point, Q1.15</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Balances precision against multiplier/adder area</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r h="292320">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Bit growth handling</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Stage scaling (divide by 2 per stage)</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Keeps word length constant at 16 bits, free right-shift</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Overflow protection</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Saturation, as a safety net</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Bounds error instead of silent wraparound</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r h="292320">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RTL architecture</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Single-path Delay Feedback (SDF)</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One sample per cycle with only 5 PEs and 31 registers</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FFFFF"/>
                    </a:solidFill>
                  </a:tcPr>
                </a:tc>
              </a:tr>
              <a:tr h="292320">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Twiddle storage</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ROM, quarter-circle only, 16 entries</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c>
                  <a:txBody>
                    <a:bodyPr tIns="27360" bIns="27360" anchor="ctr">
                      <a:noAutofit/>
                    </a:bodyPr>
                    <a:p>
                      <a:pPr defTabSz="914400">
                        <a:lnSpc>
                          <a:spcPct val="100000"/>
                        </a:lnSpc>
                        <a:tabLst>
                          <a:tab pos="0" algn="l"/>
                        </a:tabLst>
                      </a:pPr>
                      <a:r>
                        <a:rPr lang="en-US" sz="1100" b="0" u="none" strike="noStrike">
                          <a:solidFill>
                            <a:srgbClr val="16202E"/>
                          </a:solidFill>
                          <a:effectLst/>
                          <a:uFillTx/>
                          <a:latin typeface="Calibri"/>
                          <a:ea typeface="Calibri"/>
                        </a:rPr>
                        <a:t>Symmetry cuts storage to 1/4 with sign/swap logic</a:t>
                      </a:r>
                      <a:endParaRPr lang="en-US" sz="1100" b="0" u="none" strike="noStrike">
                        <a:solidFill>
                          <a:srgbClr val="000000"/>
                        </a:solidFill>
                        <a:effectLst/>
                        <a:uFillTx/>
                        <a:latin typeface="Arial"/>
                      </a:endParaRPr>
                    </a:p>
                  </a:txBody>
                  <a:tcPr anchor="ctr" marL="91440" marR="91440" marT="27360" marB="27360">
                    <a:lnL w="9360">
                      <a:solidFill>
                        <a:srgbClr val="D7DEE8"/>
                      </a:solidFill>
                      <a:prstDash val="solid"/>
                    </a:lnL>
                    <a:lnR w="9360">
                      <a:solidFill>
                        <a:srgbClr val="D7DEE8"/>
                      </a:solidFill>
                      <a:prstDash val="solid"/>
                    </a:lnR>
                    <a:lnT w="9360">
                      <a:solidFill>
                        <a:srgbClr val="D7DEE8"/>
                      </a:solidFill>
                      <a:prstDash val="solid"/>
                    </a:lnT>
                    <a:lnB w="9360">
                      <a:solidFill>
                        <a:srgbClr val="D7DEE8"/>
                      </a:solidFill>
                      <a:prstDash val="solid"/>
                    </a:lnB>
                    <a:solidFill>
                      <a:srgbClr val="F5F8FC"/>
                    </a:solidFill>
                  </a:tcPr>
                </a:tc>
              </a:tr>
            </a:tbl>
          </a:graphicData>
        </a:graphic>
      </p:graphicFrame>
      <p:sp>
        <p:nvSpPr>
          <p:cNvPr id="1129" name="Shape 2"/>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1130" name="Shape 3"/>
          <p:cNvSpPr/>
          <p:nvPr/>
        </p:nvSpPr>
        <p:spPr>
          <a:xfrm>
            <a:off x="502920" y="6473880"/>
            <a:ext cx="1035864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1131" name="Text 4"/>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000000"/>
              </a:solidFill>
              <a:effectLst/>
              <a:uFillTx/>
              <a:latin typeface="Arial"/>
            </a:endParaRPr>
          </a:p>
        </p:txBody>
      </p:sp>
      <p:sp>
        <p:nvSpPr>
          <p:cNvPr id="1132" name="Text 5"/>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FFT32 RTL Design     39</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1133"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CLOSING · TROUBLESHOOTING</a:t>
            </a:r>
            <a:endParaRPr lang="en-US" sz="1150" b="0" u="none" strike="noStrike">
              <a:solidFill>
                <a:srgbClr val="000000"/>
              </a:solidFill>
              <a:effectLst/>
              <a:uFillTx/>
              <a:latin typeface="Arial"/>
            </a:endParaRPr>
          </a:p>
        </p:txBody>
      </p:sp>
      <p:sp>
        <p:nvSpPr>
          <p:cNvPr id="1134"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Common Mistakes When Implementing Radix-2 FFT</a:t>
            </a:r>
            <a:endParaRPr lang="en-US" sz="2600" b="0" u="none" strike="noStrike">
              <a:solidFill>
                <a:srgbClr val="000000"/>
              </a:solidFill>
              <a:effectLst/>
              <a:uFillTx/>
              <a:latin typeface="Arial"/>
            </a:endParaRPr>
          </a:p>
        </p:txBody>
      </p:sp>
      <p:sp>
        <p:nvSpPr>
          <p:cNvPr id="1135" name="Shape 2"/>
          <p:cNvSpPr/>
          <p:nvPr/>
        </p:nvSpPr>
        <p:spPr>
          <a:xfrm>
            <a:off x="502920" y="1207080"/>
            <a:ext cx="11155320" cy="776880"/>
          </a:xfrm>
          <a:prstGeom prst="roundRect">
            <a:avLst>
              <a:gd name="adj" fmla="val 7059"/>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36" name="Text 3"/>
          <p:cNvSpPr/>
          <p:nvPr/>
        </p:nvSpPr>
        <p:spPr>
          <a:xfrm>
            <a:off x="685800" y="1261800"/>
            <a:ext cx="10789560" cy="255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D98324"/>
                </a:solidFill>
                <a:effectLst/>
                <a:uFillTx/>
                <a:latin typeface="Calibri"/>
                <a:ea typeface="Calibri"/>
              </a:rPr>
              <a:t>Forgetting bit-reversal (DIT input, DIF output)</a:t>
            </a:r>
            <a:endParaRPr lang="en-US" sz="1100" b="0" u="none" strike="noStrike">
              <a:solidFill>
                <a:srgbClr val="000000"/>
              </a:solidFill>
              <a:effectLst/>
              <a:uFillTx/>
              <a:latin typeface="Arial"/>
            </a:endParaRPr>
          </a:p>
        </p:txBody>
      </p:sp>
      <p:sp>
        <p:nvSpPr>
          <p:cNvPr id="1137" name="Text 4"/>
          <p:cNvSpPr/>
          <p:nvPr/>
        </p:nvSpPr>
        <p:spPr>
          <a:xfrm>
            <a:off x="685800" y="1517760"/>
            <a:ext cx="10789560" cy="4111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100" b="0" u="none" strike="noStrike">
                <a:solidFill>
                  <a:srgbClr val="16202E"/>
                </a:solidFill>
                <a:effectLst/>
                <a:uFillTx/>
                <a:latin typeface="Calibri"/>
                <a:ea typeface="Calibri"/>
              </a:rPr>
              <a:t>DIT needs the input bit-reversed before the stages; DIF delivers bit-reversed output that must be unscrambled. Skipping either gives scrambled results.</a:t>
            </a:r>
            <a:endParaRPr lang="en-US" sz="1100" b="0" u="none" strike="noStrike">
              <a:solidFill>
                <a:srgbClr val="000000"/>
              </a:solidFill>
              <a:effectLst/>
              <a:uFillTx/>
              <a:latin typeface="Arial"/>
            </a:endParaRPr>
          </a:p>
        </p:txBody>
      </p:sp>
      <p:sp>
        <p:nvSpPr>
          <p:cNvPr id="1138" name="Shape 5"/>
          <p:cNvSpPr/>
          <p:nvPr/>
        </p:nvSpPr>
        <p:spPr>
          <a:xfrm>
            <a:off x="502920" y="2057400"/>
            <a:ext cx="11155320" cy="776880"/>
          </a:xfrm>
          <a:prstGeom prst="roundRect">
            <a:avLst>
              <a:gd name="adj" fmla="val 7059"/>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39" name="Text 6"/>
          <p:cNvSpPr/>
          <p:nvPr/>
        </p:nvSpPr>
        <p:spPr>
          <a:xfrm>
            <a:off x="685800" y="2112120"/>
            <a:ext cx="10789560" cy="255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D98324"/>
                </a:solidFill>
                <a:effectLst/>
                <a:uFillTx/>
                <a:latin typeface="Calibri"/>
                <a:ea typeface="Calibri"/>
              </a:rPr>
              <a:t>Wrong sign in the twiddle exponent</a:t>
            </a:r>
            <a:endParaRPr lang="en-US" sz="1100" b="0" u="none" strike="noStrike">
              <a:solidFill>
                <a:srgbClr val="000000"/>
              </a:solidFill>
              <a:effectLst/>
              <a:uFillTx/>
              <a:latin typeface="Arial"/>
            </a:endParaRPr>
          </a:p>
        </p:txBody>
      </p:sp>
      <p:sp>
        <p:nvSpPr>
          <p:cNvPr id="1140" name="Text 7"/>
          <p:cNvSpPr/>
          <p:nvPr/>
        </p:nvSpPr>
        <p:spPr>
          <a:xfrm>
            <a:off x="685800" y="2368440"/>
            <a:ext cx="10789560" cy="4111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100" b="0" u="none" strike="noStrike">
                <a:solidFill>
                  <a:srgbClr val="16202E"/>
                </a:solidFill>
                <a:effectLst/>
                <a:uFillTx/>
                <a:latin typeface="Calibri"/>
                <a:ea typeface="Calibri"/>
              </a:rPr>
              <a:t>Using e^(+j2πk/N) instead of e^(-j2πk/N) flips the spectrum and breaks conjugate symmetry checks.</a:t>
            </a:r>
            <a:endParaRPr lang="en-US" sz="1100" b="0" u="none" strike="noStrike">
              <a:solidFill>
                <a:srgbClr val="000000"/>
              </a:solidFill>
              <a:effectLst/>
              <a:uFillTx/>
              <a:latin typeface="Arial"/>
            </a:endParaRPr>
          </a:p>
        </p:txBody>
      </p:sp>
      <p:sp>
        <p:nvSpPr>
          <p:cNvPr id="1141" name="Shape 8"/>
          <p:cNvSpPr/>
          <p:nvPr/>
        </p:nvSpPr>
        <p:spPr>
          <a:xfrm>
            <a:off x="502920" y="2907720"/>
            <a:ext cx="11155320" cy="776880"/>
          </a:xfrm>
          <a:prstGeom prst="roundRect">
            <a:avLst>
              <a:gd name="adj" fmla="val 7059"/>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42" name="Text 9"/>
          <p:cNvSpPr/>
          <p:nvPr/>
        </p:nvSpPr>
        <p:spPr>
          <a:xfrm>
            <a:off x="685800" y="2962800"/>
            <a:ext cx="10789560" cy="255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D98324"/>
                </a:solidFill>
                <a:effectLst/>
                <a:uFillTx/>
                <a:latin typeface="Calibri"/>
                <a:ea typeface="Calibri"/>
              </a:rPr>
              <a:t>Using N/2-point twiddles at the wrong stage</a:t>
            </a:r>
            <a:endParaRPr lang="en-US" sz="1100" b="0" u="none" strike="noStrike">
              <a:solidFill>
                <a:srgbClr val="000000"/>
              </a:solidFill>
              <a:effectLst/>
              <a:uFillTx/>
              <a:latin typeface="Arial"/>
            </a:endParaRPr>
          </a:p>
        </p:txBody>
      </p:sp>
      <p:sp>
        <p:nvSpPr>
          <p:cNvPr id="1143" name="Text 10"/>
          <p:cNvSpPr/>
          <p:nvPr/>
        </p:nvSpPr>
        <p:spPr>
          <a:xfrm>
            <a:off x="685800" y="3218760"/>
            <a:ext cx="10789560" cy="4111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100" b="0" u="none" strike="noStrike">
                <a:solidFill>
                  <a:srgbClr val="16202E"/>
                </a:solidFill>
                <a:effectLst/>
                <a:uFillTx/>
                <a:latin typeface="Calibri"/>
                <a:ea typeface="Calibri"/>
              </a:rPr>
              <a:t>Stage s should use W_(2^s), not W_N, for its twiddle factors; mixing these up gives incorrect intermediate results.</a:t>
            </a:r>
            <a:endParaRPr lang="en-US" sz="1100" b="0" u="none" strike="noStrike">
              <a:solidFill>
                <a:srgbClr val="000000"/>
              </a:solidFill>
              <a:effectLst/>
              <a:uFillTx/>
              <a:latin typeface="Arial"/>
            </a:endParaRPr>
          </a:p>
        </p:txBody>
      </p:sp>
      <p:sp>
        <p:nvSpPr>
          <p:cNvPr id="1144" name="Shape 11"/>
          <p:cNvSpPr/>
          <p:nvPr/>
        </p:nvSpPr>
        <p:spPr>
          <a:xfrm>
            <a:off x="502920" y="3758040"/>
            <a:ext cx="11155320" cy="776880"/>
          </a:xfrm>
          <a:prstGeom prst="roundRect">
            <a:avLst>
              <a:gd name="adj" fmla="val 7059"/>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45" name="Text 12"/>
          <p:cNvSpPr/>
          <p:nvPr/>
        </p:nvSpPr>
        <p:spPr>
          <a:xfrm>
            <a:off x="685800" y="3813120"/>
            <a:ext cx="10789560" cy="255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D98324"/>
                </a:solidFill>
                <a:effectLst/>
                <a:uFillTx/>
                <a:latin typeface="Calibri"/>
                <a:ea typeface="Calibri"/>
              </a:rPr>
              <a:t>Ignoring bit growth</a:t>
            </a:r>
            <a:endParaRPr lang="en-US" sz="1100" b="0" u="none" strike="noStrike">
              <a:solidFill>
                <a:srgbClr val="000000"/>
              </a:solidFill>
              <a:effectLst/>
              <a:uFillTx/>
              <a:latin typeface="Arial"/>
            </a:endParaRPr>
          </a:p>
        </p:txBody>
      </p:sp>
      <p:sp>
        <p:nvSpPr>
          <p:cNvPr id="1146" name="Text 13"/>
          <p:cNvSpPr/>
          <p:nvPr/>
        </p:nvSpPr>
        <p:spPr>
          <a:xfrm>
            <a:off x="685800" y="4069080"/>
            <a:ext cx="10789560" cy="4111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100" b="0" u="none" strike="noStrike">
                <a:solidFill>
                  <a:srgbClr val="16202E"/>
                </a:solidFill>
                <a:effectLst/>
                <a:uFillTx/>
                <a:latin typeface="Calibri"/>
                <a:ea typeface="Calibri"/>
              </a:rPr>
              <a:t>Fixed word length with no scaling silently overflows on realistic inputs; verify headroom or add scaling.</a:t>
            </a:r>
            <a:endParaRPr lang="en-US" sz="1100" b="0" u="none" strike="noStrike">
              <a:solidFill>
                <a:srgbClr val="000000"/>
              </a:solidFill>
              <a:effectLst/>
              <a:uFillTx/>
              <a:latin typeface="Arial"/>
            </a:endParaRPr>
          </a:p>
        </p:txBody>
      </p:sp>
      <p:sp>
        <p:nvSpPr>
          <p:cNvPr id="1147" name="Shape 14"/>
          <p:cNvSpPr/>
          <p:nvPr/>
        </p:nvSpPr>
        <p:spPr>
          <a:xfrm>
            <a:off x="502920" y="4608720"/>
            <a:ext cx="11155320" cy="776880"/>
          </a:xfrm>
          <a:prstGeom prst="roundRect">
            <a:avLst>
              <a:gd name="adj" fmla="val 7059"/>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48" name="Text 15"/>
          <p:cNvSpPr/>
          <p:nvPr/>
        </p:nvSpPr>
        <p:spPr>
          <a:xfrm>
            <a:off x="685800" y="4663440"/>
            <a:ext cx="10789560" cy="255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D98324"/>
                </a:solidFill>
                <a:effectLst/>
                <a:uFillTx/>
                <a:latin typeface="Calibri"/>
                <a:ea typeface="Calibri"/>
              </a:rPr>
              <a:t>Skipping trivial-twiddle special cases</a:t>
            </a:r>
            <a:endParaRPr lang="en-US" sz="1100" b="0" u="none" strike="noStrike">
              <a:solidFill>
                <a:srgbClr val="000000"/>
              </a:solidFill>
              <a:effectLst/>
              <a:uFillTx/>
              <a:latin typeface="Arial"/>
            </a:endParaRPr>
          </a:p>
        </p:txBody>
      </p:sp>
      <p:sp>
        <p:nvSpPr>
          <p:cNvPr id="1149" name="Text 16"/>
          <p:cNvSpPr/>
          <p:nvPr/>
        </p:nvSpPr>
        <p:spPr>
          <a:xfrm>
            <a:off x="685800" y="4919400"/>
            <a:ext cx="10789560" cy="4111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100" b="0" u="none" strike="noStrike">
                <a:solidFill>
                  <a:srgbClr val="16202E"/>
                </a:solidFill>
                <a:effectLst/>
                <a:uFillTx/>
                <a:latin typeface="Calibri"/>
                <a:ea typeface="Calibri"/>
              </a:rPr>
              <a:t>Running W=1, -1, j, -j through a full complex multiplier wastes area/power and can introduce needless rounding error.</a:t>
            </a:r>
            <a:endParaRPr lang="en-US" sz="1100" b="0" u="none" strike="noStrike">
              <a:solidFill>
                <a:srgbClr val="000000"/>
              </a:solidFill>
              <a:effectLst/>
              <a:uFillTx/>
              <a:latin typeface="Arial"/>
            </a:endParaRPr>
          </a:p>
        </p:txBody>
      </p:sp>
      <p:sp>
        <p:nvSpPr>
          <p:cNvPr id="1150" name="Shape 17"/>
          <p:cNvSpPr/>
          <p:nvPr/>
        </p:nvSpPr>
        <p:spPr>
          <a:xfrm>
            <a:off x="502920" y="5459040"/>
            <a:ext cx="11155320" cy="776880"/>
          </a:xfrm>
          <a:prstGeom prst="roundRect">
            <a:avLst>
              <a:gd name="adj" fmla="val 7059"/>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51" name="Text 18"/>
          <p:cNvSpPr/>
          <p:nvPr/>
        </p:nvSpPr>
        <p:spPr>
          <a:xfrm>
            <a:off x="685800" y="5513760"/>
            <a:ext cx="10789560" cy="255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D98324"/>
                </a:solidFill>
                <a:effectLst/>
                <a:uFillTx/>
                <a:latin typeface="Calibri"/>
                <a:ea typeface="Calibri"/>
              </a:rPr>
              <a:t>Confusing DIT with DIF</a:t>
            </a:r>
            <a:endParaRPr lang="en-US" sz="1100" b="0" u="none" strike="noStrike">
              <a:solidFill>
                <a:srgbClr val="000000"/>
              </a:solidFill>
              <a:effectLst/>
              <a:uFillTx/>
              <a:latin typeface="Arial"/>
            </a:endParaRPr>
          </a:p>
        </p:txBody>
      </p:sp>
      <p:sp>
        <p:nvSpPr>
          <p:cNvPr id="1152" name="Text 19"/>
          <p:cNvSpPr/>
          <p:nvPr/>
        </p:nvSpPr>
        <p:spPr>
          <a:xfrm>
            <a:off x="685800" y="5769720"/>
            <a:ext cx="10789560" cy="4111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100" b="0" u="none" strike="noStrike">
                <a:solidFill>
                  <a:srgbClr val="16202E"/>
                </a:solidFill>
                <a:effectLst/>
                <a:uFillTx/>
                <a:latin typeface="Calibri"/>
                <a:ea typeface="Calibri"/>
              </a:rPr>
              <a:t>Decimation-in-time splits by time-index parity with bit-reversed input and natural output; decimation-in-frequency is the reverse. Mixing the two stage structures gives incorrect wiring; the twiddle sits before the add/subtract in DIT and after it in DIF.</a:t>
            </a:r>
            <a:endParaRPr lang="en-US" sz="1100" b="0" u="none" strike="noStrike">
              <a:solidFill>
                <a:srgbClr val="000000"/>
              </a:solidFill>
              <a:effectLst/>
              <a:uFillTx/>
              <a:latin typeface="Arial"/>
            </a:endParaRPr>
          </a:p>
        </p:txBody>
      </p:sp>
      <p:sp>
        <p:nvSpPr>
          <p:cNvPr id="1153" name="Shape 20"/>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1154" name="Shape 21"/>
          <p:cNvSpPr/>
          <p:nvPr/>
        </p:nvSpPr>
        <p:spPr>
          <a:xfrm>
            <a:off x="502920" y="6473880"/>
            <a:ext cx="1062396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1155" name="Text 22"/>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000000"/>
              </a:solidFill>
              <a:effectLst/>
              <a:uFillTx/>
              <a:latin typeface="Arial"/>
            </a:endParaRPr>
          </a:p>
        </p:txBody>
      </p:sp>
      <p:sp>
        <p:nvSpPr>
          <p:cNvPr id="1156" name="Text 23"/>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Closing     40</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32A4A"/>
        </a:solidFill>
      </p:bgPr>
    </p:bg>
    <p:spTree>
      <p:nvGrpSpPr>
        <p:cNvPr id="1" name=""/>
        <p:cNvGrpSpPr/>
        <p:nvPr/>
      </p:nvGrpSpPr>
      <p:grpSpPr>
        <a:xfrm>
          <a:off x="0" y="0"/>
          <a:ext cx="0" cy="0"/>
          <a:chOff x="0" y="0"/>
          <a:chExt cx="0" cy="0"/>
        </a:xfrm>
      </p:grpSpPr>
      <p:sp>
        <p:nvSpPr>
          <p:cNvPr id="1157"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CLOSING · SUMMARY</a:t>
            </a:r>
            <a:endParaRPr lang="en-US" sz="1150" b="0" u="none" strike="noStrike">
              <a:solidFill>
                <a:srgbClr val="FFFFFF"/>
              </a:solidFill>
              <a:effectLst/>
              <a:uFillTx/>
              <a:latin typeface="Arial"/>
            </a:endParaRPr>
          </a:p>
        </p:txBody>
      </p:sp>
      <p:sp>
        <p:nvSpPr>
          <p:cNvPr id="1158"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Final Mental Model</a:t>
            </a:r>
            <a:endParaRPr lang="en-US" sz="2600" b="0" u="none" strike="noStrike">
              <a:solidFill>
                <a:srgbClr val="FFFFFF"/>
              </a:solidFill>
              <a:effectLst/>
              <a:uFillTx/>
              <a:latin typeface="Arial"/>
            </a:endParaRPr>
          </a:p>
        </p:txBody>
      </p:sp>
      <p:sp>
        <p:nvSpPr>
          <p:cNvPr id="1159" name="Shape 2"/>
          <p:cNvSpPr/>
          <p:nvPr/>
        </p:nvSpPr>
        <p:spPr>
          <a:xfrm>
            <a:off x="0" y="0"/>
            <a:ext cx="12191400" cy="6857640"/>
          </a:xfrm>
          <a:prstGeom prst="rect">
            <a:avLst/>
          </a:prstGeom>
          <a:solidFill>
            <a:srgbClr val="132A4A"/>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60" name="Text 3"/>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9FD4D1"/>
                </a:solidFill>
                <a:effectLst/>
                <a:uFillTx/>
                <a:latin typeface="Calibri"/>
                <a:ea typeface="Calibri"/>
              </a:rPr>
              <a:t>CLOSING · SUMMARY</a:t>
            </a:r>
            <a:endParaRPr lang="en-US" sz="1100" b="0" u="none" strike="noStrike">
              <a:solidFill>
                <a:srgbClr val="FFFFFF"/>
              </a:solidFill>
              <a:effectLst/>
              <a:uFillTx/>
              <a:latin typeface="Arial"/>
            </a:endParaRPr>
          </a:p>
        </p:txBody>
      </p:sp>
      <p:sp>
        <p:nvSpPr>
          <p:cNvPr id="1161" name="Text 4"/>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trike="noStrike">
                <a:solidFill>
                  <a:srgbClr val="FFFFFF"/>
                </a:solidFill>
                <a:effectLst/>
                <a:uFillTx/>
                <a:latin typeface="Cambria"/>
                <a:ea typeface="Cambria"/>
              </a:rPr>
              <a:t>Final Mental Model</a:t>
            </a:r>
            <a:endParaRPr lang="en-US" sz="2600" b="0" u="none" strike="noStrike">
              <a:solidFill>
                <a:srgbClr val="FFFFFF"/>
              </a:solidFill>
              <a:effectLst/>
              <a:uFillTx/>
              <a:latin typeface="Arial"/>
            </a:endParaRPr>
          </a:p>
        </p:txBody>
      </p:sp>
      <p:sp>
        <p:nvSpPr>
          <p:cNvPr id="1162" name="Shape 5"/>
          <p:cNvSpPr/>
          <p:nvPr/>
        </p:nvSpPr>
        <p:spPr>
          <a:xfrm>
            <a:off x="502920" y="1371600"/>
            <a:ext cx="4205880" cy="456840"/>
          </a:xfrm>
          <a:prstGeom prst="roundRect">
            <a:avLst>
              <a:gd name="adj" fmla="val 12000"/>
            </a:avLst>
          </a:prstGeom>
          <a:solidFill>
            <a:srgbClr val="2F5C8A"/>
          </a:solidFill>
          <a:ln w="12700">
            <a:solidFill>
              <a:srgbClr val="2F5C8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63" name="Text 6"/>
          <p:cNvSpPr/>
          <p:nvPr/>
        </p:nvSpPr>
        <p:spPr>
          <a:xfrm>
            <a:off x="502920" y="1371600"/>
            <a:ext cx="4205880" cy="4568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N-point DFT</a:t>
            </a:r>
            <a:endParaRPr lang="en-US" sz="1300" b="0" u="none" strike="noStrike">
              <a:solidFill>
                <a:srgbClr val="FFFFFF"/>
              </a:solidFill>
              <a:effectLst/>
              <a:uFillTx/>
              <a:latin typeface="Arial"/>
            </a:endParaRPr>
          </a:p>
        </p:txBody>
      </p:sp>
      <p:sp>
        <p:nvSpPr>
          <p:cNvPr id="1164" name="Text 7"/>
          <p:cNvSpPr/>
          <p:nvPr/>
        </p:nvSpPr>
        <p:spPr>
          <a:xfrm>
            <a:off x="2423160" y="1828800"/>
            <a:ext cx="365400" cy="1458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9FD4D1"/>
                </a:solidFill>
                <a:effectLst/>
                <a:uFillTx/>
                <a:latin typeface="Calibri"/>
              </a:rPr>
              <a:t>↓</a:t>
            </a:r>
            <a:endParaRPr lang="en-US" sz="1100" b="0" u="none" strike="noStrike">
              <a:solidFill>
                <a:srgbClr val="FFFFFF"/>
              </a:solidFill>
              <a:effectLst/>
              <a:uFillTx/>
              <a:latin typeface="Arial"/>
            </a:endParaRPr>
          </a:p>
        </p:txBody>
      </p:sp>
      <p:sp>
        <p:nvSpPr>
          <p:cNvPr id="1165" name="Shape 8"/>
          <p:cNvSpPr/>
          <p:nvPr/>
        </p:nvSpPr>
        <p:spPr>
          <a:xfrm>
            <a:off x="502920" y="1979640"/>
            <a:ext cx="4205880" cy="456840"/>
          </a:xfrm>
          <a:prstGeom prst="roundRect">
            <a:avLst>
              <a:gd name="adj" fmla="val 12000"/>
            </a:avLst>
          </a:prstGeom>
          <a:solidFill>
            <a:srgbClr val="2F5C8A"/>
          </a:solidFill>
          <a:ln w="12700">
            <a:solidFill>
              <a:srgbClr val="2F5C8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66" name="Text 9"/>
          <p:cNvSpPr/>
          <p:nvPr/>
        </p:nvSpPr>
        <p:spPr>
          <a:xfrm>
            <a:off x="502920" y="1979640"/>
            <a:ext cx="4205880" cy="4568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Split by parity</a:t>
            </a:r>
            <a:endParaRPr lang="en-US" sz="1300" b="0" u="none" strike="noStrike">
              <a:solidFill>
                <a:srgbClr val="FFFFFF"/>
              </a:solidFill>
              <a:effectLst/>
              <a:uFillTx/>
              <a:latin typeface="Arial"/>
            </a:endParaRPr>
          </a:p>
        </p:txBody>
      </p:sp>
      <p:sp>
        <p:nvSpPr>
          <p:cNvPr id="1167" name="Text 10"/>
          <p:cNvSpPr/>
          <p:nvPr/>
        </p:nvSpPr>
        <p:spPr>
          <a:xfrm>
            <a:off x="2423160" y="2436840"/>
            <a:ext cx="365400" cy="1458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9FD4D1"/>
                </a:solidFill>
                <a:effectLst/>
                <a:uFillTx/>
                <a:latin typeface="Calibri"/>
              </a:rPr>
              <a:t>↓</a:t>
            </a:r>
            <a:endParaRPr lang="en-US" sz="1100" b="0" u="none" strike="noStrike">
              <a:solidFill>
                <a:srgbClr val="FFFFFF"/>
              </a:solidFill>
              <a:effectLst/>
              <a:uFillTx/>
              <a:latin typeface="Arial"/>
            </a:endParaRPr>
          </a:p>
        </p:txBody>
      </p:sp>
      <p:sp>
        <p:nvSpPr>
          <p:cNvPr id="1168" name="Shape 11"/>
          <p:cNvSpPr/>
          <p:nvPr/>
        </p:nvSpPr>
        <p:spPr>
          <a:xfrm>
            <a:off x="502920" y="2587680"/>
            <a:ext cx="4205880" cy="456840"/>
          </a:xfrm>
          <a:prstGeom prst="roundRect">
            <a:avLst>
              <a:gd name="adj" fmla="val 12000"/>
            </a:avLst>
          </a:prstGeom>
          <a:solidFill>
            <a:srgbClr val="2F5C8A"/>
          </a:solidFill>
          <a:ln w="12700">
            <a:solidFill>
              <a:srgbClr val="2F5C8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69" name="Text 12"/>
          <p:cNvSpPr/>
          <p:nvPr/>
        </p:nvSpPr>
        <p:spPr>
          <a:xfrm>
            <a:off x="502920" y="2587680"/>
            <a:ext cx="4205880" cy="4568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Even + Odd DFTs</a:t>
            </a:r>
            <a:endParaRPr lang="en-US" sz="1300" b="0" u="none" strike="noStrike">
              <a:solidFill>
                <a:srgbClr val="FFFFFF"/>
              </a:solidFill>
              <a:effectLst/>
              <a:uFillTx/>
              <a:latin typeface="Arial"/>
            </a:endParaRPr>
          </a:p>
        </p:txBody>
      </p:sp>
      <p:sp>
        <p:nvSpPr>
          <p:cNvPr id="1170" name="Text 13"/>
          <p:cNvSpPr/>
          <p:nvPr/>
        </p:nvSpPr>
        <p:spPr>
          <a:xfrm>
            <a:off x="2423160" y="3044880"/>
            <a:ext cx="365400" cy="1458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9FD4D1"/>
                </a:solidFill>
                <a:effectLst/>
                <a:uFillTx/>
                <a:latin typeface="Calibri"/>
              </a:rPr>
              <a:t>↓</a:t>
            </a:r>
            <a:endParaRPr lang="en-US" sz="1100" b="0" u="none" strike="noStrike">
              <a:solidFill>
                <a:srgbClr val="FFFFFF"/>
              </a:solidFill>
              <a:effectLst/>
              <a:uFillTx/>
              <a:latin typeface="Arial"/>
            </a:endParaRPr>
          </a:p>
        </p:txBody>
      </p:sp>
      <p:sp>
        <p:nvSpPr>
          <p:cNvPr id="1171" name="Shape 14"/>
          <p:cNvSpPr/>
          <p:nvPr/>
        </p:nvSpPr>
        <p:spPr>
          <a:xfrm>
            <a:off x="502920" y="3195720"/>
            <a:ext cx="4205880" cy="456840"/>
          </a:xfrm>
          <a:prstGeom prst="roundRect">
            <a:avLst>
              <a:gd name="adj" fmla="val 12000"/>
            </a:avLst>
          </a:prstGeom>
          <a:solidFill>
            <a:srgbClr val="2F5C8A"/>
          </a:solidFill>
          <a:ln w="12700">
            <a:solidFill>
              <a:srgbClr val="2F5C8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72" name="Text 15"/>
          <p:cNvSpPr/>
          <p:nvPr/>
        </p:nvSpPr>
        <p:spPr>
          <a:xfrm>
            <a:off x="502920" y="3195720"/>
            <a:ext cx="4205880" cy="4568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Twiddle factor</a:t>
            </a:r>
            <a:endParaRPr lang="en-US" sz="1300" b="0" u="none" strike="noStrike">
              <a:solidFill>
                <a:srgbClr val="FFFFFF"/>
              </a:solidFill>
              <a:effectLst/>
              <a:uFillTx/>
              <a:latin typeface="Arial"/>
            </a:endParaRPr>
          </a:p>
        </p:txBody>
      </p:sp>
      <p:sp>
        <p:nvSpPr>
          <p:cNvPr id="1173" name="Text 16"/>
          <p:cNvSpPr/>
          <p:nvPr/>
        </p:nvSpPr>
        <p:spPr>
          <a:xfrm>
            <a:off x="2423160" y="3652920"/>
            <a:ext cx="365400" cy="1458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9FD4D1"/>
                </a:solidFill>
                <a:effectLst/>
                <a:uFillTx/>
                <a:latin typeface="Calibri"/>
              </a:rPr>
              <a:t>↓</a:t>
            </a:r>
            <a:endParaRPr lang="en-US" sz="1100" b="0" u="none" strike="noStrike">
              <a:solidFill>
                <a:srgbClr val="FFFFFF"/>
              </a:solidFill>
              <a:effectLst/>
              <a:uFillTx/>
              <a:latin typeface="Arial"/>
            </a:endParaRPr>
          </a:p>
        </p:txBody>
      </p:sp>
      <p:sp>
        <p:nvSpPr>
          <p:cNvPr id="1174" name="Shape 17"/>
          <p:cNvSpPr/>
          <p:nvPr/>
        </p:nvSpPr>
        <p:spPr>
          <a:xfrm>
            <a:off x="502920" y="3803760"/>
            <a:ext cx="4205880" cy="456840"/>
          </a:xfrm>
          <a:prstGeom prst="roundRect">
            <a:avLst>
              <a:gd name="adj" fmla="val 12000"/>
            </a:avLst>
          </a:prstGeom>
          <a:solidFill>
            <a:srgbClr val="2F5C8A"/>
          </a:solidFill>
          <a:ln w="12700">
            <a:solidFill>
              <a:srgbClr val="2F5C8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75" name="Text 18"/>
          <p:cNvSpPr/>
          <p:nvPr/>
        </p:nvSpPr>
        <p:spPr>
          <a:xfrm>
            <a:off x="502920" y="3803760"/>
            <a:ext cx="4205880" cy="4568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Butterfly</a:t>
            </a:r>
            <a:endParaRPr lang="en-US" sz="1300" b="0" u="none" strike="noStrike">
              <a:solidFill>
                <a:srgbClr val="FFFFFF"/>
              </a:solidFill>
              <a:effectLst/>
              <a:uFillTx/>
              <a:latin typeface="Arial"/>
            </a:endParaRPr>
          </a:p>
        </p:txBody>
      </p:sp>
      <p:sp>
        <p:nvSpPr>
          <p:cNvPr id="1176" name="Text 19"/>
          <p:cNvSpPr/>
          <p:nvPr/>
        </p:nvSpPr>
        <p:spPr>
          <a:xfrm>
            <a:off x="2423160" y="4260960"/>
            <a:ext cx="365400" cy="1458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9FD4D1"/>
                </a:solidFill>
                <a:effectLst/>
                <a:uFillTx/>
                <a:latin typeface="Calibri"/>
              </a:rPr>
              <a:t>↓</a:t>
            </a:r>
            <a:endParaRPr lang="en-US" sz="1100" b="0" u="none" strike="noStrike">
              <a:solidFill>
                <a:srgbClr val="FFFFFF"/>
              </a:solidFill>
              <a:effectLst/>
              <a:uFillTx/>
              <a:latin typeface="Arial"/>
            </a:endParaRPr>
          </a:p>
        </p:txBody>
      </p:sp>
      <p:sp>
        <p:nvSpPr>
          <p:cNvPr id="1177" name="Shape 20"/>
          <p:cNvSpPr/>
          <p:nvPr/>
        </p:nvSpPr>
        <p:spPr>
          <a:xfrm>
            <a:off x="502920" y="4412160"/>
            <a:ext cx="4205880" cy="456840"/>
          </a:xfrm>
          <a:prstGeom prst="roundRect">
            <a:avLst>
              <a:gd name="adj" fmla="val 12000"/>
            </a:avLst>
          </a:prstGeom>
          <a:solidFill>
            <a:srgbClr val="2F5C8A"/>
          </a:solidFill>
          <a:ln w="12700">
            <a:solidFill>
              <a:srgbClr val="2F5C8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78" name="Text 21"/>
          <p:cNvSpPr/>
          <p:nvPr/>
        </p:nvSpPr>
        <p:spPr>
          <a:xfrm>
            <a:off x="502920" y="4412160"/>
            <a:ext cx="4205880" cy="4568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log₂N stages</a:t>
            </a:r>
            <a:endParaRPr lang="en-US" sz="1300" b="0" u="none" strike="noStrike">
              <a:solidFill>
                <a:srgbClr val="FFFFFF"/>
              </a:solidFill>
              <a:effectLst/>
              <a:uFillTx/>
              <a:latin typeface="Arial"/>
            </a:endParaRPr>
          </a:p>
        </p:txBody>
      </p:sp>
      <p:sp>
        <p:nvSpPr>
          <p:cNvPr id="1179" name="Text 22"/>
          <p:cNvSpPr/>
          <p:nvPr/>
        </p:nvSpPr>
        <p:spPr>
          <a:xfrm>
            <a:off x="2423160" y="4869360"/>
            <a:ext cx="365400" cy="1458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9FD4D1"/>
                </a:solidFill>
                <a:effectLst/>
                <a:uFillTx/>
                <a:latin typeface="Calibri"/>
              </a:rPr>
              <a:t>↓</a:t>
            </a:r>
            <a:endParaRPr lang="en-US" sz="1100" b="0" u="none" strike="noStrike">
              <a:solidFill>
                <a:srgbClr val="FFFFFF"/>
              </a:solidFill>
              <a:effectLst/>
              <a:uFillTx/>
              <a:latin typeface="Arial"/>
            </a:endParaRPr>
          </a:p>
        </p:txBody>
      </p:sp>
      <p:sp>
        <p:nvSpPr>
          <p:cNvPr id="1180" name="Shape 23"/>
          <p:cNvSpPr/>
          <p:nvPr/>
        </p:nvSpPr>
        <p:spPr>
          <a:xfrm>
            <a:off x="502920" y="5020200"/>
            <a:ext cx="4205880" cy="456840"/>
          </a:xfrm>
          <a:prstGeom prst="roundRect">
            <a:avLst>
              <a:gd name="adj" fmla="val 12000"/>
            </a:avLst>
          </a:prstGeom>
          <a:solidFill>
            <a:srgbClr val="2F5C8A"/>
          </a:solidFill>
          <a:ln w="12700">
            <a:solidFill>
              <a:srgbClr val="2F5C8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81" name="Text 24"/>
          <p:cNvSpPr/>
          <p:nvPr/>
        </p:nvSpPr>
        <p:spPr>
          <a:xfrm>
            <a:off x="502920" y="5020200"/>
            <a:ext cx="4205880" cy="4568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Bit-reversal</a:t>
            </a:r>
            <a:endParaRPr lang="en-US" sz="1300" b="0" u="none" strike="noStrike">
              <a:solidFill>
                <a:srgbClr val="FFFFFF"/>
              </a:solidFill>
              <a:effectLst/>
              <a:uFillTx/>
              <a:latin typeface="Arial"/>
            </a:endParaRPr>
          </a:p>
        </p:txBody>
      </p:sp>
      <p:sp>
        <p:nvSpPr>
          <p:cNvPr id="1182" name="Text 25"/>
          <p:cNvSpPr/>
          <p:nvPr/>
        </p:nvSpPr>
        <p:spPr>
          <a:xfrm>
            <a:off x="2423160" y="5477400"/>
            <a:ext cx="365400" cy="1458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9FD4D1"/>
                </a:solidFill>
                <a:effectLst/>
                <a:uFillTx/>
                <a:latin typeface="Calibri"/>
              </a:rPr>
              <a:t>↓</a:t>
            </a:r>
            <a:endParaRPr lang="en-US" sz="1100" b="0" u="none" strike="noStrike">
              <a:solidFill>
                <a:srgbClr val="FFFFFF"/>
              </a:solidFill>
              <a:effectLst/>
              <a:uFillTx/>
              <a:latin typeface="Arial"/>
            </a:endParaRPr>
          </a:p>
        </p:txBody>
      </p:sp>
      <p:sp>
        <p:nvSpPr>
          <p:cNvPr id="1183" name="Shape 26"/>
          <p:cNvSpPr/>
          <p:nvPr/>
        </p:nvSpPr>
        <p:spPr>
          <a:xfrm>
            <a:off x="502920" y="5628240"/>
            <a:ext cx="4205880" cy="456840"/>
          </a:xfrm>
          <a:prstGeom prst="roundRect">
            <a:avLst>
              <a:gd name="adj" fmla="val 12000"/>
            </a:avLst>
          </a:prstGeom>
          <a:solidFill>
            <a:srgbClr val="2F5C8A"/>
          </a:solidFill>
          <a:ln w="12700">
            <a:solidFill>
              <a:srgbClr val="2F5C8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84" name="Text 27"/>
          <p:cNvSpPr/>
          <p:nvPr/>
        </p:nvSpPr>
        <p:spPr>
          <a:xfrm>
            <a:off x="502920" y="5628240"/>
            <a:ext cx="4205880" cy="4568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X[k], natural order</a:t>
            </a:r>
            <a:endParaRPr lang="en-US" sz="1300" b="0" u="none" strike="noStrike">
              <a:solidFill>
                <a:srgbClr val="FFFFFF"/>
              </a:solidFill>
              <a:effectLst/>
              <a:uFillTx/>
              <a:latin typeface="Arial"/>
            </a:endParaRPr>
          </a:p>
        </p:txBody>
      </p:sp>
      <p:sp>
        <p:nvSpPr>
          <p:cNvPr id="1185" name="Text 28"/>
          <p:cNvSpPr/>
          <p:nvPr/>
        </p:nvSpPr>
        <p:spPr>
          <a:xfrm>
            <a:off x="5486400" y="1417320"/>
            <a:ext cx="61261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9FD4D1"/>
                </a:solidFill>
                <a:effectLst/>
                <a:uFillTx/>
                <a:latin typeface="Calibri"/>
                <a:ea typeface="Calibri"/>
              </a:rPr>
              <a:t>EQUATIONS TO REMEMBER</a:t>
            </a:r>
            <a:endParaRPr lang="en-US" sz="1100" b="0" u="none" strike="noStrike">
              <a:solidFill>
                <a:srgbClr val="FFFFFF"/>
              </a:solidFill>
              <a:effectLst/>
              <a:uFillTx/>
              <a:latin typeface="Arial"/>
            </a:endParaRPr>
          </a:p>
        </p:txBody>
      </p:sp>
      <p:sp>
        <p:nvSpPr>
          <p:cNvPr id="1186" name="Shape 29"/>
          <p:cNvSpPr/>
          <p:nvPr/>
        </p:nvSpPr>
        <p:spPr>
          <a:xfrm>
            <a:off x="5486400" y="1737360"/>
            <a:ext cx="6126120" cy="594000"/>
          </a:xfrm>
          <a:prstGeom prst="roundRect">
            <a:avLst>
              <a:gd name="adj" fmla="val 9231"/>
            </a:avLst>
          </a:prstGeom>
          <a:solidFill>
            <a:srgbClr val="0E8388"/>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87" name="Text 30"/>
          <p:cNvSpPr/>
          <p:nvPr/>
        </p:nvSpPr>
        <p:spPr>
          <a:xfrm>
            <a:off x="5486400" y="1737360"/>
            <a:ext cx="612612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mbria"/>
                <a:ea typeface="Cambria"/>
              </a:rPr>
              <a:t>W</a:t>
            </a:r>
            <a:r>
              <a:rPr lang="en-US" sz="1300" b="1" u="none" strike="noStrike" baseline="-40000">
                <a:solidFill>
                  <a:srgbClr val="FFFFFF"/>
                </a:solidFill>
                <a:effectLst/>
                <a:uFillTx/>
                <a:latin typeface="Cambria"/>
                <a:ea typeface="Cambria"/>
              </a:rPr>
              <a:t>N</a:t>
            </a:r>
            <a:r>
              <a:rPr lang="en-US" sz="1300" b="1" u="none" strike="noStrike" baseline="30000">
                <a:solidFill>
                  <a:srgbClr val="FFFFFF"/>
                </a:solidFill>
                <a:effectLst/>
                <a:uFillTx/>
                <a:latin typeface="Cambria"/>
                <a:ea typeface="Cambria"/>
              </a:rPr>
              <a:t>k</a:t>
            </a:r>
            <a:r>
              <a:rPr lang="en-US" sz="1300" b="1" u="none" strike="noStrike">
                <a:solidFill>
                  <a:srgbClr val="FFFFFF"/>
                </a:solidFill>
                <a:effectLst/>
                <a:uFillTx/>
                <a:latin typeface="Cambria"/>
                <a:ea typeface="Cambria"/>
              </a:rPr>
              <a:t> = e</a:t>
            </a:r>
            <a:r>
              <a:rPr lang="en-US" sz="1300" b="1" u="none" strike="noStrike" baseline="30000">
                <a:solidFill>
                  <a:srgbClr val="FFFFFF"/>
                </a:solidFill>
                <a:effectLst/>
                <a:uFillTx/>
                <a:latin typeface="Cambria"/>
                <a:ea typeface="Cambria"/>
              </a:rPr>
              <a:t>-j2πk/N</a:t>
            </a:r>
            <a:endParaRPr lang="en-US" sz="1300" b="0" u="none" strike="noStrike">
              <a:solidFill>
                <a:srgbClr val="FFFFFF"/>
              </a:solidFill>
              <a:effectLst/>
              <a:uFillTx/>
              <a:latin typeface="Arial"/>
            </a:endParaRPr>
          </a:p>
        </p:txBody>
      </p:sp>
      <p:sp>
        <p:nvSpPr>
          <p:cNvPr id="1188" name="Shape 31"/>
          <p:cNvSpPr/>
          <p:nvPr/>
        </p:nvSpPr>
        <p:spPr>
          <a:xfrm>
            <a:off x="5486400" y="2423160"/>
            <a:ext cx="6126120" cy="594000"/>
          </a:xfrm>
          <a:prstGeom prst="roundRect">
            <a:avLst>
              <a:gd name="adj" fmla="val 9231"/>
            </a:avLst>
          </a:prstGeom>
          <a:solidFill>
            <a:srgbClr val="2F5C8A"/>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89" name="Text 32"/>
          <p:cNvSpPr/>
          <p:nvPr/>
        </p:nvSpPr>
        <p:spPr>
          <a:xfrm>
            <a:off x="5486400" y="2423160"/>
            <a:ext cx="612612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600" b="1" u="none" strike="noStrike">
                <a:solidFill>
                  <a:srgbClr val="FFFFFF"/>
                </a:solidFill>
                <a:effectLst/>
                <a:uFillTx/>
                <a:latin typeface="Cambria"/>
                <a:ea typeface="Cambria"/>
              </a:rPr>
              <a:t>X</a:t>
            </a:r>
            <a:r>
              <a:rPr lang="en-US" sz="1600" b="1" u="none" strike="noStrike" baseline="-40000">
                <a:solidFill>
                  <a:srgbClr val="FFFFFF"/>
                </a:solidFill>
                <a:effectLst/>
                <a:uFillTx/>
                <a:latin typeface="Cambria"/>
                <a:ea typeface="Cambria"/>
              </a:rPr>
              <a:t>k</a:t>
            </a:r>
            <a:r>
              <a:rPr lang="en-US" sz="1600" b="1" u="none" strike="noStrike">
                <a:solidFill>
                  <a:srgbClr val="FFFFFF"/>
                </a:solidFill>
                <a:effectLst/>
                <a:uFillTx/>
                <a:latin typeface="Cambria"/>
                <a:ea typeface="Cambria"/>
              </a:rPr>
              <a:t> = E</a:t>
            </a:r>
            <a:r>
              <a:rPr lang="en-US" sz="1600" b="1" u="none" strike="noStrike" baseline="-40000">
                <a:solidFill>
                  <a:srgbClr val="FFFFFF"/>
                </a:solidFill>
                <a:effectLst/>
                <a:uFillTx/>
                <a:latin typeface="Cambria"/>
                <a:ea typeface="Cambria"/>
              </a:rPr>
              <a:t>k</a:t>
            </a:r>
            <a:r>
              <a:rPr lang="en-US" sz="1600" b="1" u="none" strike="noStrike">
                <a:solidFill>
                  <a:srgbClr val="FFFFFF"/>
                </a:solidFill>
                <a:effectLst/>
                <a:uFillTx/>
                <a:latin typeface="Cambria"/>
                <a:ea typeface="Cambria"/>
              </a:rPr>
              <a:t> + W</a:t>
            </a:r>
            <a:r>
              <a:rPr lang="en-US" sz="1600" b="1" u="none" strike="noStrike" baseline="-40000">
                <a:solidFill>
                  <a:srgbClr val="FFFFFF"/>
                </a:solidFill>
                <a:effectLst/>
                <a:uFillTx/>
                <a:latin typeface="Cambria"/>
                <a:ea typeface="Cambria"/>
              </a:rPr>
              <a:t>N</a:t>
            </a:r>
            <a:r>
              <a:rPr lang="en-US" sz="1600" b="1" u="none" strike="noStrike" baseline="30000">
                <a:solidFill>
                  <a:srgbClr val="FFFFFF"/>
                </a:solidFill>
                <a:effectLst/>
                <a:uFillTx/>
                <a:latin typeface="Cambria"/>
                <a:ea typeface="Cambria"/>
              </a:rPr>
              <a:t>k</a:t>
            </a:r>
            <a:r>
              <a:rPr lang="en-US" sz="1600" b="1" u="none" strike="noStrike">
                <a:solidFill>
                  <a:srgbClr val="FFFFFF"/>
                </a:solidFill>
                <a:effectLst/>
                <a:uFillTx/>
                <a:latin typeface="Cambria"/>
                <a:ea typeface="Cambria"/>
              </a:rPr>
              <a:t> O</a:t>
            </a:r>
            <a:r>
              <a:rPr lang="en-US" sz="1600" b="1" u="none" strike="noStrike" baseline="-40000">
                <a:solidFill>
                  <a:srgbClr val="FFFFFF"/>
                </a:solidFill>
                <a:effectLst/>
                <a:uFillTx/>
                <a:latin typeface="Cambria"/>
                <a:ea typeface="Cambria"/>
              </a:rPr>
              <a:t>k</a:t>
            </a:r>
            <a:endParaRPr lang="en-US" sz="1600" b="0" u="none" strike="noStrike">
              <a:solidFill>
                <a:srgbClr val="FFFFFF"/>
              </a:solidFill>
              <a:effectLst/>
              <a:uFillTx/>
              <a:latin typeface="Arial"/>
            </a:endParaRPr>
          </a:p>
        </p:txBody>
      </p:sp>
      <p:sp>
        <p:nvSpPr>
          <p:cNvPr id="1190" name="Shape 33"/>
          <p:cNvSpPr/>
          <p:nvPr/>
        </p:nvSpPr>
        <p:spPr>
          <a:xfrm>
            <a:off x="5486400" y="3108960"/>
            <a:ext cx="6126120" cy="594000"/>
          </a:xfrm>
          <a:prstGeom prst="roundRect">
            <a:avLst>
              <a:gd name="adj" fmla="val 9231"/>
            </a:avLst>
          </a:prstGeom>
          <a:solidFill>
            <a:srgbClr val="2F5C8A"/>
          </a:solidFill>
          <a:ln w="12700">
            <a:solidFill>
              <a:srgbClr val="132A4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91" name="Text 34"/>
          <p:cNvSpPr/>
          <p:nvPr/>
        </p:nvSpPr>
        <p:spPr>
          <a:xfrm>
            <a:off x="5486400" y="3108960"/>
            <a:ext cx="612612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mbria"/>
                <a:ea typeface="Cambria"/>
              </a:rPr>
              <a:t>X</a:t>
            </a:r>
            <a:r>
              <a:rPr lang="en-US" sz="1300" b="1" u="none" strike="noStrike" baseline="-40000">
                <a:solidFill>
                  <a:srgbClr val="FFFFFF"/>
                </a:solidFill>
                <a:effectLst/>
                <a:uFillTx/>
                <a:latin typeface="Cambria"/>
                <a:ea typeface="Cambria"/>
              </a:rPr>
              <a:t>k+N/2</a:t>
            </a:r>
            <a:r>
              <a:rPr lang="en-US" sz="1300" b="1" u="none" strike="noStrike">
                <a:solidFill>
                  <a:srgbClr val="FFFFFF"/>
                </a:solidFill>
                <a:effectLst/>
                <a:uFillTx/>
                <a:latin typeface="Cambria"/>
                <a:ea typeface="Cambria"/>
              </a:rPr>
              <a:t> = E</a:t>
            </a:r>
            <a:r>
              <a:rPr lang="en-US" sz="1300" b="1" u="none" strike="noStrike" baseline="-40000">
                <a:solidFill>
                  <a:srgbClr val="FFFFFF"/>
                </a:solidFill>
                <a:effectLst/>
                <a:uFillTx/>
                <a:latin typeface="Cambria"/>
                <a:ea typeface="Cambria"/>
              </a:rPr>
              <a:t>k</a:t>
            </a:r>
            <a:r>
              <a:rPr lang="en-US" sz="1300" b="1" u="none" strike="noStrike">
                <a:solidFill>
                  <a:srgbClr val="FFFFFF"/>
                </a:solidFill>
                <a:effectLst/>
                <a:uFillTx/>
                <a:latin typeface="Cambria"/>
                <a:ea typeface="Cambria"/>
              </a:rPr>
              <a:t> - W</a:t>
            </a:r>
            <a:r>
              <a:rPr lang="en-US" sz="1300" b="1" u="none" strike="noStrike" baseline="-40000">
                <a:solidFill>
                  <a:srgbClr val="FFFFFF"/>
                </a:solidFill>
                <a:effectLst/>
                <a:uFillTx/>
                <a:latin typeface="Cambria"/>
                <a:ea typeface="Cambria"/>
              </a:rPr>
              <a:t>N</a:t>
            </a:r>
            <a:r>
              <a:rPr lang="en-US" sz="1300" b="1" u="none" strike="noStrike" baseline="30000">
                <a:solidFill>
                  <a:srgbClr val="FFFFFF"/>
                </a:solidFill>
                <a:effectLst/>
                <a:uFillTx/>
                <a:latin typeface="Cambria"/>
                <a:ea typeface="Cambria"/>
              </a:rPr>
              <a:t>k</a:t>
            </a:r>
            <a:r>
              <a:rPr lang="en-US" sz="1300" b="1" u="none" strike="noStrike">
                <a:solidFill>
                  <a:srgbClr val="FFFFFF"/>
                </a:solidFill>
                <a:effectLst/>
                <a:uFillTx/>
                <a:latin typeface="Cambria"/>
                <a:ea typeface="Cambria"/>
              </a:rPr>
              <a:t> O</a:t>
            </a:r>
            <a:r>
              <a:rPr lang="en-US" sz="1300" b="1" u="none" strike="noStrike" baseline="-40000">
                <a:solidFill>
                  <a:srgbClr val="FFFFFF"/>
                </a:solidFill>
                <a:effectLst/>
                <a:uFillTx/>
                <a:latin typeface="Cambria"/>
                <a:ea typeface="Cambria"/>
              </a:rPr>
              <a:t>k</a:t>
            </a:r>
            <a:endParaRPr lang="en-US" sz="1300" b="0" u="none" strike="noStrike">
              <a:solidFill>
                <a:srgbClr val="FFFFFF"/>
              </a:solidFill>
              <a:effectLst/>
              <a:uFillTx/>
              <a:latin typeface="Arial"/>
            </a:endParaRPr>
          </a:p>
        </p:txBody>
      </p:sp>
      <p:sp>
        <p:nvSpPr>
          <p:cNvPr id="1192" name="Shape 35"/>
          <p:cNvSpPr/>
          <p:nvPr/>
        </p:nvSpPr>
        <p:spPr>
          <a:xfrm>
            <a:off x="5486400" y="3931920"/>
            <a:ext cx="6126120" cy="2331360"/>
          </a:xfrm>
          <a:prstGeom prst="roundRect">
            <a:avLst>
              <a:gd name="adj" fmla="val 2353"/>
            </a:avLst>
          </a:prstGeom>
          <a:solidFill>
            <a:srgbClr val="1B3A63"/>
          </a:solidFill>
          <a:ln w="12700">
            <a:solidFill>
              <a:srgbClr val="2F5C8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93" name="Text 36"/>
          <p:cNvSpPr/>
          <p:nvPr/>
        </p:nvSpPr>
        <p:spPr>
          <a:xfrm>
            <a:off x="5715000" y="4069080"/>
            <a:ext cx="5668920" cy="2102760"/>
          </a:xfrm>
          <a:prstGeom prst="rect">
            <a:avLst/>
          </a:prstGeom>
          <a:noFill/>
          <a:ln w="0">
            <a:noFill/>
          </a:ln>
        </p:spPr>
        <p:style>
          <a:lnRef idx="0"/>
          <a:fillRef idx="0"/>
          <a:effectRef idx="0"/>
          <a:fontRef idx="minor"/>
        </p:style>
        <p:txBody>
          <a:bodyPr lIns="90000" tIns="45000" rIns="90000" bIns="45000" anchor="t">
            <a:noAutofit/>
          </a:bodyPr>
          <a:p>
            <a:r>
              <a:rPr lang="en-US" sz="1300" b="1" u="none" strike="noStrike">
                <a:solidFill>
                  <a:srgbClr val="FFFFFF"/>
                </a:solidFill>
                <a:effectLst/>
                <a:uFillTx/>
                <a:latin typeface="Calibri"/>
              </a:rPr>
              <a:t>Stages = log₂N</a:t>
            </a:r>
            <a:endParaRPr lang="en-US" sz="1300" b="0" u="none" strike="noStrike">
              <a:solidFill>
                <a:srgbClr val="FFFFFF"/>
              </a:solidFill>
              <a:effectLst/>
              <a:uFillTx/>
              <a:latin typeface="Arial"/>
            </a:endParaRPr>
          </a:p>
          <a:p>
            <a:r>
              <a:rPr lang="en-US" sz="1300" b="1" u="none" strike="noStrike">
                <a:solidFill>
                  <a:srgbClr val="FFFFFF"/>
                </a:solidFill>
                <a:effectLst/>
                <a:uFillTx/>
                <a:latin typeface="Calibri"/>
              </a:rPr>
              <a:t>Butterflies/stage = N/2</a:t>
            </a:r>
            <a:endParaRPr lang="en-US" sz="1300" b="0" u="none" strike="noStrike">
              <a:solidFill>
                <a:srgbClr val="FFFFFF"/>
              </a:solidFill>
              <a:effectLst/>
              <a:uFillTx/>
              <a:latin typeface="Arial"/>
            </a:endParaRPr>
          </a:p>
          <a:p>
            <a:r>
              <a:rPr lang="en-US" sz="1300" b="1" u="none" strike="noStrike">
                <a:solidFill>
                  <a:srgbClr val="FFFFFF"/>
                </a:solidFill>
                <a:effectLst/>
                <a:uFillTx/>
                <a:latin typeface="Calibri"/>
              </a:rPr>
              <a:t>Total butterflies = (N/2)log₂N</a:t>
            </a:r>
            <a:endParaRPr lang="en-US" sz="1300" b="0" u="none" strike="noStrike">
              <a:solidFill>
                <a:srgbClr val="FFFFFF"/>
              </a:solidFill>
              <a:effectLst/>
              <a:uFillTx/>
              <a:latin typeface="Arial"/>
            </a:endParaRPr>
          </a:p>
          <a:p>
            <a:endParaRPr lang="en-US" sz="1300" b="0" u="none" strike="noStrike">
              <a:solidFill>
                <a:srgbClr val="FFFFFF"/>
              </a:solidFill>
              <a:effectLst/>
              <a:uFillTx/>
              <a:latin typeface="Arial"/>
            </a:endParaRPr>
          </a:p>
          <a:p>
            <a:r>
              <a:rPr lang="en-US" sz="1300" b="1" u="none" strike="noStrike">
                <a:solidFill>
                  <a:srgbClr val="FFFFFF"/>
                </a:solidFill>
                <a:effectLst/>
                <a:uFillTx/>
                <a:latin typeface="Calibri"/>
              </a:rPr>
              <a:t>Radix: pieces per split step, 2 for radix-2.</a:t>
            </a:r>
            <a:endParaRPr lang="en-US" sz="1300" b="0" u="none" strike="noStrike">
              <a:solidFill>
                <a:srgbClr val="FFFFFF"/>
              </a:solidFill>
              <a:effectLst/>
              <a:uFillTx/>
              <a:latin typeface="Arial"/>
            </a:endParaRPr>
          </a:p>
          <a:p>
            <a:r>
              <a:rPr lang="en-US" sz="1300" b="1" u="none" strike="noStrike">
                <a:solidFill>
                  <a:srgbClr val="FFFFFF"/>
                </a:solidFill>
                <a:effectLst/>
                <a:uFillTx/>
                <a:latin typeface="Calibri"/>
              </a:rPr>
              <a:t>Decimation-in-time: split the input by time-index parity. Decimation-in-frequency: split the output by parity, twiddle after the subtract.</a:t>
            </a:r>
            <a:endParaRPr lang="en-US" sz="1300" b="0" u="none" strike="noStrike">
              <a:solidFill>
                <a:srgbClr val="FFFFFF"/>
              </a:solidFill>
              <a:effectLst/>
              <a:uFillTx/>
              <a:latin typeface="Arial"/>
            </a:endParaRPr>
          </a:p>
          <a:p>
            <a:pPr defTabSz="914400">
              <a:lnSpc>
                <a:spcPct val="120000"/>
              </a:lnSpc>
              <a:tabLst>
                <a:tab pos="0" algn="l"/>
              </a:tabLst>
            </a:pPr>
            <a:r>
              <a:rPr lang="en-US" sz="1300" b="1" u="none" strike="noStrike">
                <a:solidFill>
                  <a:srgbClr val="FFFFFF"/>
                </a:solidFill>
                <a:effectLst/>
                <a:uFillTx/>
                <a:latin typeface="Calibri"/>
              </a:rPr>
              <a:t>Butterfly: one twiddle multiply, one add, one subtract, reused across every stage.</a:t>
            </a:r>
            <a:endParaRPr lang="en-US" sz="1300" b="0" u="none" strike="noStrike">
              <a:solidFill>
                <a:srgbClr val="FFFFFF"/>
              </a:solidFill>
              <a:effectLst/>
              <a:uFillTx/>
              <a:latin typeface="Arial"/>
            </a:endParaRPr>
          </a:p>
        </p:txBody>
      </p:sp>
      <p:sp>
        <p:nvSpPr>
          <p:cNvPr id="1194" name="Shape 37"/>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1195" name="Shape 38"/>
          <p:cNvSpPr/>
          <p:nvPr/>
        </p:nvSpPr>
        <p:spPr>
          <a:xfrm>
            <a:off x="502920" y="6473880"/>
            <a:ext cx="1088964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1196" name="Text 39"/>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FFFFFF"/>
              </a:solidFill>
              <a:effectLst/>
              <a:uFillTx/>
              <a:latin typeface="Arial"/>
            </a:endParaRPr>
          </a:p>
        </p:txBody>
      </p:sp>
      <p:sp>
        <p:nvSpPr>
          <p:cNvPr id="1197" name="Text 40"/>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Closing     41</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8FC"/>
        </a:solidFill>
      </p:bgPr>
    </p:bg>
    <p:spTree>
      <p:nvGrpSpPr>
        <p:cNvPr id="1" name=""/>
        <p:cNvGrpSpPr/>
        <p:nvPr/>
      </p:nvGrpSpPr>
      <p:grpSpPr>
        <a:xfrm>
          <a:off x="0" y="0"/>
          <a:ext cx="0" cy="0"/>
          <a:chOff x="0" y="0"/>
          <a:chExt cx="0" cy="0"/>
        </a:xfrm>
      </p:grpSpPr>
      <p:sp>
        <p:nvSpPr>
          <p:cNvPr id="1198" name="Text 0"/>
          <p:cNvSpPr/>
          <p:nvPr/>
        </p:nvSpPr>
        <p:spPr>
          <a:xfrm>
            <a:off x="502920" y="27432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201" strike="noStrike">
                <a:solidFill>
                  <a:srgbClr val="0E8388"/>
                </a:solidFill>
                <a:effectLst/>
                <a:uFillTx/>
                <a:latin typeface="Calibri"/>
                <a:ea typeface="Calibri"/>
              </a:rPr>
              <a:t>CLOSING · REFERENCES</a:t>
            </a:r>
            <a:endParaRPr lang="en-US" sz="1150" b="0" u="none" strike="noStrike">
              <a:solidFill>
                <a:srgbClr val="000000"/>
              </a:solidFill>
              <a:effectLst/>
              <a:uFillTx/>
              <a:latin typeface="Arial"/>
            </a:endParaRPr>
          </a:p>
        </p:txBody>
      </p:sp>
      <p:sp>
        <p:nvSpPr>
          <p:cNvPr id="1199" name="Text 1"/>
          <p:cNvSpPr/>
          <p:nvPr/>
        </p:nvSpPr>
        <p:spPr>
          <a:xfrm>
            <a:off x="502920" y="530280"/>
            <a:ext cx="11155320" cy="5850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2600" b="1" u="none" strike="noStrike">
                <a:solidFill>
                  <a:srgbClr val="132A4A"/>
                </a:solidFill>
                <a:effectLst/>
                <a:uFillTx/>
                <a:latin typeface="Cambria"/>
                <a:ea typeface="Cambria"/>
              </a:rPr>
              <a:t>Sources for Further Study</a:t>
            </a:r>
            <a:endParaRPr lang="en-US" sz="2600" b="0" u="none" strike="noStrike">
              <a:solidFill>
                <a:srgbClr val="000000"/>
              </a:solidFill>
              <a:effectLst/>
              <a:uFillTx/>
              <a:latin typeface="Arial"/>
            </a:endParaRPr>
          </a:p>
        </p:txBody>
      </p:sp>
      <p:sp>
        <p:nvSpPr>
          <p:cNvPr id="1200" name="Text 2"/>
          <p:cNvSpPr/>
          <p:nvPr/>
        </p:nvSpPr>
        <p:spPr>
          <a:xfrm>
            <a:off x="502920" y="1371600"/>
            <a:ext cx="1115532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132A4A"/>
                </a:solidFill>
                <a:effectLst/>
                <a:uFillTx/>
                <a:latin typeface="Calibri"/>
                <a:ea typeface="Calibri"/>
              </a:rPr>
              <a:t>A. V. Oppenheim and R. W. Schafer</a:t>
            </a:r>
            <a:endParaRPr lang="en-US" sz="1100" b="0" u="none" strike="noStrike">
              <a:solidFill>
                <a:srgbClr val="000000"/>
              </a:solidFill>
              <a:effectLst/>
              <a:uFillTx/>
              <a:latin typeface="Arial"/>
            </a:endParaRPr>
          </a:p>
        </p:txBody>
      </p:sp>
      <p:sp>
        <p:nvSpPr>
          <p:cNvPr id="1201" name="Text 3"/>
          <p:cNvSpPr/>
          <p:nvPr/>
        </p:nvSpPr>
        <p:spPr>
          <a:xfrm>
            <a:off x="502920" y="168264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0" i="1" u="none" strike="noStrike">
                <a:solidFill>
                  <a:srgbClr val="0E8388"/>
                </a:solidFill>
                <a:effectLst/>
                <a:uFillTx/>
                <a:latin typeface="Calibri"/>
                <a:ea typeface="Calibri"/>
              </a:rPr>
              <a:t>Discrete-Time Signal Processing</a:t>
            </a:r>
            <a:endParaRPr lang="en-US" sz="1100" b="0" u="none" strike="noStrike">
              <a:solidFill>
                <a:srgbClr val="000000"/>
              </a:solidFill>
              <a:effectLst/>
              <a:uFillTx/>
              <a:latin typeface="Arial"/>
            </a:endParaRPr>
          </a:p>
        </p:txBody>
      </p:sp>
      <p:sp>
        <p:nvSpPr>
          <p:cNvPr id="1202" name="Text 4"/>
          <p:cNvSpPr/>
          <p:nvPr/>
        </p:nvSpPr>
        <p:spPr>
          <a:xfrm>
            <a:off x="502920" y="1974960"/>
            <a:ext cx="11155320" cy="4111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100" b="0" u="none" strike="noStrike">
                <a:solidFill>
                  <a:srgbClr val="5C6B7A"/>
                </a:solidFill>
                <a:effectLst/>
                <a:uFillTx/>
                <a:latin typeface="Calibri"/>
                <a:ea typeface="Calibri"/>
              </a:rPr>
              <a:t>The standard graduate reference for the DFT, the FFT derivation, and decimation-in-time and decimation-in-frequency structures.</a:t>
            </a:r>
            <a:endParaRPr lang="en-US" sz="1100" b="0" u="none" strike="noStrike">
              <a:solidFill>
                <a:srgbClr val="000000"/>
              </a:solidFill>
              <a:effectLst/>
              <a:uFillTx/>
              <a:latin typeface="Arial"/>
            </a:endParaRPr>
          </a:p>
        </p:txBody>
      </p:sp>
      <p:sp>
        <p:nvSpPr>
          <p:cNvPr id="1203" name="Text 5"/>
          <p:cNvSpPr/>
          <p:nvPr/>
        </p:nvSpPr>
        <p:spPr>
          <a:xfrm>
            <a:off x="502920" y="2514600"/>
            <a:ext cx="1115532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132A4A"/>
                </a:solidFill>
                <a:effectLst/>
                <a:uFillTx/>
                <a:latin typeface="Calibri"/>
                <a:ea typeface="Calibri"/>
              </a:rPr>
              <a:t>J. G. Proakis and D. G. Manolakis</a:t>
            </a:r>
            <a:endParaRPr lang="en-US" sz="1100" b="0" u="none" strike="noStrike">
              <a:solidFill>
                <a:srgbClr val="000000"/>
              </a:solidFill>
              <a:effectLst/>
              <a:uFillTx/>
              <a:latin typeface="Arial"/>
            </a:endParaRPr>
          </a:p>
        </p:txBody>
      </p:sp>
      <p:sp>
        <p:nvSpPr>
          <p:cNvPr id="1204" name="Text 6"/>
          <p:cNvSpPr/>
          <p:nvPr/>
        </p:nvSpPr>
        <p:spPr>
          <a:xfrm>
            <a:off x="502920" y="282564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0" i="1" u="none" strike="noStrike">
                <a:solidFill>
                  <a:srgbClr val="0E8388"/>
                </a:solidFill>
                <a:effectLst/>
                <a:uFillTx/>
                <a:latin typeface="Calibri"/>
                <a:ea typeface="Calibri"/>
              </a:rPr>
              <a:t>Digital Signal Processing: Principles, Algorithms, and Applications</a:t>
            </a:r>
            <a:endParaRPr lang="en-US" sz="1100" b="0" u="none" strike="noStrike">
              <a:solidFill>
                <a:srgbClr val="000000"/>
              </a:solidFill>
              <a:effectLst/>
              <a:uFillTx/>
              <a:latin typeface="Arial"/>
            </a:endParaRPr>
          </a:p>
        </p:txBody>
      </p:sp>
      <p:sp>
        <p:nvSpPr>
          <p:cNvPr id="1205" name="Text 7"/>
          <p:cNvSpPr/>
          <p:nvPr/>
        </p:nvSpPr>
        <p:spPr>
          <a:xfrm>
            <a:off x="502920" y="3117960"/>
            <a:ext cx="11155320" cy="4111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100" b="0" u="none" strike="noStrike">
                <a:solidFill>
                  <a:srgbClr val="5C6B7A"/>
                </a:solidFill>
                <a:effectLst/>
                <a:uFillTx/>
                <a:latin typeface="Calibri"/>
                <a:ea typeface="Calibri"/>
              </a:rPr>
              <a:t>Detailed treatment of FFT algorithms, operation counts, and fixed-point implementation issues.</a:t>
            </a:r>
            <a:endParaRPr lang="en-US" sz="1100" b="0" u="none" strike="noStrike">
              <a:solidFill>
                <a:srgbClr val="000000"/>
              </a:solidFill>
              <a:effectLst/>
              <a:uFillTx/>
              <a:latin typeface="Arial"/>
            </a:endParaRPr>
          </a:p>
        </p:txBody>
      </p:sp>
      <p:sp>
        <p:nvSpPr>
          <p:cNvPr id="1206" name="Text 8"/>
          <p:cNvSpPr/>
          <p:nvPr/>
        </p:nvSpPr>
        <p:spPr>
          <a:xfrm>
            <a:off x="502920" y="3657600"/>
            <a:ext cx="1115532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132A4A"/>
                </a:solidFill>
                <a:effectLst/>
                <a:uFillTx/>
                <a:latin typeface="Calibri"/>
                <a:ea typeface="Calibri"/>
              </a:rPr>
              <a:t>Xilinx / AMD and Intel FPGA documentation</a:t>
            </a:r>
            <a:endParaRPr lang="en-US" sz="1100" b="0" u="none" strike="noStrike">
              <a:solidFill>
                <a:srgbClr val="000000"/>
              </a:solidFill>
              <a:effectLst/>
              <a:uFillTx/>
              <a:latin typeface="Arial"/>
            </a:endParaRPr>
          </a:p>
        </p:txBody>
      </p:sp>
      <p:sp>
        <p:nvSpPr>
          <p:cNvPr id="1207" name="Text 9"/>
          <p:cNvSpPr/>
          <p:nvPr/>
        </p:nvSpPr>
        <p:spPr>
          <a:xfrm>
            <a:off x="502920" y="396864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0" i="1" u="none" strike="noStrike">
                <a:solidFill>
                  <a:srgbClr val="0E8388"/>
                </a:solidFill>
                <a:effectLst/>
                <a:uFillTx/>
                <a:latin typeface="Calibri"/>
                <a:ea typeface="Calibri"/>
              </a:rPr>
              <a:t>Vendor FFT IP core user guides</a:t>
            </a:r>
            <a:endParaRPr lang="en-US" sz="1100" b="0" u="none" strike="noStrike">
              <a:solidFill>
                <a:srgbClr val="000000"/>
              </a:solidFill>
              <a:effectLst/>
              <a:uFillTx/>
              <a:latin typeface="Arial"/>
            </a:endParaRPr>
          </a:p>
        </p:txBody>
      </p:sp>
      <p:sp>
        <p:nvSpPr>
          <p:cNvPr id="1208" name="Text 10"/>
          <p:cNvSpPr/>
          <p:nvPr/>
        </p:nvSpPr>
        <p:spPr>
          <a:xfrm>
            <a:off x="502920" y="4260960"/>
            <a:ext cx="11155320" cy="4111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100" b="0" u="none" strike="noStrike">
                <a:solidFill>
                  <a:srgbClr val="5C6B7A"/>
                </a:solidFill>
                <a:effectLst/>
                <a:uFillTx/>
                <a:latin typeface="Calibri"/>
                <a:ea typeface="Calibri"/>
              </a:rPr>
              <a:t>Reference documentation for streaming, burst, SDF and MDC FFT architectures actually shipped in FPGA IP.</a:t>
            </a:r>
            <a:endParaRPr lang="en-US" sz="1100" b="0" u="none" strike="noStrike">
              <a:solidFill>
                <a:srgbClr val="000000"/>
              </a:solidFill>
              <a:effectLst/>
              <a:uFillTx/>
              <a:latin typeface="Arial"/>
            </a:endParaRPr>
          </a:p>
        </p:txBody>
      </p:sp>
      <p:sp>
        <p:nvSpPr>
          <p:cNvPr id="1209" name="Text 11"/>
          <p:cNvSpPr/>
          <p:nvPr/>
        </p:nvSpPr>
        <p:spPr>
          <a:xfrm>
            <a:off x="502920" y="4800600"/>
            <a:ext cx="1115532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trike="noStrike">
                <a:solidFill>
                  <a:srgbClr val="132A4A"/>
                </a:solidFill>
                <a:effectLst/>
                <a:uFillTx/>
                <a:latin typeface="Calibri"/>
                <a:ea typeface="Calibri"/>
              </a:rPr>
              <a:t>J. W. Cooley and J. W. Tukey (1965)</a:t>
            </a:r>
            <a:endParaRPr lang="en-US" sz="1100" b="0" u="none" strike="noStrike">
              <a:solidFill>
                <a:srgbClr val="000000"/>
              </a:solidFill>
              <a:effectLst/>
              <a:uFillTx/>
              <a:latin typeface="Arial"/>
            </a:endParaRPr>
          </a:p>
        </p:txBody>
      </p:sp>
      <p:sp>
        <p:nvSpPr>
          <p:cNvPr id="1210" name="Text 12"/>
          <p:cNvSpPr/>
          <p:nvPr/>
        </p:nvSpPr>
        <p:spPr>
          <a:xfrm>
            <a:off x="502920" y="5111640"/>
            <a:ext cx="111553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0" i="1" u="none" strike="noStrike">
                <a:solidFill>
                  <a:srgbClr val="0E8388"/>
                </a:solidFill>
                <a:effectLst/>
                <a:uFillTx/>
                <a:latin typeface="Calibri"/>
                <a:ea typeface="Calibri"/>
              </a:rPr>
              <a:t>An Algorithm for the Machine Calculation of Complex Fourier Series, Mathematics of Computation</a:t>
            </a:r>
            <a:endParaRPr lang="en-US" sz="1100" b="0" u="none" strike="noStrike">
              <a:solidFill>
                <a:srgbClr val="000000"/>
              </a:solidFill>
              <a:effectLst/>
              <a:uFillTx/>
              <a:latin typeface="Arial"/>
            </a:endParaRPr>
          </a:p>
        </p:txBody>
      </p:sp>
      <p:sp>
        <p:nvSpPr>
          <p:cNvPr id="1211" name="Text 13"/>
          <p:cNvSpPr/>
          <p:nvPr/>
        </p:nvSpPr>
        <p:spPr>
          <a:xfrm>
            <a:off x="502920" y="5403960"/>
            <a:ext cx="11155320" cy="4111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100" b="0" u="none" strike="noStrike">
                <a:solidFill>
                  <a:srgbClr val="5C6B7A"/>
                </a:solidFill>
                <a:effectLst/>
                <a:uFillTx/>
                <a:latin typeface="Calibri"/>
                <a:ea typeface="Calibri"/>
              </a:rPr>
              <a:t>The original paper describing the fast algorithm underlying every radix-2 FFT derivation shown in this deck.</a:t>
            </a:r>
            <a:endParaRPr lang="en-US" sz="1100" b="0" u="none" strike="noStrike">
              <a:solidFill>
                <a:srgbClr val="000000"/>
              </a:solidFill>
              <a:effectLst/>
              <a:uFillTx/>
              <a:latin typeface="Arial"/>
            </a:endParaRPr>
          </a:p>
        </p:txBody>
      </p:sp>
      <p:sp>
        <p:nvSpPr>
          <p:cNvPr id="1212" name="Shape 14"/>
          <p:cNvSpPr/>
          <p:nvPr/>
        </p:nvSpPr>
        <p:spPr>
          <a:xfrm>
            <a:off x="502920" y="5989320"/>
            <a:ext cx="11155320" cy="548280"/>
          </a:xfrm>
          <a:prstGeom prst="roundRect">
            <a:avLst>
              <a:gd name="adj" fmla="val 10000"/>
            </a:avLst>
          </a:prstGeom>
          <a:solidFill>
            <a:srgbClr val="EAF1FB"/>
          </a:solidFill>
          <a:ln w="12700">
            <a:solidFill>
              <a:srgbClr val="D7DE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213" name="Text 15"/>
          <p:cNvSpPr/>
          <p:nvPr/>
        </p:nvSpPr>
        <p:spPr>
          <a:xfrm>
            <a:off x="685800" y="6080760"/>
            <a:ext cx="10789560" cy="36540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100" b="0" i="1" u="none" strike="noStrike">
                <a:solidFill>
                  <a:srgbClr val="5C6B7A"/>
                </a:solidFill>
                <a:effectLst/>
                <a:uFillTx/>
                <a:latin typeface="Calibri"/>
                <a:ea typeface="Calibri"/>
              </a:rPr>
              <a:t>This deck is a self-contained study notebook derived from these standard references, worked through in full for N=8 and extended to a 32-point RTL design.</a:t>
            </a:r>
            <a:endParaRPr lang="en-US" sz="1100" b="0" u="none" strike="noStrike">
              <a:solidFill>
                <a:srgbClr val="000000"/>
              </a:solidFill>
              <a:effectLst/>
              <a:uFillTx/>
              <a:latin typeface="Arial"/>
            </a:endParaRPr>
          </a:p>
        </p:txBody>
      </p:sp>
      <p:sp>
        <p:nvSpPr>
          <p:cNvPr id="1214" name="Shape 16"/>
          <p:cNvSpPr/>
          <p:nvPr/>
        </p:nvSpPr>
        <p:spPr>
          <a:xfrm>
            <a:off x="502920" y="6473880"/>
            <a:ext cx="11155320" cy="27000"/>
          </a:xfrm>
          <a:prstGeom prst="rect">
            <a:avLst/>
          </a:prstGeom>
          <a:solidFill>
            <a:srgbClr val="D7DEE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1215" name="Shape 17"/>
          <p:cNvSpPr/>
          <p:nvPr/>
        </p:nvSpPr>
        <p:spPr>
          <a:xfrm>
            <a:off x="502920" y="6473880"/>
            <a:ext cx="11155320" cy="27000"/>
          </a:xfrm>
          <a:prstGeom prst="rect">
            <a:avLst/>
          </a:prstGeom>
          <a:solidFill>
            <a:srgbClr val="0E8388"/>
          </a:solidFill>
          <a:ln w="0">
            <a:noFill/>
          </a:ln>
        </p:spPr>
        <p:style>
          <a:lnRef idx="0"/>
          <a:fillRef idx="0"/>
          <a:effectRef idx="0"/>
          <a:fontRef idx="minor"/>
        </p:style>
        <p:txBody>
          <a:bodyPr lIns="90000" tIns="-17640" rIns="90000" bIns="-17640" anchor="t">
            <a:noAutofit/>
          </a:bodyPr>
          <a:p>
            <a:endParaRPr lang="en-US" sz="1800" b="0" u="none" strike="noStrike">
              <a:solidFill>
                <a:schemeClr val="dk1"/>
              </a:solidFill>
              <a:effectLst/>
              <a:uFillTx/>
              <a:latin typeface="Calibri"/>
            </a:endParaRPr>
          </a:p>
        </p:txBody>
      </p:sp>
      <p:sp>
        <p:nvSpPr>
          <p:cNvPr id="1216" name="Text 18"/>
          <p:cNvSpPr/>
          <p:nvPr/>
        </p:nvSpPr>
        <p:spPr>
          <a:xfrm>
            <a:off x="502920" y="6528960"/>
            <a:ext cx="5943240" cy="237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5C6B7A"/>
                </a:solidFill>
                <a:effectLst/>
                <a:uFillTx/>
                <a:latin typeface="Calibri"/>
                <a:ea typeface="Calibri"/>
              </a:rPr>
              <a:t>Radix-2 FFT: DIT and DIF</a:t>
            </a:r>
            <a:endParaRPr lang="en-US" sz="900" b="0" u="none" strike="noStrike">
              <a:solidFill>
                <a:srgbClr val="000000"/>
              </a:solidFill>
              <a:effectLst/>
              <a:uFillTx/>
              <a:latin typeface="Arial"/>
            </a:endParaRPr>
          </a:p>
        </p:txBody>
      </p:sp>
      <p:sp>
        <p:nvSpPr>
          <p:cNvPr id="1217" name="Text 19"/>
          <p:cNvSpPr/>
          <p:nvPr/>
        </p:nvSpPr>
        <p:spPr>
          <a:xfrm>
            <a:off x="7116840" y="6528960"/>
            <a:ext cx="4571640" cy="23724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5C6B7A"/>
                </a:solidFill>
                <a:effectLst/>
                <a:uFillTx/>
                <a:latin typeface="Calibri"/>
                <a:ea typeface="Calibri"/>
              </a:rPr>
              <a:t>Closing     42</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TotalTime>
  <Application>LibreOffice/26.2.6.3$Windows_X86_64 LibreOffice_project/8221e31b3ac356a1623c672912a3d2b492f7e3d1</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2026-09-28T03:37:12Z</dcterms:created>
  <dc:creator>PptxGenJS</dc:creator>
  <dc:description/>
  <dc:language>en-US</dc:language>
  <cp:lastModifiedBy/>
  <dcterms:modified xsi:type="dcterms:W3CDTF">2026-10-10T01:52:35Z</dcterms:modified>
  <cp:revision>2</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42</vt:i4>
  </property>
  <property fmtid="{D5CDD505-2E9C-101B-9397-08002B2CF9AE}" pid="3" name="PresentationFormat">
    <vt:lpwstr>On-screen Show (16:9)</vt:lpwstr>
  </property>
  <property fmtid="{D5CDD505-2E9C-101B-9397-08002B2CF9AE}" pid="4" name="Slides">
    <vt:i4>42</vt:i4>
  </property>
</Properties>
</file>